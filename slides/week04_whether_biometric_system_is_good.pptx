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handoutMasterIdLst>
    <p:handoutMasterId r:id="rId32"/>
  </p:handoutMasterIdLst>
  <p:sldIdLst>
    <p:sldId id="256" r:id="rId2"/>
    <p:sldId id="258" r:id="rId3"/>
    <p:sldId id="259" r:id="rId4"/>
    <p:sldId id="260" r:id="rId5"/>
    <p:sldId id="331" r:id="rId6"/>
    <p:sldId id="305" r:id="rId7"/>
    <p:sldId id="332" r:id="rId8"/>
    <p:sldId id="333" r:id="rId9"/>
    <p:sldId id="334" r:id="rId10"/>
    <p:sldId id="335" r:id="rId11"/>
    <p:sldId id="336" r:id="rId12"/>
    <p:sldId id="337" r:id="rId13"/>
    <p:sldId id="338" r:id="rId14"/>
    <p:sldId id="339" r:id="rId15"/>
    <p:sldId id="303" r:id="rId16"/>
    <p:sldId id="290" r:id="rId17"/>
    <p:sldId id="293" r:id="rId18"/>
    <p:sldId id="291" r:id="rId19"/>
    <p:sldId id="322" r:id="rId20"/>
    <p:sldId id="340" r:id="rId21"/>
    <p:sldId id="341" r:id="rId22"/>
    <p:sldId id="342" r:id="rId23"/>
    <p:sldId id="343" r:id="rId24"/>
    <p:sldId id="344" r:id="rId25"/>
    <p:sldId id="345" r:id="rId26"/>
    <p:sldId id="346" r:id="rId27"/>
    <p:sldId id="347" r:id="rId28"/>
    <p:sldId id="295" r:id="rId29"/>
    <p:sldId id="34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45B263A-3634-4746-B7F1-E27656F98C03}">
          <p14:sldIdLst>
            <p14:sldId id="256"/>
          </p14:sldIdLst>
        </p14:section>
        <p14:section name="Intro" id="{0AB5F8BD-592F-7E48-832C-9830A19D6645}">
          <p14:sldIdLst>
            <p14:sldId id="258"/>
            <p14:sldId id="259"/>
          </p14:sldIdLst>
        </p14:section>
        <p14:section name="Concept" id="{DA9AA48A-BF94-1445-B381-729A6E7D522F}">
          <p14:sldIdLst>
            <p14:sldId id="260"/>
            <p14:sldId id="331"/>
            <p14:sldId id="305"/>
            <p14:sldId id="332"/>
            <p14:sldId id="333"/>
            <p14:sldId id="334"/>
            <p14:sldId id="335"/>
            <p14:sldId id="336"/>
            <p14:sldId id="337"/>
            <p14:sldId id="338"/>
            <p14:sldId id="339"/>
            <p14:sldId id="303"/>
          </p14:sldIdLst>
        </p14:section>
        <p14:section name="Discussion" id="{3D959E87-38A9-B348-A864-94621CFDF8CE}">
          <p14:sldIdLst>
            <p14:sldId id="290"/>
            <p14:sldId id="293"/>
            <p14:sldId id="291"/>
            <p14:sldId id="322"/>
            <p14:sldId id="340"/>
            <p14:sldId id="341"/>
            <p14:sldId id="342"/>
            <p14:sldId id="343"/>
            <p14:sldId id="344"/>
            <p14:sldId id="345"/>
            <p14:sldId id="346"/>
            <p14:sldId id="347"/>
            <p14:sldId id="295"/>
            <p14:sldId id="349"/>
          </p14:sldIdLst>
        </p14:section>
        <p14:section name="backup" id="{43E3BE12-2119-1E47-BA96-189CE7CD79B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0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24"/>
    <p:restoredTop sz="79286"/>
  </p:normalViewPr>
  <p:slideViewPr>
    <p:cSldViewPr snapToGrid="0">
      <p:cViewPr>
        <p:scale>
          <a:sx n="91" d="100"/>
          <a:sy n="91" d="100"/>
        </p:scale>
        <p:origin x="2040" y="1944"/>
      </p:cViewPr>
      <p:guideLst/>
    </p:cSldViewPr>
  </p:slideViewPr>
  <p:notesTextViewPr>
    <p:cViewPr>
      <p:scale>
        <a:sx n="1" d="1"/>
        <a:sy n="1" d="1"/>
      </p:scale>
      <p:origin x="0" y="0"/>
    </p:cViewPr>
  </p:notesTextViewPr>
  <p:notesViewPr>
    <p:cSldViewPr snapToGrid="0">
      <p:cViewPr varScale="1">
        <p:scale>
          <a:sx n="92" d="100"/>
          <a:sy n="92" d="100"/>
        </p:scale>
        <p:origin x="4072" y="1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15C88B7-C264-7647-9589-53AD6A0F63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DA1F27B-3FF1-705C-8E2C-5B60BF9E41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589F5D9-08F9-8545-A07A-A0C0A16AC233}" type="datetimeFigureOut">
              <a:rPr lang="en-US" smtClean="0"/>
              <a:t>9/8/26</a:t>
            </a:fld>
            <a:endParaRPr lang="en-US"/>
          </a:p>
        </p:txBody>
      </p:sp>
      <p:sp>
        <p:nvSpPr>
          <p:cNvPr id="4" name="Footer Placeholder 3">
            <a:extLst>
              <a:ext uri="{FF2B5EF4-FFF2-40B4-BE49-F238E27FC236}">
                <a16:creationId xmlns:a16="http://schemas.microsoft.com/office/drawing/2014/main" id="{0D98AE4A-4862-0E87-E51C-2246BB65C7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CA82A21-79EB-226D-516C-CABEFDC2602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EEDDF4-667D-1547-9AF8-514A0169605C}" type="slidenum">
              <a:rPr lang="en-US" smtClean="0"/>
              <a:t>‹#›</a:t>
            </a:fld>
            <a:endParaRPr lang="en-US"/>
          </a:p>
        </p:txBody>
      </p:sp>
    </p:spTree>
    <p:extLst>
      <p:ext uri="{BB962C8B-B14F-4D97-AF65-F5344CB8AC3E}">
        <p14:creationId xmlns:p14="http://schemas.microsoft.com/office/powerpoint/2010/main" val="36750574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4269A-2CD6-4441-B83F-9F4344585B8B}" type="datetimeFigureOut">
              <a:rPr lang="en-US" smtClean="0"/>
              <a:t>9/8/26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E7BD1F-0023-244E-A8FD-1ADCC0FAE1A1}" type="slidenum">
              <a:rPr lang="en-US" smtClean="0"/>
              <a:t>‹#›</a:t>
            </a:fld>
            <a:endParaRPr lang="en-US"/>
          </a:p>
        </p:txBody>
      </p:sp>
    </p:spTree>
    <p:extLst>
      <p:ext uri="{BB962C8B-B14F-4D97-AF65-F5344CB8AC3E}">
        <p14:creationId xmlns:p14="http://schemas.microsoft.com/office/powerpoint/2010/main" val="3468264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 Artificial Intelligence</a:t>
            </a:r>
            <a:br>
              <a:rPr lang="en-US" dirty="0"/>
            </a:br>
            <a:r>
              <a:rPr lang="en-US" dirty="0"/>
              <a:t>ML = Machine Learning</a:t>
            </a:r>
            <a:br>
              <a:rPr lang="en-US" dirty="0"/>
            </a:br>
            <a:r>
              <a:rPr lang="en-US" dirty="0"/>
              <a:t>CV = Computer Vision</a:t>
            </a:r>
          </a:p>
          <a:p>
            <a:r>
              <a:rPr lang="en-US" dirty="0"/>
              <a:t>DL = Deep learning</a:t>
            </a:r>
          </a:p>
        </p:txBody>
      </p:sp>
      <p:sp>
        <p:nvSpPr>
          <p:cNvPr id="4" name="Slide Number Placeholder 3"/>
          <p:cNvSpPr>
            <a:spLocks noGrp="1"/>
          </p:cNvSpPr>
          <p:nvPr>
            <p:ph type="sldNum" sz="quarter" idx="5"/>
          </p:nvPr>
        </p:nvSpPr>
        <p:spPr/>
        <p:txBody>
          <a:bodyPr/>
          <a:lstStyle/>
          <a:p>
            <a:fld id="{29E7BD1F-0023-244E-A8FD-1ADCC0FAE1A1}" type="slidenum">
              <a:rPr lang="en-US" smtClean="0"/>
              <a:t>2</a:t>
            </a:fld>
            <a:endParaRPr lang="en-US"/>
          </a:p>
        </p:txBody>
      </p:sp>
    </p:spTree>
    <p:extLst>
      <p:ext uri="{BB962C8B-B14F-4D97-AF65-F5344CB8AC3E}">
        <p14:creationId xmlns:p14="http://schemas.microsoft.com/office/powerpoint/2010/main" val="3747804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E7BD1F-0023-244E-A8FD-1ADCC0FAE1A1}" type="slidenum">
              <a:rPr lang="en-US" smtClean="0"/>
              <a:t>3</a:t>
            </a:fld>
            <a:endParaRPr lang="en-US"/>
          </a:p>
        </p:txBody>
      </p:sp>
    </p:spTree>
    <p:extLst>
      <p:ext uri="{BB962C8B-B14F-4D97-AF65-F5344CB8AC3E}">
        <p14:creationId xmlns:p14="http://schemas.microsoft.com/office/powerpoint/2010/main" val="23985727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1200" dirty="0">
                <a:solidFill>
                  <a:schemeClr val="tx1"/>
                </a:solidFill>
                <a:effectLst/>
                <a:latin typeface="+mn-lt"/>
                <a:ea typeface="+mn-ea"/>
                <a:cs typeface="+mn-cs"/>
              </a:rPr>
              <a:t>A biometric system is not “good” because it produces a high accuracy number. </a:t>
            </a:r>
            <a:br>
              <a:rPr lang="en-US" sz="1200" b="1" kern="1200" dirty="0">
                <a:solidFill>
                  <a:schemeClr val="tx1"/>
                </a:solidFill>
                <a:effectLst/>
                <a:latin typeface="+mn-lt"/>
                <a:ea typeface="+mn-ea"/>
                <a:cs typeface="+mn-cs"/>
              </a:rPr>
            </a:br>
            <a:endParaRPr lang="en-US" b="1"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A good biometric system produces reliable decisions for its intended application, under clearly defined conditions, and its performance can be measured and reproduced.</a:t>
            </a:r>
            <a:endParaRPr lang="en-US" dirty="0"/>
          </a:p>
          <a:p>
            <a:endParaRPr lang="en-US" dirty="0"/>
          </a:p>
        </p:txBody>
      </p:sp>
      <p:sp>
        <p:nvSpPr>
          <p:cNvPr id="4" name="Slide Number Placeholder 3"/>
          <p:cNvSpPr>
            <a:spLocks noGrp="1"/>
          </p:cNvSpPr>
          <p:nvPr>
            <p:ph type="sldNum" sz="quarter" idx="5"/>
          </p:nvPr>
        </p:nvSpPr>
        <p:spPr/>
        <p:txBody>
          <a:bodyPr/>
          <a:lstStyle/>
          <a:p>
            <a:fld id="{29E7BD1F-0023-244E-A8FD-1ADCC0FAE1A1}" type="slidenum">
              <a:rPr lang="en-US" smtClean="0"/>
              <a:t>5</a:t>
            </a:fld>
            <a:endParaRPr lang="en-US"/>
          </a:p>
        </p:txBody>
      </p:sp>
    </p:spTree>
    <p:extLst>
      <p:ext uri="{BB962C8B-B14F-4D97-AF65-F5344CB8AC3E}">
        <p14:creationId xmlns:p14="http://schemas.microsoft.com/office/powerpoint/2010/main" val="4185991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applications require different metrics!  </a:t>
            </a:r>
            <a:br>
              <a:rPr lang="en-US" dirty="0"/>
            </a:br>
            <a:r>
              <a:rPr lang="en-US" dirty="0"/>
              <a:t>Need to determine the amount of risk (and the consequences)</a:t>
            </a:r>
            <a:br>
              <a:rPr lang="en-US" dirty="0"/>
            </a:br>
            <a:r>
              <a:rPr lang="en-US" dirty="0"/>
              <a:t>How much control is there?</a:t>
            </a:r>
          </a:p>
          <a:p>
            <a:endParaRPr lang="en-US" dirty="0"/>
          </a:p>
        </p:txBody>
      </p:sp>
      <p:sp>
        <p:nvSpPr>
          <p:cNvPr id="4" name="Slide Number Placeholder 3"/>
          <p:cNvSpPr>
            <a:spLocks noGrp="1"/>
          </p:cNvSpPr>
          <p:nvPr>
            <p:ph type="sldNum" sz="quarter" idx="5"/>
          </p:nvPr>
        </p:nvSpPr>
        <p:spPr/>
        <p:txBody>
          <a:bodyPr/>
          <a:lstStyle/>
          <a:p>
            <a:fld id="{29E7BD1F-0023-244E-A8FD-1ADCC0FAE1A1}" type="slidenum">
              <a:rPr lang="en-US" smtClean="0"/>
              <a:t>6</a:t>
            </a:fld>
            <a:endParaRPr lang="en-US"/>
          </a:p>
        </p:txBody>
      </p:sp>
    </p:spTree>
    <p:extLst>
      <p:ext uri="{BB962C8B-B14F-4D97-AF65-F5344CB8AC3E}">
        <p14:creationId xmlns:p14="http://schemas.microsoft.com/office/powerpoint/2010/main" val="30354097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53CA8-8C35-9ADE-E4BA-F63AB45738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456041-2B35-EBBA-2AB4-53EB84F68E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1423D5-29C8-52DA-B205-2E5F30E92859}"/>
              </a:ext>
            </a:extLst>
          </p:cNvPr>
          <p:cNvSpPr>
            <a:spLocks noGrp="1"/>
          </p:cNvSpPr>
          <p:nvPr>
            <p:ph type="body" idx="1"/>
          </p:nvPr>
        </p:nvSpPr>
        <p:spPr/>
        <p:txBody>
          <a:bodyPr/>
          <a:lstStyle/>
          <a:p>
            <a:r>
              <a:rPr lang="en-US" dirty="0"/>
              <a:t>Different applications require different metrics!  </a:t>
            </a:r>
            <a:br>
              <a:rPr lang="en-US" dirty="0"/>
            </a:br>
            <a:r>
              <a:rPr lang="en-US" dirty="0"/>
              <a:t>Need to determine the amount of risk (and the consequences)</a:t>
            </a:r>
            <a:br>
              <a:rPr lang="en-US" dirty="0"/>
            </a:br>
            <a:r>
              <a:rPr lang="en-US" dirty="0"/>
              <a:t>How much control is there?</a:t>
            </a:r>
          </a:p>
          <a:p>
            <a:endParaRPr lang="en-US" dirty="0"/>
          </a:p>
        </p:txBody>
      </p:sp>
      <p:sp>
        <p:nvSpPr>
          <p:cNvPr id="4" name="Slide Number Placeholder 3">
            <a:extLst>
              <a:ext uri="{FF2B5EF4-FFF2-40B4-BE49-F238E27FC236}">
                <a16:creationId xmlns:a16="http://schemas.microsoft.com/office/drawing/2014/main" id="{E874AD87-594E-5667-BAC6-C243F081B10D}"/>
              </a:ext>
            </a:extLst>
          </p:cNvPr>
          <p:cNvSpPr>
            <a:spLocks noGrp="1"/>
          </p:cNvSpPr>
          <p:nvPr>
            <p:ph type="sldNum" sz="quarter" idx="5"/>
          </p:nvPr>
        </p:nvSpPr>
        <p:spPr/>
        <p:txBody>
          <a:bodyPr/>
          <a:lstStyle/>
          <a:p>
            <a:fld id="{29E7BD1F-0023-244E-A8FD-1ADCC0FAE1A1}" type="slidenum">
              <a:rPr lang="en-US" smtClean="0"/>
              <a:t>7</a:t>
            </a:fld>
            <a:endParaRPr lang="en-US"/>
          </a:p>
        </p:txBody>
      </p:sp>
    </p:spTree>
    <p:extLst>
      <p:ext uri="{BB962C8B-B14F-4D97-AF65-F5344CB8AC3E}">
        <p14:creationId xmlns:p14="http://schemas.microsoft.com/office/powerpoint/2010/main" val="3619390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32547-8027-0F28-A3EC-0D8DB73251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94A59D-D1D3-038C-B173-905699EE88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181F03-D25E-DAA4-3F70-BAEC9F2EB1CA}"/>
              </a:ext>
            </a:extLst>
          </p:cNvPr>
          <p:cNvSpPr>
            <a:spLocks noGrp="1"/>
          </p:cNvSpPr>
          <p:nvPr>
            <p:ph type="body" idx="1"/>
          </p:nvPr>
        </p:nvSpPr>
        <p:spPr/>
        <p:txBody>
          <a:bodyPr/>
          <a:lstStyle/>
          <a:p>
            <a:r>
              <a:rPr lang="en-US" dirty="0"/>
              <a:t>Different applications require different metrics!  </a:t>
            </a:r>
            <a:br>
              <a:rPr lang="en-US" dirty="0"/>
            </a:br>
            <a:r>
              <a:rPr lang="en-US" dirty="0"/>
              <a:t>Need to determine the amount of risk (and the consequences)</a:t>
            </a:r>
            <a:br>
              <a:rPr lang="en-US" dirty="0"/>
            </a:br>
            <a:r>
              <a:rPr lang="en-US" dirty="0"/>
              <a:t>How much control is there?</a:t>
            </a:r>
          </a:p>
          <a:p>
            <a:endParaRPr lang="en-US" dirty="0"/>
          </a:p>
        </p:txBody>
      </p:sp>
      <p:sp>
        <p:nvSpPr>
          <p:cNvPr id="4" name="Slide Number Placeholder 3">
            <a:extLst>
              <a:ext uri="{FF2B5EF4-FFF2-40B4-BE49-F238E27FC236}">
                <a16:creationId xmlns:a16="http://schemas.microsoft.com/office/drawing/2014/main" id="{08B9BFE3-C026-17C7-A734-EF1BE0F8BEDD}"/>
              </a:ext>
            </a:extLst>
          </p:cNvPr>
          <p:cNvSpPr>
            <a:spLocks noGrp="1"/>
          </p:cNvSpPr>
          <p:nvPr>
            <p:ph type="sldNum" sz="quarter" idx="5"/>
          </p:nvPr>
        </p:nvSpPr>
        <p:spPr/>
        <p:txBody>
          <a:bodyPr/>
          <a:lstStyle/>
          <a:p>
            <a:fld id="{29E7BD1F-0023-244E-A8FD-1ADCC0FAE1A1}" type="slidenum">
              <a:rPr lang="en-US" smtClean="0"/>
              <a:t>8</a:t>
            </a:fld>
            <a:endParaRPr lang="en-US"/>
          </a:p>
        </p:txBody>
      </p:sp>
    </p:spTree>
    <p:extLst>
      <p:ext uri="{BB962C8B-B14F-4D97-AF65-F5344CB8AC3E}">
        <p14:creationId xmlns:p14="http://schemas.microsoft.com/office/powerpoint/2010/main" val="11248676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B7F96-803C-52A2-E0F5-77FF52F71B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0118CC-D695-1113-2AB3-3796F80456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1AFBCC-45CC-F6AB-7776-316571F40300}"/>
              </a:ext>
            </a:extLst>
          </p:cNvPr>
          <p:cNvSpPr>
            <a:spLocks noGrp="1"/>
          </p:cNvSpPr>
          <p:nvPr>
            <p:ph type="body" idx="1"/>
          </p:nvPr>
        </p:nvSpPr>
        <p:spPr/>
        <p:txBody>
          <a:bodyPr/>
          <a:lstStyle/>
          <a:p>
            <a:r>
              <a:rPr lang="en-US" dirty="0"/>
              <a:t>Better genuine/impostor score separation generally provides a stronger foundation for good identification performance, whereas good rank accuracy can occur even when the genuine and impostor distributions substantially overlap.</a:t>
            </a:r>
            <a:br>
              <a:rPr lang="en-US" dirty="0"/>
            </a:br>
            <a:br>
              <a:rPr lang="en-US" dirty="0"/>
            </a:br>
            <a:r>
              <a:rPr lang="en-US" dirty="0"/>
              <a:t>ROC measures the quality of the underlying score space. Rank accuracy measures how that score space behaves when forced to make an identification decision among a particular number of candidates.</a:t>
            </a:r>
            <a:br>
              <a:rPr lang="en-US" dirty="0"/>
            </a:br>
            <a:br>
              <a:rPr lang="en-US" dirty="0"/>
            </a:br>
            <a:endParaRPr lang="en-US" dirty="0"/>
          </a:p>
        </p:txBody>
      </p:sp>
      <p:sp>
        <p:nvSpPr>
          <p:cNvPr id="4" name="Slide Number Placeholder 3">
            <a:extLst>
              <a:ext uri="{FF2B5EF4-FFF2-40B4-BE49-F238E27FC236}">
                <a16:creationId xmlns:a16="http://schemas.microsoft.com/office/drawing/2014/main" id="{071D8302-1886-BB30-6E1F-AC39F6E950B5}"/>
              </a:ext>
            </a:extLst>
          </p:cNvPr>
          <p:cNvSpPr>
            <a:spLocks noGrp="1"/>
          </p:cNvSpPr>
          <p:nvPr>
            <p:ph type="sldNum" sz="quarter" idx="5"/>
          </p:nvPr>
        </p:nvSpPr>
        <p:spPr/>
        <p:txBody>
          <a:bodyPr/>
          <a:lstStyle/>
          <a:p>
            <a:fld id="{29E7BD1F-0023-244E-A8FD-1ADCC0FAE1A1}" type="slidenum">
              <a:rPr lang="en-US" smtClean="0"/>
              <a:t>9</a:t>
            </a:fld>
            <a:endParaRPr lang="en-US"/>
          </a:p>
        </p:txBody>
      </p:sp>
    </p:spTree>
    <p:extLst>
      <p:ext uri="{BB962C8B-B14F-4D97-AF65-F5344CB8AC3E}">
        <p14:creationId xmlns:p14="http://schemas.microsoft.com/office/powerpoint/2010/main" val="37657266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E59A4-0B51-AD5C-36E0-17F8FF78BA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1C9A9B-0B0D-7858-1D78-C0D392B72A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2DAE9E-E9B8-D955-B3D4-A009B3C028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265E84-9E36-2308-F990-26E9C5974D5A}"/>
              </a:ext>
            </a:extLst>
          </p:cNvPr>
          <p:cNvSpPr>
            <a:spLocks noGrp="1"/>
          </p:cNvSpPr>
          <p:nvPr>
            <p:ph type="sldNum" sz="quarter" idx="5"/>
          </p:nvPr>
        </p:nvSpPr>
        <p:spPr/>
        <p:txBody>
          <a:bodyPr/>
          <a:lstStyle/>
          <a:p>
            <a:fld id="{29E7BD1F-0023-244E-A8FD-1ADCC0FAE1A1}" type="slidenum">
              <a:rPr lang="en-US" smtClean="0"/>
              <a:t>10</a:t>
            </a:fld>
            <a:endParaRPr lang="en-US"/>
          </a:p>
        </p:txBody>
      </p:sp>
    </p:spTree>
    <p:extLst>
      <p:ext uri="{BB962C8B-B14F-4D97-AF65-F5344CB8AC3E}">
        <p14:creationId xmlns:p14="http://schemas.microsoft.com/office/powerpoint/2010/main" val="10863595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7527-8944-C6FA-9727-919B9E99B8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3765B3-9E04-ED34-B57F-2B9021F8ED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9049D8-385D-7C5B-0117-0E97B7A0945B}"/>
              </a:ext>
            </a:extLst>
          </p:cNvPr>
          <p:cNvSpPr>
            <a:spLocks noGrp="1"/>
          </p:cNvSpPr>
          <p:nvPr>
            <p:ph type="body" idx="1"/>
          </p:nvPr>
        </p:nvSpPr>
        <p:spPr/>
        <p:txBody>
          <a:bodyPr/>
          <a:lstStyle/>
          <a:p>
            <a:r>
              <a:rPr lang="en-US" dirty="0"/>
              <a:t>Better genuine/impostor score separation generally provides a stronger foundation for good identification performance, whereas good rank accuracy can occur even when the genuine and impostor distributions substantially overlap.</a:t>
            </a:r>
            <a:br>
              <a:rPr lang="en-US" dirty="0"/>
            </a:br>
            <a:endParaRPr lang="en-US" dirty="0"/>
          </a:p>
        </p:txBody>
      </p:sp>
      <p:sp>
        <p:nvSpPr>
          <p:cNvPr id="4" name="Slide Number Placeholder 3">
            <a:extLst>
              <a:ext uri="{FF2B5EF4-FFF2-40B4-BE49-F238E27FC236}">
                <a16:creationId xmlns:a16="http://schemas.microsoft.com/office/drawing/2014/main" id="{E7B88428-B84A-00CE-0CFA-21FDBD9C904E}"/>
              </a:ext>
            </a:extLst>
          </p:cNvPr>
          <p:cNvSpPr>
            <a:spLocks noGrp="1"/>
          </p:cNvSpPr>
          <p:nvPr>
            <p:ph type="sldNum" sz="quarter" idx="5"/>
          </p:nvPr>
        </p:nvSpPr>
        <p:spPr/>
        <p:txBody>
          <a:bodyPr/>
          <a:lstStyle/>
          <a:p>
            <a:fld id="{29E7BD1F-0023-244E-A8FD-1ADCC0FAE1A1}" type="slidenum">
              <a:rPr lang="en-US" smtClean="0"/>
              <a:t>11</a:t>
            </a:fld>
            <a:endParaRPr lang="en-US"/>
          </a:p>
        </p:txBody>
      </p:sp>
    </p:spTree>
    <p:extLst>
      <p:ext uri="{BB962C8B-B14F-4D97-AF65-F5344CB8AC3E}">
        <p14:creationId xmlns:p14="http://schemas.microsoft.com/office/powerpoint/2010/main" val="34811519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C0421-2E0C-E35C-52C2-C59194B028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CAD8E-2A64-87A0-27CA-DA3C0ED010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7E441-623A-B3A5-40B3-0689F2AE67B4}"/>
              </a:ext>
            </a:extLst>
          </p:cNvPr>
          <p:cNvSpPr>
            <a:spLocks noGrp="1"/>
          </p:cNvSpPr>
          <p:nvPr>
            <p:ph type="body" idx="1"/>
          </p:nvPr>
        </p:nvSpPr>
        <p:spPr/>
        <p:txBody>
          <a:bodyPr/>
          <a:lstStyle/>
          <a:p>
            <a:r>
              <a:rPr lang="en-US" dirty="0"/>
              <a:t>For example, in an unattended surveillance application, failing to detect someone may be much more consequential than a small increase in matcher error.</a:t>
            </a:r>
          </a:p>
        </p:txBody>
      </p:sp>
      <p:sp>
        <p:nvSpPr>
          <p:cNvPr id="4" name="Slide Number Placeholder 3">
            <a:extLst>
              <a:ext uri="{FF2B5EF4-FFF2-40B4-BE49-F238E27FC236}">
                <a16:creationId xmlns:a16="http://schemas.microsoft.com/office/drawing/2014/main" id="{E501ACCA-54A6-CAB6-4B83-8F5C1245B1C8}"/>
              </a:ext>
            </a:extLst>
          </p:cNvPr>
          <p:cNvSpPr>
            <a:spLocks noGrp="1"/>
          </p:cNvSpPr>
          <p:nvPr>
            <p:ph type="sldNum" sz="quarter" idx="5"/>
          </p:nvPr>
        </p:nvSpPr>
        <p:spPr/>
        <p:txBody>
          <a:bodyPr/>
          <a:lstStyle/>
          <a:p>
            <a:fld id="{29E7BD1F-0023-244E-A8FD-1ADCC0FAE1A1}" type="slidenum">
              <a:rPr lang="en-US" smtClean="0"/>
              <a:t>12</a:t>
            </a:fld>
            <a:endParaRPr lang="en-US"/>
          </a:p>
        </p:txBody>
      </p:sp>
    </p:spTree>
    <p:extLst>
      <p:ext uri="{BB962C8B-B14F-4D97-AF65-F5344CB8AC3E}">
        <p14:creationId xmlns:p14="http://schemas.microsoft.com/office/powerpoint/2010/main" val="5603666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E7BD1F-0023-244E-A8FD-1ADCC0FAE1A1}" type="slidenum">
              <a:rPr lang="en-US" smtClean="0"/>
              <a:t>14</a:t>
            </a:fld>
            <a:endParaRPr lang="en-US"/>
          </a:p>
        </p:txBody>
      </p:sp>
    </p:spTree>
    <p:extLst>
      <p:ext uri="{BB962C8B-B14F-4D97-AF65-F5344CB8AC3E}">
        <p14:creationId xmlns:p14="http://schemas.microsoft.com/office/powerpoint/2010/main" val="9290219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84292-5552-F2FE-77F2-55F1F775D3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29C63A-48B7-AEC4-8C53-FF8D599772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9A66DC-DDDC-A5CF-A895-77D055767929}"/>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Core prompt:</a:t>
            </a:r>
            <a:r>
              <a:rPr lang="en-US" sz="1200" b="0" i="0" kern="1200" dirty="0">
                <a:solidFill>
                  <a:schemeClr val="tx1"/>
                </a:solidFill>
                <a:effectLst/>
                <a:latin typeface="+mn-lt"/>
                <a:ea typeface="+mn-ea"/>
                <a:cs typeface="+mn-cs"/>
              </a:rPr>
              <a:t> What do the authors believe is wrong or incomplete about conventional reporting of biometric performance, and why does it matter?</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Follow-up probes</a:t>
            </a:r>
            <a:endParaRPr lang="en-US" sz="1200" b="0" i="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The paper argues that uncertainty is broader than “error.” What is missing if a paper only reports a point estimate such as TAR at a specified FAR, EER, rank-1, or FNMR?</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Why do the authors resist treating a test result as a property of an algorithm alone?</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What is at stake when a result from one test setting is generalized to another setting or to real deployment?</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Which parts of a biometric experiment can make two apparently identical metrics mean different things?</a:t>
            </a:r>
          </a:p>
          <a:p>
            <a:pPr marL="171450" lvl="0" indent="-171450">
              <a:buFont typeface="Arial" panose="020B0604020202020204" pitchFamily="34" charset="0"/>
              <a:buChar char="•"/>
            </a:pP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Target synthesis:</a:t>
            </a:r>
            <a:r>
              <a:rPr lang="en-US" sz="1200" b="0" i="0" kern="1200" dirty="0">
                <a:solidFill>
                  <a:schemeClr val="tx1"/>
                </a:solidFill>
                <a:effectLst/>
                <a:latin typeface="+mn-lt"/>
                <a:ea typeface="+mn-ea"/>
                <a:cs typeface="+mn-cs"/>
              </a:rPr>
              <a:t> A performance number is a measurement made under particular conditions. Without a sufficiently complete definition of what was measured and control/reporting of influential conditions, its repeatability, reproducibility, and applicability beyond the test are unknown.</a:t>
            </a:r>
          </a:p>
          <a:p>
            <a:br>
              <a:rPr lang="en-US" dirty="0"/>
            </a:br>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0D52C5B-F710-9875-D9D8-6C5CF4D91725}"/>
              </a:ext>
            </a:extLst>
          </p:cNvPr>
          <p:cNvSpPr>
            <a:spLocks noGrp="1"/>
          </p:cNvSpPr>
          <p:nvPr>
            <p:ph type="sldNum" sz="quarter" idx="5"/>
          </p:nvPr>
        </p:nvSpPr>
        <p:spPr/>
        <p:txBody>
          <a:bodyPr/>
          <a:lstStyle/>
          <a:p>
            <a:fld id="{29E7BD1F-0023-244E-A8FD-1ADCC0FAE1A1}" type="slidenum">
              <a:rPr lang="en-US" smtClean="0"/>
              <a:t>17</a:t>
            </a:fld>
            <a:endParaRPr lang="en-US"/>
          </a:p>
        </p:txBody>
      </p:sp>
    </p:spTree>
    <p:extLst>
      <p:ext uri="{BB962C8B-B14F-4D97-AF65-F5344CB8AC3E}">
        <p14:creationId xmlns:p14="http://schemas.microsoft.com/office/powerpoint/2010/main" val="1917616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en-US" dirty="0"/>
          </a:p>
        </p:txBody>
      </p:sp>
      <p:sp>
        <p:nvSpPr>
          <p:cNvPr id="4" name="Slide Number Placeholder 3"/>
          <p:cNvSpPr>
            <a:spLocks noGrp="1"/>
          </p:cNvSpPr>
          <p:nvPr>
            <p:ph type="sldNum" sz="quarter" idx="5"/>
          </p:nvPr>
        </p:nvSpPr>
        <p:spPr/>
        <p:txBody>
          <a:bodyPr/>
          <a:lstStyle/>
          <a:p>
            <a:fld id="{29E7BD1F-0023-244E-A8FD-1ADCC0FAE1A1}" type="slidenum">
              <a:rPr lang="en-US" smtClean="0"/>
              <a:t>18</a:t>
            </a:fld>
            <a:endParaRPr lang="en-US"/>
          </a:p>
        </p:txBody>
      </p:sp>
    </p:spTree>
    <p:extLst>
      <p:ext uri="{BB962C8B-B14F-4D97-AF65-F5344CB8AC3E}">
        <p14:creationId xmlns:p14="http://schemas.microsoft.com/office/powerpoint/2010/main" val="509804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2F891-8B17-48F1-BE9F-1C3275E16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1F921D-91EA-1844-FAFA-F04BAF30E6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27BAD1-B445-87D5-07F2-6BCCEB025AF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Prompt:</a:t>
            </a:r>
            <a:r>
              <a:rPr lang="en-US" sz="1200" b="0" i="0" kern="1200" dirty="0">
                <a:solidFill>
                  <a:schemeClr val="tx1"/>
                </a:solidFill>
                <a:effectLst/>
                <a:latin typeface="+mn-lt"/>
                <a:ea typeface="+mn-ea"/>
                <a:cs typeface="+mn-cs"/>
              </a:rPr>
              <a:t> In a verification study, what exactly might the measurand be? Is it “FMR,” “FMR for this software/database/threshold,” or something still broader?</a:t>
            </a:r>
          </a:p>
          <a:p>
            <a:br>
              <a:rPr lang="en-US" dirty="0"/>
            </a:br>
            <a:r>
              <a:rPr lang="en-US" sz="1200" b="0" i="0" kern="1200" dirty="0">
                <a:solidFill>
                  <a:schemeClr val="tx1"/>
                </a:solidFill>
                <a:effectLst/>
                <a:latin typeface="+mn-lt"/>
                <a:ea typeface="+mn-ea"/>
                <a:cs typeface="+mn-cs"/>
              </a:rPr>
              <a:t>The best answer is </a:t>
            </a:r>
            <a:r>
              <a:rPr lang="en-US" sz="1200" b="1" i="0" kern="1200" dirty="0">
                <a:solidFill>
                  <a:schemeClr val="tx1"/>
                </a:solidFill>
                <a:effectLst/>
                <a:latin typeface="+mn-lt"/>
                <a:ea typeface="+mn-ea"/>
                <a:cs typeface="+mn-cs"/>
              </a:rPr>
              <a:t>something broader</a:t>
            </a:r>
            <a:r>
              <a:rPr lang="en-US" sz="1200" b="0" i="0" kern="1200" dirty="0">
                <a:solidFill>
                  <a:schemeClr val="tx1"/>
                </a:solidFill>
                <a:effectLst/>
                <a:latin typeface="+mn-lt"/>
                <a:ea typeface="+mn-ea"/>
                <a:cs typeface="+mn-cs"/>
              </a:rPr>
              <a:t>—and it depends on the purpose of the study.</a:t>
            </a:r>
          </a:p>
          <a:p>
            <a:pPr marL="171450" lvl="0" indent="-171450">
              <a:buFont typeface="Arial" panose="020B0604020202020204" pitchFamily="34" charset="0"/>
              <a:buChar char="•"/>
            </a:pPr>
            <a:r>
              <a:rPr lang="en-US" sz="1200" b="1" i="0" kern="1200" dirty="0">
                <a:solidFill>
                  <a:schemeClr val="tx1"/>
                </a:solidFill>
                <a:effectLst/>
                <a:latin typeface="+mn-lt"/>
                <a:ea typeface="+mn-ea"/>
                <a:cs typeface="+mn-cs"/>
              </a:rPr>
              <a:t>“FMR” alone</a:t>
            </a:r>
            <a:r>
              <a:rPr lang="en-US" sz="1200" b="0" i="0" kern="1200" dirty="0">
                <a:solidFill>
                  <a:schemeClr val="tx1"/>
                </a:solidFill>
                <a:effectLst/>
                <a:latin typeface="+mn-lt"/>
                <a:ea typeface="+mn-ea"/>
                <a:cs typeface="+mn-cs"/>
              </a:rPr>
              <a:t> is too vague. It names a metric, but not the population, system, decision rule, or conditions to which it applies.</a:t>
            </a:r>
          </a:p>
          <a:p>
            <a:pPr marL="171450" lvl="0" indent="-171450">
              <a:buFont typeface="Arial" panose="020B0604020202020204" pitchFamily="34" charset="0"/>
              <a:buChar char="•"/>
            </a:pPr>
            <a:r>
              <a:rPr lang="en-US" sz="1200" b="1" i="0" kern="1200" dirty="0">
                <a:solidFill>
                  <a:schemeClr val="tx1"/>
                </a:solidFill>
                <a:effectLst/>
                <a:latin typeface="+mn-lt"/>
                <a:ea typeface="+mn-ea"/>
                <a:cs typeface="+mn-cs"/>
              </a:rPr>
              <a:t>“FMR for this software/database/threshold”</a:t>
            </a:r>
            <a:r>
              <a:rPr lang="en-US" sz="1200" b="0" i="0" kern="1200" dirty="0">
                <a:solidFill>
                  <a:schemeClr val="tx1"/>
                </a:solidFill>
                <a:effectLst/>
                <a:latin typeface="+mn-lt"/>
                <a:ea typeface="+mn-ea"/>
                <a:cs typeface="+mn-cs"/>
              </a:rPr>
              <a:t> is closer, particularly for a controlled technology test, but it still leaves critical details implicit: the matching key/ground truth, sample-selection and pairing procedure, sensor/acquisition and preprocessing pipeline, software version and parameters, and the target population or application.</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measurand</a:t>
            </a:r>
            <a:r>
              <a:rPr lang="en-US" sz="1200" b="0" i="0" kern="1200" dirty="0">
                <a:solidFill>
                  <a:schemeClr val="tx1"/>
                </a:solidFill>
                <a:effectLst/>
                <a:latin typeface="+mn-lt"/>
                <a:ea typeface="+mn-ea"/>
                <a:cs typeface="+mn-cs"/>
              </a:rPr>
              <a:t> should instead be stated as the intended quantity</a:t>
            </a:r>
          </a:p>
          <a:p>
            <a:endParaRPr lang="en-US" dirty="0"/>
          </a:p>
        </p:txBody>
      </p:sp>
      <p:sp>
        <p:nvSpPr>
          <p:cNvPr id="4" name="Slide Number Placeholder 3">
            <a:extLst>
              <a:ext uri="{FF2B5EF4-FFF2-40B4-BE49-F238E27FC236}">
                <a16:creationId xmlns:a16="http://schemas.microsoft.com/office/drawing/2014/main" id="{4B987AE3-5139-29A8-79C8-D0C370AC4E33}"/>
              </a:ext>
            </a:extLst>
          </p:cNvPr>
          <p:cNvSpPr>
            <a:spLocks noGrp="1"/>
          </p:cNvSpPr>
          <p:nvPr>
            <p:ph type="sldNum" sz="quarter" idx="5"/>
          </p:nvPr>
        </p:nvSpPr>
        <p:spPr/>
        <p:txBody>
          <a:bodyPr/>
          <a:lstStyle/>
          <a:p>
            <a:fld id="{29E7BD1F-0023-244E-A8FD-1ADCC0FAE1A1}" type="slidenum">
              <a:rPr lang="en-US" smtClean="0"/>
              <a:t>19</a:t>
            </a:fld>
            <a:endParaRPr lang="en-US"/>
          </a:p>
        </p:txBody>
      </p:sp>
    </p:spTree>
    <p:extLst>
      <p:ext uri="{BB962C8B-B14F-4D97-AF65-F5344CB8AC3E}">
        <p14:creationId xmlns:p14="http://schemas.microsoft.com/office/powerpoint/2010/main" val="34098238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C5375-DE18-9024-1C1F-A2AC1522A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D125F0-0290-2CB1-00DE-66ED1B2A15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C3F794-A4ED-2347-6244-B68CF4C2C41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makes the resulting estimate interpretable, repeatable, and appropriately limited in scope. An observed FMR can be evaluated as an estimate of this specific probability; it should not automatically be generalized to other populations, cameras, lighting conditions, thresholds, software versions, or time periods.</a:t>
            </a:r>
            <a:endParaRPr lang="en-US" dirty="0"/>
          </a:p>
        </p:txBody>
      </p:sp>
      <p:sp>
        <p:nvSpPr>
          <p:cNvPr id="4" name="Slide Number Placeholder 3">
            <a:extLst>
              <a:ext uri="{FF2B5EF4-FFF2-40B4-BE49-F238E27FC236}">
                <a16:creationId xmlns:a16="http://schemas.microsoft.com/office/drawing/2014/main" id="{5FB94EC4-5FCD-954A-0813-8D16E9532FDB}"/>
              </a:ext>
            </a:extLst>
          </p:cNvPr>
          <p:cNvSpPr>
            <a:spLocks noGrp="1"/>
          </p:cNvSpPr>
          <p:nvPr>
            <p:ph type="sldNum" sz="quarter" idx="5"/>
          </p:nvPr>
        </p:nvSpPr>
        <p:spPr/>
        <p:txBody>
          <a:bodyPr/>
          <a:lstStyle/>
          <a:p>
            <a:fld id="{29E7BD1F-0023-244E-A8FD-1ADCC0FAE1A1}" type="slidenum">
              <a:rPr lang="en-US" smtClean="0"/>
              <a:t>20</a:t>
            </a:fld>
            <a:endParaRPr lang="en-US"/>
          </a:p>
        </p:txBody>
      </p:sp>
    </p:spTree>
    <p:extLst>
      <p:ext uri="{BB962C8B-B14F-4D97-AF65-F5344CB8AC3E}">
        <p14:creationId xmlns:p14="http://schemas.microsoft.com/office/powerpoint/2010/main" val="29898526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D95ED-5582-1781-E38C-D52343EA43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F20DCB-64D1-61BF-AC7A-5106B284AE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2F87E5-6E7C-7C79-2ACF-90359894B4F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Prompt:</a:t>
            </a:r>
            <a:r>
              <a:rPr lang="en-US" sz="1200" b="0" i="0" kern="1200" dirty="0">
                <a:solidFill>
                  <a:schemeClr val="tx1"/>
                </a:solidFill>
                <a:effectLst/>
                <a:latin typeface="+mn-lt"/>
                <a:ea typeface="+mn-ea"/>
                <a:cs typeface="+mn-cs"/>
              </a:rPr>
              <a:t> Choose one reported biometric result you have seen. What would belong in its unit of empirical significance beyond model architecture and metric?</a:t>
            </a:r>
            <a:endParaRPr lang="en-US" dirty="0"/>
          </a:p>
        </p:txBody>
      </p:sp>
      <p:sp>
        <p:nvSpPr>
          <p:cNvPr id="4" name="Slide Number Placeholder 3">
            <a:extLst>
              <a:ext uri="{FF2B5EF4-FFF2-40B4-BE49-F238E27FC236}">
                <a16:creationId xmlns:a16="http://schemas.microsoft.com/office/drawing/2014/main" id="{FC1F8FCD-BB46-993C-D347-D19C67CC58F8}"/>
              </a:ext>
            </a:extLst>
          </p:cNvPr>
          <p:cNvSpPr>
            <a:spLocks noGrp="1"/>
          </p:cNvSpPr>
          <p:nvPr>
            <p:ph type="sldNum" sz="quarter" idx="5"/>
          </p:nvPr>
        </p:nvSpPr>
        <p:spPr/>
        <p:txBody>
          <a:bodyPr/>
          <a:lstStyle/>
          <a:p>
            <a:fld id="{29E7BD1F-0023-244E-A8FD-1ADCC0FAE1A1}" type="slidenum">
              <a:rPr lang="en-US" smtClean="0"/>
              <a:t>21</a:t>
            </a:fld>
            <a:endParaRPr lang="en-US"/>
          </a:p>
        </p:txBody>
      </p:sp>
    </p:spTree>
    <p:extLst>
      <p:ext uri="{BB962C8B-B14F-4D97-AF65-F5344CB8AC3E}">
        <p14:creationId xmlns:p14="http://schemas.microsoft.com/office/powerpoint/2010/main" val="39842986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8148F-0F6C-340C-63E1-2D266CB4D8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A30E90-21C8-FE75-84CF-E6DA5D4094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6C72B-13DA-6866-E532-C7A5FDE1FA5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mn-cs"/>
              </a:rPr>
              <a:t>Beyond the architecture and accuracy metric, </a:t>
            </a:r>
            <a:r>
              <a:rPr lang="en-US" sz="1200" b="1" kern="1200" dirty="0">
                <a:solidFill>
                  <a:schemeClr val="tx1"/>
                </a:solidFill>
                <a:effectLst/>
                <a:latin typeface="+mn-lt"/>
                <a:ea typeface="+mn-ea"/>
                <a:cs typeface="+mn-cs"/>
              </a:rPr>
              <a:t>what does the unit of empirical significance include?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1"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1200" dirty="0">
                <a:solidFill>
                  <a:schemeClr val="tx1"/>
                </a:solidFill>
                <a:effectLst/>
                <a:latin typeface="+mn-lt"/>
                <a:ea typeface="+mn-ea"/>
                <a:cs typeface="+mn-cs"/>
              </a:rPr>
              <a:t>LFW dataset</a:t>
            </a:r>
            <a:r>
              <a:rPr lang="en-US" sz="1200" b="0" kern="1200" dirty="0">
                <a:solidFill>
                  <a:schemeClr val="tx1"/>
                </a:solidFill>
                <a:effectLst/>
                <a:latin typeface="+mn-lt"/>
                <a:ea typeface="+mn-ea"/>
                <a:cs typeface="+mn-cs"/>
              </a:rPr>
              <a:t>: identities and images, </a:t>
            </a:r>
            <a:r>
              <a:rPr lang="en-US" sz="1200" b="0" kern="1200" dirty="0" err="1">
                <a:solidFill>
                  <a:schemeClr val="tx1"/>
                </a:solidFill>
                <a:effectLst/>
                <a:latin typeface="+mn-lt"/>
                <a:ea typeface="+mn-ea"/>
                <a:cs typeface="+mn-cs"/>
              </a:rPr>
              <a:t>demongraphics</a:t>
            </a:r>
            <a:r>
              <a:rPr lang="en-US" sz="1200" b="0" kern="1200" dirty="0">
                <a:solidFill>
                  <a:schemeClr val="tx1"/>
                </a:solidFill>
                <a:effectLst/>
                <a:latin typeface="+mn-lt"/>
                <a:ea typeface="+mn-ea"/>
                <a:cs typeface="+mn-cs"/>
              </a:rPr>
              <a:t>, image quality, pose, and collection era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1200" dirty="0">
                <a:solidFill>
                  <a:schemeClr val="tx1"/>
                </a:solidFill>
                <a:effectLst/>
                <a:latin typeface="+mn-lt"/>
                <a:ea typeface="+mn-ea"/>
                <a:cs typeface="+mn-cs"/>
              </a:rPr>
              <a:t>ID labels and pair definitions:</a:t>
            </a:r>
            <a:r>
              <a:rPr lang="en-US" sz="1200" b="0" kern="1200" dirty="0">
                <a:solidFill>
                  <a:schemeClr val="tx1"/>
                </a:solidFill>
                <a:effectLst/>
                <a:latin typeface="+mn-lt"/>
                <a:ea typeface="+mn-ea"/>
                <a:cs typeface="+mn-cs"/>
              </a:rPr>
              <a:t> How mated and non-mated pairs are determined and whether any labels are incorrect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1200" dirty="0">
                <a:solidFill>
                  <a:schemeClr val="tx1"/>
                </a:solidFill>
                <a:effectLst/>
                <a:latin typeface="+mn-lt"/>
                <a:ea typeface="+mn-ea"/>
                <a:cs typeface="+mn-cs"/>
              </a:rPr>
              <a:t>Protocol</a:t>
            </a:r>
            <a:r>
              <a:rPr lang="en-US" sz="1200" b="0" kern="1200" dirty="0">
                <a:solidFill>
                  <a:schemeClr val="tx1"/>
                </a:solidFill>
                <a:effectLst/>
                <a:latin typeface="+mn-lt"/>
                <a:ea typeface="+mn-ea"/>
                <a:cs typeface="+mn-cs"/>
              </a:rPr>
              <a:t>: 6,000 selected pairs, ten folds, and the procedure for estimating decision threshold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1200" dirty="0">
                <a:solidFill>
                  <a:schemeClr val="tx1"/>
                </a:solidFill>
                <a:effectLst/>
                <a:latin typeface="+mn-lt"/>
                <a:ea typeface="+mn-ea"/>
                <a:cs typeface="+mn-cs"/>
              </a:rPr>
              <a:t>Exact data splits</a:t>
            </a:r>
            <a:r>
              <a:rPr lang="en-US" sz="1200" b="0" kern="1200" dirty="0">
                <a:solidFill>
                  <a:schemeClr val="tx1"/>
                </a:solidFill>
                <a:effectLst/>
                <a:latin typeface="+mn-lt"/>
                <a:ea typeface="+mn-ea"/>
                <a:cs typeface="+mn-cs"/>
              </a:rPr>
              <a:t>: which identities and images were used to train the embedding, whether they overlap with LFW, and the preprocessing/alignment applied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1200" dirty="0">
                <a:solidFill>
                  <a:schemeClr val="tx1"/>
                </a:solidFill>
                <a:effectLst/>
                <a:latin typeface="+mn-lt"/>
                <a:ea typeface="+mn-ea"/>
                <a:cs typeface="+mn-cs"/>
              </a:rPr>
              <a:t>Image processing pipeline:</a:t>
            </a:r>
            <a:r>
              <a:rPr lang="en-US" sz="1200" b="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face detection, cropping, alignment, resizing, normalization, and handling of failed detections;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embedding and comparison procedure</a:t>
            </a:r>
            <a:r>
              <a:rPr lang="en-US" sz="1200" b="0" i="0" kern="1200" dirty="0">
                <a:solidFill>
                  <a:schemeClr val="tx1"/>
                </a:solidFill>
                <a:effectLst/>
                <a:latin typeface="+mn-lt"/>
                <a:ea typeface="+mn-ea"/>
                <a:cs typeface="+mn-cs"/>
              </a:rPr>
              <a:t>: model weights/checkpoint, embedding dimension, distance or similarity function, and score normalization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software and hardware environment</a:t>
            </a:r>
            <a:r>
              <a:rPr lang="en-US" sz="1200" b="0" i="0" kern="1200" dirty="0">
                <a:solidFill>
                  <a:schemeClr val="tx1"/>
                </a:solidFill>
                <a:effectLst/>
                <a:latin typeface="+mn-lt"/>
                <a:ea typeface="+mn-ea"/>
                <a:cs typeface="+mn-cs"/>
              </a:rPr>
              <a:t>: library versions, implementation choices, numerical settings, and model inference configuration; and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intended interpretation</a:t>
            </a:r>
            <a:r>
              <a:rPr lang="en-US" sz="1200" b="0" i="0" kern="1200" dirty="0">
                <a:solidFill>
                  <a:schemeClr val="tx1"/>
                </a:solidFill>
                <a:effectLst/>
                <a:latin typeface="+mn-lt"/>
                <a:ea typeface="+mn-ea"/>
                <a:cs typeface="+mn-cs"/>
              </a:rPr>
              <a:t>: performance on the LFW benchmark protocol, not automatically performance for a real access-control, surveillance, or identity-verification deployment.</a:t>
            </a:r>
          </a:p>
        </p:txBody>
      </p:sp>
      <p:sp>
        <p:nvSpPr>
          <p:cNvPr id="4" name="Slide Number Placeholder 3">
            <a:extLst>
              <a:ext uri="{FF2B5EF4-FFF2-40B4-BE49-F238E27FC236}">
                <a16:creationId xmlns:a16="http://schemas.microsoft.com/office/drawing/2014/main" id="{ACE4528A-BADE-8F18-C5DE-8B14224EA13F}"/>
              </a:ext>
            </a:extLst>
          </p:cNvPr>
          <p:cNvSpPr>
            <a:spLocks noGrp="1"/>
          </p:cNvSpPr>
          <p:nvPr>
            <p:ph type="sldNum" sz="quarter" idx="5"/>
          </p:nvPr>
        </p:nvSpPr>
        <p:spPr/>
        <p:txBody>
          <a:bodyPr/>
          <a:lstStyle/>
          <a:p>
            <a:fld id="{29E7BD1F-0023-244E-A8FD-1ADCC0FAE1A1}" type="slidenum">
              <a:rPr lang="en-US" smtClean="0"/>
              <a:t>22</a:t>
            </a:fld>
            <a:endParaRPr lang="en-US"/>
          </a:p>
        </p:txBody>
      </p:sp>
    </p:spTree>
    <p:extLst>
      <p:ext uri="{BB962C8B-B14F-4D97-AF65-F5344CB8AC3E}">
        <p14:creationId xmlns:p14="http://schemas.microsoft.com/office/powerpoint/2010/main" val="5416592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4572C-2CC4-2A69-4717-5C770A3C7F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B078C4-DA0B-EA1D-3D3A-3559F56E44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0F95B9-3BBC-286D-6EE8-927994A33E2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Prompt:</a:t>
            </a:r>
            <a:r>
              <a:rPr lang="en-US" sz="1200" b="0" i="0" kern="1200" dirty="0">
                <a:solidFill>
                  <a:schemeClr val="tx1"/>
                </a:solidFill>
                <a:effectLst/>
                <a:latin typeface="+mn-lt"/>
                <a:ea typeface="+mn-ea"/>
                <a:cs typeface="+mn-cs"/>
              </a:rPr>
              <a:t> What would it mean to put a modern deep-learning biometric experiment “under statistical control”? Which factors can be measured, and which are difficult to control?</a:t>
            </a:r>
            <a:endParaRPr lang="en-US" dirty="0"/>
          </a:p>
        </p:txBody>
      </p:sp>
      <p:sp>
        <p:nvSpPr>
          <p:cNvPr id="4" name="Slide Number Placeholder 3">
            <a:extLst>
              <a:ext uri="{FF2B5EF4-FFF2-40B4-BE49-F238E27FC236}">
                <a16:creationId xmlns:a16="http://schemas.microsoft.com/office/drawing/2014/main" id="{790DECB4-D4F0-0899-526A-7C7E57493A4D}"/>
              </a:ext>
            </a:extLst>
          </p:cNvPr>
          <p:cNvSpPr>
            <a:spLocks noGrp="1"/>
          </p:cNvSpPr>
          <p:nvPr>
            <p:ph type="sldNum" sz="quarter" idx="5"/>
          </p:nvPr>
        </p:nvSpPr>
        <p:spPr/>
        <p:txBody>
          <a:bodyPr/>
          <a:lstStyle/>
          <a:p>
            <a:fld id="{29E7BD1F-0023-244E-A8FD-1ADCC0FAE1A1}" type="slidenum">
              <a:rPr lang="en-US" smtClean="0"/>
              <a:t>23</a:t>
            </a:fld>
            <a:endParaRPr lang="en-US"/>
          </a:p>
        </p:txBody>
      </p:sp>
    </p:spTree>
    <p:extLst>
      <p:ext uri="{BB962C8B-B14F-4D97-AF65-F5344CB8AC3E}">
        <p14:creationId xmlns:p14="http://schemas.microsoft.com/office/powerpoint/2010/main" val="17902541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8F1BE-A91C-E48B-2B12-6417778792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AD16C5-9A72-8D7A-4446-A823CAA010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6886A9-8621-4DA5-6AE9-EFF4EBAB4F8A}"/>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For a face-verification experiment, factors that can usually be </a:t>
            </a:r>
            <a:r>
              <a:rPr lang="en-US" sz="1200" b="1" i="0" kern="1200" dirty="0">
                <a:solidFill>
                  <a:schemeClr val="tx1"/>
                </a:solidFill>
                <a:effectLst/>
                <a:latin typeface="+mn-lt"/>
                <a:ea typeface="+mn-ea"/>
                <a:cs typeface="+mn-cs"/>
              </a:rPr>
              <a:t>controlled or measured</a:t>
            </a:r>
            <a:r>
              <a:rPr lang="en-US" sz="1200" b="0" i="0" kern="1200" dirty="0">
                <a:solidFill>
                  <a:schemeClr val="tx1"/>
                </a:solidFill>
                <a:effectLst/>
                <a:latin typeface="+mn-lt"/>
                <a:ea typeface="+mn-ea"/>
                <a:cs typeface="+mn-cs"/>
              </a:rPr>
              <a:t> include:</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train/validation/test identity splits and any identity overlap;</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dataset version, labels, pair-generation protocol, and sampling procedure;</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model architecture, pretrained weights, loss function, optimizer, hyperparameters, number of epochs, and random seeds;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preprocessing: detector, alignment, crop, resolution, normalization, and treatment of detection or quality-control failures;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comparison rule: similarity metric, score normalization, threshold-selection procedure, and reporting metric;</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software versions, hardware, mixed-precision settings, and inference configuration;</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observed dataset attributes, such as sensor/camera, pose, illumination, capture session, image quality, demographic labels where available, and time between enrollment and probe images.</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Factors that are often </a:t>
            </a:r>
            <a:r>
              <a:rPr lang="en-US" sz="1200" b="1" i="0" kern="1200" dirty="0">
                <a:solidFill>
                  <a:schemeClr val="tx1"/>
                </a:solidFill>
                <a:effectLst/>
                <a:latin typeface="+mn-lt"/>
                <a:ea typeface="+mn-ea"/>
                <a:cs typeface="+mn-cs"/>
              </a:rPr>
              <a:t>difficult to control</a:t>
            </a:r>
            <a:r>
              <a:rPr lang="en-US" sz="1200" b="0" i="0" kern="1200" dirty="0">
                <a:solidFill>
                  <a:schemeClr val="tx1"/>
                </a:solidFill>
                <a:effectLst/>
                <a:latin typeface="+mn-lt"/>
                <a:ea typeface="+mn-ea"/>
                <a:cs typeface="+mn-cs"/>
              </a:rPr>
              <a:t>, and sometimes difficult even to measure fully, include:</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whether the sampled subjects and images represent the intended deployment population;</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latent or incompletely documented dataset biases;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label or matching-key errors;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real user behavior, such as cooperation, retries, presentation angle, or deliberate attempts to defeat the system;</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changing environmental conditions, sensor aging, camera placement, and software updates;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correlations among samples from the same subject, session, location, or collection process;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temporal change: aging, appearance changes, evolving population composition, and changing attack behavior; and</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unknown interactions among these factors—for example, a preprocessing choice that affects one camera, demographic group, or quality regime differently than another.</a:t>
            </a:r>
          </a:p>
          <a:p>
            <a:pPr marL="171450" lvl="0" indent="-171450">
              <a:buFont typeface="Arial" panose="020B0604020202020204" pitchFamily="34" charset="0"/>
              <a:buChar char="•"/>
            </a:pP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If two research groups release the same code and report different results, which uncontrolled or undocumented parts of the experimental system would you investigate before concluding that one implementation is wrong?</a:t>
            </a:r>
            <a:endParaRPr lang="en-US" sz="1200" b="0" i="0" kern="1200" dirty="0">
              <a:solidFill>
                <a:schemeClr val="tx1"/>
              </a:solidFill>
              <a:effectLst/>
              <a:latin typeface="+mn-lt"/>
              <a:ea typeface="+mn-ea"/>
              <a:cs typeface="+mn-cs"/>
            </a:endParaRPr>
          </a:p>
          <a:p>
            <a:br>
              <a:rPr lang="en-US" dirty="0"/>
            </a:br>
            <a:br>
              <a:rPr lang="en-US" dirty="0"/>
            </a:br>
            <a:r>
              <a:rPr lang="en-US" b="1" dirty="0"/>
              <a:t>*** IMPORTANT ***</a:t>
            </a:r>
            <a:br>
              <a:rPr lang="en-US" dirty="0"/>
            </a:br>
            <a:r>
              <a:rPr lang="en-US" sz="1200" b="1" i="0" kern="1200" dirty="0">
                <a:solidFill>
                  <a:schemeClr val="tx1"/>
                </a:solidFill>
                <a:effectLst/>
                <a:latin typeface="+mn-lt"/>
                <a:ea typeface="+mn-ea"/>
                <a:cs typeface="+mn-cs"/>
              </a:rPr>
              <a:t>Releasing code is helpful, but it does not automatically make a result reproducible.</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Reproduction also requires enough information and access to recreate the relevant experimental conditions, including:</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exact data version, identity splits, labels/matching keys, and evaluation protocol;</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preprocessing, quality-control, pair-generation, and threshold-selection procedures;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model weights, training configuration, random seeds, dependencies, and hardware/runtime settings;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treatment of failures such as undetected faces or failed enrollment; and</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a clear definition of what result is expected to be reproduced and under what conditions.</a:t>
            </a:r>
          </a:p>
          <a:p>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659D7D7-1B09-3776-FD4F-2405319313C5}"/>
              </a:ext>
            </a:extLst>
          </p:cNvPr>
          <p:cNvSpPr>
            <a:spLocks noGrp="1"/>
          </p:cNvSpPr>
          <p:nvPr>
            <p:ph type="sldNum" sz="quarter" idx="5"/>
          </p:nvPr>
        </p:nvSpPr>
        <p:spPr/>
        <p:txBody>
          <a:bodyPr/>
          <a:lstStyle/>
          <a:p>
            <a:fld id="{29E7BD1F-0023-244E-A8FD-1ADCC0FAE1A1}" type="slidenum">
              <a:rPr lang="en-US" smtClean="0"/>
              <a:t>24</a:t>
            </a:fld>
            <a:endParaRPr lang="en-US"/>
          </a:p>
        </p:txBody>
      </p:sp>
    </p:spTree>
    <p:extLst>
      <p:ext uri="{BB962C8B-B14F-4D97-AF65-F5344CB8AC3E}">
        <p14:creationId xmlns:p14="http://schemas.microsoft.com/office/powerpoint/2010/main" val="11553487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0994D-64D8-E99E-6BED-0E8A93BFA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AEEC77-9036-2793-E3B9-C99A7849D4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289A75-AE3F-2674-AD3F-F3D9038DF45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Prompt:</a:t>
            </a:r>
            <a:r>
              <a:rPr lang="en-US" sz="1200" b="0" i="0" kern="1200" dirty="0">
                <a:solidFill>
                  <a:schemeClr val="tx1"/>
                </a:solidFill>
                <a:effectLst/>
                <a:latin typeface="+mn-lt"/>
                <a:ea typeface="+mn-ea"/>
                <a:cs typeface="+mn-cs"/>
              </a:rPr>
              <a:t> What would it mean to put a modern deep-learning biometric experiment “under statistical control”? Which factors can be measured, and which are difficult to control?</a:t>
            </a:r>
            <a:endParaRPr lang="en-US" dirty="0"/>
          </a:p>
        </p:txBody>
      </p:sp>
      <p:sp>
        <p:nvSpPr>
          <p:cNvPr id="4" name="Slide Number Placeholder 3">
            <a:extLst>
              <a:ext uri="{FF2B5EF4-FFF2-40B4-BE49-F238E27FC236}">
                <a16:creationId xmlns:a16="http://schemas.microsoft.com/office/drawing/2014/main" id="{72E9233A-3C09-528A-0DA7-3AFB0E60EBE1}"/>
              </a:ext>
            </a:extLst>
          </p:cNvPr>
          <p:cNvSpPr>
            <a:spLocks noGrp="1"/>
          </p:cNvSpPr>
          <p:nvPr>
            <p:ph type="sldNum" sz="quarter" idx="5"/>
          </p:nvPr>
        </p:nvSpPr>
        <p:spPr/>
        <p:txBody>
          <a:bodyPr/>
          <a:lstStyle/>
          <a:p>
            <a:fld id="{29E7BD1F-0023-244E-A8FD-1ADCC0FAE1A1}" type="slidenum">
              <a:rPr lang="en-US" smtClean="0"/>
              <a:t>25</a:t>
            </a:fld>
            <a:endParaRPr lang="en-US"/>
          </a:p>
        </p:txBody>
      </p:sp>
    </p:spTree>
    <p:extLst>
      <p:ext uri="{BB962C8B-B14F-4D97-AF65-F5344CB8AC3E}">
        <p14:creationId xmlns:p14="http://schemas.microsoft.com/office/powerpoint/2010/main" val="38848069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81726-368B-F58C-C6A1-7F7873EC1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EBFE6A-8307-AB5E-9030-F4FC9264CF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EC2128-82D6-00E4-B000-A7044F9DF6A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4E74BE6-94B1-129A-B328-F64F0D27FE4D}"/>
              </a:ext>
            </a:extLst>
          </p:cNvPr>
          <p:cNvSpPr>
            <a:spLocks noGrp="1"/>
          </p:cNvSpPr>
          <p:nvPr>
            <p:ph type="sldNum" sz="quarter" idx="5"/>
          </p:nvPr>
        </p:nvSpPr>
        <p:spPr/>
        <p:txBody>
          <a:bodyPr/>
          <a:lstStyle/>
          <a:p>
            <a:fld id="{29E7BD1F-0023-244E-A8FD-1ADCC0FAE1A1}" type="slidenum">
              <a:rPr lang="en-US" smtClean="0"/>
              <a:t>26</a:t>
            </a:fld>
            <a:endParaRPr lang="en-US"/>
          </a:p>
        </p:txBody>
      </p:sp>
    </p:spTree>
    <p:extLst>
      <p:ext uri="{BB962C8B-B14F-4D97-AF65-F5344CB8AC3E}">
        <p14:creationId xmlns:p14="http://schemas.microsoft.com/office/powerpoint/2010/main" val="18616155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E86FC-F7FA-4223-B7B9-A422E5FE0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E6CC8D-90B6-1EDC-7AAF-3B33A0861C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D003A6-8C81-C5CF-D2A8-1FE2494617B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E980647-FB9F-D652-F7EE-50279A8FFE5F}"/>
              </a:ext>
            </a:extLst>
          </p:cNvPr>
          <p:cNvSpPr>
            <a:spLocks noGrp="1"/>
          </p:cNvSpPr>
          <p:nvPr>
            <p:ph type="sldNum" sz="quarter" idx="5"/>
          </p:nvPr>
        </p:nvSpPr>
        <p:spPr/>
        <p:txBody>
          <a:bodyPr/>
          <a:lstStyle/>
          <a:p>
            <a:fld id="{29E7BD1F-0023-244E-A8FD-1ADCC0FAE1A1}" type="slidenum">
              <a:rPr lang="en-US" smtClean="0"/>
              <a:t>27</a:t>
            </a:fld>
            <a:endParaRPr lang="en-US"/>
          </a:p>
        </p:txBody>
      </p:sp>
    </p:spTree>
    <p:extLst>
      <p:ext uri="{BB962C8B-B14F-4D97-AF65-F5344CB8AC3E}">
        <p14:creationId xmlns:p14="http://schemas.microsoft.com/office/powerpoint/2010/main" val="32193628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BFCDC-4FAC-AABC-D509-DC5CEE29B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E0DB1E-F4B9-C32A-FE24-97099EA6C8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A44D4-EF0E-FA67-2EB6-698ADE8FB0E7}"/>
              </a:ext>
            </a:extLst>
          </p:cNvPr>
          <p:cNvSpPr>
            <a:spLocks noGrp="1"/>
          </p:cNvSpPr>
          <p:nvPr>
            <p:ph type="body" idx="1"/>
          </p:nvPr>
        </p:nvSpPr>
        <p:spPr/>
        <p:txBody>
          <a:bodyPr/>
          <a:lstStyle/>
          <a:p>
            <a:pPr lvl="0"/>
            <a:r>
              <a:rPr lang="en-US" dirty="0"/>
              <a:t>Ma et al. represent the iris primarily through hand-designed local texture statistics. Although this provides a compact and discriminative representation, the relatively coarse spatial pooling and fixed filter bank can discard fine-grained spatial/structural information and do not exploit potentially complementary biometric information across spectra or acquisition conditions.</a:t>
            </a:r>
          </a:p>
        </p:txBody>
      </p:sp>
      <p:sp>
        <p:nvSpPr>
          <p:cNvPr id="4" name="Slide Number Placeholder 3">
            <a:extLst>
              <a:ext uri="{FF2B5EF4-FFF2-40B4-BE49-F238E27FC236}">
                <a16:creationId xmlns:a16="http://schemas.microsoft.com/office/drawing/2014/main" id="{88BC0318-09B4-41C2-CBA5-293E91137C5C}"/>
              </a:ext>
            </a:extLst>
          </p:cNvPr>
          <p:cNvSpPr>
            <a:spLocks noGrp="1"/>
          </p:cNvSpPr>
          <p:nvPr>
            <p:ph type="sldNum" sz="quarter" idx="5"/>
          </p:nvPr>
        </p:nvSpPr>
        <p:spPr/>
        <p:txBody>
          <a:bodyPr/>
          <a:lstStyle/>
          <a:p>
            <a:fld id="{29E7BD1F-0023-244E-A8FD-1ADCC0FAE1A1}" type="slidenum">
              <a:rPr lang="en-US" smtClean="0"/>
              <a:t>28</a:t>
            </a:fld>
            <a:endParaRPr lang="en-US"/>
          </a:p>
        </p:txBody>
      </p:sp>
    </p:spTree>
    <p:extLst>
      <p:ext uri="{BB962C8B-B14F-4D97-AF65-F5344CB8AC3E}">
        <p14:creationId xmlns:p14="http://schemas.microsoft.com/office/powerpoint/2010/main" val="1038171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55BD7-37BF-4E36-8F28-67BD40373D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3ACBF7-D240-A320-978B-7E21B71C29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BCB2A34-3520-C142-2371-9A000140B56F}"/>
              </a:ext>
            </a:extLst>
          </p:cNvPr>
          <p:cNvSpPr>
            <a:spLocks noGrp="1"/>
          </p:cNvSpPr>
          <p:nvPr>
            <p:ph type="dt" sz="half" idx="10"/>
          </p:nvPr>
        </p:nvSpPr>
        <p:spPr/>
        <p:txBody>
          <a:bodyPr/>
          <a:lstStyle/>
          <a:p>
            <a:fld id="{A9B189FA-D012-F74A-85A4-7BDC5A0DCC07}" type="datetime1">
              <a:rPr lang="en-US" smtClean="0"/>
              <a:t>9/8/26</a:t>
            </a:fld>
            <a:endParaRPr lang="en-US"/>
          </a:p>
        </p:txBody>
      </p:sp>
      <p:sp>
        <p:nvSpPr>
          <p:cNvPr id="5" name="Footer Placeholder 4">
            <a:extLst>
              <a:ext uri="{FF2B5EF4-FFF2-40B4-BE49-F238E27FC236}">
                <a16:creationId xmlns:a16="http://schemas.microsoft.com/office/drawing/2014/main" id="{DFFB9F44-3BB6-E725-24EB-941F27C9CA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224BD5-3153-0587-36B8-CD91C3703711}"/>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279400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E3FE9-A364-D73A-05F6-FFF58EA302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ACE305-35F5-5977-7B49-2F2A8ECC2E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DFE3B5-FE82-2C25-DDE3-47AE2CFAC5F5}"/>
              </a:ext>
            </a:extLst>
          </p:cNvPr>
          <p:cNvSpPr>
            <a:spLocks noGrp="1"/>
          </p:cNvSpPr>
          <p:nvPr>
            <p:ph type="dt" sz="half" idx="10"/>
          </p:nvPr>
        </p:nvSpPr>
        <p:spPr/>
        <p:txBody>
          <a:bodyPr/>
          <a:lstStyle/>
          <a:p>
            <a:fld id="{323757D1-56E3-134F-BEDA-601B842448FF}" type="datetime1">
              <a:rPr lang="en-US" smtClean="0"/>
              <a:t>9/8/26</a:t>
            </a:fld>
            <a:endParaRPr lang="en-US"/>
          </a:p>
        </p:txBody>
      </p:sp>
      <p:sp>
        <p:nvSpPr>
          <p:cNvPr id="5" name="Footer Placeholder 4">
            <a:extLst>
              <a:ext uri="{FF2B5EF4-FFF2-40B4-BE49-F238E27FC236}">
                <a16:creationId xmlns:a16="http://schemas.microsoft.com/office/drawing/2014/main" id="{2AF54B18-4598-3209-5C87-B0577647DD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7259C2-4D2B-65D3-EC28-6A093F58B5FC}"/>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1184792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3D270-ED86-A140-D2D2-6E40EE7709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E1BFEE-3B5B-8F42-E644-E11232A428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EE3541-DCB2-3A84-28A5-55AA090C7367}"/>
              </a:ext>
            </a:extLst>
          </p:cNvPr>
          <p:cNvSpPr>
            <a:spLocks noGrp="1"/>
          </p:cNvSpPr>
          <p:nvPr>
            <p:ph type="dt" sz="half" idx="10"/>
          </p:nvPr>
        </p:nvSpPr>
        <p:spPr/>
        <p:txBody>
          <a:bodyPr/>
          <a:lstStyle/>
          <a:p>
            <a:fld id="{DBF24889-6A33-6C4A-885A-202C4F8C5613}" type="datetime1">
              <a:rPr lang="en-US" smtClean="0"/>
              <a:t>9/8/26</a:t>
            </a:fld>
            <a:endParaRPr lang="en-US"/>
          </a:p>
        </p:txBody>
      </p:sp>
      <p:sp>
        <p:nvSpPr>
          <p:cNvPr id="5" name="Footer Placeholder 4">
            <a:extLst>
              <a:ext uri="{FF2B5EF4-FFF2-40B4-BE49-F238E27FC236}">
                <a16:creationId xmlns:a16="http://schemas.microsoft.com/office/drawing/2014/main" id="{2DBC3851-4B31-8B2D-70B6-C0FC1D883D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0680C5-9A79-9CF1-B265-3FD1EDCADD42}"/>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2967775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84A61-1D50-E17A-7E22-578C312D4F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56280B-9CD0-9EA9-D5B2-5291E6A070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EAEC1E-92A3-F81F-C252-A8FF4F1A03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ED603F-FA12-FED1-58D5-6A8BC717800F}"/>
              </a:ext>
            </a:extLst>
          </p:cNvPr>
          <p:cNvSpPr>
            <a:spLocks noGrp="1"/>
          </p:cNvSpPr>
          <p:nvPr>
            <p:ph type="dt" sz="half" idx="10"/>
          </p:nvPr>
        </p:nvSpPr>
        <p:spPr/>
        <p:txBody>
          <a:bodyPr/>
          <a:lstStyle/>
          <a:p>
            <a:fld id="{CFA7F8CA-C602-1143-BC37-691685131BC4}" type="datetime1">
              <a:rPr lang="en-US" smtClean="0"/>
              <a:t>9/8/26</a:t>
            </a:fld>
            <a:endParaRPr lang="en-US"/>
          </a:p>
        </p:txBody>
      </p:sp>
      <p:sp>
        <p:nvSpPr>
          <p:cNvPr id="6" name="Footer Placeholder 5">
            <a:extLst>
              <a:ext uri="{FF2B5EF4-FFF2-40B4-BE49-F238E27FC236}">
                <a16:creationId xmlns:a16="http://schemas.microsoft.com/office/drawing/2014/main" id="{0B6826EA-8FB4-C6B9-30B3-2510583EAF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4EC8D0-A8F1-6023-2FFB-D130171B0AC1}"/>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1944185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DEC2B-3E3F-0138-5350-608E24D7F3C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9007462-B5F0-6C22-50CD-5C106C5833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6E5DFC-5DBE-20CF-F375-FFEAB8E457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6B81173-E1E3-7B84-B402-65A61171CB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126268-0CD1-ACA1-14AB-8ADF04620A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6EFB38-0E1D-E36D-BB00-8C6CE66D26CB}"/>
              </a:ext>
            </a:extLst>
          </p:cNvPr>
          <p:cNvSpPr>
            <a:spLocks noGrp="1"/>
          </p:cNvSpPr>
          <p:nvPr>
            <p:ph type="dt" sz="half" idx="10"/>
          </p:nvPr>
        </p:nvSpPr>
        <p:spPr/>
        <p:txBody>
          <a:bodyPr/>
          <a:lstStyle/>
          <a:p>
            <a:fld id="{024CE067-138D-5B43-81DC-9DAB0F0B5506}" type="datetime1">
              <a:rPr lang="en-US" smtClean="0"/>
              <a:t>9/8/26</a:t>
            </a:fld>
            <a:endParaRPr lang="en-US"/>
          </a:p>
        </p:txBody>
      </p:sp>
      <p:sp>
        <p:nvSpPr>
          <p:cNvPr id="8" name="Footer Placeholder 7">
            <a:extLst>
              <a:ext uri="{FF2B5EF4-FFF2-40B4-BE49-F238E27FC236}">
                <a16:creationId xmlns:a16="http://schemas.microsoft.com/office/drawing/2014/main" id="{3A46F722-1880-BC96-896E-EC21AC89AA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9DEDEE-16E9-C882-1F36-FD088FDB2ECD}"/>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3366051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390D7-4AE0-27F9-D2BB-4D7D49CB28D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6670660-75F0-0CDD-5F9F-3829800A37F0}"/>
              </a:ext>
            </a:extLst>
          </p:cNvPr>
          <p:cNvSpPr>
            <a:spLocks noGrp="1"/>
          </p:cNvSpPr>
          <p:nvPr>
            <p:ph type="dt" sz="half" idx="10"/>
          </p:nvPr>
        </p:nvSpPr>
        <p:spPr/>
        <p:txBody>
          <a:bodyPr/>
          <a:lstStyle/>
          <a:p>
            <a:fld id="{D4F39845-7DD4-DF41-8287-EDB7FDC122CC}" type="datetime1">
              <a:rPr lang="en-US" smtClean="0"/>
              <a:t>9/8/26</a:t>
            </a:fld>
            <a:endParaRPr lang="en-US"/>
          </a:p>
        </p:txBody>
      </p:sp>
      <p:sp>
        <p:nvSpPr>
          <p:cNvPr id="4" name="Footer Placeholder 3">
            <a:extLst>
              <a:ext uri="{FF2B5EF4-FFF2-40B4-BE49-F238E27FC236}">
                <a16:creationId xmlns:a16="http://schemas.microsoft.com/office/drawing/2014/main" id="{398BC658-82FA-564A-9F95-B794A709218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FBABAE-8960-26DD-C0AB-2DCC13A2F7D9}"/>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3156741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A9F884-98FA-788E-B999-6A02AF64B412}"/>
              </a:ext>
            </a:extLst>
          </p:cNvPr>
          <p:cNvSpPr>
            <a:spLocks noGrp="1"/>
          </p:cNvSpPr>
          <p:nvPr>
            <p:ph type="dt" sz="half" idx="10"/>
          </p:nvPr>
        </p:nvSpPr>
        <p:spPr/>
        <p:txBody>
          <a:bodyPr/>
          <a:lstStyle/>
          <a:p>
            <a:fld id="{A1A62EA6-5930-8A4D-AEF1-EABF7985616A}" type="datetime1">
              <a:rPr lang="en-US" smtClean="0"/>
              <a:t>9/8/26</a:t>
            </a:fld>
            <a:endParaRPr lang="en-US"/>
          </a:p>
        </p:txBody>
      </p:sp>
      <p:sp>
        <p:nvSpPr>
          <p:cNvPr id="3" name="Footer Placeholder 2">
            <a:extLst>
              <a:ext uri="{FF2B5EF4-FFF2-40B4-BE49-F238E27FC236}">
                <a16:creationId xmlns:a16="http://schemas.microsoft.com/office/drawing/2014/main" id="{F030D628-459C-C358-6CF0-984B7230F4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5B541A-0371-C571-6FDC-A08FC27F2D0E}"/>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3152612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AE166-F8AB-C666-2915-D32D1DB8C6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4F9D79C-7FE7-7EB6-94F7-E67700E117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E0CAAC-0B0D-2303-0A8B-936E8DFFD2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36B8F6-A943-5DDA-083F-63368D42D56F}"/>
              </a:ext>
            </a:extLst>
          </p:cNvPr>
          <p:cNvSpPr>
            <a:spLocks noGrp="1"/>
          </p:cNvSpPr>
          <p:nvPr>
            <p:ph type="dt" sz="half" idx="10"/>
          </p:nvPr>
        </p:nvSpPr>
        <p:spPr/>
        <p:txBody>
          <a:bodyPr/>
          <a:lstStyle/>
          <a:p>
            <a:fld id="{8FBA0ADB-7E75-B24E-8874-218BE3090DE3}" type="datetime1">
              <a:rPr lang="en-US" smtClean="0"/>
              <a:t>9/8/26</a:t>
            </a:fld>
            <a:endParaRPr lang="en-US"/>
          </a:p>
        </p:txBody>
      </p:sp>
      <p:sp>
        <p:nvSpPr>
          <p:cNvPr id="6" name="Footer Placeholder 5">
            <a:extLst>
              <a:ext uri="{FF2B5EF4-FFF2-40B4-BE49-F238E27FC236}">
                <a16:creationId xmlns:a16="http://schemas.microsoft.com/office/drawing/2014/main" id="{36FF915C-6EB4-D110-FA78-79FE9A6BE6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2DB6A3-BDF8-29F7-37A1-7D8629195C69}"/>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2514836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C9944-1659-BA22-CE12-045B87F594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BEA263-FFA1-DA08-023D-7E0A161E5E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31F6F9F-1567-8C00-C197-57568694A0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F6AD5D-DCC3-871D-FE87-F7F2E18AC18B}"/>
              </a:ext>
            </a:extLst>
          </p:cNvPr>
          <p:cNvSpPr>
            <a:spLocks noGrp="1"/>
          </p:cNvSpPr>
          <p:nvPr>
            <p:ph type="dt" sz="half" idx="10"/>
          </p:nvPr>
        </p:nvSpPr>
        <p:spPr/>
        <p:txBody>
          <a:bodyPr/>
          <a:lstStyle/>
          <a:p>
            <a:fld id="{BA81D44F-1F34-3942-AA2D-B5758A581CC9}" type="datetime1">
              <a:rPr lang="en-US" smtClean="0"/>
              <a:t>9/8/26</a:t>
            </a:fld>
            <a:endParaRPr lang="en-US"/>
          </a:p>
        </p:txBody>
      </p:sp>
      <p:sp>
        <p:nvSpPr>
          <p:cNvPr id="6" name="Footer Placeholder 5">
            <a:extLst>
              <a:ext uri="{FF2B5EF4-FFF2-40B4-BE49-F238E27FC236}">
                <a16:creationId xmlns:a16="http://schemas.microsoft.com/office/drawing/2014/main" id="{630417D0-BA01-36B5-653A-A1E9A7E574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259C58-0C4D-0374-B981-57831FBD5C40}"/>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2763496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22CD7-E54F-CD89-7485-5677F839E9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D466E9-BB5C-83A8-CF56-D7E21D8005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C86D00-F991-E78A-93EE-F68973EBE222}"/>
              </a:ext>
            </a:extLst>
          </p:cNvPr>
          <p:cNvSpPr>
            <a:spLocks noGrp="1"/>
          </p:cNvSpPr>
          <p:nvPr>
            <p:ph type="dt" sz="half" idx="10"/>
          </p:nvPr>
        </p:nvSpPr>
        <p:spPr/>
        <p:txBody>
          <a:bodyPr/>
          <a:lstStyle/>
          <a:p>
            <a:fld id="{BA71C76E-4CD2-3541-91F7-6CFB112AC445}" type="datetime1">
              <a:rPr lang="en-US" smtClean="0"/>
              <a:t>9/8/26</a:t>
            </a:fld>
            <a:endParaRPr lang="en-US"/>
          </a:p>
        </p:txBody>
      </p:sp>
      <p:sp>
        <p:nvSpPr>
          <p:cNvPr id="5" name="Footer Placeholder 4">
            <a:extLst>
              <a:ext uri="{FF2B5EF4-FFF2-40B4-BE49-F238E27FC236}">
                <a16:creationId xmlns:a16="http://schemas.microsoft.com/office/drawing/2014/main" id="{CF8CA405-E72D-8C54-88CA-BC6B2F35A4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84AE63-D71B-CD9C-AFEC-7E890DF29A09}"/>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1160403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A77E43-ACC6-26B0-8AB5-B0B5432A6B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0BB03F7-DBAC-4849-A157-459FD38A10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F43A34-F2DF-E4D4-43C5-B5B902106714}"/>
              </a:ext>
            </a:extLst>
          </p:cNvPr>
          <p:cNvSpPr>
            <a:spLocks noGrp="1"/>
          </p:cNvSpPr>
          <p:nvPr>
            <p:ph type="dt" sz="half" idx="10"/>
          </p:nvPr>
        </p:nvSpPr>
        <p:spPr/>
        <p:txBody>
          <a:bodyPr/>
          <a:lstStyle/>
          <a:p>
            <a:fld id="{A1EFDC6F-4961-104C-B0C1-DB03E481A001}" type="datetime1">
              <a:rPr lang="en-US" smtClean="0"/>
              <a:t>9/8/26</a:t>
            </a:fld>
            <a:endParaRPr lang="en-US"/>
          </a:p>
        </p:txBody>
      </p:sp>
      <p:sp>
        <p:nvSpPr>
          <p:cNvPr id="5" name="Footer Placeholder 4">
            <a:extLst>
              <a:ext uri="{FF2B5EF4-FFF2-40B4-BE49-F238E27FC236}">
                <a16:creationId xmlns:a16="http://schemas.microsoft.com/office/drawing/2014/main" id="{73C5EC14-305F-7D57-9D0B-746CE62821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F64559-BF47-1AD2-E577-83E2F6E72B8B}"/>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647687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19DD8B-A0D3-DCAC-67BF-1DA87AE35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F0C4E0-63A9-F57B-3913-E42895A202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EF23F0-1925-A80E-E6A6-CD06E96B3B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2C4FE2-D0F9-394C-BCBD-D168F4B4D931}" type="datetime1">
              <a:rPr lang="en-US" smtClean="0"/>
              <a:t>9/8/26</a:t>
            </a:fld>
            <a:endParaRPr lang="en-US"/>
          </a:p>
        </p:txBody>
      </p:sp>
      <p:sp>
        <p:nvSpPr>
          <p:cNvPr id="5" name="Footer Placeholder 4">
            <a:extLst>
              <a:ext uri="{FF2B5EF4-FFF2-40B4-BE49-F238E27FC236}">
                <a16:creationId xmlns:a16="http://schemas.microsoft.com/office/drawing/2014/main" id="{E45E9B10-0740-78EF-0212-FE71B83721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1A7D157-0278-E6CB-A277-999243C7E9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9B2F21-D912-7541-8ED2-FD6ABD90B685}" type="slidenum">
              <a:rPr lang="en-US" smtClean="0"/>
              <a:t>‹#›</a:t>
            </a:fld>
            <a:endParaRPr lang="en-US"/>
          </a:p>
        </p:txBody>
      </p:sp>
    </p:spTree>
    <p:extLst>
      <p:ext uri="{BB962C8B-B14F-4D97-AF65-F5344CB8AC3E}">
        <p14:creationId xmlns:p14="http://schemas.microsoft.com/office/powerpoint/2010/main" val="7160330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jpg"/><Relationship Id="rId5" Type="http://schemas.openxmlformats.org/officeDocument/2006/relationships/image" Target="../media/image13.jpe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jp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136A7-C380-6533-68F7-5FCB25388587}"/>
              </a:ext>
            </a:extLst>
          </p:cNvPr>
          <p:cNvSpPr>
            <a:spLocks noGrp="1"/>
          </p:cNvSpPr>
          <p:nvPr>
            <p:ph type="ctrTitle"/>
          </p:nvPr>
        </p:nvSpPr>
        <p:spPr/>
        <p:txBody>
          <a:bodyPr anchor="t">
            <a:normAutofit fontScale="90000"/>
          </a:bodyPr>
          <a:lstStyle/>
          <a:p>
            <a:r>
              <a:rPr lang="en-US" sz="4000" dirty="0"/>
              <a:t>Week 4</a:t>
            </a:r>
            <a:br>
              <a:rPr lang="en-US" sz="4000" dirty="0"/>
            </a:br>
            <a:br>
              <a:rPr lang="en-US" sz="4000" dirty="0"/>
            </a:br>
            <a:r>
              <a:rPr lang="en-US" sz="3600" b="1" dirty="0">
                <a:solidFill>
                  <a:srgbClr val="0070C0"/>
                </a:solidFill>
              </a:rPr>
              <a:t>How Do We Know Whether a Biometric System is “Good”?</a:t>
            </a:r>
            <a:br>
              <a:rPr lang="en-US" sz="3200" dirty="0">
                <a:solidFill>
                  <a:srgbClr val="0070C0"/>
                </a:solidFill>
              </a:rPr>
            </a:br>
            <a:br>
              <a:rPr lang="en-US" sz="3200" dirty="0">
                <a:solidFill>
                  <a:srgbClr val="0070C0"/>
                </a:solidFill>
              </a:rPr>
            </a:br>
            <a:endParaRPr lang="en-US" sz="3200" dirty="0">
              <a:solidFill>
                <a:srgbClr val="0070C0"/>
              </a:solidFill>
            </a:endParaRPr>
          </a:p>
        </p:txBody>
      </p:sp>
      <p:sp>
        <p:nvSpPr>
          <p:cNvPr id="3" name="Subtitle 2">
            <a:extLst>
              <a:ext uri="{FF2B5EF4-FFF2-40B4-BE49-F238E27FC236}">
                <a16:creationId xmlns:a16="http://schemas.microsoft.com/office/drawing/2014/main" id="{DEAD4E25-E958-FBCE-E1A7-3803FC37C249}"/>
              </a:ext>
            </a:extLst>
          </p:cNvPr>
          <p:cNvSpPr>
            <a:spLocks noGrp="1"/>
          </p:cNvSpPr>
          <p:nvPr>
            <p:ph type="subTitle" idx="1"/>
          </p:nvPr>
        </p:nvSpPr>
        <p:spPr/>
        <p:txBody>
          <a:bodyPr>
            <a:normAutofit fontScale="92500" lnSpcReduction="20000"/>
          </a:bodyPr>
          <a:lstStyle/>
          <a:p>
            <a:r>
              <a:rPr lang="en-US" dirty="0"/>
              <a:t>COSC 594-003 Special Topics in Computer Science</a:t>
            </a:r>
          </a:p>
          <a:p>
            <a:r>
              <a:rPr lang="en-US" b="1" dirty="0"/>
              <a:t>Biometrics</a:t>
            </a:r>
          </a:p>
          <a:p>
            <a:r>
              <a:rPr lang="en-US" dirty="0"/>
              <a:t>Benjamin S. Riggan</a:t>
            </a:r>
            <a:br>
              <a:rPr lang="en-US" dirty="0"/>
            </a:br>
            <a:r>
              <a:rPr lang="en-US" dirty="0"/>
              <a:t>Associate Professor</a:t>
            </a:r>
            <a:br>
              <a:rPr lang="en-US" dirty="0"/>
            </a:br>
            <a:endParaRPr lang="en-US" dirty="0"/>
          </a:p>
        </p:txBody>
      </p:sp>
      <p:pic>
        <p:nvPicPr>
          <p:cNvPr id="4" name="Picture 3" descr="EECS IT Help">
            <a:extLst>
              <a:ext uri="{FF2B5EF4-FFF2-40B4-BE49-F238E27FC236}">
                <a16:creationId xmlns:a16="http://schemas.microsoft.com/office/drawing/2014/main" id="{C1A58977-E919-897B-53CC-470809EFB2BD}"/>
              </a:ext>
            </a:extLst>
          </p:cNvPr>
          <p:cNvPicPr>
            <a:picLocks noChangeAspect="1"/>
          </p:cNvPicPr>
          <p:nvPr/>
        </p:nvPicPr>
        <p:blipFill>
          <a:blip r:embed="rId2"/>
          <a:stretch>
            <a:fillRect/>
          </a:stretch>
        </p:blipFill>
        <p:spPr>
          <a:xfrm>
            <a:off x="4651663" y="5013468"/>
            <a:ext cx="2888673" cy="1444337"/>
          </a:xfrm>
          <a:prstGeom prst="rect">
            <a:avLst/>
          </a:prstGeom>
        </p:spPr>
      </p:pic>
      <p:pic>
        <p:nvPicPr>
          <p:cNvPr id="6" name="Picture 5" descr="IEEE Biometrics Council | Welcome To IEEE Biometrics">
            <a:extLst>
              <a:ext uri="{FF2B5EF4-FFF2-40B4-BE49-F238E27FC236}">
                <a16:creationId xmlns:a16="http://schemas.microsoft.com/office/drawing/2014/main" id="{0FDF122F-DF23-DC90-3D7B-1D677CA35E6F}"/>
              </a:ext>
            </a:extLst>
          </p:cNvPr>
          <p:cNvPicPr>
            <a:picLocks noChangeAspect="1"/>
          </p:cNvPicPr>
          <p:nvPr/>
        </p:nvPicPr>
        <p:blipFill>
          <a:blip r:embed="rId3"/>
          <a:stretch>
            <a:fillRect/>
          </a:stretch>
        </p:blipFill>
        <p:spPr>
          <a:xfrm>
            <a:off x="7965458" y="5013467"/>
            <a:ext cx="2543317" cy="1426739"/>
          </a:xfrm>
          <a:prstGeom prst="rect">
            <a:avLst/>
          </a:prstGeom>
        </p:spPr>
      </p:pic>
      <p:sp>
        <p:nvSpPr>
          <p:cNvPr id="5" name="Slide Number Placeholder 4">
            <a:extLst>
              <a:ext uri="{FF2B5EF4-FFF2-40B4-BE49-F238E27FC236}">
                <a16:creationId xmlns:a16="http://schemas.microsoft.com/office/drawing/2014/main" id="{6D147458-81C4-53D5-F1DE-6786C4996ACD}"/>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1</a:t>
            </a:fld>
            <a:endParaRPr lang="en-US"/>
          </a:p>
        </p:txBody>
      </p:sp>
    </p:spTree>
    <p:extLst>
      <p:ext uri="{BB962C8B-B14F-4D97-AF65-F5344CB8AC3E}">
        <p14:creationId xmlns:p14="http://schemas.microsoft.com/office/powerpoint/2010/main" val="1434099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DCD0-74E7-7EED-EA12-0C52EB33BE6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93492DB-C6FA-E032-8EBA-3EA23E96D141}"/>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Recap Weeks 2-3</a:t>
            </a:r>
          </a:p>
        </p:txBody>
      </p:sp>
      <p:sp>
        <p:nvSpPr>
          <p:cNvPr id="3" name="Slide Number Placeholder 2">
            <a:extLst>
              <a:ext uri="{FF2B5EF4-FFF2-40B4-BE49-F238E27FC236}">
                <a16:creationId xmlns:a16="http://schemas.microsoft.com/office/drawing/2014/main" id="{7EFE87CF-4D45-6613-2765-6D7C1DF99278}"/>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2</a:t>
            </a:fld>
            <a:endParaRPr lang="en-US"/>
          </a:p>
        </p:txBody>
      </p:sp>
      <p:pic>
        <p:nvPicPr>
          <p:cNvPr id="6" name="Picture 5">
            <a:extLst>
              <a:ext uri="{FF2B5EF4-FFF2-40B4-BE49-F238E27FC236}">
                <a16:creationId xmlns:a16="http://schemas.microsoft.com/office/drawing/2014/main" id="{3BDE83CE-F13F-D9D7-F306-DD8A0498196D}"/>
              </a:ext>
            </a:extLst>
          </p:cNvPr>
          <p:cNvPicPr>
            <a:picLocks noChangeAspect="1"/>
          </p:cNvPicPr>
          <p:nvPr/>
        </p:nvPicPr>
        <p:blipFill>
          <a:blip r:embed="rId3"/>
          <a:stretch>
            <a:fillRect/>
          </a:stretch>
        </p:blipFill>
        <p:spPr>
          <a:xfrm>
            <a:off x="1985607" y="1111446"/>
            <a:ext cx="4110393" cy="5327353"/>
          </a:xfrm>
          <a:prstGeom prst="rect">
            <a:avLst/>
          </a:prstGeom>
        </p:spPr>
      </p:pic>
      <p:pic>
        <p:nvPicPr>
          <p:cNvPr id="8" name="Picture 7">
            <a:extLst>
              <a:ext uri="{FF2B5EF4-FFF2-40B4-BE49-F238E27FC236}">
                <a16:creationId xmlns:a16="http://schemas.microsoft.com/office/drawing/2014/main" id="{F0C2C8BF-0FA9-C343-B826-ED4FD5FCE427}"/>
              </a:ext>
            </a:extLst>
          </p:cNvPr>
          <p:cNvPicPr>
            <a:picLocks noChangeAspect="1"/>
          </p:cNvPicPr>
          <p:nvPr/>
        </p:nvPicPr>
        <p:blipFill>
          <a:blip r:embed="rId4"/>
          <a:srcRect l="339" r="339"/>
          <a:stretch/>
        </p:blipFill>
        <p:spPr>
          <a:xfrm>
            <a:off x="6088284" y="1041039"/>
            <a:ext cx="4085274" cy="5330952"/>
          </a:xfrm>
          <a:prstGeom prst="rect">
            <a:avLst/>
          </a:prstGeom>
        </p:spPr>
      </p:pic>
    </p:spTree>
    <p:extLst>
      <p:ext uri="{BB962C8B-B14F-4D97-AF65-F5344CB8AC3E}">
        <p14:creationId xmlns:p14="http://schemas.microsoft.com/office/powerpoint/2010/main" val="38423824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AA31F-5EAB-033B-35CA-1E849C9D140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CB728B4-528D-97D1-5AB5-963EF952FE8D}"/>
              </a:ext>
            </a:extLst>
          </p:cNvPr>
          <p:cNvSpPr txBox="1"/>
          <p:nvPr/>
        </p:nvSpPr>
        <p:spPr>
          <a:xfrm>
            <a:off x="605742" y="1125100"/>
            <a:ext cx="10995948" cy="1569660"/>
          </a:xfrm>
          <a:prstGeom prst="rect">
            <a:avLst/>
          </a:prstGeom>
          <a:noFill/>
        </p:spPr>
        <p:txBody>
          <a:bodyPr wrap="square" rtlCol="0">
            <a:spAutoFit/>
          </a:bodyPr>
          <a:lstStyle/>
          <a:p>
            <a:r>
              <a:rPr lang="en-US" sz="2400" dirty="0"/>
              <a:t>LAST WEEK — How should we learn identity?</a:t>
            </a:r>
          </a:p>
          <a:p>
            <a:endParaRPr lang="en-US" sz="2400" b="1" dirty="0">
              <a:solidFill>
                <a:srgbClr val="0070C0"/>
              </a:solidFill>
            </a:endParaRPr>
          </a:p>
          <a:p>
            <a:r>
              <a:rPr lang="en-US" sz="2400" b="1" dirty="0">
                <a:solidFill>
                  <a:srgbClr val="0070C0"/>
                </a:solidFill>
              </a:rPr>
              <a:t>THIS WEEK — How do we know whether a biometric system is “good”? </a:t>
            </a:r>
          </a:p>
          <a:p>
            <a:endParaRPr lang="en-US" sz="2400" dirty="0">
              <a:solidFill>
                <a:srgbClr val="0070C0"/>
              </a:solidFill>
            </a:endParaRPr>
          </a:p>
        </p:txBody>
      </p:sp>
      <p:sp>
        <p:nvSpPr>
          <p:cNvPr id="20" name="Slide Number Placeholder 19">
            <a:extLst>
              <a:ext uri="{FF2B5EF4-FFF2-40B4-BE49-F238E27FC236}">
                <a16:creationId xmlns:a16="http://schemas.microsoft.com/office/drawing/2014/main" id="{909AA2BC-369B-13FB-9DED-3098BC38067E}"/>
              </a:ext>
            </a:extLst>
          </p:cNvPr>
          <p:cNvSpPr>
            <a:spLocks noGrp="1"/>
          </p:cNvSpPr>
          <p:nvPr>
            <p:ph type="sldNum" sz="quarter" idx="12"/>
          </p:nvPr>
        </p:nvSpPr>
        <p:spPr/>
        <p:txBody>
          <a:bodyPr/>
          <a:lstStyle/>
          <a:p>
            <a:fld id="{659B2F21-D912-7541-8ED2-FD6ABD90B685}" type="slidenum">
              <a:rPr lang="en-US" smtClean="0"/>
              <a:t>3</a:t>
            </a:fld>
            <a:endParaRPr lang="en-US"/>
          </a:p>
        </p:txBody>
      </p:sp>
      <p:pic>
        <p:nvPicPr>
          <p:cNvPr id="6" name="Picture 2">
            <a:extLst>
              <a:ext uri="{FF2B5EF4-FFF2-40B4-BE49-F238E27FC236}">
                <a16:creationId xmlns:a16="http://schemas.microsoft.com/office/drawing/2014/main" id="{04282464-FF17-EC95-87AA-6F58F60D65D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46057" y="2715316"/>
            <a:ext cx="11299886" cy="3152633"/>
          </a:xfrm>
          <a:prstGeom prst="rect">
            <a:avLst/>
          </a:prstGeom>
        </p:spPr>
      </p:pic>
      <p:sp>
        <p:nvSpPr>
          <p:cNvPr id="7" name="TextBox 6">
            <a:extLst>
              <a:ext uri="{FF2B5EF4-FFF2-40B4-BE49-F238E27FC236}">
                <a16:creationId xmlns:a16="http://schemas.microsoft.com/office/drawing/2014/main" id="{EF878B1F-BA44-18DE-3CB2-1844BE710A4C}"/>
              </a:ext>
            </a:extLst>
          </p:cNvPr>
          <p:cNvSpPr txBox="1"/>
          <p:nvPr/>
        </p:nvSpPr>
        <p:spPr>
          <a:xfrm>
            <a:off x="2647666" y="5103674"/>
            <a:ext cx="1486241" cy="1754326"/>
          </a:xfrm>
          <a:prstGeom prst="rect">
            <a:avLst/>
          </a:prstGeom>
          <a:noFill/>
        </p:spPr>
        <p:txBody>
          <a:bodyPr wrap="none" rtlCol="0">
            <a:spAutoFit/>
          </a:bodyPr>
          <a:lstStyle/>
          <a:p>
            <a:pPr marL="285750" indent="-285750">
              <a:buFontTx/>
              <a:buChar char="-"/>
            </a:pPr>
            <a:r>
              <a:rPr lang="en-US" i="1" dirty="0"/>
              <a:t>person</a:t>
            </a:r>
          </a:p>
          <a:p>
            <a:pPr marL="285750" indent="-285750">
              <a:buFontTx/>
              <a:buChar char="-"/>
            </a:pPr>
            <a:r>
              <a:rPr lang="en-US" i="1" dirty="0"/>
              <a:t>face</a:t>
            </a:r>
          </a:p>
          <a:p>
            <a:pPr marL="285750" indent="-285750">
              <a:buFontTx/>
              <a:buChar char="-"/>
            </a:pPr>
            <a:r>
              <a:rPr lang="en-US" i="1" dirty="0"/>
              <a:t>fingerprint</a:t>
            </a:r>
          </a:p>
          <a:p>
            <a:pPr marL="285750" indent="-285750">
              <a:buFontTx/>
              <a:buChar char="-"/>
            </a:pPr>
            <a:r>
              <a:rPr lang="en-US" i="1" dirty="0"/>
              <a:t>iris</a:t>
            </a:r>
          </a:p>
          <a:p>
            <a:pPr marL="285750" indent="-285750">
              <a:buFontTx/>
              <a:buChar char="-"/>
            </a:pPr>
            <a:r>
              <a:rPr lang="en-US" i="1" dirty="0"/>
              <a:t>…</a:t>
            </a:r>
          </a:p>
          <a:p>
            <a:endParaRPr lang="en-US" i="1" dirty="0"/>
          </a:p>
        </p:txBody>
      </p:sp>
      <p:cxnSp>
        <p:nvCxnSpPr>
          <p:cNvPr id="11" name="Straight Arrow Connector 10">
            <a:extLst>
              <a:ext uri="{FF2B5EF4-FFF2-40B4-BE49-F238E27FC236}">
                <a16:creationId xmlns:a16="http://schemas.microsoft.com/office/drawing/2014/main" id="{19834419-AA21-0EE0-4A76-C32EE7DE7519}"/>
              </a:ext>
            </a:extLst>
          </p:cNvPr>
          <p:cNvCxnSpPr>
            <a:cxnSpLocks/>
          </p:cNvCxnSpPr>
          <p:nvPr/>
        </p:nvCxnSpPr>
        <p:spPr>
          <a:xfrm>
            <a:off x="5216576" y="1535176"/>
            <a:ext cx="0" cy="404734"/>
          </a:xfrm>
          <a:prstGeom prst="straightConnector1">
            <a:avLst/>
          </a:prstGeom>
          <a:ln w="76200">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DF2961A7-6B92-36C4-94F1-16B10BDD6126}"/>
              </a:ext>
            </a:extLst>
          </p:cNvPr>
          <p:cNvSpPr/>
          <p:nvPr/>
        </p:nvSpPr>
        <p:spPr>
          <a:xfrm>
            <a:off x="7439378" y="2715316"/>
            <a:ext cx="4459111" cy="334681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6910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D2D90-1EB2-8146-5933-03B82ADC391F}"/>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FF638841-D5EA-A42E-3D00-F3E3F6B7CED2}"/>
              </a:ext>
            </a:extLst>
          </p:cNvPr>
          <p:cNvSpPr>
            <a:spLocks noGrp="1"/>
          </p:cNvSpPr>
          <p:nvPr>
            <p:ph type="sldNum" sz="quarter" idx="12"/>
          </p:nvPr>
        </p:nvSpPr>
        <p:spPr/>
        <p:txBody>
          <a:bodyPr/>
          <a:lstStyle/>
          <a:p>
            <a:fld id="{659B2F21-D912-7541-8ED2-FD6ABD90B685}" type="slidenum">
              <a:rPr lang="en-US" smtClean="0"/>
              <a:t>4</a:t>
            </a:fld>
            <a:endParaRPr lang="en-US"/>
          </a:p>
        </p:txBody>
      </p:sp>
      <p:sp>
        <p:nvSpPr>
          <p:cNvPr id="3" name="TextBox 2">
            <a:extLst>
              <a:ext uri="{FF2B5EF4-FFF2-40B4-BE49-F238E27FC236}">
                <a16:creationId xmlns:a16="http://schemas.microsoft.com/office/drawing/2014/main" id="{77AB05E5-4932-FEEF-13F9-806EF0FCC168}"/>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Which system is better?</a:t>
            </a:r>
          </a:p>
        </p:txBody>
      </p:sp>
      <p:pic>
        <p:nvPicPr>
          <p:cNvPr id="2" name="Picture 1" descr="What to know about TSA's facial recognition tech">
            <a:extLst>
              <a:ext uri="{FF2B5EF4-FFF2-40B4-BE49-F238E27FC236}">
                <a16:creationId xmlns:a16="http://schemas.microsoft.com/office/drawing/2014/main" id="{780A7B33-1AED-C849-0AD8-6E2FFC08372E}"/>
              </a:ext>
            </a:extLst>
          </p:cNvPr>
          <p:cNvPicPr>
            <a:picLocks noChangeAspect="1"/>
          </p:cNvPicPr>
          <p:nvPr/>
        </p:nvPicPr>
        <p:blipFill>
          <a:blip r:embed="rId2"/>
          <a:stretch>
            <a:fillRect/>
          </a:stretch>
        </p:blipFill>
        <p:spPr>
          <a:xfrm>
            <a:off x="2396534" y="1875294"/>
            <a:ext cx="2368816" cy="4211227"/>
          </a:xfrm>
          <a:prstGeom prst="rect">
            <a:avLst/>
          </a:prstGeom>
        </p:spPr>
      </p:pic>
      <p:pic>
        <p:nvPicPr>
          <p:cNvPr id="4" name="Picture 3" descr="The new program will use a biometric kiosk to identify passengers faster,  though it still doesn't guarantee they'll be able to fly. MORE BELOW ⬇️">
            <a:extLst>
              <a:ext uri="{FF2B5EF4-FFF2-40B4-BE49-F238E27FC236}">
                <a16:creationId xmlns:a16="http://schemas.microsoft.com/office/drawing/2014/main" id="{90975213-A956-0FB5-B28E-6B487B8A0FC5}"/>
              </a:ext>
            </a:extLst>
          </p:cNvPr>
          <p:cNvPicPr>
            <a:picLocks noChangeAspect="1"/>
          </p:cNvPicPr>
          <p:nvPr/>
        </p:nvPicPr>
        <p:blipFill>
          <a:blip r:embed="rId3"/>
          <a:srcRect r="54779"/>
          <a:stretch>
            <a:fillRect/>
          </a:stretch>
        </p:blipFill>
        <p:spPr>
          <a:xfrm>
            <a:off x="6725605" y="1874930"/>
            <a:ext cx="2869704" cy="4207528"/>
          </a:xfrm>
          <a:prstGeom prst="rect">
            <a:avLst/>
          </a:prstGeom>
        </p:spPr>
      </p:pic>
      <p:sp>
        <p:nvSpPr>
          <p:cNvPr id="5" name="TextBox 4">
            <a:extLst>
              <a:ext uri="{FF2B5EF4-FFF2-40B4-BE49-F238E27FC236}">
                <a16:creationId xmlns:a16="http://schemas.microsoft.com/office/drawing/2014/main" id="{B7414804-AF1D-139B-3664-16718F8FF764}"/>
              </a:ext>
            </a:extLst>
          </p:cNvPr>
          <p:cNvSpPr txBox="1"/>
          <p:nvPr/>
        </p:nvSpPr>
        <p:spPr>
          <a:xfrm>
            <a:off x="2840579" y="1303580"/>
            <a:ext cx="1480726" cy="461665"/>
          </a:xfrm>
          <a:prstGeom prst="rect">
            <a:avLst/>
          </a:prstGeom>
          <a:noFill/>
        </p:spPr>
        <p:txBody>
          <a:bodyPr wrap="none" rtlCol="0">
            <a:spAutoFit/>
          </a:bodyPr>
          <a:lstStyle/>
          <a:p>
            <a:r>
              <a:rPr lang="en-US" sz="2400" b="1" dirty="0"/>
              <a:t>System A</a:t>
            </a:r>
          </a:p>
        </p:txBody>
      </p:sp>
      <p:sp>
        <p:nvSpPr>
          <p:cNvPr id="7" name="TextBox 6">
            <a:extLst>
              <a:ext uri="{FF2B5EF4-FFF2-40B4-BE49-F238E27FC236}">
                <a16:creationId xmlns:a16="http://schemas.microsoft.com/office/drawing/2014/main" id="{0EA922DB-BDA8-72D0-6E0F-BB55E6273AE0}"/>
              </a:ext>
            </a:extLst>
          </p:cNvPr>
          <p:cNvSpPr txBox="1"/>
          <p:nvPr/>
        </p:nvSpPr>
        <p:spPr>
          <a:xfrm>
            <a:off x="7420094" y="1303580"/>
            <a:ext cx="1480726" cy="461665"/>
          </a:xfrm>
          <a:prstGeom prst="rect">
            <a:avLst/>
          </a:prstGeom>
          <a:noFill/>
        </p:spPr>
        <p:txBody>
          <a:bodyPr wrap="none" rtlCol="0">
            <a:spAutoFit/>
          </a:bodyPr>
          <a:lstStyle/>
          <a:p>
            <a:r>
              <a:rPr lang="en-US" sz="2400" b="1" dirty="0"/>
              <a:t>System B</a:t>
            </a:r>
          </a:p>
        </p:txBody>
      </p:sp>
      <p:sp>
        <p:nvSpPr>
          <p:cNvPr id="8" name="TextBox 7">
            <a:extLst>
              <a:ext uri="{FF2B5EF4-FFF2-40B4-BE49-F238E27FC236}">
                <a16:creationId xmlns:a16="http://schemas.microsoft.com/office/drawing/2014/main" id="{87B67885-B919-FEF9-973D-63EF225D9620}"/>
              </a:ext>
            </a:extLst>
          </p:cNvPr>
          <p:cNvSpPr txBox="1"/>
          <p:nvPr/>
        </p:nvSpPr>
        <p:spPr>
          <a:xfrm>
            <a:off x="2396534" y="6141158"/>
            <a:ext cx="2395143" cy="461665"/>
          </a:xfrm>
          <a:prstGeom prst="rect">
            <a:avLst/>
          </a:prstGeom>
          <a:noFill/>
        </p:spPr>
        <p:txBody>
          <a:bodyPr wrap="none" rtlCol="0">
            <a:spAutoFit/>
          </a:bodyPr>
          <a:lstStyle/>
          <a:p>
            <a:r>
              <a:rPr lang="en-US" sz="2400" b="1" dirty="0">
                <a:solidFill>
                  <a:srgbClr val="FF0000"/>
                </a:solidFill>
              </a:rPr>
              <a:t>99.9% Accuracy</a:t>
            </a:r>
          </a:p>
        </p:txBody>
      </p:sp>
      <p:sp>
        <p:nvSpPr>
          <p:cNvPr id="11" name="TextBox 10">
            <a:extLst>
              <a:ext uri="{FF2B5EF4-FFF2-40B4-BE49-F238E27FC236}">
                <a16:creationId xmlns:a16="http://schemas.microsoft.com/office/drawing/2014/main" id="{A9065CAE-41F3-AA58-1854-E8D143C6F0A8}"/>
              </a:ext>
            </a:extLst>
          </p:cNvPr>
          <p:cNvSpPr txBox="1"/>
          <p:nvPr/>
        </p:nvSpPr>
        <p:spPr>
          <a:xfrm>
            <a:off x="6962885" y="6125517"/>
            <a:ext cx="2395143" cy="461665"/>
          </a:xfrm>
          <a:prstGeom prst="rect">
            <a:avLst/>
          </a:prstGeom>
          <a:noFill/>
        </p:spPr>
        <p:txBody>
          <a:bodyPr wrap="none" rtlCol="0">
            <a:spAutoFit/>
          </a:bodyPr>
          <a:lstStyle/>
          <a:p>
            <a:r>
              <a:rPr lang="en-US" sz="2400" b="1" dirty="0">
                <a:solidFill>
                  <a:srgbClr val="FF0000"/>
                </a:solidFill>
              </a:rPr>
              <a:t>99.5% Accuracy</a:t>
            </a:r>
          </a:p>
        </p:txBody>
      </p:sp>
      <p:sp>
        <p:nvSpPr>
          <p:cNvPr id="13" name="TextBox 12">
            <a:extLst>
              <a:ext uri="{FF2B5EF4-FFF2-40B4-BE49-F238E27FC236}">
                <a16:creationId xmlns:a16="http://schemas.microsoft.com/office/drawing/2014/main" id="{B4EC359E-5275-BA20-C5CA-D86080CF1109}"/>
              </a:ext>
            </a:extLst>
          </p:cNvPr>
          <p:cNvSpPr txBox="1"/>
          <p:nvPr/>
        </p:nvSpPr>
        <p:spPr>
          <a:xfrm>
            <a:off x="3408940" y="2790216"/>
            <a:ext cx="4673074" cy="5478423"/>
          </a:xfrm>
          <a:prstGeom prst="rect">
            <a:avLst/>
          </a:prstGeom>
          <a:noFill/>
        </p:spPr>
        <p:txBody>
          <a:bodyPr wrap="none" rtlCol="0">
            <a:spAutoFit/>
          </a:bodyPr>
          <a:lstStyle/>
          <a:p>
            <a:r>
              <a:rPr lang="en-US" sz="35000" dirty="0"/>
              <a:t>🚫</a:t>
            </a: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24EDBF07-D841-91C7-76E9-BA0107131B8E}"/>
                  </a:ext>
                </a:extLst>
              </p:cNvPr>
              <p:cNvSpPr txBox="1"/>
              <p:nvPr/>
            </p:nvSpPr>
            <p:spPr>
              <a:xfrm>
                <a:off x="5286057" y="5067183"/>
                <a:ext cx="918841" cy="1015663"/>
              </a:xfrm>
              <a:prstGeom prst="rect">
                <a:avLst/>
              </a:prstGeom>
              <a:noFill/>
            </p:spPr>
            <p:txBody>
              <a:bodyPr wrap="none" rtlCol="0">
                <a:spAutoFit/>
              </a:bodyPr>
              <a:lstStyle/>
              <a:p>
                <a14:m>
                  <m:oMathPara xmlns:m="http://schemas.openxmlformats.org/officeDocument/2006/math">
                    <m:oMath>
                      <m:r>
                        <a:rPr lang="en-US" sz="6000" b="0" i="1" smtClean="0">
                          <a:latin typeface="Cambria Math" panose="02040503050406030204" pitchFamily="18" charset="0"/>
                        </a:rPr>
                        <m:t>&gt;</m:t>
                      </m:r>
                    </m:oMath>
                  </m:oMathPara>
                </a14:m>
                <a:endParaRPr lang="en-US" sz="6000" dirty="0"/>
              </a:p>
            </p:txBody>
          </p:sp>
        </mc:Choice>
        <mc:Fallback>
          <p:sp>
            <p:nvSpPr>
              <p:cNvPr id="12" name="TextBox 11">
                <a:extLst>
                  <a:ext uri="{FF2B5EF4-FFF2-40B4-BE49-F238E27FC236}">
                    <a16:creationId xmlns:a16="http://schemas.microsoft.com/office/drawing/2014/main" id="{24EDBF07-D841-91C7-76E9-BA0107131B8E}"/>
                  </a:ext>
                </a:extLst>
              </p:cNvPr>
              <p:cNvSpPr txBox="1">
                <a:spLocks noRot="1" noChangeAspect="1" noMove="1" noResize="1" noEditPoints="1" noAdjustHandles="1" noChangeArrowheads="1" noChangeShapeType="1" noTextEdit="1"/>
              </p:cNvSpPr>
              <p:nvPr/>
            </p:nvSpPr>
            <p:spPr>
              <a:xfrm>
                <a:off x="5286057" y="5067183"/>
                <a:ext cx="918841" cy="1015663"/>
              </a:xfrm>
              <a:prstGeom prst="rect">
                <a:avLst/>
              </a:prstGeom>
              <a:blipFill>
                <a:blip r:embed="rId4"/>
                <a:stretch>
                  <a:fillRect l="-6849" r="-5479"/>
                </a:stretch>
              </a:blipFill>
            </p:spPr>
            <p:txBody>
              <a:bodyPr/>
              <a:lstStyle/>
              <a:p>
                <a:r>
                  <a:rPr lang="en-US">
                    <a:noFill/>
                  </a:rPr>
                  <a:t> </a:t>
                </a:r>
              </a:p>
            </p:txBody>
          </p:sp>
        </mc:Fallback>
      </mc:AlternateContent>
    </p:spTree>
    <p:extLst>
      <p:ext uri="{BB962C8B-B14F-4D97-AF65-F5344CB8AC3E}">
        <p14:creationId xmlns:p14="http://schemas.microsoft.com/office/powerpoint/2010/main" val="2557861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F01D04E5-6F71-F8B8-F0D7-C1EDB583CB57}"/>
                  </a:ext>
                </a:extLst>
              </p:cNvPr>
              <p:cNvSpPr>
                <a:spLocks noGrp="1"/>
              </p:cNvSpPr>
              <p:nvPr>
                <p:ph type="title"/>
              </p:nvPr>
            </p:nvSpPr>
            <p:spPr/>
            <p:txBody>
              <a:bodyPr/>
              <a:lstStyle/>
              <a:p>
                <a:r>
                  <a:rPr lang="en-US" b="1" dirty="0"/>
                  <a:t>❌ High Accuracy </a:t>
                </a:r>
                <a14:m>
                  <m:oMath xmlns:m="http://schemas.openxmlformats.org/officeDocument/2006/math">
                    <m:r>
                      <a:rPr lang="en-US" b="1" i="1">
                        <a:latin typeface="Cambria Math" panose="02040503050406030204" pitchFamily="18" charset="0"/>
                      </a:rPr>
                      <m:t>⇒</m:t>
                    </m:r>
                  </m:oMath>
                </a14:m>
                <a:r>
                  <a:rPr lang="en-US" b="1" dirty="0"/>
                  <a:t> “Good” system</a:t>
                </a:r>
                <a:endParaRPr lang="en-US" dirty="0"/>
              </a:p>
            </p:txBody>
          </p:sp>
        </mc:Choice>
        <mc:Fallback>
          <p:sp>
            <p:nvSpPr>
              <p:cNvPr id="2" name="Title 1">
                <a:extLst>
                  <a:ext uri="{FF2B5EF4-FFF2-40B4-BE49-F238E27FC236}">
                    <a16:creationId xmlns:a16="http://schemas.microsoft.com/office/drawing/2014/main" id="{F01D04E5-6F71-F8B8-F0D7-C1EDB583CB57}"/>
                  </a:ext>
                </a:extLst>
              </p:cNvPr>
              <p:cNvSpPr>
                <a:spLocks noGrp="1" noRot="1" noChangeAspect="1" noMove="1" noResize="1" noEditPoints="1" noAdjustHandles="1" noChangeArrowheads="1" noChangeShapeType="1" noTextEdit="1"/>
              </p:cNvSpPr>
              <p:nvPr>
                <p:ph type="title"/>
              </p:nvPr>
            </p:nvSpPr>
            <p:spPr>
              <a:blipFill>
                <a:blip r:embed="rId3"/>
                <a:stretch>
                  <a:fillRect l="-2413"/>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00E85F20-092C-D336-E9C1-F0121ED697EB}"/>
              </a:ext>
            </a:extLst>
          </p:cNvPr>
          <p:cNvSpPr>
            <a:spLocks noGrp="1"/>
          </p:cNvSpPr>
          <p:nvPr>
            <p:ph idx="1"/>
          </p:nvPr>
        </p:nvSpPr>
        <p:spPr/>
        <p:txBody>
          <a:bodyPr>
            <a:normAutofit/>
          </a:bodyPr>
          <a:lstStyle/>
          <a:p>
            <a:pPr marL="0" indent="0">
              <a:buNone/>
            </a:pPr>
            <a:r>
              <a:rPr lang="en-US" b="1" dirty="0"/>
              <a:t>Characteristic of a “Good” biometric systems:</a:t>
            </a:r>
            <a:br>
              <a:rPr lang="en-US" b="1" dirty="0"/>
            </a:br>
            <a:endParaRPr lang="en-US" b="1" dirty="0"/>
          </a:p>
          <a:p>
            <a:pPr>
              <a:buFont typeface="Wingdings" pitchFamily="2" charset="2"/>
              <a:buChar char="q"/>
            </a:pPr>
            <a:r>
              <a:rPr lang="en-US" dirty="0"/>
              <a:t> </a:t>
            </a:r>
            <a:r>
              <a:rPr lang="en-US" dirty="0">
                <a:solidFill>
                  <a:srgbClr val="0070C0"/>
                </a:solidFill>
              </a:rPr>
              <a:t>Discriminative</a:t>
            </a:r>
          </a:p>
          <a:p>
            <a:pPr>
              <a:buFont typeface="Wingdings" pitchFamily="2" charset="2"/>
              <a:buChar char="q"/>
            </a:pPr>
            <a:r>
              <a:rPr lang="en-US" dirty="0"/>
              <a:t> Reliable</a:t>
            </a:r>
          </a:p>
          <a:p>
            <a:pPr>
              <a:buFont typeface="Wingdings" pitchFamily="2" charset="2"/>
              <a:buChar char="q"/>
            </a:pPr>
            <a:r>
              <a:rPr lang="en-US" dirty="0"/>
              <a:t> Designed according to requirements and specification (</a:t>
            </a:r>
            <a:r>
              <a:rPr lang="en-US" dirty="0">
                <a:solidFill>
                  <a:srgbClr val="0070C0"/>
                </a:solidFill>
              </a:rPr>
              <a:t>Application</a:t>
            </a:r>
            <a:r>
              <a:rPr lang="en-US" dirty="0"/>
              <a:t>)</a:t>
            </a:r>
          </a:p>
          <a:p>
            <a:pPr>
              <a:buFont typeface="Wingdings" pitchFamily="2" charset="2"/>
              <a:buChar char="q"/>
            </a:pPr>
            <a:r>
              <a:rPr lang="en-US" dirty="0"/>
              <a:t> Clearly defined </a:t>
            </a:r>
            <a:r>
              <a:rPr lang="en-US" dirty="0">
                <a:solidFill>
                  <a:srgbClr val="0070C0"/>
                </a:solidFill>
              </a:rPr>
              <a:t>conditions</a:t>
            </a:r>
          </a:p>
          <a:p>
            <a:pPr>
              <a:buFont typeface="Wingdings" pitchFamily="2" charset="2"/>
              <a:buChar char="q"/>
            </a:pPr>
            <a:r>
              <a:rPr lang="en-US" dirty="0"/>
              <a:t> Measurable Performance</a:t>
            </a:r>
          </a:p>
          <a:p>
            <a:pPr>
              <a:buFont typeface="Wingdings" pitchFamily="2" charset="2"/>
              <a:buChar char="q"/>
            </a:pPr>
            <a:r>
              <a:rPr lang="en-US" dirty="0"/>
              <a:t> </a:t>
            </a:r>
            <a:r>
              <a:rPr lang="en-US" dirty="0">
                <a:solidFill>
                  <a:srgbClr val="0070C0"/>
                </a:solidFill>
              </a:rPr>
              <a:t>Reproducible</a:t>
            </a:r>
          </a:p>
          <a:p>
            <a:pPr>
              <a:buFont typeface="Wingdings" pitchFamily="2" charset="2"/>
              <a:buChar char="q"/>
            </a:pPr>
            <a:endParaRPr lang="en-US" b="1" dirty="0"/>
          </a:p>
          <a:p>
            <a:pPr marL="0" indent="0">
              <a:buNone/>
            </a:pPr>
            <a:endParaRPr lang="en-US" dirty="0"/>
          </a:p>
        </p:txBody>
      </p:sp>
      <p:sp>
        <p:nvSpPr>
          <p:cNvPr id="4" name="Slide Number Placeholder 3">
            <a:extLst>
              <a:ext uri="{FF2B5EF4-FFF2-40B4-BE49-F238E27FC236}">
                <a16:creationId xmlns:a16="http://schemas.microsoft.com/office/drawing/2014/main" id="{C3741CFC-A118-AD3E-8C05-14DBE9E09E46}"/>
              </a:ext>
            </a:extLst>
          </p:cNvPr>
          <p:cNvSpPr>
            <a:spLocks noGrp="1"/>
          </p:cNvSpPr>
          <p:nvPr>
            <p:ph type="sldNum" sz="quarter" idx="12"/>
          </p:nvPr>
        </p:nvSpPr>
        <p:spPr/>
        <p:txBody>
          <a:bodyPr/>
          <a:lstStyle/>
          <a:p>
            <a:fld id="{659B2F21-D912-7541-8ED2-FD6ABD90B685}" type="slidenum">
              <a:rPr lang="en-US" smtClean="0"/>
              <a:t>5</a:t>
            </a:fld>
            <a:endParaRPr lang="en-US"/>
          </a:p>
        </p:txBody>
      </p:sp>
    </p:spTree>
    <p:extLst>
      <p:ext uri="{BB962C8B-B14F-4D97-AF65-F5344CB8AC3E}">
        <p14:creationId xmlns:p14="http://schemas.microsoft.com/office/powerpoint/2010/main" val="2293441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481E9-A049-57B1-551C-22F27D414E05}"/>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9FFB0137-AC86-6298-714C-0395717C0436}"/>
              </a:ext>
            </a:extLst>
          </p:cNvPr>
          <p:cNvSpPr>
            <a:spLocks noGrp="1"/>
          </p:cNvSpPr>
          <p:nvPr>
            <p:ph type="sldNum" sz="quarter" idx="12"/>
          </p:nvPr>
        </p:nvSpPr>
        <p:spPr/>
        <p:txBody>
          <a:bodyPr/>
          <a:lstStyle/>
          <a:p>
            <a:fld id="{659B2F21-D912-7541-8ED2-FD6ABD90B685}" type="slidenum">
              <a:rPr lang="en-US" smtClean="0"/>
              <a:t>6</a:t>
            </a:fld>
            <a:endParaRPr lang="en-US"/>
          </a:p>
        </p:txBody>
      </p:sp>
      <p:sp>
        <p:nvSpPr>
          <p:cNvPr id="3" name="TextBox 2">
            <a:extLst>
              <a:ext uri="{FF2B5EF4-FFF2-40B4-BE49-F238E27FC236}">
                <a16:creationId xmlns:a16="http://schemas.microsoft.com/office/drawing/2014/main" id="{77C2892F-FFF5-4B02-2B94-16BDCC274C3E}"/>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Good for what???</a:t>
            </a:r>
          </a:p>
        </p:txBody>
      </p:sp>
      <p:pic>
        <p:nvPicPr>
          <p:cNvPr id="2" name="Picture 1">
            <a:extLst>
              <a:ext uri="{FF2B5EF4-FFF2-40B4-BE49-F238E27FC236}">
                <a16:creationId xmlns:a16="http://schemas.microsoft.com/office/drawing/2014/main" id="{9968DAC1-F4C6-E3DC-F73B-81D80BF076FC}"/>
              </a:ext>
            </a:extLst>
          </p:cNvPr>
          <p:cNvPicPr>
            <a:picLocks noChangeAspect="1"/>
          </p:cNvPicPr>
          <p:nvPr/>
        </p:nvPicPr>
        <p:blipFill>
          <a:blip r:embed="rId3"/>
          <a:stretch>
            <a:fillRect/>
          </a:stretch>
        </p:blipFill>
        <p:spPr>
          <a:xfrm>
            <a:off x="590310" y="1848935"/>
            <a:ext cx="6931384" cy="3885437"/>
          </a:xfrm>
          <a:prstGeom prst="rect">
            <a:avLst/>
          </a:prstGeom>
        </p:spPr>
      </p:pic>
      <p:sp>
        <p:nvSpPr>
          <p:cNvPr id="4" name="TextBox 3">
            <a:extLst>
              <a:ext uri="{FF2B5EF4-FFF2-40B4-BE49-F238E27FC236}">
                <a16:creationId xmlns:a16="http://schemas.microsoft.com/office/drawing/2014/main" id="{99162DAE-9619-EFC6-D619-2995C80D05C5}"/>
              </a:ext>
            </a:extLst>
          </p:cNvPr>
          <p:cNvSpPr txBox="1"/>
          <p:nvPr/>
        </p:nvSpPr>
        <p:spPr>
          <a:xfrm>
            <a:off x="7967420" y="1707874"/>
            <a:ext cx="4029559" cy="3046988"/>
          </a:xfrm>
          <a:prstGeom prst="rect">
            <a:avLst/>
          </a:prstGeom>
          <a:noFill/>
        </p:spPr>
        <p:txBody>
          <a:bodyPr wrap="square" rtlCol="0">
            <a:spAutoFit/>
          </a:bodyPr>
          <a:lstStyle/>
          <a:p>
            <a:r>
              <a:rPr lang="en-US" sz="2400" b="1" dirty="0"/>
              <a:t>Consider:</a:t>
            </a:r>
          </a:p>
          <a:p>
            <a:pPr marL="342900" indent="-342900">
              <a:buFont typeface="Arial" panose="020B0604020202020204" pitchFamily="34" charset="0"/>
              <a:buChar char="•"/>
            </a:pPr>
            <a:r>
              <a:rPr lang="en-US" sz="2400" dirty="0"/>
              <a:t>Applications have specific metrics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Must evaluate risk</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Degree of control</a:t>
            </a:r>
          </a:p>
        </p:txBody>
      </p:sp>
    </p:spTree>
    <p:extLst>
      <p:ext uri="{BB962C8B-B14F-4D97-AF65-F5344CB8AC3E}">
        <p14:creationId xmlns:p14="http://schemas.microsoft.com/office/powerpoint/2010/main" val="3200515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18738-7CB3-8ED0-2389-D1B90E2A1257}"/>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4F693979-5CDA-07ED-D625-38EBC901B67D}"/>
              </a:ext>
            </a:extLst>
          </p:cNvPr>
          <p:cNvSpPr>
            <a:spLocks noGrp="1"/>
          </p:cNvSpPr>
          <p:nvPr>
            <p:ph type="sldNum" sz="quarter" idx="12"/>
          </p:nvPr>
        </p:nvSpPr>
        <p:spPr/>
        <p:txBody>
          <a:bodyPr/>
          <a:lstStyle/>
          <a:p>
            <a:fld id="{659B2F21-D912-7541-8ED2-FD6ABD90B685}" type="slidenum">
              <a:rPr lang="en-US" smtClean="0"/>
              <a:t>7</a:t>
            </a:fld>
            <a:endParaRPr lang="en-US"/>
          </a:p>
        </p:txBody>
      </p:sp>
      <p:sp>
        <p:nvSpPr>
          <p:cNvPr id="3" name="TextBox 2">
            <a:extLst>
              <a:ext uri="{FF2B5EF4-FFF2-40B4-BE49-F238E27FC236}">
                <a16:creationId xmlns:a16="http://schemas.microsoft.com/office/drawing/2014/main" id="{AA0A0622-4360-0C5C-3F6E-1F5CF2932599}"/>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Example Applications</a:t>
            </a:r>
          </a:p>
        </p:txBody>
      </p:sp>
      <p:pic>
        <p:nvPicPr>
          <p:cNvPr id="5" name="Picture 4" descr="Download Touch Id Lets You Unlock Your Phone And Make Secure - Iphone 6  Rose Gold Nz PNG Image with No Background - PNGkey.com">
            <a:extLst>
              <a:ext uri="{FF2B5EF4-FFF2-40B4-BE49-F238E27FC236}">
                <a16:creationId xmlns:a16="http://schemas.microsoft.com/office/drawing/2014/main" id="{D189D010-C7BB-004B-C73D-2D2C6212DF12}"/>
              </a:ext>
            </a:extLst>
          </p:cNvPr>
          <p:cNvPicPr>
            <a:picLocks noChangeAspect="1"/>
          </p:cNvPicPr>
          <p:nvPr/>
        </p:nvPicPr>
        <p:blipFill>
          <a:blip r:embed="rId3"/>
          <a:stretch>
            <a:fillRect/>
          </a:stretch>
        </p:blipFill>
        <p:spPr>
          <a:xfrm>
            <a:off x="590310" y="2154263"/>
            <a:ext cx="3204542" cy="4188943"/>
          </a:xfrm>
          <a:prstGeom prst="rect">
            <a:avLst/>
          </a:prstGeom>
        </p:spPr>
      </p:pic>
      <p:pic>
        <p:nvPicPr>
          <p:cNvPr id="6" name="Picture 5" descr="Driver Face Camera Imaging: Through-Windshield Solutions">
            <a:extLst>
              <a:ext uri="{FF2B5EF4-FFF2-40B4-BE49-F238E27FC236}">
                <a16:creationId xmlns:a16="http://schemas.microsoft.com/office/drawing/2014/main" id="{450A22B3-1A2C-74C5-0646-7B63B1B6D9F5}"/>
              </a:ext>
            </a:extLst>
          </p:cNvPr>
          <p:cNvPicPr>
            <a:picLocks noChangeAspect="1"/>
          </p:cNvPicPr>
          <p:nvPr/>
        </p:nvPicPr>
        <p:blipFill>
          <a:blip r:embed="rId4"/>
          <a:stretch>
            <a:fillRect/>
          </a:stretch>
        </p:blipFill>
        <p:spPr>
          <a:xfrm>
            <a:off x="4131451" y="2154263"/>
            <a:ext cx="3467100" cy="1981200"/>
          </a:xfrm>
          <a:prstGeom prst="rect">
            <a:avLst/>
          </a:prstGeom>
        </p:spPr>
      </p:pic>
      <p:pic>
        <p:nvPicPr>
          <p:cNvPr id="7" name="Picture 6" descr="Another significant bust at the Pharr International Bridge! CBP officers, utilizing canines and advanced imaging technology, uncovered a substantial amount of suspected cocaine concealed within a commercial shipment declared as &quot;cucumbers.&quot; A">
            <a:extLst>
              <a:ext uri="{FF2B5EF4-FFF2-40B4-BE49-F238E27FC236}">
                <a16:creationId xmlns:a16="http://schemas.microsoft.com/office/drawing/2014/main" id="{79BC5C27-8EB3-156A-2267-0441746F5097}"/>
              </a:ext>
            </a:extLst>
          </p:cNvPr>
          <p:cNvPicPr>
            <a:picLocks noChangeAspect="1"/>
          </p:cNvPicPr>
          <p:nvPr/>
        </p:nvPicPr>
        <p:blipFill>
          <a:blip r:embed="rId5"/>
          <a:stretch>
            <a:fillRect/>
          </a:stretch>
        </p:blipFill>
        <p:spPr>
          <a:xfrm>
            <a:off x="4131451" y="4248734"/>
            <a:ext cx="3467100" cy="2313513"/>
          </a:xfrm>
          <a:prstGeom prst="rect">
            <a:avLst/>
          </a:prstGeom>
        </p:spPr>
      </p:pic>
      <p:pic>
        <p:nvPicPr>
          <p:cNvPr id="10" name="Picture 9" descr="The Use of Facial Recognition Technology by Law Enforcement">
            <a:extLst>
              <a:ext uri="{FF2B5EF4-FFF2-40B4-BE49-F238E27FC236}">
                <a16:creationId xmlns:a16="http://schemas.microsoft.com/office/drawing/2014/main" id="{7AE9C38A-05B1-C201-E636-90DCB3F79A7E}"/>
              </a:ext>
            </a:extLst>
          </p:cNvPr>
          <p:cNvPicPr>
            <a:picLocks noChangeAspect="1"/>
          </p:cNvPicPr>
          <p:nvPr/>
        </p:nvPicPr>
        <p:blipFill>
          <a:blip r:embed="rId6"/>
          <a:stretch>
            <a:fillRect/>
          </a:stretch>
        </p:blipFill>
        <p:spPr>
          <a:xfrm>
            <a:off x="7935150" y="3999388"/>
            <a:ext cx="3874558" cy="2562859"/>
          </a:xfrm>
          <a:prstGeom prst="rect">
            <a:avLst/>
          </a:prstGeom>
        </p:spPr>
      </p:pic>
      <p:pic>
        <p:nvPicPr>
          <p:cNvPr id="11" name="Picture 10" descr="NEC revealed as provider of biometric facial recognition services for  Australian Federal Police | Biometric Update">
            <a:extLst>
              <a:ext uri="{FF2B5EF4-FFF2-40B4-BE49-F238E27FC236}">
                <a16:creationId xmlns:a16="http://schemas.microsoft.com/office/drawing/2014/main" id="{3D5B23DF-6B30-A63B-1141-9348F20BB569}"/>
              </a:ext>
            </a:extLst>
          </p:cNvPr>
          <p:cNvPicPr>
            <a:picLocks noChangeAspect="1"/>
          </p:cNvPicPr>
          <p:nvPr/>
        </p:nvPicPr>
        <p:blipFill>
          <a:blip r:embed="rId7"/>
          <a:stretch>
            <a:fillRect/>
          </a:stretch>
        </p:blipFill>
        <p:spPr>
          <a:xfrm>
            <a:off x="7935150" y="2154263"/>
            <a:ext cx="3874558" cy="1753005"/>
          </a:xfrm>
          <a:prstGeom prst="rect">
            <a:avLst/>
          </a:prstGeom>
        </p:spPr>
      </p:pic>
      <p:sp>
        <p:nvSpPr>
          <p:cNvPr id="12" name="TextBox 11">
            <a:extLst>
              <a:ext uri="{FF2B5EF4-FFF2-40B4-BE49-F238E27FC236}">
                <a16:creationId xmlns:a16="http://schemas.microsoft.com/office/drawing/2014/main" id="{78A8220F-1D12-AC9E-BF7C-B903E35ECE7D}"/>
              </a:ext>
            </a:extLst>
          </p:cNvPr>
          <p:cNvSpPr txBox="1"/>
          <p:nvPr/>
        </p:nvSpPr>
        <p:spPr>
          <a:xfrm>
            <a:off x="1100380" y="1642820"/>
            <a:ext cx="2512226" cy="369332"/>
          </a:xfrm>
          <a:prstGeom prst="rect">
            <a:avLst/>
          </a:prstGeom>
          <a:noFill/>
        </p:spPr>
        <p:txBody>
          <a:bodyPr wrap="none" rtlCol="0">
            <a:spAutoFit/>
          </a:bodyPr>
          <a:lstStyle/>
          <a:p>
            <a:r>
              <a:rPr lang="en-US" dirty="0"/>
              <a:t>Unlocking Smart Phone</a:t>
            </a:r>
          </a:p>
        </p:txBody>
      </p:sp>
      <p:sp>
        <p:nvSpPr>
          <p:cNvPr id="13" name="TextBox 12">
            <a:extLst>
              <a:ext uri="{FF2B5EF4-FFF2-40B4-BE49-F238E27FC236}">
                <a16:creationId xmlns:a16="http://schemas.microsoft.com/office/drawing/2014/main" id="{CE7733AB-1400-A7B1-3133-EEE2175CFFCB}"/>
              </a:ext>
            </a:extLst>
          </p:cNvPr>
          <p:cNvSpPr txBox="1"/>
          <p:nvPr/>
        </p:nvSpPr>
        <p:spPr>
          <a:xfrm>
            <a:off x="4480006" y="1642820"/>
            <a:ext cx="2769989" cy="369332"/>
          </a:xfrm>
          <a:prstGeom prst="rect">
            <a:avLst/>
          </a:prstGeom>
          <a:noFill/>
        </p:spPr>
        <p:txBody>
          <a:bodyPr wrap="none" rtlCol="0">
            <a:spAutoFit/>
          </a:bodyPr>
          <a:lstStyle/>
          <a:p>
            <a:r>
              <a:rPr lang="en-US" dirty="0"/>
              <a:t>Boder Patrol Identification</a:t>
            </a:r>
          </a:p>
        </p:txBody>
      </p:sp>
      <p:sp>
        <p:nvSpPr>
          <p:cNvPr id="14" name="TextBox 13">
            <a:extLst>
              <a:ext uri="{FF2B5EF4-FFF2-40B4-BE49-F238E27FC236}">
                <a16:creationId xmlns:a16="http://schemas.microsoft.com/office/drawing/2014/main" id="{DE5D1BC2-FF2C-61D9-82B8-497B65577ED7}"/>
              </a:ext>
            </a:extLst>
          </p:cNvPr>
          <p:cNvSpPr txBox="1"/>
          <p:nvPr/>
        </p:nvSpPr>
        <p:spPr>
          <a:xfrm>
            <a:off x="8938327" y="1642820"/>
            <a:ext cx="1868204" cy="369332"/>
          </a:xfrm>
          <a:prstGeom prst="rect">
            <a:avLst/>
          </a:prstGeom>
          <a:noFill/>
        </p:spPr>
        <p:txBody>
          <a:bodyPr wrap="none" rtlCol="0">
            <a:spAutoFit/>
          </a:bodyPr>
          <a:lstStyle/>
          <a:p>
            <a:r>
              <a:rPr lang="en-US" dirty="0"/>
              <a:t>Watchlist Search</a:t>
            </a:r>
          </a:p>
        </p:txBody>
      </p:sp>
    </p:spTree>
    <p:extLst>
      <p:ext uri="{BB962C8B-B14F-4D97-AF65-F5344CB8AC3E}">
        <p14:creationId xmlns:p14="http://schemas.microsoft.com/office/powerpoint/2010/main" val="3014158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C90D6-AE1E-2BB3-F98B-1D9F557B86FE}"/>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F68D852E-BA17-176A-1802-EAA4DEF4F1D1}"/>
              </a:ext>
            </a:extLst>
          </p:cNvPr>
          <p:cNvSpPr>
            <a:spLocks noGrp="1"/>
          </p:cNvSpPr>
          <p:nvPr>
            <p:ph type="sldNum" sz="quarter" idx="12"/>
          </p:nvPr>
        </p:nvSpPr>
        <p:spPr/>
        <p:txBody>
          <a:bodyPr/>
          <a:lstStyle/>
          <a:p>
            <a:fld id="{659B2F21-D912-7541-8ED2-FD6ABD90B685}" type="slidenum">
              <a:rPr lang="en-US" smtClean="0"/>
              <a:t>8</a:t>
            </a:fld>
            <a:endParaRPr lang="en-US"/>
          </a:p>
        </p:txBody>
      </p:sp>
      <p:sp>
        <p:nvSpPr>
          <p:cNvPr id="3" name="TextBox 2">
            <a:extLst>
              <a:ext uri="{FF2B5EF4-FFF2-40B4-BE49-F238E27FC236}">
                <a16:creationId xmlns:a16="http://schemas.microsoft.com/office/drawing/2014/main" id="{2580C63F-C342-28A4-56CC-F9F305768F9E}"/>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Accuracy can be misleading</a:t>
            </a:r>
          </a:p>
        </p:txBody>
      </p:sp>
      <p:pic>
        <p:nvPicPr>
          <p:cNvPr id="5" name="Picture 4">
            <a:extLst>
              <a:ext uri="{FF2B5EF4-FFF2-40B4-BE49-F238E27FC236}">
                <a16:creationId xmlns:a16="http://schemas.microsoft.com/office/drawing/2014/main" id="{032FABD7-DDE3-A071-F254-6E664963C4C3}"/>
              </a:ext>
            </a:extLst>
          </p:cNvPr>
          <p:cNvPicPr>
            <a:picLocks noChangeAspect="1"/>
          </p:cNvPicPr>
          <p:nvPr/>
        </p:nvPicPr>
        <p:blipFill>
          <a:blip r:embed="rId3"/>
          <a:stretch>
            <a:fillRect/>
          </a:stretch>
        </p:blipFill>
        <p:spPr>
          <a:xfrm>
            <a:off x="1242028" y="1419600"/>
            <a:ext cx="4711700" cy="4826000"/>
          </a:xfrm>
          <a:prstGeom prst="rect">
            <a:avLst/>
          </a:prstGeom>
        </p:spPr>
      </p:pic>
      <p:sp>
        <p:nvSpPr>
          <p:cNvPr id="6" name="TextBox 5">
            <a:extLst>
              <a:ext uri="{FF2B5EF4-FFF2-40B4-BE49-F238E27FC236}">
                <a16:creationId xmlns:a16="http://schemas.microsoft.com/office/drawing/2014/main" id="{7CC48CF1-79E1-96C0-D7CE-5FFC715EE879}"/>
              </a:ext>
            </a:extLst>
          </p:cNvPr>
          <p:cNvSpPr txBox="1"/>
          <p:nvPr/>
        </p:nvSpPr>
        <p:spPr>
          <a:xfrm rot="16200000">
            <a:off x="105327" y="2578378"/>
            <a:ext cx="1292983" cy="523220"/>
          </a:xfrm>
          <a:prstGeom prst="rect">
            <a:avLst/>
          </a:prstGeom>
          <a:noFill/>
        </p:spPr>
        <p:txBody>
          <a:bodyPr wrap="none" rtlCol="0">
            <a:spAutoFit/>
          </a:bodyPr>
          <a:lstStyle/>
          <a:p>
            <a:r>
              <a:rPr lang="en-US" sz="2800" dirty="0"/>
              <a:t>Gallery</a:t>
            </a:r>
          </a:p>
        </p:txBody>
      </p:sp>
      <p:sp>
        <p:nvSpPr>
          <p:cNvPr id="7" name="TextBox 6">
            <a:extLst>
              <a:ext uri="{FF2B5EF4-FFF2-40B4-BE49-F238E27FC236}">
                <a16:creationId xmlns:a16="http://schemas.microsoft.com/office/drawing/2014/main" id="{7D7A28DF-25DF-6420-B486-0DEF82C4ADFE}"/>
              </a:ext>
            </a:extLst>
          </p:cNvPr>
          <p:cNvSpPr txBox="1"/>
          <p:nvPr/>
        </p:nvSpPr>
        <p:spPr>
          <a:xfrm>
            <a:off x="2951386" y="6334780"/>
            <a:ext cx="1267848" cy="523220"/>
          </a:xfrm>
          <a:prstGeom prst="rect">
            <a:avLst/>
          </a:prstGeom>
          <a:noFill/>
        </p:spPr>
        <p:txBody>
          <a:bodyPr wrap="none" rtlCol="0">
            <a:spAutoFit/>
          </a:bodyPr>
          <a:lstStyle/>
          <a:p>
            <a:r>
              <a:rPr lang="en-US" sz="2800" dirty="0"/>
              <a:t>Probes</a:t>
            </a:r>
          </a:p>
        </p:txBody>
      </p:sp>
      <p:sp>
        <p:nvSpPr>
          <p:cNvPr id="8" name="Left Brace 7">
            <a:extLst>
              <a:ext uri="{FF2B5EF4-FFF2-40B4-BE49-F238E27FC236}">
                <a16:creationId xmlns:a16="http://schemas.microsoft.com/office/drawing/2014/main" id="{933AAED7-ACAB-A4AA-2E49-CA74C13C4292}"/>
              </a:ext>
            </a:extLst>
          </p:cNvPr>
          <p:cNvSpPr/>
          <p:nvPr/>
        </p:nvSpPr>
        <p:spPr>
          <a:xfrm>
            <a:off x="637519" y="4952616"/>
            <a:ext cx="490210" cy="129298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AF1E789D-CEA0-C4E9-0D84-34DA0C5FD128}"/>
              </a:ext>
            </a:extLst>
          </p:cNvPr>
          <p:cNvSpPr txBox="1"/>
          <p:nvPr/>
        </p:nvSpPr>
        <p:spPr>
          <a:xfrm rot="16200000">
            <a:off x="-687303" y="5337497"/>
            <a:ext cx="1897827" cy="523220"/>
          </a:xfrm>
          <a:prstGeom prst="rect">
            <a:avLst/>
          </a:prstGeom>
          <a:noFill/>
        </p:spPr>
        <p:txBody>
          <a:bodyPr wrap="none" rtlCol="0">
            <a:spAutoFit/>
          </a:bodyPr>
          <a:lstStyle/>
          <a:p>
            <a:r>
              <a:rPr lang="en-US" sz="2800" dirty="0"/>
              <a:t>Distractors</a:t>
            </a:r>
          </a:p>
        </p:txBody>
      </p:sp>
      <p:sp>
        <p:nvSpPr>
          <p:cNvPr id="12" name="TextBox 11">
            <a:extLst>
              <a:ext uri="{FF2B5EF4-FFF2-40B4-BE49-F238E27FC236}">
                <a16:creationId xmlns:a16="http://schemas.microsoft.com/office/drawing/2014/main" id="{3CE9C093-794F-8D66-4F4B-AF3D81B48E5F}"/>
              </a:ext>
            </a:extLst>
          </p:cNvPr>
          <p:cNvSpPr txBox="1"/>
          <p:nvPr/>
        </p:nvSpPr>
        <p:spPr>
          <a:xfrm>
            <a:off x="6337920" y="1416276"/>
            <a:ext cx="5769218" cy="5262979"/>
          </a:xfrm>
          <a:prstGeom prst="rect">
            <a:avLst/>
          </a:prstGeom>
          <a:noFill/>
        </p:spPr>
        <p:txBody>
          <a:bodyPr wrap="square">
            <a:spAutoFit/>
          </a:bodyPr>
          <a:lstStyle/>
          <a:p>
            <a:pPr>
              <a:buNone/>
            </a:pPr>
            <a:r>
              <a:rPr lang="en-US" sz="2400" b="1" dirty="0"/>
              <a:t>Example</a:t>
            </a:r>
            <a:br>
              <a:rPr lang="en-US" sz="2400" dirty="0"/>
            </a:br>
            <a:r>
              <a:rPr lang="en-US" sz="2400" dirty="0"/>
              <a:t>- 1,000,000 biometric transactions</a:t>
            </a:r>
            <a:br>
              <a:rPr lang="en-US" sz="2400" dirty="0"/>
            </a:br>
            <a:r>
              <a:rPr lang="en-US" sz="2400" dirty="0"/>
              <a:t>- 999,000 are genuine</a:t>
            </a:r>
            <a:br>
              <a:rPr lang="en-US" sz="2400" dirty="0"/>
            </a:br>
            <a:r>
              <a:rPr lang="en-US" sz="2400" dirty="0"/>
              <a:t>- 1,000 are impostors</a:t>
            </a:r>
          </a:p>
          <a:p>
            <a:pPr>
              <a:buNone/>
            </a:pPr>
            <a:r>
              <a:rPr lang="en-US" sz="2400" dirty="0"/>
              <a:t>- System gets 998,000 genuine decisions correct and 990 impostors correct.</a:t>
            </a:r>
          </a:p>
          <a:p>
            <a:pPr>
              <a:buNone/>
            </a:pPr>
            <a:br>
              <a:rPr lang="en-US" sz="2400" dirty="0"/>
            </a:br>
            <a:r>
              <a:rPr lang="en-US" sz="2400" b="1" dirty="0"/>
              <a:t>Overall accuracy looks fantastic (99.8%)</a:t>
            </a:r>
          </a:p>
          <a:p>
            <a:pPr>
              <a:buNone/>
            </a:pPr>
            <a:endParaRPr lang="en-US" sz="2400" b="1" dirty="0"/>
          </a:p>
          <a:p>
            <a:pPr>
              <a:buNone/>
            </a:pPr>
            <a:r>
              <a:rPr lang="en-US" sz="2400" b="1" dirty="0">
                <a:solidFill>
                  <a:srgbClr val="FF0000"/>
                </a:solidFill>
              </a:rPr>
              <a:t>FMR — 1% </a:t>
            </a:r>
            <a:br>
              <a:rPr lang="en-US" sz="2400" b="1" dirty="0">
                <a:solidFill>
                  <a:srgbClr val="FF0000"/>
                </a:solidFill>
              </a:rPr>
            </a:br>
            <a:r>
              <a:rPr lang="en-US" sz="2400" b="1" dirty="0">
                <a:solidFill>
                  <a:srgbClr val="FF0000"/>
                </a:solidFill>
              </a:rPr>
              <a:t>(1 out of 100 imposter granted)</a:t>
            </a:r>
          </a:p>
          <a:p>
            <a:pPr>
              <a:buNone/>
            </a:pPr>
            <a:br>
              <a:rPr lang="en-US" sz="2400" dirty="0"/>
            </a:br>
            <a:r>
              <a:rPr lang="en-US" sz="2400" dirty="0">
                <a:solidFill>
                  <a:srgbClr val="00B050"/>
                </a:solidFill>
              </a:rPr>
              <a:t>FNMR — 0.2% </a:t>
            </a:r>
            <a:br>
              <a:rPr lang="en-US" sz="2400" dirty="0">
                <a:solidFill>
                  <a:srgbClr val="00B050"/>
                </a:solidFill>
              </a:rPr>
            </a:br>
            <a:r>
              <a:rPr lang="en-US" sz="2400" dirty="0">
                <a:solidFill>
                  <a:srgbClr val="00B050"/>
                </a:solidFill>
              </a:rPr>
              <a:t>(2 out of 1000 genuine denied)</a:t>
            </a:r>
          </a:p>
        </p:txBody>
      </p:sp>
      <p:pic>
        <p:nvPicPr>
          <p:cNvPr id="13" name="Picture 12">
            <a:extLst>
              <a:ext uri="{FF2B5EF4-FFF2-40B4-BE49-F238E27FC236}">
                <a16:creationId xmlns:a16="http://schemas.microsoft.com/office/drawing/2014/main" id="{A02E332D-9B45-4D3A-FEB1-ADE5692A68C0}"/>
              </a:ext>
            </a:extLst>
          </p:cNvPr>
          <p:cNvPicPr>
            <a:picLocks noChangeAspect="1"/>
          </p:cNvPicPr>
          <p:nvPr/>
        </p:nvPicPr>
        <p:blipFill>
          <a:blip r:embed="rId4"/>
          <a:stretch>
            <a:fillRect/>
          </a:stretch>
        </p:blipFill>
        <p:spPr>
          <a:xfrm>
            <a:off x="1242028" y="1416276"/>
            <a:ext cx="4711700" cy="4826000"/>
          </a:xfrm>
          <a:prstGeom prst="rect">
            <a:avLst/>
          </a:prstGeom>
        </p:spPr>
      </p:pic>
    </p:spTree>
    <p:extLst>
      <p:ext uri="{BB962C8B-B14F-4D97-AF65-F5344CB8AC3E}">
        <p14:creationId xmlns:p14="http://schemas.microsoft.com/office/powerpoint/2010/main" val="1260503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10" grpId="0"/>
      <p:bldP spid="10" grpId="1"/>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27391-2EAE-0910-602D-97C4AABE59E7}"/>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F0A8CE94-B9B6-DC4D-7043-01C0DAD9D418}"/>
              </a:ext>
            </a:extLst>
          </p:cNvPr>
          <p:cNvSpPr>
            <a:spLocks noGrp="1"/>
          </p:cNvSpPr>
          <p:nvPr>
            <p:ph type="sldNum" sz="quarter" idx="12"/>
          </p:nvPr>
        </p:nvSpPr>
        <p:spPr/>
        <p:txBody>
          <a:bodyPr/>
          <a:lstStyle/>
          <a:p>
            <a:fld id="{659B2F21-D912-7541-8ED2-FD6ABD90B685}" type="slidenum">
              <a:rPr lang="en-US" smtClean="0"/>
              <a:t>9</a:t>
            </a:fld>
            <a:endParaRPr lang="en-US" dirty="0"/>
          </a:p>
        </p:txBody>
      </p:sp>
      <p:sp>
        <p:nvSpPr>
          <p:cNvPr id="3" name="TextBox 2">
            <a:extLst>
              <a:ext uri="{FF2B5EF4-FFF2-40B4-BE49-F238E27FC236}">
                <a16:creationId xmlns:a16="http://schemas.microsoft.com/office/drawing/2014/main" id="{44921C1B-BA47-23FC-3D04-AB2EB1159FC8}"/>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Accuracy can be misleading</a:t>
            </a:r>
          </a:p>
        </p:txBody>
      </p:sp>
      <p:pic>
        <p:nvPicPr>
          <p:cNvPr id="5" name="Picture 4">
            <a:extLst>
              <a:ext uri="{FF2B5EF4-FFF2-40B4-BE49-F238E27FC236}">
                <a16:creationId xmlns:a16="http://schemas.microsoft.com/office/drawing/2014/main" id="{E699D68D-A437-EF0D-2A68-2568F6E91197}"/>
              </a:ext>
            </a:extLst>
          </p:cNvPr>
          <p:cNvPicPr>
            <a:picLocks noChangeAspect="1"/>
          </p:cNvPicPr>
          <p:nvPr/>
        </p:nvPicPr>
        <p:blipFill>
          <a:blip r:embed="rId3"/>
          <a:stretch>
            <a:fillRect/>
          </a:stretch>
        </p:blipFill>
        <p:spPr>
          <a:xfrm>
            <a:off x="1242028" y="1419600"/>
            <a:ext cx="4711700" cy="4826000"/>
          </a:xfrm>
          <a:prstGeom prst="rect">
            <a:avLst/>
          </a:prstGeom>
        </p:spPr>
      </p:pic>
      <p:sp>
        <p:nvSpPr>
          <p:cNvPr id="6" name="TextBox 5">
            <a:extLst>
              <a:ext uri="{FF2B5EF4-FFF2-40B4-BE49-F238E27FC236}">
                <a16:creationId xmlns:a16="http://schemas.microsoft.com/office/drawing/2014/main" id="{64EB4640-8881-B1DB-F4BD-C9C143225D80}"/>
              </a:ext>
            </a:extLst>
          </p:cNvPr>
          <p:cNvSpPr txBox="1"/>
          <p:nvPr/>
        </p:nvSpPr>
        <p:spPr>
          <a:xfrm rot="16200000">
            <a:off x="105327" y="2578378"/>
            <a:ext cx="1292983" cy="523220"/>
          </a:xfrm>
          <a:prstGeom prst="rect">
            <a:avLst/>
          </a:prstGeom>
          <a:noFill/>
        </p:spPr>
        <p:txBody>
          <a:bodyPr wrap="none" rtlCol="0">
            <a:spAutoFit/>
          </a:bodyPr>
          <a:lstStyle/>
          <a:p>
            <a:r>
              <a:rPr lang="en-US" sz="2800" dirty="0"/>
              <a:t>Gallery</a:t>
            </a:r>
          </a:p>
        </p:txBody>
      </p:sp>
      <p:sp>
        <p:nvSpPr>
          <p:cNvPr id="7" name="TextBox 6">
            <a:extLst>
              <a:ext uri="{FF2B5EF4-FFF2-40B4-BE49-F238E27FC236}">
                <a16:creationId xmlns:a16="http://schemas.microsoft.com/office/drawing/2014/main" id="{27CC7237-7933-2958-E664-8AD5F8B72DCA}"/>
              </a:ext>
            </a:extLst>
          </p:cNvPr>
          <p:cNvSpPr txBox="1"/>
          <p:nvPr/>
        </p:nvSpPr>
        <p:spPr>
          <a:xfrm>
            <a:off x="2951386" y="6334780"/>
            <a:ext cx="1267848" cy="523220"/>
          </a:xfrm>
          <a:prstGeom prst="rect">
            <a:avLst/>
          </a:prstGeom>
          <a:noFill/>
        </p:spPr>
        <p:txBody>
          <a:bodyPr wrap="none" rtlCol="0">
            <a:spAutoFit/>
          </a:bodyPr>
          <a:lstStyle/>
          <a:p>
            <a:r>
              <a:rPr lang="en-US" sz="2800" dirty="0"/>
              <a:t>Probes</a:t>
            </a:r>
          </a:p>
        </p:txBody>
      </p:sp>
      <p:sp>
        <p:nvSpPr>
          <p:cNvPr id="8" name="Left Brace 7">
            <a:extLst>
              <a:ext uri="{FF2B5EF4-FFF2-40B4-BE49-F238E27FC236}">
                <a16:creationId xmlns:a16="http://schemas.microsoft.com/office/drawing/2014/main" id="{BD81844C-3029-86BC-E598-70B8E26933E5}"/>
              </a:ext>
            </a:extLst>
          </p:cNvPr>
          <p:cNvSpPr/>
          <p:nvPr/>
        </p:nvSpPr>
        <p:spPr>
          <a:xfrm>
            <a:off x="637519" y="4952616"/>
            <a:ext cx="490210" cy="129298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EA42820D-A1ED-4986-525D-56DE0D689B81}"/>
              </a:ext>
            </a:extLst>
          </p:cNvPr>
          <p:cNvSpPr txBox="1"/>
          <p:nvPr/>
        </p:nvSpPr>
        <p:spPr>
          <a:xfrm rot="16200000">
            <a:off x="-687303" y="5337497"/>
            <a:ext cx="1897827" cy="523220"/>
          </a:xfrm>
          <a:prstGeom prst="rect">
            <a:avLst/>
          </a:prstGeom>
          <a:noFill/>
        </p:spPr>
        <p:txBody>
          <a:bodyPr wrap="none" rtlCol="0">
            <a:spAutoFit/>
          </a:bodyPr>
          <a:lstStyle/>
          <a:p>
            <a:r>
              <a:rPr lang="en-US" sz="2800" dirty="0"/>
              <a:t>Distractors</a:t>
            </a:r>
          </a:p>
        </p:txBody>
      </p:sp>
      <p:sp>
        <p:nvSpPr>
          <p:cNvPr id="12" name="TextBox 11">
            <a:extLst>
              <a:ext uri="{FF2B5EF4-FFF2-40B4-BE49-F238E27FC236}">
                <a16:creationId xmlns:a16="http://schemas.microsoft.com/office/drawing/2014/main" id="{C6D1D149-5179-F9E8-28D8-7CB824369DB9}"/>
              </a:ext>
            </a:extLst>
          </p:cNvPr>
          <p:cNvSpPr txBox="1"/>
          <p:nvPr/>
        </p:nvSpPr>
        <p:spPr>
          <a:xfrm>
            <a:off x="6337920" y="1416276"/>
            <a:ext cx="5769218" cy="4524315"/>
          </a:xfrm>
          <a:prstGeom prst="rect">
            <a:avLst/>
          </a:prstGeom>
          <a:noFill/>
        </p:spPr>
        <p:txBody>
          <a:bodyPr wrap="square">
            <a:spAutoFit/>
          </a:bodyPr>
          <a:lstStyle/>
          <a:p>
            <a:r>
              <a:rPr lang="en-US" sz="2400" b="1" dirty="0"/>
              <a:t>Rank-1 Accuracy (1:N identification)</a:t>
            </a:r>
            <a:endParaRPr lang="en-US" sz="2400" dirty="0"/>
          </a:p>
          <a:p>
            <a:pPr marL="342900" indent="-342900">
              <a:buFont typeface="Arial" panose="020B0604020202020204" pitchFamily="34" charset="0"/>
              <a:buChar char="•"/>
            </a:pPr>
            <a:r>
              <a:rPr lang="en-US" sz="2400" dirty="0"/>
              <a:t>only concerned with comparison between query/probe with all gallery template</a:t>
            </a:r>
          </a:p>
          <a:p>
            <a:pPr marL="342900" indent="-342900">
              <a:buFont typeface="Arial" panose="020B0604020202020204" pitchFamily="34" charset="0"/>
              <a:buChar char="•"/>
            </a:pPr>
            <a:r>
              <a:rPr lang="en-US" sz="2400" dirty="0"/>
              <a:t>No threshold</a:t>
            </a:r>
          </a:p>
          <a:p>
            <a:br>
              <a:rPr lang="en-US" sz="2400" b="1" dirty="0"/>
            </a:br>
            <a:r>
              <a:rPr lang="en-US" sz="2400" b="1" dirty="0"/>
              <a:t>FNMR vs. FMR (1:1 verification)</a:t>
            </a:r>
          </a:p>
          <a:p>
            <a:pPr marL="342900" indent="-342900">
              <a:buFont typeface="Arial" panose="020B0604020202020204" pitchFamily="34" charset="0"/>
              <a:buChar char="•"/>
            </a:pPr>
            <a:r>
              <a:rPr lang="en-US" sz="2400" dirty="0"/>
              <a:t>Separability analysis</a:t>
            </a:r>
          </a:p>
          <a:p>
            <a:pPr marL="342900" indent="-342900">
              <a:buFont typeface="Arial" panose="020B0604020202020204" pitchFamily="34" charset="0"/>
              <a:buChar char="•"/>
            </a:pPr>
            <a:r>
              <a:rPr lang="en-US" sz="2400" dirty="0"/>
              <a:t>Threshold</a:t>
            </a:r>
          </a:p>
          <a:p>
            <a:pPr marL="342900" indent="-342900">
              <a:buFont typeface="Arial" panose="020B0604020202020204" pitchFamily="34" charset="0"/>
              <a:buChar char="•"/>
            </a:pPr>
            <a:endParaRPr lang="en-US" sz="2400" b="1" dirty="0"/>
          </a:p>
          <a:p>
            <a:r>
              <a:rPr lang="en-US" sz="2400" b="1" dirty="0">
                <a:solidFill>
                  <a:srgbClr val="0070C0"/>
                </a:solidFill>
              </a:rPr>
              <a:t>What is the relationship between rank and ROC analysis?</a:t>
            </a:r>
          </a:p>
        </p:txBody>
      </p:sp>
      <p:sp>
        <p:nvSpPr>
          <p:cNvPr id="2" name="Rectangle 1">
            <a:extLst>
              <a:ext uri="{FF2B5EF4-FFF2-40B4-BE49-F238E27FC236}">
                <a16:creationId xmlns:a16="http://schemas.microsoft.com/office/drawing/2014/main" id="{B2C9FFEF-E255-D995-7FDB-DDB7C3FD37C7}"/>
              </a:ext>
            </a:extLst>
          </p:cNvPr>
          <p:cNvSpPr/>
          <p:nvPr/>
        </p:nvSpPr>
        <p:spPr>
          <a:xfrm>
            <a:off x="2074985" y="1435065"/>
            <a:ext cx="169451" cy="4782312"/>
          </a:xfrm>
          <a:prstGeom prst="rect">
            <a:avLst/>
          </a:prstGeom>
          <a:solidFill>
            <a:srgbClr val="FFFF00">
              <a:alpha val="7546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98B26B5-328E-30E1-8B92-89F76D075554}"/>
              </a:ext>
            </a:extLst>
          </p:cNvPr>
          <p:cNvPicPr>
            <a:picLocks noChangeAspect="1"/>
          </p:cNvPicPr>
          <p:nvPr/>
        </p:nvPicPr>
        <p:blipFill>
          <a:blip r:embed="rId4"/>
          <a:stretch>
            <a:fillRect/>
          </a:stretch>
        </p:blipFill>
        <p:spPr>
          <a:xfrm>
            <a:off x="1511921" y="2355349"/>
            <a:ext cx="4068368" cy="2941743"/>
          </a:xfrm>
          <a:prstGeom prst="rect">
            <a:avLst/>
          </a:prstGeom>
        </p:spPr>
      </p:pic>
    </p:spTree>
    <p:extLst>
      <p:ext uri="{BB962C8B-B14F-4D97-AF65-F5344CB8AC3E}">
        <p14:creationId xmlns:p14="http://schemas.microsoft.com/office/powerpoint/2010/main" val="527574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2"/>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94446-02BE-0080-B4E5-099165085817}"/>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D17D35B6-CCF6-30F0-19E5-9D5AD2600466}"/>
              </a:ext>
            </a:extLst>
          </p:cNvPr>
          <p:cNvSpPr>
            <a:spLocks noGrp="1"/>
          </p:cNvSpPr>
          <p:nvPr>
            <p:ph type="sldNum" sz="quarter" idx="12"/>
          </p:nvPr>
        </p:nvSpPr>
        <p:spPr/>
        <p:txBody>
          <a:bodyPr/>
          <a:lstStyle/>
          <a:p>
            <a:fld id="{659B2F21-D912-7541-8ED2-FD6ABD90B685}" type="slidenum">
              <a:rPr lang="en-US" smtClean="0"/>
              <a:t>10</a:t>
            </a:fld>
            <a:endParaRPr lang="en-US" dirty="0"/>
          </a:p>
        </p:txBody>
      </p:sp>
      <p:sp>
        <p:nvSpPr>
          <p:cNvPr id="3" name="TextBox 2">
            <a:extLst>
              <a:ext uri="{FF2B5EF4-FFF2-40B4-BE49-F238E27FC236}">
                <a16:creationId xmlns:a16="http://schemas.microsoft.com/office/drawing/2014/main" id="{EE6FBF6D-F7C6-5329-E5C1-5788AC652DBD}"/>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Matching errors are NOT the only errors</a:t>
            </a:r>
          </a:p>
        </p:txBody>
      </p:sp>
      <p:pic>
        <p:nvPicPr>
          <p:cNvPr id="13" name="Picture 12">
            <a:extLst>
              <a:ext uri="{FF2B5EF4-FFF2-40B4-BE49-F238E27FC236}">
                <a16:creationId xmlns:a16="http://schemas.microsoft.com/office/drawing/2014/main" id="{27091129-EF16-B67E-62BF-245317ECE5D5}"/>
              </a:ext>
            </a:extLst>
          </p:cNvPr>
          <p:cNvPicPr>
            <a:picLocks noChangeAspect="1"/>
          </p:cNvPicPr>
          <p:nvPr/>
        </p:nvPicPr>
        <p:blipFill>
          <a:blip r:embed="rId3"/>
          <a:stretch>
            <a:fillRect/>
          </a:stretch>
        </p:blipFill>
        <p:spPr>
          <a:xfrm>
            <a:off x="605742" y="1193895"/>
            <a:ext cx="10074965" cy="5428986"/>
          </a:xfrm>
          <a:prstGeom prst="rect">
            <a:avLst/>
          </a:prstGeom>
        </p:spPr>
      </p:pic>
    </p:spTree>
    <p:extLst>
      <p:ext uri="{BB962C8B-B14F-4D97-AF65-F5344CB8AC3E}">
        <p14:creationId xmlns:p14="http://schemas.microsoft.com/office/powerpoint/2010/main" val="1838553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E7CE9-D36C-B20C-03E9-0193ACA57D99}"/>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8976B5E7-94BC-A48D-3E68-B865038CC826}"/>
              </a:ext>
            </a:extLst>
          </p:cNvPr>
          <p:cNvSpPr>
            <a:spLocks noGrp="1"/>
          </p:cNvSpPr>
          <p:nvPr>
            <p:ph type="sldNum" sz="quarter" idx="12"/>
          </p:nvPr>
        </p:nvSpPr>
        <p:spPr/>
        <p:txBody>
          <a:bodyPr/>
          <a:lstStyle/>
          <a:p>
            <a:fld id="{659B2F21-D912-7541-8ED2-FD6ABD90B685}" type="slidenum">
              <a:rPr lang="en-US" smtClean="0"/>
              <a:t>11</a:t>
            </a:fld>
            <a:endParaRPr lang="en-US" dirty="0"/>
          </a:p>
        </p:txBody>
      </p:sp>
      <p:sp>
        <p:nvSpPr>
          <p:cNvPr id="3" name="TextBox 2">
            <a:extLst>
              <a:ext uri="{FF2B5EF4-FFF2-40B4-BE49-F238E27FC236}">
                <a16:creationId xmlns:a16="http://schemas.microsoft.com/office/drawing/2014/main" id="{ACEE8E36-5394-0443-26D7-12EB6ADA3AC0}"/>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Matching errors are NOT the only errors</a:t>
            </a:r>
          </a:p>
        </p:txBody>
      </p:sp>
      <p:graphicFrame>
        <p:nvGraphicFramePr>
          <p:cNvPr id="2" name="Table 1">
            <a:extLst>
              <a:ext uri="{FF2B5EF4-FFF2-40B4-BE49-F238E27FC236}">
                <a16:creationId xmlns:a16="http://schemas.microsoft.com/office/drawing/2014/main" id="{2B71997F-EA1F-67AF-EF1A-3F0101DB13ED}"/>
              </a:ext>
            </a:extLst>
          </p:cNvPr>
          <p:cNvGraphicFramePr>
            <a:graphicFrameLocks noGrp="1"/>
          </p:cNvGraphicFramePr>
          <p:nvPr>
            <p:extLst>
              <p:ext uri="{D42A27DB-BD31-4B8C-83A1-F6EECF244321}">
                <p14:modId xmlns:p14="http://schemas.microsoft.com/office/powerpoint/2010/main" val="710211194"/>
              </p:ext>
            </p:extLst>
          </p:nvPr>
        </p:nvGraphicFramePr>
        <p:xfrm>
          <a:off x="390144" y="2457193"/>
          <a:ext cx="11396280" cy="3749040"/>
        </p:xfrm>
        <a:graphic>
          <a:graphicData uri="http://schemas.openxmlformats.org/drawingml/2006/table">
            <a:tbl>
              <a:tblPr firstRow="1" bandRow="1">
                <a:tableStyleId>{5C22544A-7EE6-4342-B048-85BDC9FD1C3A}</a:tableStyleId>
              </a:tblPr>
              <a:tblGrid>
                <a:gridCol w="3798760">
                  <a:extLst>
                    <a:ext uri="{9D8B030D-6E8A-4147-A177-3AD203B41FA5}">
                      <a16:colId xmlns:a16="http://schemas.microsoft.com/office/drawing/2014/main" val="3275122880"/>
                    </a:ext>
                  </a:extLst>
                </a:gridCol>
                <a:gridCol w="3798760">
                  <a:extLst>
                    <a:ext uri="{9D8B030D-6E8A-4147-A177-3AD203B41FA5}">
                      <a16:colId xmlns:a16="http://schemas.microsoft.com/office/drawing/2014/main" val="3601057115"/>
                    </a:ext>
                  </a:extLst>
                </a:gridCol>
                <a:gridCol w="3798760">
                  <a:extLst>
                    <a:ext uri="{9D8B030D-6E8A-4147-A177-3AD203B41FA5}">
                      <a16:colId xmlns:a16="http://schemas.microsoft.com/office/drawing/2014/main" val="4012685767"/>
                    </a:ext>
                  </a:extLst>
                </a:gridCol>
              </a:tblGrid>
              <a:tr h="370840">
                <a:tc>
                  <a:txBody>
                    <a:bodyPr/>
                    <a:lstStyle/>
                    <a:p>
                      <a:r>
                        <a:rPr lang="en-US" sz="2400" dirty="0">
                          <a:solidFill>
                            <a:schemeClr val="tx1"/>
                          </a:solidFill>
                        </a:rPr>
                        <a:t>Stage</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solidFill>
                            <a:schemeClr val="tx1"/>
                          </a:solidFill>
                        </a:rPr>
                        <a:t>Failure</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solidFill>
                            <a:schemeClr val="tx1"/>
                          </a:solidFill>
                        </a:rPr>
                        <a:t>What happened</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4007878"/>
                  </a:ext>
                </a:extLst>
              </a:tr>
              <a:tr h="370840">
                <a:tc>
                  <a:txBody>
                    <a:bodyPr/>
                    <a:lstStyle/>
                    <a:p>
                      <a:r>
                        <a:rPr lang="en-US" sz="2400" i="1" dirty="0">
                          <a:solidFill>
                            <a:schemeClr val="tx1"/>
                          </a:solidFill>
                        </a:rPr>
                        <a:t>Detection</a:t>
                      </a:r>
                    </a:p>
                  </a:txBody>
                  <a:tcPr>
                    <a:lnT w="12700" cap="flat" cmpd="sng" algn="ctr">
                      <a:solidFill>
                        <a:schemeClr val="tx1"/>
                      </a:solidFill>
                      <a:prstDash val="solid"/>
                      <a:round/>
                      <a:headEnd type="none" w="med" len="med"/>
                      <a:tailEnd type="none" w="med" len="med"/>
                    </a:lnT>
                    <a:noFill/>
                  </a:tcPr>
                </a:tc>
                <a:tc>
                  <a:txBody>
                    <a:bodyPr/>
                    <a:lstStyle/>
                    <a:p>
                      <a:r>
                        <a:rPr lang="en-US" sz="2400" b="1" dirty="0">
                          <a:solidFill>
                            <a:schemeClr val="tx1"/>
                          </a:solidFill>
                        </a:rPr>
                        <a:t>Failure to Detect (FTD)</a:t>
                      </a:r>
                    </a:p>
                  </a:txBody>
                  <a:tcPr>
                    <a:lnT w="12700" cap="flat" cmpd="sng" algn="ctr">
                      <a:solidFill>
                        <a:schemeClr val="tx1"/>
                      </a:solidFill>
                      <a:prstDash val="solid"/>
                      <a:round/>
                      <a:headEnd type="none" w="med" len="med"/>
                      <a:tailEnd type="none" w="med" len="med"/>
                    </a:lnT>
                    <a:noFill/>
                  </a:tcPr>
                </a:tc>
                <a:tc>
                  <a:txBody>
                    <a:bodyPr/>
                    <a:lstStyle/>
                    <a:p>
                      <a:r>
                        <a:rPr lang="en-US" sz="2400" dirty="0">
                          <a:solidFill>
                            <a:schemeClr val="tx1"/>
                          </a:solidFill>
                        </a:rPr>
                        <a:t>Cannot detect/localize the biometric</a:t>
                      </a: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41670051"/>
                  </a:ext>
                </a:extLst>
              </a:tr>
              <a:tr h="370840">
                <a:tc>
                  <a:txBody>
                    <a:bodyPr/>
                    <a:lstStyle/>
                    <a:p>
                      <a:r>
                        <a:rPr lang="en-US" sz="2400" dirty="0">
                          <a:solidFill>
                            <a:schemeClr val="tx1"/>
                          </a:solidFill>
                        </a:rPr>
                        <a:t>Enrollment</a:t>
                      </a:r>
                    </a:p>
                  </a:txBody>
                  <a:tcPr>
                    <a:noFill/>
                  </a:tcPr>
                </a:tc>
                <a:tc>
                  <a:txBody>
                    <a:bodyPr/>
                    <a:lstStyle/>
                    <a:p>
                      <a:r>
                        <a:rPr lang="en-US" sz="2400" b="1" dirty="0">
                          <a:solidFill>
                            <a:schemeClr val="tx1"/>
                          </a:solidFill>
                        </a:rPr>
                        <a:t>Failure to Enroll (FTE)</a:t>
                      </a:r>
                    </a:p>
                  </a:txBody>
                  <a:tcPr>
                    <a:noFill/>
                  </a:tcPr>
                </a:tc>
                <a:tc>
                  <a:txBody>
                    <a:bodyPr/>
                    <a:lstStyle/>
                    <a:p>
                      <a:r>
                        <a:rPr lang="en-US" sz="2400" dirty="0">
                          <a:solidFill>
                            <a:schemeClr val="tx1"/>
                          </a:solidFill>
                        </a:rPr>
                        <a:t>Cannot obtain a useable template</a:t>
                      </a:r>
                    </a:p>
                  </a:txBody>
                  <a:tcPr>
                    <a:noFill/>
                  </a:tcPr>
                </a:tc>
                <a:extLst>
                  <a:ext uri="{0D108BD9-81ED-4DB2-BD59-A6C34878D82A}">
                    <a16:rowId xmlns:a16="http://schemas.microsoft.com/office/drawing/2014/main" val="1752253474"/>
                  </a:ext>
                </a:extLst>
              </a:tr>
              <a:tr h="370840">
                <a:tc>
                  <a:txBody>
                    <a:bodyPr/>
                    <a:lstStyle/>
                    <a:p>
                      <a:r>
                        <a:rPr lang="en-US" sz="2400" dirty="0">
                          <a:solidFill>
                            <a:schemeClr val="tx1"/>
                          </a:solidFill>
                        </a:rPr>
                        <a:t>Matching</a:t>
                      </a:r>
                    </a:p>
                  </a:txBody>
                  <a:tcPr>
                    <a:noFill/>
                  </a:tcPr>
                </a:tc>
                <a:tc>
                  <a:txBody>
                    <a:bodyPr/>
                    <a:lstStyle/>
                    <a:p>
                      <a:r>
                        <a:rPr lang="en-US" sz="2400" dirty="0">
                          <a:solidFill>
                            <a:schemeClr val="tx1"/>
                          </a:solidFill>
                        </a:rPr>
                        <a:t>False Non-Match (FNM)</a:t>
                      </a:r>
                    </a:p>
                  </a:txBody>
                  <a:tcPr>
                    <a:noFill/>
                  </a:tcPr>
                </a:tc>
                <a:tc>
                  <a:txBody>
                    <a:bodyPr/>
                    <a:lstStyle/>
                    <a:p>
                      <a:r>
                        <a:rPr lang="en-US" sz="2400" dirty="0">
                          <a:solidFill>
                            <a:schemeClr val="tx1"/>
                          </a:solidFill>
                        </a:rPr>
                        <a:t>Genuine person incorrectly rejected</a:t>
                      </a:r>
                    </a:p>
                  </a:txBody>
                  <a:tcPr>
                    <a:noFill/>
                  </a:tcPr>
                </a:tc>
                <a:extLst>
                  <a:ext uri="{0D108BD9-81ED-4DB2-BD59-A6C34878D82A}">
                    <a16:rowId xmlns:a16="http://schemas.microsoft.com/office/drawing/2014/main" val="3322038461"/>
                  </a:ext>
                </a:extLst>
              </a:tr>
              <a:tr h="370840">
                <a:tc>
                  <a:txBody>
                    <a:bodyPr/>
                    <a:lstStyle/>
                    <a:p>
                      <a:r>
                        <a:rPr lang="en-US" sz="2400" dirty="0">
                          <a:solidFill>
                            <a:schemeClr val="tx1"/>
                          </a:solidFill>
                        </a:rPr>
                        <a:t>Matching</a:t>
                      </a:r>
                    </a:p>
                  </a:txBody>
                  <a:tcPr>
                    <a:lnB w="12700" cap="flat" cmpd="sng" algn="ctr">
                      <a:solidFill>
                        <a:schemeClr val="tx1"/>
                      </a:solidFill>
                      <a:prstDash val="solid"/>
                      <a:round/>
                      <a:headEnd type="none" w="med" len="med"/>
                      <a:tailEnd type="none" w="med" len="med"/>
                    </a:lnB>
                    <a:noFill/>
                  </a:tcPr>
                </a:tc>
                <a:tc>
                  <a:txBody>
                    <a:bodyPr/>
                    <a:lstStyle/>
                    <a:p>
                      <a:r>
                        <a:rPr lang="en-US" sz="2400" dirty="0">
                          <a:solidFill>
                            <a:schemeClr val="tx1"/>
                          </a:solidFill>
                        </a:rPr>
                        <a:t>False Match (FM)</a:t>
                      </a:r>
                    </a:p>
                  </a:txBody>
                  <a:tcPr>
                    <a:lnB w="12700" cap="flat" cmpd="sng" algn="ctr">
                      <a:solidFill>
                        <a:schemeClr val="tx1"/>
                      </a:solidFill>
                      <a:prstDash val="solid"/>
                      <a:round/>
                      <a:headEnd type="none" w="med" len="med"/>
                      <a:tailEnd type="none" w="med" len="med"/>
                    </a:lnB>
                    <a:noFill/>
                  </a:tcPr>
                </a:tc>
                <a:tc>
                  <a:txBody>
                    <a:bodyPr/>
                    <a:lstStyle/>
                    <a:p>
                      <a:r>
                        <a:rPr lang="en-US" sz="2400" dirty="0">
                          <a:solidFill>
                            <a:schemeClr val="tx1"/>
                          </a:solidFill>
                        </a:rPr>
                        <a:t>Imposter is incorrectly accepted</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5088233"/>
                  </a:ext>
                </a:extLst>
              </a:tr>
            </a:tbl>
          </a:graphicData>
        </a:graphic>
      </p:graphicFrame>
      <p:sp>
        <p:nvSpPr>
          <p:cNvPr id="5" name="TextBox 4">
            <a:extLst>
              <a:ext uri="{FF2B5EF4-FFF2-40B4-BE49-F238E27FC236}">
                <a16:creationId xmlns:a16="http://schemas.microsoft.com/office/drawing/2014/main" id="{F7647490-537F-176F-B056-D9F3C4513B3A}"/>
              </a:ext>
            </a:extLst>
          </p:cNvPr>
          <p:cNvSpPr txBox="1"/>
          <p:nvPr/>
        </p:nvSpPr>
        <p:spPr>
          <a:xfrm>
            <a:off x="172867" y="1230756"/>
            <a:ext cx="11356848" cy="461665"/>
          </a:xfrm>
          <a:prstGeom prst="rect">
            <a:avLst/>
          </a:prstGeom>
          <a:noFill/>
        </p:spPr>
        <p:txBody>
          <a:bodyPr wrap="square">
            <a:spAutoFit/>
          </a:bodyPr>
          <a:lstStyle/>
          <a:p>
            <a:r>
              <a:rPr lang="en-US" sz="2400" b="1" dirty="0"/>
              <a:t>Gallery</a:t>
            </a:r>
            <a:r>
              <a:rPr lang="en-US" sz="2400" dirty="0"/>
              <a:t>: Acquisition → Detection → Enrollment → Representation</a:t>
            </a:r>
          </a:p>
        </p:txBody>
      </p:sp>
      <p:sp>
        <p:nvSpPr>
          <p:cNvPr id="6" name="TextBox 5">
            <a:extLst>
              <a:ext uri="{FF2B5EF4-FFF2-40B4-BE49-F238E27FC236}">
                <a16:creationId xmlns:a16="http://schemas.microsoft.com/office/drawing/2014/main" id="{E5889621-C097-FF73-FC7C-079643267ABB}"/>
              </a:ext>
            </a:extLst>
          </p:cNvPr>
          <p:cNvSpPr txBox="1"/>
          <p:nvPr/>
        </p:nvSpPr>
        <p:spPr>
          <a:xfrm>
            <a:off x="2120937" y="1712284"/>
            <a:ext cx="8869680" cy="461665"/>
          </a:xfrm>
          <a:prstGeom prst="rect">
            <a:avLst/>
          </a:prstGeom>
          <a:noFill/>
        </p:spPr>
        <p:txBody>
          <a:bodyPr wrap="square">
            <a:spAutoFit/>
          </a:bodyPr>
          <a:lstStyle/>
          <a:p>
            <a:r>
              <a:rPr lang="en-US" sz="2400" b="1" dirty="0"/>
              <a:t>Probe</a:t>
            </a:r>
            <a:r>
              <a:rPr lang="en-US" sz="2400" dirty="0"/>
              <a:t>: Acquisition → Detection → Representation</a:t>
            </a:r>
          </a:p>
        </p:txBody>
      </p:sp>
      <p:sp>
        <p:nvSpPr>
          <p:cNvPr id="7" name="Right Brace 6">
            <a:extLst>
              <a:ext uri="{FF2B5EF4-FFF2-40B4-BE49-F238E27FC236}">
                <a16:creationId xmlns:a16="http://schemas.microsoft.com/office/drawing/2014/main" id="{9DEA79BD-79A3-337E-AA0D-BCFD7B56D66B}"/>
              </a:ext>
            </a:extLst>
          </p:cNvPr>
          <p:cNvSpPr/>
          <p:nvPr/>
        </p:nvSpPr>
        <p:spPr>
          <a:xfrm>
            <a:off x="8610600" y="1230756"/>
            <a:ext cx="513522" cy="92054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0142232B-F9D2-6AAF-B757-498FEA06BF2B}"/>
              </a:ext>
            </a:extLst>
          </p:cNvPr>
          <p:cNvSpPr txBox="1"/>
          <p:nvPr/>
        </p:nvSpPr>
        <p:spPr>
          <a:xfrm>
            <a:off x="9124122" y="1461588"/>
            <a:ext cx="3186197" cy="461665"/>
          </a:xfrm>
          <a:prstGeom prst="rect">
            <a:avLst/>
          </a:prstGeom>
          <a:noFill/>
        </p:spPr>
        <p:txBody>
          <a:bodyPr wrap="square">
            <a:spAutoFit/>
          </a:bodyPr>
          <a:lstStyle/>
          <a:p>
            <a:r>
              <a:rPr lang="en-US" sz="2400" dirty="0"/>
              <a:t>→ Matching → Decision</a:t>
            </a:r>
            <a:endParaRPr lang="en-US" dirty="0"/>
          </a:p>
        </p:txBody>
      </p:sp>
    </p:spTree>
    <p:extLst>
      <p:ext uri="{BB962C8B-B14F-4D97-AF65-F5344CB8AC3E}">
        <p14:creationId xmlns:p14="http://schemas.microsoft.com/office/powerpoint/2010/main" val="971643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82B8D-56D2-F238-23F5-D97FE12A7E34}"/>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D4BE10F-7BAA-ED73-8E11-B608859B9529}"/>
              </a:ext>
            </a:extLst>
          </p:cNvPr>
          <p:cNvSpPr>
            <a:spLocks noGrp="1"/>
          </p:cNvSpPr>
          <p:nvPr>
            <p:ph type="sldNum" sz="quarter" idx="12"/>
          </p:nvPr>
        </p:nvSpPr>
        <p:spPr/>
        <p:txBody>
          <a:bodyPr/>
          <a:lstStyle/>
          <a:p>
            <a:fld id="{659B2F21-D912-7541-8ED2-FD6ABD90B685}" type="slidenum">
              <a:rPr lang="en-US" smtClean="0"/>
              <a:t>12</a:t>
            </a:fld>
            <a:endParaRPr lang="en-US" dirty="0"/>
          </a:p>
        </p:txBody>
      </p:sp>
      <p:sp>
        <p:nvSpPr>
          <p:cNvPr id="3" name="TextBox 2">
            <a:extLst>
              <a:ext uri="{FF2B5EF4-FFF2-40B4-BE49-F238E27FC236}">
                <a16:creationId xmlns:a16="http://schemas.microsoft.com/office/drawing/2014/main" id="{146CEAFF-B720-3A33-1AAE-875DC1DDAFA6}"/>
              </a:ext>
            </a:extLst>
          </p:cNvPr>
          <p:cNvSpPr txBox="1"/>
          <p:nvPr/>
        </p:nvSpPr>
        <p:spPr>
          <a:xfrm>
            <a:off x="432079" y="486009"/>
            <a:ext cx="11327841" cy="707886"/>
          </a:xfrm>
          <a:prstGeom prst="rect">
            <a:avLst/>
          </a:prstGeom>
          <a:noFill/>
        </p:spPr>
        <p:txBody>
          <a:bodyPr wrap="square" rtlCol="0">
            <a:spAutoFit/>
          </a:bodyPr>
          <a:lstStyle/>
          <a:p>
            <a:r>
              <a:rPr lang="en-US" sz="4000" b="1" dirty="0">
                <a:solidFill>
                  <a:srgbClr val="0070C0"/>
                </a:solidFill>
              </a:rPr>
              <a:t>Why this matters for system-level performance?</a:t>
            </a:r>
          </a:p>
        </p:txBody>
      </p:sp>
      <p:sp>
        <p:nvSpPr>
          <p:cNvPr id="4" name="TextBox 3">
            <a:extLst>
              <a:ext uri="{FF2B5EF4-FFF2-40B4-BE49-F238E27FC236}">
                <a16:creationId xmlns:a16="http://schemas.microsoft.com/office/drawing/2014/main" id="{792974C0-635A-F75C-2FC5-8E7D4F6D2F68}"/>
              </a:ext>
            </a:extLst>
          </p:cNvPr>
          <p:cNvSpPr txBox="1"/>
          <p:nvPr/>
        </p:nvSpPr>
        <p:spPr>
          <a:xfrm>
            <a:off x="457200" y="1550504"/>
            <a:ext cx="10896600" cy="4832092"/>
          </a:xfrm>
          <a:prstGeom prst="rect">
            <a:avLst/>
          </a:prstGeom>
          <a:noFill/>
        </p:spPr>
        <p:txBody>
          <a:bodyPr wrap="square" rtlCol="0">
            <a:spAutoFit/>
          </a:bodyPr>
          <a:lstStyle/>
          <a:p>
            <a:r>
              <a:rPr lang="en-US" sz="2800" dirty="0"/>
              <a:t>Consider a system with:</a:t>
            </a:r>
          </a:p>
          <a:p>
            <a:pPr marL="457200" indent="-457200">
              <a:buFont typeface="Arial" panose="020B0604020202020204" pitchFamily="34" charset="0"/>
              <a:buChar char="•"/>
            </a:pPr>
            <a:r>
              <a:rPr lang="en-US" sz="2800" dirty="0"/>
              <a:t>FTD = 5%</a:t>
            </a:r>
          </a:p>
          <a:p>
            <a:pPr marL="457200" indent="-457200">
              <a:buFont typeface="Arial" panose="020B0604020202020204" pitchFamily="34" charset="0"/>
              <a:buChar char="•"/>
            </a:pPr>
            <a:r>
              <a:rPr lang="en-US" sz="2800" dirty="0"/>
              <a:t>FTE = 2%</a:t>
            </a:r>
          </a:p>
          <a:p>
            <a:pPr marL="457200" indent="-457200">
              <a:buFont typeface="Arial" panose="020B0604020202020204" pitchFamily="34" charset="0"/>
              <a:buChar char="•"/>
            </a:pPr>
            <a:r>
              <a:rPr lang="en-US" sz="2800" dirty="0"/>
              <a:t>FNMR = 1%</a:t>
            </a:r>
          </a:p>
          <a:p>
            <a:pPr marL="457200" indent="-457200">
              <a:buFont typeface="Arial" panose="020B0604020202020204" pitchFamily="34" charset="0"/>
              <a:buChar char="•"/>
            </a:pPr>
            <a:r>
              <a:rPr lang="en-US" sz="2800" dirty="0"/>
              <a:t>FMR = 0.1%</a:t>
            </a:r>
          </a:p>
          <a:p>
            <a:endParaRPr lang="en-US" sz="2800" dirty="0"/>
          </a:p>
          <a:p>
            <a:r>
              <a:rPr lang="en-US" sz="2800" dirty="0"/>
              <a:t>Reporting only FNMR = 1% and FMR = 0.1% may suggest system viability</a:t>
            </a:r>
          </a:p>
          <a:p>
            <a:endParaRPr lang="en-US" sz="2800" b="1" dirty="0"/>
          </a:p>
          <a:p>
            <a:r>
              <a:rPr lang="en-US" sz="2800" b="1" dirty="0"/>
              <a:t>But 5% of presentations never produce a useable face in the first place</a:t>
            </a:r>
          </a:p>
        </p:txBody>
      </p:sp>
    </p:spTree>
    <p:extLst>
      <p:ext uri="{BB962C8B-B14F-4D97-AF65-F5344CB8AC3E}">
        <p14:creationId xmlns:p14="http://schemas.microsoft.com/office/powerpoint/2010/main" val="1628056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2BDA0-2130-A73F-02B1-5EEBCA339E63}"/>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396E5E0E-436E-CE84-7E16-50971775C02F}"/>
              </a:ext>
            </a:extLst>
          </p:cNvPr>
          <p:cNvSpPr>
            <a:spLocks noGrp="1"/>
          </p:cNvSpPr>
          <p:nvPr>
            <p:ph type="sldNum" sz="quarter" idx="12"/>
          </p:nvPr>
        </p:nvSpPr>
        <p:spPr/>
        <p:txBody>
          <a:bodyPr/>
          <a:lstStyle/>
          <a:p>
            <a:fld id="{659B2F21-D912-7541-8ED2-FD6ABD90B685}" type="slidenum">
              <a:rPr lang="en-US" smtClean="0"/>
              <a:t>13</a:t>
            </a:fld>
            <a:endParaRPr lang="en-US"/>
          </a:p>
        </p:txBody>
      </p:sp>
      <p:sp>
        <p:nvSpPr>
          <p:cNvPr id="3" name="TextBox 2">
            <a:extLst>
              <a:ext uri="{FF2B5EF4-FFF2-40B4-BE49-F238E27FC236}">
                <a16:creationId xmlns:a16="http://schemas.microsoft.com/office/drawing/2014/main" id="{73805855-E45D-9D1F-C5D4-679F9F1295D4}"/>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Which system is better?</a:t>
            </a:r>
          </a:p>
        </p:txBody>
      </p:sp>
      <p:pic>
        <p:nvPicPr>
          <p:cNvPr id="2" name="Picture 1" descr="What to know about TSA's facial recognition tech">
            <a:extLst>
              <a:ext uri="{FF2B5EF4-FFF2-40B4-BE49-F238E27FC236}">
                <a16:creationId xmlns:a16="http://schemas.microsoft.com/office/drawing/2014/main" id="{F7CE2C50-06C9-2594-9BE7-8FFF4C3B150B}"/>
              </a:ext>
            </a:extLst>
          </p:cNvPr>
          <p:cNvPicPr>
            <a:picLocks noChangeAspect="1"/>
          </p:cNvPicPr>
          <p:nvPr/>
        </p:nvPicPr>
        <p:blipFill>
          <a:blip r:embed="rId2"/>
          <a:stretch>
            <a:fillRect/>
          </a:stretch>
        </p:blipFill>
        <p:spPr>
          <a:xfrm>
            <a:off x="2396534" y="1875294"/>
            <a:ext cx="2368816" cy="4211227"/>
          </a:xfrm>
          <a:prstGeom prst="rect">
            <a:avLst/>
          </a:prstGeom>
        </p:spPr>
      </p:pic>
      <p:pic>
        <p:nvPicPr>
          <p:cNvPr id="4" name="Picture 3" descr="The new program will use a biometric kiosk to identify passengers faster,  though it still doesn't guarantee they'll be able to fly. MORE BELOW ⬇️">
            <a:extLst>
              <a:ext uri="{FF2B5EF4-FFF2-40B4-BE49-F238E27FC236}">
                <a16:creationId xmlns:a16="http://schemas.microsoft.com/office/drawing/2014/main" id="{786162BE-3697-D9D4-304C-9463823BF2F0}"/>
              </a:ext>
            </a:extLst>
          </p:cNvPr>
          <p:cNvPicPr>
            <a:picLocks noChangeAspect="1"/>
          </p:cNvPicPr>
          <p:nvPr/>
        </p:nvPicPr>
        <p:blipFill>
          <a:blip r:embed="rId3"/>
          <a:srcRect r="54779"/>
          <a:stretch>
            <a:fillRect/>
          </a:stretch>
        </p:blipFill>
        <p:spPr>
          <a:xfrm>
            <a:off x="6725605" y="1874930"/>
            <a:ext cx="2869704" cy="4207528"/>
          </a:xfrm>
          <a:prstGeom prst="rect">
            <a:avLst/>
          </a:prstGeom>
        </p:spPr>
      </p:pic>
      <p:sp>
        <p:nvSpPr>
          <p:cNvPr id="5" name="TextBox 4">
            <a:extLst>
              <a:ext uri="{FF2B5EF4-FFF2-40B4-BE49-F238E27FC236}">
                <a16:creationId xmlns:a16="http://schemas.microsoft.com/office/drawing/2014/main" id="{75838DD2-8555-71F7-6992-697B7FF9C377}"/>
              </a:ext>
            </a:extLst>
          </p:cNvPr>
          <p:cNvSpPr txBox="1"/>
          <p:nvPr/>
        </p:nvSpPr>
        <p:spPr>
          <a:xfrm>
            <a:off x="2840579" y="1303580"/>
            <a:ext cx="1480726" cy="461665"/>
          </a:xfrm>
          <a:prstGeom prst="rect">
            <a:avLst/>
          </a:prstGeom>
          <a:noFill/>
        </p:spPr>
        <p:txBody>
          <a:bodyPr wrap="none" rtlCol="0">
            <a:spAutoFit/>
          </a:bodyPr>
          <a:lstStyle/>
          <a:p>
            <a:r>
              <a:rPr lang="en-US" sz="2400" b="1" dirty="0"/>
              <a:t>System A</a:t>
            </a:r>
          </a:p>
        </p:txBody>
      </p:sp>
      <p:sp>
        <p:nvSpPr>
          <p:cNvPr id="7" name="TextBox 6">
            <a:extLst>
              <a:ext uri="{FF2B5EF4-FFF2-40B4-BE49-F238E27FC236}">
                <a16:creationId xmlns:a16="http://schemas.microsoft.com/office/drawing/2014/main" id="{E9A1048D-12FF-3C2F-145F-F4432F3513A4}"/>
              </a:ext>
            </a:extLst>
          </p:cNvPr>
          <p:cNvSpPr txBox="1"/>
          <p:nvPr/>
        </p:nvSpPr>
        <p:spPr>
          <a:xfrm>
            <a:off x="7420094" y="1303580"/>
            <a:ext cx="1480726" cy="461665"/>
          </a:xfrm>
          <a:prstGeom prst="rect">
            <a:avLst/>
          </a:prstGeom>
          <a:noFill/>
        </p:spPr>
        <p:txBody>
          <a:bodyPr wrap="none" rtlCol="0">
            <a:spAutoFit/>
          </a:bodyPr>
          <a:lstStyle/>
          <a:p>
            <a:r>
              <a:rPr lang="en-US" sz="2400" b="1" dirty="0"/>
              <a:t>System B</a:t>
            </a:r>
          </a:p>
        </p:txBody>
      </p:sp>
      <p:sp>
        <p:nvSpPr>
          <p:cNvPr id="8" name="TextBox 7">
            <a:extLst>
              <a:ext uri="{FF2B5EF4-FFF2-40B4-BE49-F238E27FC236}">
                <a16:creationId xmlns:a16="http://schemas.microsoft.com/office/drawing/2014/main" id="{8E1823A0-EC54-4847-B3C9-DB001CFDA9DA}"/>
              </a:ext>
            </a:extLst>
          </p:cNvPr>
          <p:cNvSpPr txBox="1"/>
          <p:nvPr/>
        </p:nvSpPr>
        <p:spPr>
          <a:xfrm>
            <a:off x="2396534" y="6141158"/>
            <a:ext cx="2395143" cy="461665"/>
          </a:xfrm>
          <a:prstGeom prst="rect">
            <a:avLst/>
          </a:prstGeom>
          <a:noFill/>
        </p:spPr>
        <p:txBody>
          <a:bodyPr wrap="none" rtlCol="0">
            <a:spAutoFit/>
          </a:bodyPr>
          <a:lstStyle/>
          <a:p>
            <a:r>
              <a:rPr lang="en-US" sz="2400" b="1" dirty="0">
                <a:solidFill>
                  <a:srgbClr val="FF0000"/>
                </a:solidFill>
              </a:rPr>
              <a:t>99.9% Accuracy</a:t>
            </a:r>
          </a:p>
        </p:txBody>
      </p:sp>
      <p:sp>
        <p:nvSpPr>
          <p:cNvPr id="11" name="TextBox 10">
            <a:extLst>
              <a:ext uri="{FF2B5EF4-FFF2-40B4-BE49-F238E27FC236}">
                <a16:creationId xmlns:a16="http://schemas.microsoft.com/office/drawing/2014/main" id="{CDE7AE75-FF84-50A0-455A-FF1701C19D3B}"/>
              </a:ext>
            </a:extLst>
          </p:cNvPr>
          <p:cNvSpPr txBox="1"/>
          <p:nvPr/>
        </p:nvSpPr>
        <p:spPr>
          <a:xfrm>
            <a:off x="6962885" y="6125517"/>
            <a:ext cx="2395143" cy="461665"/>
          </a:xfrm>
          <a:prstGeom prst="rect">
            <a:avLst/>
          </a:prstGeom>
          <a:noFill/>
        </p:spPr>
        <p:txBody>
          <a:bodyPr wrap="none" rtlCol="0">
            <a:spAutoFit/>
          </a:bodyPr>
          <a:lstStyle/>
          <a:p>
            <a:r>
              <a:rPr lang="en-US" sz="2400" b="1" dirty="0">
                <a:solidFill>
                  <a:srgbClr val="FF0000"/>
                </a:solidFill>
              </a:rPr>
              <a:t>99.5% Accuracy</a:t>
            </a:r>
          </a:p>
        </p:txBody>
      </p:sp>
      <p:sp>
        <p:nvSpPr>
          <p:cNvPr id="13" name="TextBox 12">
            <a:extLst>
              <a:ext uri="{FF2B5EF4-FFF2-40B4-BE49-F238E27FC236}">
                <a16:creationId xmlns:a16="http://schemas.microsoft.com/office/drawing/2014/main" id="{E51273D4-38CC-4D83-6FC4-A0E0012F93C1}"/>
              </a:ext>
            </a:extLst>
          </p:cNvPr>
          <p:cNvSpPr txBox="1"/>
          <p:nvPr/>
        </p:nvSpPr>
        <p:spPr>
          <a:xfrm>
            <a:off x="3408940" y="2790216"/>
            <a:ext cx="4673074" cy="5478423"/>
          </a:xfrm>
          <a:prstGeom prst="rect">
            <a:avLst/>
          </a:prstGeom>
          <a:noFill/>
        </p:spPr>
        <p:txBody>
          <a:bodyPr wrap="none" rtlCol="0">
            <a:spAutoFit/>
          </a:bodyPr>
          <a:lstStyle/>
          <a:p>
            <a:r>
              <a:rPr lang="en-US" sz="35000" dirty="0"/>
              <a:t>🚫</a:t>
            </a: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1324BC93-41EF-B072-C548-26BD6D3005F2}"/>
                  </a:ext>
                </a:extLst>
              </p:cNvPr>
              <p:cNvSpPr txBox="1"/>
              <p:nvPr/>
            </p:nvSpPr>
            <p:spPr>
              <a:xfrm>
                <a:off x="5286057" y="5067183"/>
                <a:ext cx="918841" cy="1015663"/>
              </a:xfrm>
              <a:prstGeom prst="rect">
                <a:avLst/>
              </a:prstGeom>
              <a:noFill/>
            </p:spPr>
            <p:txBody>
              <a:bodyPr wrap="none" rtlCol="0">
                <a:spAutoFit/>
              </a:bodyPr>
              <a:lstStyle/>
              <a:p>
                <a14:m>
                  <m:oMathPara xmlns:m="http://schemas.openxmlformats.org/officeDocument/2006/math">
                    <m:oMath>
                      <m:r>
                        <a:rPr lang="en-US" sz="6000" b="0" i="1" smtClean="0">
                          <a:latin typeface="Cambria Math" panose="02040503050406030204" pitchFamily="18" charset="0"/>
                        </a:rPr>
                        <m:t>&gt;</m:t>
                      </m:r>
                    </m:oMath>
                  </m:oMathPara>
                </a14:m>
                <a:endParaRPr lang="en-US" sz="6000" dirty="0"/>
              </a:p>
            </p:txBody>
          </p:sp>
        </mc:Choice>
        <mc:Fallback>
          <p:sp>
            <p:nvSpPr>
              <p:cNvPr id="12" name="TextBox 11">
                <a:extLst>
                  <a:ext uri="{FF2B5EF4-FFF2-40B4-BE49-F238E27FC236}">
                    <a16:creationId xmlns:a16="http://schemas.microsoft.com/office/drawing/2014/main" id="{1324BC93-41EF-B072-C548-26BD6D3005F2}"/>
                  </a:ext>
                </a:extLst>
              </p:cNvPr>
              <p:cNvSpPr txBox="1">
                <a:spLocks noRot="1" noChangeAspect="1" noMove="1" noResize="1" noEditPoints="1" noAdjustHandles="1" noChangeArrowheads="1" noChangeShapeType="1" noTextEdit="1"/>
              </p:cNvSpPr>
              <p:nvPr/>
            </p:nvSpPr>
            <p:spPr>
              <a:xfrm>
                <a:off x="5286057" y="5067183"/>
                <a:ext cx="918841" cy="1015663"/>
              </a:xfrm>
              <a:prstGeom prst="rect">
                <a:avLst/>
              </a:prstGeom>
              <a:blipFill>
                <a:blip r:embed="rId4"/>
                <a:stretch>
                  <a:fillRect l="-6849" r="-5479"/>
                </a:stretch>
              </a:blipFill>
            </p:spPr>
            <p:txBody>
              <a:bodyPr/>
              <a:lstStyle/>
              <a:p>
                <a:r>
                  <a:rPr lang="en-US">
                    <a:noFill/>
                  </a:rPr>
                  <a:t> </a:t>
                </a:r>
              </a:p>
            </p:txBody>
          </p:sp>
        </mc:Fallback>
      </mc:AlternateContent>
    </p:spTree>
    <p:extLst>
      <p:ext uri="{BB962C8B-B14F-4D97-AF65-F5344CB8AC3E}">
        <p14:creationId xmlns:p14="http://schemas.microsoft.com/office/powerpoint/2010/main" val="1082929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D2740-BC59-6AD3-413C-2435877482D0}"/>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EE5328D8-4E35-29CE-9F17-92FF99C85F79}"/>
              </a:ext>
            </a:extLst>
          </p:cNvPr>
          <p:cNvSpPr>
            <a:spLocks noGrp="1"/>
          </p:cNvSpPr>
          <p:nvPr>
            <p:ph type="sldNum" sz="quarter" idx="12"/>
          </p:nvPr>
        </p:nvSpPr>
        <p:spPr/>
        <p:txBody>
          <a:bodyPr/>
          <a:lstStyle/>
          <a:p>
            <a:fld id="{659B2F21-D912-7541-8ED2-FD6ABD90B685}" type="slidenum">
              <a:rPr lang="en-US" smtClean="0"/>
              <a:t>14</a:t>
            </a:fld>
            <a:endParaRPr lang="en-US"/>
          </a:p>
        </p:txBody>
      </p:sp>
      <p:sp>
        <p:nvSpPr>
          <p:cNvPr id="3" name="TextBox 2">
            <a:extLst>
              <a:ext uri="{FF2B5EF4-FFF2-40B4-BE49-F238E27FC236}">
                <a16:creationId xmlns:a16="http://schemas.microsoft.com/office/drawing/2014/main" id="{C569429F-22B2-246B-9F7D-64DDBEB4BA97}"/>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Under what operating conditions?</a:t>
            </a:r>
          </a:p>
        </p:txBody>
      </p:sp>
      <p:sp>
        <p:nvSpPr>
          <p:cNvPr id="15" name="TextBox 14">
            <a:extLst>
              <a:ext uri="{FF2B5EF4-FFF2-40B4-BE49-F238E27FC236}">
                <a16:creationId xmlns:a16="http://schemas.microsoft.com/office/drawing/2014/main" id="{20290234-D7AA-358F-54E2-D9B1F42F190A}"/>
              </a:ext>
            </a:extLst>
          </p:cNvPr>
          <p:cNvSpPr txBox="1"/>
          <p:nvPr/>
        </p:nvSpPr>
        <p:spPr>
          <a:xfrm>
            <a:off x="780222" y="1743797"/>
            <a:ext cx="5315778" cy="4401205"/>
          </a:xfrm>
          <a:prstGeom prst="rect">
            <a:avLst/>
          </a:prstGeom>
          <a:noFill/>
        </p:spPr>
        <p:txBody>
          <a:bodyPr wrap="square">
            <a:spAutoFit/>
          </a:bodyPr>
          <a:lstStyle/>
          <a:p>
            <a:pPr marL="342900" lvl="0" indent="-342900">
              <a:buFont typeface="Arial" panose="020B0604020202020204" pitchFamily="34" charset="0"/>
              <a:buChar char="•"/>
            </a:pPr>
            <a:r>
              <a:rPr lang="en-US" sz="2800" dirty="0"/>
              <a:t>What dataset? </a:t>
            </a:r>
          </a:p>
          <a:p>
            <a:pPr marL="342900" lvl="0" indent="-342900">
              <a:buFont typeface="Arial" panose="020B0604020202020204" pitchFamily="34" charset="0"/>
              <a:buChar char="•"/>
            </a:pPr>
            <a:r>
              <a:rPr lang="en-US" sz="2800" dirty="0"/>
              <a:t>How many subjects? </a:t>
            </a:r>
          </a:p>
          <a:p>
            <a:pPr marL="342900" lvl="0" indent="-342900">
              <a:buFont typeface="Arial" panose="020B0604020202020204" pitchFamily="34" charset="0"/>
              <a:buChar char="•"/>
            </a:pPr>
            <a:r>
              <a:rPr lang="en-US" sz="2800" dirty="0"/>
              <a:t>How many images per subject? </a:t>
            </a:r>
          </a:p>
          <a:p>
            <a:pPr marL="342900" lvl="0" indent="-342900">
              <a:buFont typeface="Arial" panose="020B0604020202020204" pitchFamily="34" charset="0"/>
              <a:buChar char="•"/>
            </a:pPr>
            <a:r>
              <a:rPr lang="en-US" sz="2800" dirty="0"/>
              <a:t>Same camera or different cameras? </a:t>
            </a:r>
          </a:p>
          <a:p>
            <a:pPr marL="342900" lvl="0" indent="-342900">
              <a:buFont typeface="Arial" panose="020B0604020202020204" pitchFamily="34" charset="0"/>
              <a:buChar char="•"/>
            </a:pPr>
            <a:r>
              <a:rPr lang="en-US" sz="2800" dirty="0"/>
              <a:t>Same session or different sessions? </a:t>
            </a:r>
          </a:p>
          <a:p>
            <a:pPr marL="342900" lvl="0" indent="-342900">
              <a:buFont typeface="Arial" panose="020B0604020202020204" pitchFamily="34" charset="0"/>
              <a:buChar char="•"/>
            </a:pPr>
            <a:r>
              <a:rPr lang="en-US" sz="2800" dirty="0"/>
              <a:t>Same lighting? </a:t>
            </a:r>
          </a:p>
          <a:p>
            <a:pPr marL="342900" lvl="0" indent="-342900">
              <a:buFont typeface="Arial" panose="020B0604020202020204" pitchFamily="34" charset="0"/>
              <a:buChar char="•"/>
            </a:pPr>
            <a:r>
              <a:rPr lang="en-US" sz="2800" dirty="0"/>
              <a:t>How much time between enrollment and recognition?</a:t>
            </a:r>
          </a:p>
        </p:txBody>
      </p:sp>
      <p:sp>
        <p:nvSpPr>
          <p:cNvPr id="17" name="TextBox 16">
            <a:extLst>
              <a:ext uri="{FF2B5EF4-FFF2-40B4-BE49-F238E27FC236}">
                <a16:creationId xmlns:a16="http://schemas.microsoft.com/office/drawing/2014/main" id="{DD962505-59FE-0C13-8C60-E0A09C137136}"/>
              </a:ext>
            </a:extLst>
          </p:cNvPr>
          <p:cNvSpPr txBox="1"/>
          <p:nvPr/>
        </p:nvSpPr>
        <p:spPr>
          <a:xfrm>
            <a:off x="6099314" y="1743797"/>
            <a:ext cx="6092686" cy="3539430"/>
          </a:xfrm>
          <a:prstGeom prst="rect">
            <a:avLst/>
          </a:prstGeom>
          <a:noFill/>
        </p:spPr>
        <p:txBody>
          <a:bodyPr wrap="square">
            <a:spAutoFit/>
          </a:bodyPr>
          <a:lstStyle/>
          <a:p>
            <a:pPr marL="342900" lvl="0" indent="-342900">
              <a:buFont typeface="Arial" panose="020B0604020202020204" pitchFamily="34" charset="0"/>
              <a:buChar char="•"/>
            </a:pPr>
            <a:r>
              <a:rPr lang="en-US" sz="2800" dirty="0"/>
              <a:t>How were subjects selected? </a:t>
            </a:r>
          </a:p>
          <a:p>
            <a:pPr marL="342900" lvl="0" indent="-342900">
              <a:buFont typeface="Arial" panose="020B0604020202020204" pitchFamily="34" charset="0"/>
              <a:buChar char="•"/>
            </a:pPr>
            <a:r>
              <a:rPr lang="en-US" sz="2800" dirty="0"/>
              <a:t>Was the test data independent? </a:t>
            </a:r>
          </a:p>
          <a:p>
            <a:pPr marL="342900" lvl="0" indent="-342900">
              <a:buFont typeface="Arial" panose="020B0604020202020204" pitchFamily="34" charset="0"/>
              <a:buChar char="•"/>
            </a:pPr>
            <a:r>
              <a:rPr lang="en-US" sz="2800" dirty="0"/>
              <a:t>Were identities present in training? </a:t>
            </a:r>
          </a:p>
          <a:p>
            <a:pPr marL="342900" lvl="0" indent="-342900">
              <a:buFont typeface="Arial" panose="020B0604020202020204" pitchFamily="34" charset="0"/>
              <a:buChar char="•"/>
            </a:pPr>
            <a:r>
              <a:rPr lang="en-US" sz="2800" dirty="0"/>
              <a:t>How was the threshold selected? </a:t>
            </a:r>
          </a:p>
          <a:p>
            <a:pPr marL="342900" lvl="0" indent="-342900">
              <a:buFont typeface="Arial" panose="020B0604020202020204" pitchFamily="34" charset="0"/>
              <a:buChar char="•"/>
            </a:pPr>
            <a:r>
              <a:rPr lang="en-US" sz="2800" dirty="0"/>
              <a:t>Verification or identification? </a:t>
            </a:r>
          </a:p>
          <a:p>
            <a:pPr marL="342900" lvl="0" indent="-342900">
              <a:buFont typeface="Arial" panose="020B0604020202020204" pitchFamily="34" charset="0"/>
              <a:buChar char="•"/>
            </a:pPr>
            <a:r>
              <a:rPr lang="en-US" sz="2800" dirty="0"/>
              <a:t>Closed-set or open-set? </a:t>
            </a:r>
          </a:p>
          <a:p>
            <a:pPr marL="342900" lvl="0" indent="-342900">
              <a:buFont typeface="Arial" panose="020B0604020202020204" pitchFamily="34" charset="0"/>
              <a:buChar char="•"/>
            </a:pPr>
            <a:r>
              <a:rPr lang="en-US" sz="2800" dirty="0"/>
              <a:t>What is the impostor/genuine comparison protocol?</a:t>
            </a:r>
          </a:p>
        </p:txBody>
      </p:sp>
    </p:spTree>
    <p:extLst>
      <p:ext uri="{BB962C8B-B14F-4D97-AF65-F5344CB8AC3E}">
        <p14:creationId xmlns:p14="http://schemas.microsoft.com/office/powerpoint/2010/main" val="3841211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DEE0E70-4B02-C809-EFDB-23B95BEAFE62}"/>
              </a:ext>
            </a:extLst>
          </p:cNvPr>
          <p:cNvSpPr>
            <a:spLocks noGrp="1"/>
          </p:cNvSpPr>
          <p:nvPr>
            <p:ph type="sldNum" sz="quarter" idx="12"/>
          </p:nvPr>
        </p:nvSpPr>
        <p:spPr/>
        <p:txBody>
          <a:bodyPr/>
          <a:lstStyle/>
          <a:p>
            <a:fld id="{659B2F21-D912-7541-8ED2-FD6ABD90B685}" type="slidenum">
              <a:rPr lang="en-US" smtClean="0"/>
              <a:t>15</a:t>
            </a:fld>
            <a:endParaRPr lang="en-US"/>
          </a:p>
        </p:txBody>
      </p:sp>
      <p:sp>
        <p:nvSpPr>
          <p:cNvPr id="5" name="TextBox 4">
            <a:extLst>
              <a:ext uri="{FF2B5EF4-FFF2-40B4-BE49-F238E27FC236}">
                <a16:creationId xmlns:a16="http://schemas.microsoft.com/office/drawing/2014/main" id="{A8ACD655-8594-A2CE-0479-E2D4BE969C2A}"/>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Project 1 (Baseline) Activity</a:t>
            </a:r>
          </a:p>
        </p:txBody>
      </p:sp>
      <p:sp>
        <p:nvSpPr>
          <p:cNvPr id="6" name="TextBox 5">
            <a:extLst>
              <a:ext uri="{FF2B5EF4-FFF2-40B4-BE49-F238E27FC236}">
                <a16:creationId xmlns:a16="http://schemas.microsoft.com/office/drawing/2014/main" id="{5351C371-394C-C408-D435-BF183738D83E}"/>
              </a:ext>
            </a:extLst>
          </p:cNvPr>
          <p:cNvSpPr txBox="1"/>
          <p:nvPr/>
        </p:nvSpPr>
        <p:spPr>
          <a:xfrm>
            <a:off x="605742" y="1953097"/>
            <a:ext cx="9795164" cy="4154984"/>
          </a:xfrm>
          <a:prstGeom prst="rect">
            <a:avLst/>
          </a:prstGeom>
          <a:noFill/>
        </p:spPr>
        <p:txBody>
          <a:bodyPr wrap="square" rtlCol="0">
            <a:spAutoFit/>
          </a:bodyPr>
          <a:lstStyle/>
          <a:p>
            <a:pPr marL="342900" indent="-342900">
              <a:buFont typeface="Wingdings" pitchFamily="2" charset="2"/>
              <a:buChar char="q"/>
            </a:pPr>
            <a:r>
              <a:rPr lang="en-US" sz="2400" b="1" dirty="0"/>
              <a:t>Draft a biometric problem statement for your project?</a:t>
            </a:r>
          </a:p>
          <a:p>
            <a:pPr marL="342900" indent="-342900">
              <a:buFont typeface="Wingdings" pitchFamily="2" charset="2"/>
              <a:buChar char="q"/>
            </a:pPr>
            <a:endParaRPr lang="en-US" sz="2400" b="1" dirty="0"/>
          </a:p>
          <a:p>
            <a:pPr marL="342900" indent="-342900">
              <a:buFont typeface="Wingdings" pitchFamily="2" charset="2"/>
              <a:buChar char="q"/>
            </a:pPr>
            <a:r>
              <a:rPr lang="en-US" sz="2400" b="1" dirty="0"/>
              <a:t>Search for and list some potential datasets</a:t>
            </a:r>
          </a:p>
          <a:p>
            <a:pPr marL="342900" indent="-342900">
              <a:buFont typeface="Wingdings" pitchFamily="2" charset="2"/>
              <a:buChar char="q"/>
            </a:pPr>
            <a:endParaRPr lang="en-US" sz="2400" b="1" dirty="0"/>
          </a:p>
          <a:p>
            <a:pPr marL="342900" indent="-342900">
              <a:buFont typeface="Wingdings" pitchFamily="2" charset="2"/>
              <a:buChar char="q"/>
            </a:pPr>
            <a:r>
              <a:rPr lang="en-US" sz="2400" b="1" dirty="0"/>
              <a:t>What part(s) of the pipeline does your potential project consider?</a:t>
            </a:r>
          </a:p>
          <a:p>
            <a:pPr marL="342900" indent="-342900">
              <a:buFont typeface="Wingdings" pitchFamily="2" charset="2"/>
              <a:buChar char="q"/>
            </a:pPr>
            <a:endParaRPr lang="en-US" sz="2400" b="1" dirty="0"/>
          </a:p>
          <a:p>
            <a:pPr marL="342900" indent="-342900">
              <a:buFont typeface="Wingdings" pitchFamily="2" charset="2"/>
              <a:buChar char="q"/>
            </a:pPr>
            <a:r>
              <a:rPr lang="en-US" sz="2400" b="1" dirty="0"/>
              <a:t>What biometric modalities does your potential problem utilize?</a:t>
            </a:r>
          </a:p>
          <a:p>
            <a:pPr marL="342900" indent="-342900">
              <a:buFont typeface="Wingdings" pitchFamily="2" charset="2"/>
              <a:buChar char="q"/>
            </a:pPr>
            <a:endParaRPr lang="en-US" sz="2400" b="1" dirty="0"/>
          </a:p>
          <a:p>
            <a:pPr marL="342900" indent="-342900">
              <a:buFont typeface="Wingdings" pitchFamily="2" charset="2"/>
              <a:buChar char="q"/>
            </a:pPr>
            <a:r>
              <a:rPr lang="en-US" sz="2400" b="1" dirty="0"/>
              <a:t>Why is this problem relevant?  </a:t>
            </a:r>
          </a:p>
          <a:p>
            <a:br>
              <a:rPr lang="en-US" sz="2400" b="1" dirty="0"/>
            </a:br>
            <a:endParaRPr lang="en-US" sz="2400" b="1" dirty="0"/>
          </a:p>
        </p:txBody>
      </p:sp>
    </p:spTree>
    <p:extLst>
      <p:ext uri="{BB962C8B-B14F-4D97-AF65-F5344CB8AC3E}">
        <p14:creationId xmlns:p14="http://schemas.microsoft.com/office/powerpoint/2010/main" val="20612862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877D530-303B-CAE8-9F69-37E20A4774D2}"/>
              </a:ext>
            </a:extLst>
          </p:cNvPr>
          <p:cNvSpPr>
            <a:spLocks noGrp="1"/>
          </p:cNvSpPr>
          <p:nvPr>
            <p:ph type="sldNum" sz="quarter" idx="12"/>
          </p:nvPr>
        </p:nvSpPr>
        <p:spPr/>
        <p:txBody>
          <a:bodyPr/>
          <a:lstStyle/>
          <a:p>
            <a:fld id="{659B2F21-D912-7541-8ED2-FD6ABD90B685}" type="slidenum">
              <a:rPr lang="en-US" smtClean="0"/>
              <a:t>16</a:t>
            </a:fld>
            <a:endParaRPr lang="en-US"/>
          </a:p>
        </p:txBody>
      </p:sp>
      <p:sp>
        <p:nvSpPr>
          <p:cNvPr id="5" name="TextBox 4">
            <a:extLst>
              <a:ext uri="{FF2B5EF4-FFF2-40B4-BE49-F238E27FC236}">
                <a16:creationId xmlns:a16="http://schemas.microsoft.com/office/drawing/2014/main" id="{EA70448C-22FE-BBAE-B9CD-7CC4E2CFF8CF}"/>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pic>
        <p:nvPicPr>
          <p:cNvPr id="6" name="Picture 5">
            <a:extLst>
              <a:ext uri="{FF2B5EF4-FFF2-40B4-BE49-F238E27FC236}">
                <a16:creationId xmlns:a16="http://schemas.microsoft.com/office/drawing/2014/main" id="{971289AC-DEF8-75D0-6B4E-FC72A76C4A2B}"/>
              </a:ext>
            </a:extLst>
          </p:cNvPr>
          <p:cNvPicPr>
            <a:picLocks noChangeAspect="1"/>
          </p:cNvPicPr>
          <p:nvPr/>
        </p:nvPicPr>
        <p:blipFill>
          <a:blip r:embed="rId2"/>
          <a:srcRect t="3965" b="3965"/>
          <a:stretch/>
        </p:blipFill>
        <p:spPr>
          <a:xfrm>
            <a:off x="4033087" y="1093258"/>
            <a:ext cx="4110393" cy="5363730"/>
          </a:xfrm>
          <a:prstGeom prst="rect">
            <a:avLst/>
          </a:prstGeom>
        </p:spPr>
      </p:pic>
    </p:spTree>
    <p:extLst>
      <p:ext uri="{BB962C8B-B14F-4D97-AF65-F5344CB8AC3E}">
        <p14:creationId xmlns:p14="http://schemas.microsoft.com/office/powerpoint/2010/main" val="967284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84533-2D5D-6226-3EF2-76438442CD6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1B44C71-C494-6500-5516-6772D1C6D878}"/>
              </a:ext>
            </a:extLst>
          </p:cNvPr>
          <p:cNvSpPr>
            <a:spLocks noGrp="1"/>
          </p:cNvSpPr>
          <p:nvPr>
            <p:ph type="sldNum" sz="quarter" idx="12"/>
          </p:nvPr>
        </p:nvSpPr>
        <p:spPr/>
        <p:txBody>
          <a:bodyPr/>
          <a:lstStyle/>
          <a:p>
            <a:fld id="{659B2F21-D912-7541-8ED2-FD6ABD90B685}" type="slidenum">
              <a:rPr lang="en-US" smtClean="0"/>
              <a:t>17</a:t>
            </a:fld>
            <a:endParaRPr lang="en-US" dirty="0"/>
          </a:p>
        </p:txBody>
      </p:sp>
      <p:sp>
        <p:nvSpPr>
          <p:cNvPr id="5" name="TextBox 4">
            <a:extLst>
              <a:ext uri="{FF2B5EF4-FFF2-40B4-BE49-F238E27FC236}">
                <a16:creationId xmlns:a16="http://schemas.microsoft.com/office/drawing/2014/main" id="{6B1CB11A-F8C4-9B1A-5279-FDEA37BB0AC9}"/>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9F084720-9696-2128-9E56-B32E0A92CA3D}"/>
              </a:ext>
            </a:extLst>
          </p:cNvPr>
          <p:cNvSpPr txBox="1"/>
          <p:nvPr/>
        </p:nvSpPr>
        <p:spPr>
          <a:xfrm>
            <a:off x="590310" y="1347401"/>
            <a:ext cx="10955866" cy="1600438"/>
          </a:xfrm>
          <a:prstGeom prst="rect">
            <a:avLst/>
          </a:prstGeom>
          <a:noFill/>
        </p:spPr>
        <p:txBody>
          <a:bodyPr wrap="square">
            <a:spAutoFit/>
          </a:bodyPr>
          <a:lstStyle/>
          <a:p>
            <a:r>
              <a:rPr lang="en-US" sz="4000" dirty="0"/>
              <a:t>What problem is addressed?</a:t>
            </a:r>
          </a:p>
          <a:p>
            <a:r>
              <a:rPr lang="en-US" sz="4000" dirty="0"/>
              <a:t>Why?</a:t>
            </a:r>
            <a:br>
              <a:rPr lang="en-US" sz="3200" dirty="0"/>
            </a:br>
            <a:endParaRPr lang="en-US" dirty="0"/>
          </a:p>
        </p:txBody>
      </p:sp>
      <p:pic>
        <p:nvPicPr>
          <p:cNvPr id="2" name="Picture 1">
            <a:extLst>
              <a:ext uri="{FF2B5EF4-FFF2-40B4-BE49-F238E27FC236}">
                <a16:creationId xmlns:a16="http://schemas.microsoft.com/office/drawing/2014/main" id="{E4921F56-EE0E-3474-5678-18F163E0CE7F}"/>
              </a:ext>
            </a:extLst>
          </p:cNvPr>
          <p:cNvPicPr>
            <a:picLocks noChangeAspect="1"/>
          </p:cNvPicPr>
          <p:nvPr/>
        </p:nvPicPr>
        <p:blipFill>
          <a:blip r:embed="rId3"/>
          <a:stretch>
            <a:fillRect/>
          </a:stretch>
        </p:blipFill>
        <p:spPr>
          <a:xfrm>
            <a:off x="265561" y="3149833"/>
            <a:ext cx="4814402" cy="3497001"/>
          </a:xfrm>
          <a:prstGeom prst="rect">
            <a:avLst/>
          </a:prstGeom>
        </p:spPr>
      </p:pic>
      <p:sp>
        <p:nvSpPr>
          <p:cNvPr id="7" name="TextBox 6">
            <a:extLst>
              <a:ext uri="{FF2B5EF4-FFF2-40B4-BE49-F238E27FC236}">
                <a16:creationId xmlns:a16="http://schemas.microsoft.com/office/drawing/2014/main" id="{8555AF26-D1AD-9747-8B44-1339C2DA5FF5}"/>
              </a:ext>
            </a:extLst>
          </p:cNvPr>
          <p:cNvSpPr txBox="1"/>
          <p:nvPr/>
        </p:nvSpPr>
        <p:spPr>
          <a:xfrm>
            <a:off x="721426" y="2774856"/>
            <a:ext cx="3902671" cy="369332"/>
          </a:xfrm>
          <a:prstGeom prst="rect">
            <a:avLst/>
          </a:prstGeom>
          <a:noFill/>
        </p:spPr>
        <p:txBody>
          <a:bodyPr wrap="none" rtlCol="0">
            <a:spAutoFit/>
          </a:bodyPr>
          <a:lstStyle/>
          <a:p>
            <a:r>
              <a:rPr lang="en-US" dirty="0"/>
              <a:t>Uncertainty and Confidence Intervals</a:t>
            </a:r>
          </a:p>
        </p:txBody>
      </p:sp>
      <p:sp>
        <p:nvSpPr>
          <p:cNvPr id="9" name="Rectangle 8">
            <a:extLst>
              <a:ext uri="{FF2B5EF4-FFF2-40B4-BE49-F238E27FC236}">
                <a16:creationId xmlns:a16="http://schemas.microsoft.com/office/drawing/2014/main" id="{098D8EAB-1F49-21E6-842B-BBDA16D1FC2A}"/>
              </a:ext>
            </a:extLst>
          </p:cNvPr>
          <p:cNvSpPr/>
          <p:nvPr/>
        </p:nvSpPr>
        <p:spPr>
          <a:xfrm>
            <a:off x="5852158" y="3485330"/>
            <a:ext cx="1435510" cy="14355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True Match (TM)</a:t>
            </a:r>
          </a:p>
        </p:txBody>
      </p:sp>
      <p:sp>
        <p:nvSpPr>
          <p:cNvPr id="12" name="Rectangle 11">
            <a:extLst>
              <a:ext uri="{FF2B5EF4-FFF2-40B4-BE49-F238E27FC236}">
                <a16:creationId xmlns:a16="http://schemas.microsoft.com/office/drawing/2014/main" id="{37E61AF8-FAF1-16AC-BC06-A12D60A588F8}"/>
              </a:ext>
            </a:extLst>
          </p:cNvPr>
          <p:cNvSpPr/>
          <p:nvPr/>
        </p:nvSpPr>
        <p:spPr>
          <a:xfrm>
            <a:off x="7287668" y="3485330"/>
            <a:ext cx="1435510" cy="14355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False Non-Match</a:t>
            </a:r>
            <a:br>
              <a:rPr lang="en-US" dirty="0">
                <a:solidFill>
                  <a:schemeClr val="accent1"/>
                </a:solidFill>
              </a:rPr>
            </a:br>
            <a:r>
              <a:rPr lang="en-US" dirty="0">
                <a:solidFill>
                  <a:schemeClr val="accent1"/>
                </a:solidFill>
              </a:rPr>
              <a:t>(FNM)</a:t>
            </a:r>
          </a:p>
        </p:txBody>
      </p:sp>
      <p:sp>
        <p:nvSpPr>
          <p:cNvPr id="13" name="Rectangle 12">
            <a:extLst>
              <a:ext uri="{FF2B5EF4-FFF2-40B4-BE49-F238E27FC236}">
                <a16:creationId xmlns:a16="http://schemas.microsoft.com/office/drawing/2014/main" id="{DD14A122-9176-C1F5-89D5-4D104DACF151}"/>
              </a:ext>
            </a:extLst>
          </p:cNvPr>
          <p:cNvSpPr/>
          <p:nvPr/>
        </p:nvSpPr>
        <p:spPr>
          <a:xfrm>
            <a:off x="5855845" y="4920840"/>
            <a:ext cx="1435510" cy="14355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False Match</a:t>
            </a:r>
            <a:br>
              <a:rPr lang="en-US" dirty="0">
                <a:solidFill>
                  <a:schemeClr val="accent1"/>
                </a:solidFill>
              </a:rPr>
            </a:br>
            <a:r>
              <a:rPr lang="en-US" dirty="0">
                <a:solidFill>
                  <a:schemeClr val="accent1"/>
                </a:solidFill>
              </a:rPr>
              <a:t>(FM)</a:t>
            </a:r>
          </a:p>
        </p:txBody>
      </p:sp>
      <p:sp>
        <p:nvSpPr>
          <p:cNvPr id="14" name="Rectangle 13">
            <a:extLst>
              <a:ext uri="{FF2B5EF4-FFF2-40B4-BE49-F238E27FC236}">
                <a16:creationId xmlns:a16="http://schemas.microsoft.com/office/drawing/2014/main" id="{C3A5C84D-FABB-94B2-882B-73633346CF93}"/>
              </a:ext>
            </a:extLst>
          </p:cNvPr>
          <p:cNvSpPr/>
          <p:nvPr/>
        </p:nvSpPr>
        <p:spPr>
          <a:xfrm>
            <a:off x="7287668" y="4920840"/>
            <a:ext cx="1435510" cy="14355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True Non-Match</a:t>
            </a:r>
            <a:br>
              <a:rPr lang="en-US" dirty="0"/>
            </a:br>
            <a:r>
              <a:rPr lang="en-US" dirty="0"/>
              <a:t>(TNM)</a:t>
            </a:r>
          </a:p>
        </p:txBody>
      </p:sp>
      <p:sp>
        <p:nvSpPr>
          <p:cNvPr id="15" name="TextBox 14">
            <a:extLst>
              <a:ext uri="{FF2B5EF4-FFF2-40B4-BE49-F238E27FC236}">
                <a16:creationId xmlns:a16="http://schemas.microsoft.com/office/drawing/2014/main" id="{BFF03F1D-8073-1DA6-7D59-39A4B43B7669}"/>
              </a:ext>
            </a:extLst>
          </p:cNvPr>
          <p:cNvSpPr txBox="1"/>
          <p:nvPr/>
        </p:nvSpPr>
        <p:spPr>
          <a:xfrm rot="16200000">
            <a:off x="4939530" y="4739709"/>
            <a:ext cx="912429" cy="369332"/>
          </a:xfrm>
          <a:prstGeom prst="rect">
            <a:avLst/>
          </a:prstGeom>
          <a:noFill/>
        </p:spPr>
        <p:txBody>
          <a:bodyPr wrap="none" rtlCol="0">
            <a:spAutoFit/>
          </a:bodyPr>
          <a:lstStyle/>
          <a:p>
            <a:r>
              <a:rPr lang="en-US" dirty="0"/>
              <a:t> </a:t>
            </a:r>
            <a:r>
              <a:rPr lang="en-US" b="1" dirty="0"/>
              <a:t>Actual</a:t>
            </a:r>
          </a:p>
        </p:txBody>
      </p:sp>
      <p:sp>
        <p:nvSpPr>
          <p:cNvPr id="16" name="TextBox 15">
            <a:extLst>
              <a:ext uri="{FF2B5EF4-FFF2-40B4-BE49-F238E27FC236}">
                <a16:creationId xmlns:a16="http://schemas.microsoft.com/office/drawing/2014/main" id="{1D8871DE-DD59-47C3-6754-9C2EEBD90E8A}"/>
              </a:ext>
            </a:extLst>
          </p:cNvPr>
          <p:cNvSpPr txBox="1"/>
          <p:nvPr/>
        </p:nvSpPr>
        <p:spPr>
          <a:xfrm>
            <a:off x="6783415" y="2883004"/>
            <a:ext cx="1313180" cy="369332"/>
          </a:xfrm>
          <a:prstGeom prst="rect">
            <a:avLst/>
          </a:prstGeom>
          <a:noFill/>
        </p:spPr>
        <p:txBody>
          <a:bodyPr wrap="none" rtlCol="0">
            <a:spAutoFit/>
          </a:bodyPr>
          <a:lstStyle/>
          <a:p>
            <a:r>
              <a:rPr lang="en-US" dirty="0"/>
              <a:t> </a:t>
            </a:r>
            <a:r>
              <a:rPr lang="en-US" b="1" dirty="0"/>
              <a:t>Prediction</a:t>
            </a:r>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88CA99FB-89E9-980D-2281-3A3BF896630B}"/>
                  </a:ext>
                </a:extLst>
              </p:cNvPr>
              <p:cNvSpPr txBox="1"/>
              <p:nvPr/>
            </p:nvSpPr>
            <p:spPr>
              <a:xfrm>
                <a:off x="6001488" y="3160490"/>
                <a:ext cx="1136850" cy="307777"/>
              </a:xfrm>
              <a:prstGeom prst="rect">
                <a:avLst/>
              </a:prstGeom>
              <a:noFill/>
            </p:spPr>
            <p:txBody>
              <a:bodyPr wrap="none" rtlCol="0">
                <a:spAutoFit/>
              </a:bodyPr>
              <a:lstStyle/>
              <a:p>
                <a:r>
                  <a:rPr lang="en-US" sz="1400" dirty="0"/>
                  <a:t> </a:t>
                </a:r>
                <a:r>
                  <a:rPr lang="en-US" sz="1400" i="1" dirty="0">
                    <a:solidFill>
                      <a:srgbClr val="00B050"/>
                    </a:solidFill>
                  </a:rPr>
                  <a:t>same ID (</a:t>
                </a:r>
                <a14:m>
                  <m:oMath xmlns:m="http://schemas.openxmlformats.org/officeDocument/2006/math">
                    <m:r>
                      <a:rPr lang="en-US" sz="1400" b="0" i="1" smtClean="0">
                        <a:solidFill>
                          <a:srgbClr val="00B050"/>
                        </a:solidFill>
                        <a:latin typeface="Cambria Math" panose="02040503050406030204" pitchFamily="18" charset="0"/>
                      </a:rPr>
                      <m:t>+</m:t>
                    </m:r>
                  </m:oMath>
                </a14:m>
                <a:r>
                  <a:rPr lang="en-US" sz="1400" i="1" dirty="0">
                    <a:solidFill>
                      <a:srgbClr val="00B050"/>
                    </a:solidFill>
                  </a:rPr>
                  <a:t>)</a:t>
                </a:r>
                <a:endParaRPr lang="en-US" sz="1400" dirty="0"/>
              </a:p>
            </p:txBody>
          </p:sp>
        </mc:Choice>
        <mc:Fallback>
          <p:sp>
            <p:nvSpPr>
              <p:cNvPr id="17" name="TextBox 16">
                <a:extLst>
                  <a:ext uri="{FF2B5EF4-FFF2-40B4-BE49-F238E27FC236}">
                    <a16:creationId xmlns:a16="http://schemas.microsoft.com/office/drawing/2014/main" id="{88CA99FB-89E9-980D-2281-3A3BF896630B}"/>
                  </a:ext>
                </a:extLst>
              </p:cNvPr>
              <p:cNvSpPr txBox="1">
                <a:spLocks noRot="1" noChangeAspect="1" noMove="1" noResize="1" noEditPoints="1" noAdjustHandles="1" noChangeArrowheads="1" noChangeShapeType="1" noTextEdit="1"/>
              </p:cNvSpPr>
              <p:nvPr/>
            </p:nvSpPr>
            <p:spPr>
              <a:xfrm>
                <a:off x="6001488" y="3160490"/>
                <a:ext cx="1136850" cy="307777"/>
              </a:xfrm>
              <a:prstGeom prst="rect">
                <a:avLst/>
              </a:prstGeom>
              <a:blipFill>
                <a:blip r:embed="rId4"/>
                <a:stretch>
                  <a:fillRect b="-1923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34D577C1-9003-E1B2-F66D-45E6CF0005BA}"/>
                  </a:ext>
                </a:extLst>
              </p:cNvPr>
              <p:cNvSpPr txBox="1"/>
              <p:nvPr/>
            </p:nvSpPr>
            <p:spPr>
              <a:xfrm>
                <a:off x="7381921" y="3171780"/>
                <a:ext cx="1350241" cy="307777"/>
              </a:xfrm>
              <a:prstGeom prst="rect">
                <a:avLst/>
              </a:prstGeom>
              <a:noFill/>
            </p:spPr>
            <p:txBody>
              <a:bodyPr wrap="none" rtlCol="0">
                <a:spAutoFit/>
              </a:bodyPr>
              <a:lstStyle/>
              <a:p>
                <a:r>
                  <a:rPr lang="en-US" sz="1400" dirty="0"/>
                  <a:t> </a:t>
                </a:r>
                <a:r>
                  <a:rPr lang="en-US" sz="1400" i="1" dirty="0">
                    <a:solidFill>
                      <a:srgbClr val="FF0000"/>
                    </a:solidFill>
                  </a:rPr>
                  <a:t>different ID (</a:t>
                </a:r>
                <a14:m>
                  <m:oMath xmlns:m="http://schemas.openxmlformats.org/officeDocument/2006/math">
                    <m:r>
                      <a:rPr lang="en-US" sz="1400" b="0" i="1" smtClean="0">
                        <a:solidFill>
                          <a:srgbClr val="FF0000"/>
                        </a:solidFill>
                        <a:latin typeface="Cambria Math" panose="02040503050406030204" pitchFamily="18" charset="0"/>
                      </a:rPr>
                      <m:t>−</m:t>
                    </m:r>
                  </m:oMath>
                </a14:m>
                <a:r>
                  <a:rPr lang="en-US" sz="1400" i="1" dirty="0">
                    <a:solidFill>
                      <a:srgbClr val="FF0000"/>
                    </a:solidFill>
                  </a:rPr>
                  <a:t>)</a:t>
                </a:r>
                <a:endParaRPr lang="en-US" sz="1400" dirty="0"/>
              </a:p>
            </p:txBody>
          </p:sp>
        </mc:Choice>
        <mc:Fallback>
          <p:sp>
            <p:nvSpPr>
              <p:cNvPr id="18" name="TextBox 17">
                <a:extLst>
                  <a:ext uri="{FF2B5EF4-FFF2-40B4-BE49-F238E27FC236}">
                    <a16:creationId xmlns:a16="http://schemas.microsoft.com/office/drawing/2014/main" id="{34D577C1-9003-E1B2-F66D-45E6CF0005BA}"/>
                  </a:ext>
                </a:extLst>
              </p:cNvPr>
              <p:cNvSpPr txBox="1">
                <a:spLocks noRot="1" noChangeAspect="1" noMove="1" noResize="1" noEditPoints="1" noAdjustHandles="1" noChangeArrowheads="1" noChangeShapeType="1" noTextEdit="1"/>
              </p:cNvSpPr>
              <p:nvPr/>
            </p:nvSpPr>
            <p:spPr>
              <a:xfrm>
                <a:off x="7381921" y="3171780"/>
                <a:ext cx="1350241" cy="307777"/>
              </a:xfrm>
              <a:prstGeom prst="rect">
                <a:avLst/>
              </a:prstGeom>
              <a:blipFill>
                <a:blip r:embed="rId5"/>
                <a:stretch>
                  <a:fillRect t="-3846" r="-935" b="-1538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A34AA792-CC93-FDA3-A00E-00AAF750F041}"/>
                  </a:ext>
                </a:extLst>
              </p:cNvPr>
              <p:cNvSpPr txBox="1"/>
              <p:nvPr/>
            </p:nvSpPr>
            <p:spPr>
              <a:xfrm rot="16200000">
                <a:off x="5082544" y="4049196"/>
                <a:ext cx="1136850" cy="307777"/>
              </a:xfrm>
              <a:prstGeom prst="rect">
                <a:avLst/>
              </a:prstGeom>
              <a:noFill/>
            </p:spPr>
            <p:txBody>
              <a:bodyPr wrap="none" rtlCol="0">
                <a:spAutoFit/>
              </a:bodyPr>
              <a:lstStyle/>
              <a:p>
                <a:r>
                  <a:rPr lang="en-US" sz="1400" dirty="0"/>
                  <a:t> </a:t>
                </a:r>
                <a:r>
                  <a:rPr lang="en-US" sz="1400" i="1" dirty="0">
                    <a:solidFill>
                      <a:srgbClr val="00B050"/>
                    </a:solidFill>
                  </a:rPr>
                  <a:t>same ID (</a:t>
                </a:r>
                <a14:m>
                  <m:oMath xmlns:m="http://schemas.openxmlformats.org/officeDocument/2006/math">
                    <m:r>
                      <a:rPr lang="en-US" sz="1400" b="0" i="1" smtClean="0">
                        <a:solidFill>
                          <a:srgbClr val="00B050"/>
                        </a:solidFill>
                        <a:latin typeface="Cambria Math" panose="02040503050406030204" pitchFamily="18" charset="0"/>
                      </a:rPr>
                      <m:t>+</m:t>
                    </m:r>
                  </m:oMath>
                </a14:m>
                <a:r>
                  <a:rPr lang="en-US" sz="1400" i="1" dirty="0">
                    <a:solidFill>
                      <a:srgbClr val="00B050"/>
                    </a:solidFill>
                  </a:rPr>
                  <a:t>)</a:t>
                </a:r>
                <a:endParaRPr lang="en-US" sz="1400" dirty="0"/>
              </a:p>
            </p:txBody>
          </p:sp>
        </mc:Choice>
        <mc:Fallback>
          <p:sp>
            <p:nvSpPr>
              <p:cNvPr id="19" name="TextBox 18">
                <a:extLst>
                  <a:ext uri="{FF2B5EF4-FFF2-40B4-BE49-F238E27FC236}">
                    <a16:creationId xmlns:a16="http://schemas.microsoft.com/office/drawing/2014/main" id="{A34AA792-CC93-FDA3-A00E-00AAF750F041}"/>
                  </a:ext>
                </a:extLst>
              </p:cNvPr>
              <p:cNvSpPr txBox="1">
                <a:spLocks noRot="1" noChangeAspect="1" noMove="1" noResize="1" noEditPoints="1" noAdjustHandles="1" noChangeArrowheads="1" noChangeShapeType="1" noTextEdit="1"/>
              </p:cNvSpPr>
              <p:nvPr/>
            </p:nvSpPr>
            <p:spPr>
              <a:xfrm rot="16200000">
                <a:off x="5082544" y="4049196"/>
                <a:ext cx="1136850" cy="307777"/>
              </a:xfrm>
              <a:prstGeom prst="rect">
                <a:avLst/>
              </a:prstGeom>
              <a:blipFill>
                <a:blip r:embed="rId6"/>
                <a:stretch>
                  <a:fillRect t="-1111" r="-24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F0A21EF9-0812-E864-B83E-472B105D224D}"/>
                  </a:ext>
                </a:extLst>
              </p:cNvPr>
              <p:cNvSpPr txBox="1"/>
              <p:nvPr/>
            </p:nvSpPr>
            <p:spPr>
              <a:xfrm rot="16200000">
                <a:off x="4975849" y="5484706"/>
                <a:ext cx="1350241" cy="307777"/>
              </a:xfrm>
              <a:prstGeom prst="rect">
                <a:avLst/>
              </a:prstGeom>
              <a:noFill/>
            </p:spPr>
            <p:txBody>
              <a:bodyPr wrap="none" rtlCol="0">
                <a:spAutoFit/>
              </a:bodyPr>
              <a:lstStyle/>
              <a:p>
                <a:r>
                  <a:rPr lang="en-US" sz="1400" dirty="0"/>
                  <a:t> </a:t>
                </a:r>
                <a:r>
                  <a:rPr lang="en-US" sz="1400" i="1" dirty="0">
                    <a:solidFill>
                      <a:srgbClr val="FF0000"/>
                    </a:solidFill>
                  </a:rPr>
                  <a:t>different ID (</a:t>
                </a:r>
                <a14:m>
                  <m:oMath xmlns:m="http://schemas.openxmlformats.org/officeDocument/2006/math">
                    <m:r>
                      <a:rPr lang="en-US" sz="1400" b="0" i="1" smtClean="0">
                        <a:solidFill>
                          <a:srgbClr val="FF0000"/>
                        </a:solidFill>
                        <a:latin typeface="Cambria Math" panose="02040503050406030204" pitchFamily="18" charset="0"/>
                      </a:rPr>
                      <m:t>−</m:t>
                    </m:r>
                  </m:oMath>
                </a14:m>
                <a:r>
                  <a:rPr lang="en-US" sz="1400" i="1" dirty="0">
                    <a:solidFill>
                      <a:srgbClr val="FF0000"/>
                    </a:solidFill>
                  </a:rPr>
                  <a:t>)</a:t>
                </a:r>
                <a:endParaRPr lang="en-US" sz="1400" dirty="0"/>
              </a:p>
            </p:txBody>
          </p:sp>
        </mc:Choice>
        <mc:Fallback>
          <p:sp>
            <p:nvSpPr>
              <p:cNvPr id="20" name="TextBox 19">
                <a:extLst>
                  <a:ext uri="{FF2B5EF4-FFF2-40B4-BE49-F238E27FC236}">
                    <a16:creationId xmlns:a16="http://schemas.microsoft.com/office/drawing/2014/main" id="{F0A21EF9-0812-E864-B83E-472B105D224D}"/>
                  </a:ext>
                </a:extLst>
              </p:cNvPr>
              <p:cNvSpPr txBox="1">
                <a:spLocks noRot="1" noChangeAspect="1" noMove="1" noResize="1" noEditPoints="1" noAdjustHandles="1" noChangeArrowheads="1" noChangeShapeType="1" noTextEdit="1"/>
              </p:cNvSpPr>
              <p:nvPr/>
            </p:nvSpPr>
            <p:spPr>
              <a:xfrm rot="16200000">
                <a:off x="4975849" y="5484706"/>
                <a:ext cx="1350241" cy="307777"/>
              </a:xfrm>
              <a:prstGeom prst="rect">
                <a:avLst/>
              </a:prstGeom>
              <a:blipFill>
                <a:blip r:embed="rId7"/>
                <a:stretch>
                  <a:fillRect r="-24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0D753BA6-F91E-B1E4-2470-9CC554ECF27F}"/>
                  </a:ext>
                </a:extLst>
              </p:cNvPr>
              <p:cNvSpPr txBox="1"/>
              <p:nvPr/>
            </p:nvSpPr>
            <p:spPr>
              <a:xfrm>
                <a:off x="9356754" y="2245942"/>
                <a:ext cx="2283675" cy="2444649"/>
              </a:xfrm>
              <a:prstGeom prst="roundRect">
                <a:avLst/>
              </a:prstGeom>
              <a:noFill/>
              <a:ln>
                <a:solidFill>
                  <a:schemeClr val="tx1"/>
                </a:solidFill>
              </a:ln>
            </p:spPr>
            <p:txBody>
              <a:bodyPr wrap="none" rtlCol="0">
                <a:spAutoFit/>
              </a:bodyPr>
              <a:lstStyle/>
              <a:p>
                <a:pPr marL="342900" indent="-342900">
                  <a:buFont typeface="+mj-lt"/>
                  <a:buAutoNum type="arabicParenR"/>
                </a:pPr>
                <a14:m>
                  <m:oMath xmlns:m="http://schemas.openxmlformats.org/officeDocument/2006/math">
                    <m:r>
                      <a:rPr lang="en-US" sz="1600" b="0" i="1" smtClean="0">
                        <a:latin typeface="Cambria Math" panose="02040503050406030204" pitchFamily="18" charset="0"/>
                      </a:rPr>
                      <m:t>𝐹𝑀𝑅</m:t>
                    </m:r>
                    <m:r>
                      <a:rPr lang="en-US" sz="1600" b="0" i="1" smtClean="0">
                        <a:latin typeface="Cambria Math" panose="02040503050406030204" pitchFamily="18" charset="0"/>
                      </a:rPr>
                      <m:t>=</m:t>
                    </m:r>
                    <m:f>
                      <m:fPr>
                        <m:ctrlPr>
                          <a:rPr lang="en-US" sz="1600" i="1">
                            <a:latin typeface="Cambria Math" panose="02040503050406030204" pitchFamily="18" charset="0"/>
                          </a:rPr>
                        </m:ctrlPr>
                      </m:fPr>
                      <m:num>
                        <m:r>
                          <a:rPr lang="en-US" sz="1600" i="1">
                            <a:latin typeface="Cambria Math" panose="02040503050406030204" pitchFamily="18" charset="0"/>
                          </a:rPr>
                          <m:t>𝐹𝑀</m:t>
                        </m:r>
                      </m:num>
                      <m:den>
                        <m:r>
                          <a:rPr lang="en-US" sz="1600" b="0" i="1" smtClean="0">
                            <a:latin typeface="Cambria Math" panose="02040503050406030204" pitchFamily="18" charset="0"/>
                          </a:rPr>
                          <m:t>𝑇𝑁𝑀</m:t>
                        </m:r>
                        <m:r>
                          <a:rPr lang="en-US" sz="1600" b="0" i="1" smtClean="0">
                            <a:latin typeface="Cambria Math" panose="02040503050406030204" pitchFamily="18" charset="0"/>
                          </a:rPr>
                          <m:t>+</m:t>
                        </m:r>
                        <m:r>
                          <a:rPr lang="en-US" sz="1600" b="0" i="1" smtClean="0">
                            <a:latin typeface="Cambria Math" panose="02040503050406030204" pitchFamily="18" charset="0"/>
                          </a:rPr>
                          <m:t>𝐹𝑀</m:t>
                        </m:r>
                      </m:den>
                    </m:f>
                  </m:oMath>
                </a14:m>
                <a:endParaRPr lang="en-US" sz="1600" b="0" i="1" dirty="0">
                  <a:latin typeface="Cambria Math" panose="02040503050406030204" pitchFamily="18" charset="0"/>
                </a:endParaRPr>
              </a:p>
              <a:p>
                <a:endParaRPr lang="en-US" sz="1600" b="0" i="1" dirty="0">
                  <a:latin typeface="Cambria Math" panose="02040503050406030204" pitchFamily="18" charset="0"/>
                </a:endParaRPr>
              </a:p>
              <a:p>
                <a:pPr marL="342900" indent="-342900">
                  <a:buFont typeface="+mj-lt"/>
                  <a:buAutoNum type="arabicParenR" startAt="2"/>
                </a:pPr>
                <a14:m>
                  <m:oMath xmlns:m="http://schemas.openxmlformats.org/officeDocument/2006/math">
                    <m:r>
                      <a:rPr lang="en-US" sz="1600" b="0" i="1" smtClean="0">
                        <a:latin typeface="Cambria Math" panose="02040503050406030204" pitchFamily="18" charset="0"/>
                      </a:rPr>
                      <m:t>𝑇𝑁𝑀𝑅</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𝑇𝑁𝑀</m:t>
                        </m:r>
                      </m:num>
                      <m:den>
                        <m:r>
                          <a:rPr lang="en-US" sz="1600" b="0" i="1" smtClean="0">
                            <a:latin typeface="Cambria Math" panose="02040503050406030204" pitchFamily="18" charset="0"/>
                          </a:rPr>
                          <m:t>𝑇𝑁𝑀</m:t>
                        </m:r>
                        <m:r>
                          <a:rPr lang="en-US" sz="1600" b="0" i="1" smtClean="0">
                            <a:latin typeface="Cambria Math" panose="02040503050406030204" pitchFamily="18" charset="0"/>
                          </a:rPr>
                          <m:t>+</m:t>
                        </m:r>
                        <m:r>
                          <a:rPr lang="en-US" sz="1600" b="0" i="1" smtClean="0">
                            <a:latin typeface="Cambria Math" panose="02040503050406030204" pitchFamily="18" charset="0"/>
                          </a:rPr>
                          <m:t>𝐹𝑀</m:t>
                        </m:r>
                      </m:den>
                    </m:f>
                  </m:oMath>
                </a14:m>
                <a:endParaRPr lang="en-US" sz="1600" b="0" dirty="0"/>
              </a:p>
              <a:p>
                <a:pPr marL="342900" indent="-342900">
                  <a:buFont typeface="+mj-lt"/>
                  <a:buAutoNum type="arabicParenR" startAt="2"/>
                </a:pPr>
                <a:endParaRPr lang="en-US" sz="1600" dirty="0"/>
              </a:p>
              <a:p>
                <a:pPr marL="342900" indent="-342900">
                  <a:buFont typeface="+mj-lt"/>
                  <a:buAutoNum type="arabicParenR" startAt="2"/>
                </a:pPr>
                <a14:m>
                  <m:oMath xmlns:m="http://schemas.openxmlformats.org/officeDocument/2006/math">
                    <m:r>
                      <a:rPr lang="en-US" sz="1600" b="0" i="1" smtClean="0">
                        <a:latin typeface="Cambria Math" panose="02040503050406030204" pitchFamily="18" charset="0"/>
                      </a:rPr>
                      <m:t>𝐹𝑁𝑀𝑅</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𝐹𝑁𝑀</m:t>
                        </m:r>
                      </m:num>
                      <m:den>
                        <m:r>
                          <a:rPr lang="en-US" sz="1600" b="0" i="1" smtClean="0">
                            <a:latin typeface="Cambria Math" panose="02040503050406030204" pitchFamily="18" charset="0"/>
                          </a:rPr>
                          <m:t>𝑇𝑀</m:t>
                        </m:r>
                        <m:r>
                          <a:rPr lang="en-US" sz="1600" b="0" i="1" smtClean="0">
                            <a:latin typeface="Cambria Math" panose="02040503050406030204" pitchFamily="18" charset="0"/>
                          </a:rPr>
                          <m:t>+</m:t>
                        </m:r>
                        <m:r>
                          <a:rPr lang="en-US" sz="1600" b="0" i="1" smtClean="0">
                            <a:latin typeface="Cambria Math" panose="02040503050406030204" pitchFamily="18" charset="0"/>
                          </a:rPr>
                          <m:t>𝐹𝑁𝑀</m:t>
                        </m:r>
                      </m:den>
                    </m:f>
                  </m:oMath>
                </a14:m>
                <a:endParaRPr lang="en-US" sz="1600" b="0" i="1" dirty="0">
                  <a:latin typeface="Cambria Math" panose="02040503050406030204" pitchFamily="18" charset="0"/>
                </a:endParaRPr>
              </a:p>
              <a:p>
                <a:endParaRPr lang="en-US" sz="1600" b="0" i="1" dirty="0">
                  <a:latin typeface="Cambria Math" panose="02040503050406030204" pitchFamily="18" charset="0"/>
                </a:endParaRPr>
              </a:p>
              <a:p>
                <a:pPr marL="342900" indent="-342900">
                  <a:buFont typeface="+mj-lt"/>
                  <a:buAutoNum type="arabicParenR" startAt="4"/>
                </a:pPr>
                <a14:m>
                  <m:oMath xmlns:m="http://schemas.openxmlformats.org/officeDocument/2006/math">
                    <m:r>
                      <a:rPr lang="en-US" sz="1600" b="0" i="1" smtClean="0">
                        <a:latin typeface="Cambria Math" panose="02040503050406030204" pitchFamily="18" charset="0"/>
                      </a:rPr>
                      <m:t>𝑇𝑀𝑅</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𝑇𝑀</m:t>
                        </m:r>
                      </m:num>
                      <m:den>
                        <m:r>
                          <a:rPr lang="en-US" sz="1600" b="0" i="1" smtClean="0">
                            <a:latin typeface="Cambria Math" panose="02040503050406030204" pitchFamily="18" charset="0"/>
                          </a:rPr>
                          <m:t>𝑇𝑀</m:t>
                        </m:r>
                        <m:r>
                          <a:rPr lang="en-US" sz="1600" b="0" i="1" smtClean="0">
                            <a:latin typeface="Cambria Math" panose="02040503050406030204" pitchFamily="18" charset="0"/>
                          </a:rPr>
                          <m:t>+</m:t>
                        </m:r>
                        <m:r>
                          <a:rPr lang="en-US" sz="1600" b="0" i="1" smtClean="0">
                            <a:latin typeface="Cambria Math" panose="02040503050406030204" pitchFamily="18" charset="0"/>
                          </a:rPr>
                          <m:t>𝐹𝑁𝑀</m:t>
                        </m:r>
                      </m:den>
                    </m:f>
                  </m:oMath>
                </a14:m>
                <a:endParaRPr lang="en-US" sz="1600" dirty="0"/>
              </a:p>
            </p:txBody>
          </p:sp>
        </mc:Choice>
        <mc:Fallback>
          <p:sp>
            <p:nvSpPr>
              <p:cNvPr id="21" name="TextBox 20">
                <a:extLst>
                  <a:ext uri="{FF2B5EF4-FFF2-40B4-BE49-F238E27FC236}">
                    <a16:creationId xmlns:a16="http://schemas.microsoft.com/office/drawing/2014/main" id="{0D753BA6-F91E-B1E4-2470-9CC554ECF27F}"/>
                  </a:ext>
                </a:extLst>
              </p:cNvPr>
              <p:cNvSpPr txBox="1">
                <a:spLocks noRot="1" noChangeAspect="1" noMove="1" noResize="1" noEditPoints="1" noAdjustHandles="1" noChangeArrowheads="1" noChangeShapeType="1" noTextEdit="1"/>
              </p:cNvSpPr>
              <p:nvPr/>
            </p:nvSpPr>
            <p:spPr>
              <a:xfrm>
                <a:off x="9356754" y="2245942"/>
                <a:ext cx="2283675" cy="2444649"/>
              </a:xfrm>
              <a:prstGeom prst="roundRect">
                <a:avLst/>
              </a:prstGeom>
              <a:blipFill>
                <a:blip r:embed="rId8"/>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11694D86-B0F8-F67B-C424-2349A06364ED}"/>
                  </a:ext>
                </a:extLst>
              </p:cNvPr>
              <p:cNvSpPr txBox="1"/>
              <p:nvPr/>
            </p:nvSpPr>
            <p:spPr>
              <a:xfrm>
                <a:off x="8743914" y="4920840"/>
                <a:ext cx="3515344" cy="1498283"/>
              </a:xfrm>
              <a:prstGeom prst="roundRect">
                <a:avLst/>
              </a:prstGeom>
              <a:noFill/>
              <a:ln>
                <a:noFill/>
              </a:ln>
            </p:spPr>
            <p:txBody>
              <a:bodyPr wrap="square" rtlCol="0">
                <a:spAutoFit/>
              </a:bodyPr>
              <a:lstStyle/>
              <a:p>
                <a:r>
                  <a:rPr lang="en-US" sz="1400" b="1" dirty="0">
                    <a:latin typeface="Cambria Math" panose="02040503050406030204" pitchFamily="18" charset="0"/>
                  </a:rPr>
                  <a:t>Add 1) and 2):</a:t>
                </a:r>
              </a:p>
              <a:p>
                <a:endParaRPr lang="en-US" sz="600" b="1" dirty="0">
                  <a:latin typeface="Cambria Math" panose="02040503050406030204" pitchFamily="18" charset="0"/>
                </a:endParaRPr>
              </a:p>
              <a:p>
                <a:pPr/>
                <a14:m>
                  <m:oMathPara xmlns:m="http://schemas.openxmlformats.org/officeDocument/2006/math">
                    <m:oMathParaPr>
                      <m:jc m:val="left"/>
                    </m:oMathParaPr>
                    <m:oMath>
                      <m:r>
                        <a:rPr lang="en-US" sz="1400" b="0" i="1" smtClean="0">
                          <a:latin typeface="Cambria Math" panose="02040503050406030204" pitchFamily="18" charset="0"/>
                        </a:rPr>
                        <m:t>𝐹𝑀𝑅</m:t>
                      </m:r>
                      <m:r>
                        <a:rPr lang="en-US" sz="1400" b="0" i="1" smtClean="0">
                          <a:latin typeface="Cambria Math" panose="02040503050406030204" pitchFamily="18" charset="0"/>
                        </a:rPr>
                        <m:t>+</m:t>
                      </m:r>
                      <m:r>
                        <a:rPr lang="en-US" sz="1400" b="0" i="1" smtClean="0">
                          <a:latin typeface="Cambria Math" panose="02040503050406030204" pitchFamily="18" charset="0"/>
                        </a:rPr>
                        <m:t>𝑇𝑁𝑀𝑅</m:t>
                      </m:r>
                      <m:r>
                        <a:rPr lang="en-US" sz="1400" b="0" i="1" smtClean="0">
                          <a:latin typeface="Cambria Math" panose="02040503050406030204" pitchFamily="18" charset="0"/>
                        </a:rPr>
                        <m:t>=1⇒</m:t>
                      </m:r>
                      <m:r>
                        <a:rPr lang="en-US" sz="1400" b="0" i="1" smtClean="0">
                          <a:latin typeface="Cambria Math" panose="02040503050406030204" pitchFamily="18" charset="0"/>
                        </a:rPr>
                        <m:t>𝑇𝑁𝑀𝑅</m:t>
                      </m:r>
                      <m:r>
                        <a:rPr lang="en-US" sz="1400" b="0" i="1" smtClean="0">
                          <a:latin typeface="Cambria Math" panose="02040503050406030204" pitchFamily="18" charset="0"/>
                        </a:rPr>
                        <m:t>=1−</m:t>
                      </m:r>
                      <m:r>
                        <a:rPr lang="en-US" sz="1400" b="0" i="1" smtClean="0">
                          <a:latin typeface="Cambria Math" panose="02040503050406030204" pitchFamily="18" charset="0"/>
                        </a:rPr>
                        <m:t>𝐹𝑀𝑅</m:t>
                      </m:r>
                    </m:oMath>
                  </m:oMathPara>
                </a14:m>
                <a:endParaRPr lang="en-US" sz="1400" dirty="0">
                  <a:latin typeface="Cambria Math" panose="02040503050406030204" pitchFamily="18" charset="0"/>
                </a:endParaRPr>
              </a:p>
              <a:p>
                <a:endParaRPr lang="en-US" sz="1400" dirty="0">
                  <a:latin typeface="Cambria Math" panose="02040503050406030204" pitchFamily="18" charset="0"/>
                </a:endParaRPr>
              </a:p>
              <a:p>
                <a:pPr/>
                <a:r>
                  <a:rPr lang="en-US" sz="1400" b="1" dirty="0">
                    <a:latin typeface="Cambria Math" panose="02040503050406030204" pitchFamily="18" charset="0"/>
                  </a:rPr>
                  <a:t>Add 3) and 4):</a:t>
                </a:r>
                <a:br>
                  <a:rPr lang="en-US" sz="1400" b="1" dirty="0">
                    <a:latin typeface="Cambria Math" panose="02040503050406030204" pitchFamily="18" charset="0"/>
                  </a:rPr>
                </a:br>
                <a:br>
                  <a:rPr lang="en-US" sz="600" b="1" dirty="0">
                    <a:latin typeface="Cambria Math" panose="02040503050406030204" pitchFamily="18" charset="0"/>
                  </a:rPr>
                </a:br>
                <a14:m>
                  <m:oMathPara xmlns:m="http://schemas.openxmlformats.org/officeDocument/2006/math">
                    <m:oMathParaPr>
                      <m:jc m:val="left"/>
                    </m:oMathParaPr>
                    <m:oMath>
                      <m:r>
                        <a:rPr lang="en-US" sz="1400" b="0" i="1" smtClean="0">
                          <a:latin typeface="Cambria Math" panose="02040503050406030204" pitchFamily="18" charset="0"/>
                        </a:rPr>
                        <m:t>𝐹𝑁𝑀𝑅</m:t>
                      </m:r>
                      <m:r>
                        <a:rPr lang="en-US" sz="1400" b="0" i="1" smtClean="0">
                          <a:latin typeface="Cambria Math" panose="02040503050406030204" pitchFamily="18" charset="0"/>
                        </a:rPr>
                        <m:t>+</m:t>
                      </m:r>
                      <m:r>
                        <a:rPr lang="en-US" sz="1400" b="0" i="1" smtClean="0">
                          <a:latin typeface="Cambria Math" panose="02040503050406030204" pitchFamily="18" charset="0"/>
                        </a:rPr>
                        <m:t>𝑇𝑀𝑅</m:t>
                      </m:r>
                      <m:r>
                        <a:rPr lang="en-US" sz="1400" b="0" i="1" smtClean="0">
                          <a:latin typeface="Cambria Math" panose="02040503050406030204" pitchFamily="18" charset="0"/>
                        </a:rPr>
                        <m:t>=1⇒</m:t>
                      </m:r>
                      <m:r>
                        <a:rPr lang="en-US" sz="1400" b="0" i="1" smtClean="0">
                          <a:latin typeface="Cambria Math" panose="02040503050406030204" pitchFamily="18" charset="0"/>
                        </a:rPr>
                        <m:t>𝑇𝑀𝑅</m:t>
                      </m:r>
                      <m:r>
                        <a:rPr lang="en-US" sz="1400" b="0" i="1" smtClean="0">
                          <a:latin typeface="Cambria Math" panose="02040503050406030204" pitchFamily="18" charset="0"/>
                        </a:rPr>
                        <m:t>=1−</m:t>
                      </m:r>
                      <m:r>
                        <a:rPr lang="en-US" sz="1400" b="0" i="1" smtClean="0">
                          <a:latin typeface="Cambria Math" panose="02040503050406030204" pitchFamily="18" charset="0"/>
                        </a:rPr>
                        <m:t>𝐹𝑁𝑀𝑅</m:t>
                      </m:r>
                    </m:oMath>
                  </m:oMathPara>
                </a14:m>
                <a:endParaRPr lang="en-US" sz="1400" dirty="0">
                  <a:latin typeface="Cambria Math" panose="02040503050406030204" pitchFamily="18" charset="0"/>
                </a:endParaRPr>
              </a:p>
            </p:txBody>
          </p:sp>
        </mc:Choice>
        <mc:Fallback>
          <p:sp>
            <p:nvSpPr>
              <p:cNvPr id="22" name="TextBox 21">
                <a:extLst>
                  <a:ext uri="{FF2B5EF4-FFF2-40B4-BE49-F238E27FC236}">
                    <a16:creationId xmlns:a16="http://schemas.microsoft.com/office/drawing/2014/main" id="{11694D86-B0F8-F67B-C424-2349A06364ED}"/>
                  </a:ext>
                </a:extLst>
              </p:cNvPr>
              <p:cNvSpPr txBox="1">
                <a:spLocks noRot="1" noChangeAspect="1" noMove="1" noResize="1" noEditPoints="1" noAdjustHandles="1" noChangeArrowheads="1" noChangeShapeType="1" noTextEdit="1"/>
              </p:cNvSpPr>
              <p:nvPr/>
            </p:nvSpPr>
            <p:spPr>
              <a:xfrm>
                <a:off x="8743914" y="4920840"/>
                <a:ext cx="3515344" cy="1498283"/>
              </a:xfrm>
              <a:prstGeom prst="roundRect">
                <a:avLst/>
              </a:prstGeom>
              <a:blipFill>
                <a:blip r:embed="rId9"/>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699697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2" grpId="0" animBg="1"/>
      <p:bldP spid="13" grpId="0" animBg="1"/>
      <p:bldP spid="14" grpId="0" animBg="1"/>
      <p:bldP spid="15" grpId="0"/>
      <p:bldP spid="16" grpId="0"/>
      <p:bldP spid="17" grpId="0"/>
      <p:bldP spid="18" grpId="0"/>
      <p:bldP spid="19" grpId="0"/>
      <p:bldP spid="20" grpId="0"/>
      <p:bldP spid="21" grpId="0" animBg="1"/>
      <p:bldP spid="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831EE-703E-954B-D918-CE258B25CF6C}"/>
            </a:ext>
          </a:extLst>
        </p:cNvPr>
        <p:cNvGrpSpPr/>
        <p:nvPr/>
      </p:nvGrpSpPr>
      <p:grpSpPr>
        <a:xfrm>
          <a:off x="0" y="0"/>
          <a:ext cx="0" cy="0"/>
          <a:chOff x="0" y="0"/>
          <a:chExt cx="0" cy="0"/>
        </a:xfrm>
      </p:grpSpPr>
      <p:pic>
        <p:nvPicPr>
          <p:cNvPr id="11" name="Picture 10" descr="P-Value Explained Simply (With a Real-Life Example in Hypothesis Testing) |  by Priya Verma | Medium">
            <a:extLst>
              <a:ext uri="{FF2B5EF4-FFF2-40B4-BE49-F238E27FC236}">
                <a16:creationId xmlns:a16="http://schemas.microsoft.com/office/drawing/2014/main" id="{3DEF1FC3-2A1A-B3ED-91A7-538793A2E7A3}"/>
              </a:ext>
            </a:extLst>
          </p:cNvPr>
          <p:cNvPicPr>
            <a:picLocks noChangeAspect="1"/>
          </p:cNvPicPr>
          <p:nvPr/>
        </p:nvPicPr>
        <p:blipFill>
          <a:blip r:embed="rId3"/>
          <a:srcRect l="8019" t="31051" r="9685" b="19600"/>
          <a:stretch>
            <a:fillRect/>
          </a:stretch>
        </p:blipFill>
        <p:spPr>
          <a:xfrm>
            <a:off x="7224516" y="3211111"/>
            <a:ext cx="3102133" cy="1202773"/>
          </a:xfrm>
          <a:prstGeom prst="rect">
            <a:avLst/>
          </a:prstGeom>
        </p:spPr>
      </p:pic>
      <p:sp>
        <p:nvSpPr>
          <p:cNvPr id="4" name="Slide Number Placeholder 3">
            <a:extLst>
              <a:ext uri="{FF2B5EF4-FFF2-40B4-BE49-F238E27FC236}">
                <a16:creationId xmlns:a16="http://schemas.microsoft.com/office/drawing/2014/main" id="{9803643A-002D-5AB0-4CCA-72C173BA128E}"/>
              </a:ext>
            </a:extLst>
          </p:cNvPr>
          <p:cNvSpPr>
            <a:spLocks noGrp="1"/>
          </p:cNvSpPr>
          <p:nvPr>
            <p:ph type="sldNum" sz="quarter" idx="12"/>
          </p:nvPr>
        </p:nvSpPr>
        <p:spPr/>
        <p:txBody>
          <a:bodyPr/>
          <a:lstStyle/>
          <a:p>
            <a:fld id="{659B2F21-D912-7541-8ED2-FD6ABD90B685}" type="slidenum">
              <a:rPr lang="en-US" smtClean="0"/>
              <a:t>18</a:t>
            </a:fld>
            <a:endParaRPr lang="en-US"/>
          </a:p>
        </p:txBody>
      </p:sp>
      <p:sp>
        <p:nvSpPr>
          <p:cNvPr id="5" name="TextBox 4">
            <a:extLst>
              <a:ext uri="{FF2B5EF4-FFF2-40B4-BE49-F238E27FC236}">
                <a16:creationId xmlns:a16="http://schemas.microsoft.com/office/drawing/2014/main" id="{B87FEDC1-F778-BE9F-E9D1-210F3A0D650F}"/>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3FEC2043-EE7E-8C79-F090-17034745FCAF}"/>
              </a:ext>
            </a:extLst>
          </p:cNvPr>
          <p:cNvSpPr txBox="1"/>
          <p:nvPr/>
        </p:nvSpPr>
        <p:spPr>
          <a:xfrm>
            <a:off x="610351" y="1532067"/>
            <a:ext cx="10955866" cy="984885"/>
          </a:xfrm>
          <a:prstGeom prst="rect">
            <a:avLst/>
          </a:prstGeom>
          <a:noFill/>
        </p:spPr>
        <p:txBody>
          <a:bodyPr wrap="square">
            <a:spAutoFit/>
          </a:bodyPr>
          <a:lstStyle/>
          <a:p>
            <a:r>
              <a:rPr lang="en-US" sz="4000" dirty="0"/>
              <a:t>What are some key ideas from the paper?</a:t>
            </a:r>
            <a:br>
              <a:rPr lang="en-US" sz="3200" dirty="0"/>
            </a:br>
            <a:endParaRPr lang="en-US" dirty="0"/>
          </a:p>
        </p:txBody>
      </p:sp>
      <p:sp>
        <p:nvSpPr>
          <p:cNvPr id="6" name="TextBox 5">
            <a:extLst>
              <a:ext uri="{FF2B5EF4-FFF2-40B4-BE49-F238E27FC236}">
                <a16:creationId xmlns:a16="http://schemas.microsoft.com/office/drawing/2014/main" id="{8928D49F-ADF6-D38C-88A4-E87A7FA4504B}"/>
              </a:ext>
            </a:extLst>
          </p:cNvPr>
          <p:cNvSpPr txBox="1"/>
          <p:nvPr/>
        </p:nvSpPr>
        <p:spPr>
          <a:xfrm>
            <a:off x="1308242" y="2847996"/>
            <a:ext cx="3397212" cy="830997"/>
          </a:xfrm>
          <a:prstGeom prst="rect">
            <a:avLst/>
          </a:prstGeom>
          <a:noFill/>
        </p:spPr>
        <p:txBody>
          <a:bodyPr wrap="none" rtlCol="0">
            <a:spAutoFit/>
          </a:bodyPr>
          <a:lstStyle/>
          <a:p>
            <a:pPr algn="ctr"/>
            <a:r>
              <a:rPr lang="en-US" sz="2400" b="1" dirty="0"/>
              <a:t>A. Performance Testing</a:t>
            </a:r>
          </a:p>
          <a:p>
            <a:pPr algn="ctr"/>
            <a:endParaRPr lang="en-US" sz="2400" b="1" dirty="0"/>
          </a:p>
        </p:txBody>
      </p:sp>
      <p:sp>
        <p:nvSpPr>
          <p:cNvPr id="8" name="TextBox 7">
            <a:extLst>
              <a:ext uri="{FF2B5EF4-FFF2-40B4-BE49-F238E27FC236}">
                <a16:creationId xmlns:a16="http://schemas.microsoft.com/office/drawing/2014/main" id="{0D022D9D-FE65-5178-F828-4D346DD6FFD7}"/>
              </a:ext>
            </a:extLst>
          </p:cNvPr>
          <p:cNvSpPr txBox="1"/>
          <p:nvPr/>
        </p:nvSpPr>
        <p:spPr>
          <a:xfrm>
            <a:off x="7692181" y="2852748"/>
            <a:ext cx="2249014" cy="461665"/>
          </a:xfrm>
          <a:prstGeom prst="rect">
            <a:avLst/>
          </a:prstGeom>
          <a:noFill/>
        </p:spPr>
        <p:txBody>
          <a:bodyPr wrap="none" rtlCol="0">
            <a:spAutoFit/>
          </a:bodyPr>
          <a:lstStyle/>
          <a:p>
            <a:pPr algn="ctr"/>
            <a:r>
              <a:rPr lang="en-US" sz="2400" b="1" dirty="0"/>
              <a:t>B. Significance</a:t>
            </a:r>
          </a:p>
        </p:txBody>
      </p:sp>
      <p:sp>
        <p:nvSpPr>
          <p:cNvPr id="9" name="TextBox 8">
            <a:extLst>
              <a:ext uri="{FF2B5EF4-FFF2-40B4-BE49-F238E27FC236}">
                <a16:creationId xmlns:a16="http://schemas.microsoft.com/office/drawing/2014/main" id="{77098EC9-0E32-28CC-19AA-6CBD3E8D92CD}"/>
              </a:ext>
            </a:extLst>
          </p:cNvPr>
          <p:cNvSpPr txBox="1"/>
          <p:nvPr/>
        </p:nvSpPr>
        <p:spPr>
          <a:xfrm>
            <a:off x="1298912" y="4341049"/>
            <a:ext cx="3102132" cy="461665"/>
          </a:xfrm>
          <a:prstGeom prst="rect">
            <a:avLst/>
          </a:prstGeom>
          <a:noFill/>
        </p:spPr>
        <p:txBody>
          <a:bodyPr wrap="none" rtlCol="0">
            <a:spAutoFit/>
          </a:bodyPr>
          <a:lstStyle/>
          <a:p>
            <a:pPr algn="ctr"/>
            <a:r>
              <a:rPr lang="en-US" sz="2400" b="1" dirty="0"/>
              <a:t>C. Statistical Control</a:t>
            </a:r>
          </a:p>
        </p:txBody>
      </p:sp>
      <p:sp>
        <p:nvSpPr>
          <p:cNvPr id="10" name="TextBox 9">
            <a:extLst>
              <a:ext uri="{FF2B5EF4-FFF2-40B4-BE49-F238E27FC236}">
                <a16:creationId xmlns:a16="http://schemas.microsoft.com/office/drawing/2014/main" id="{3F13CE7A-B5E3-D144-6AA0-099CF7FB89A7}"/>
              </a:ext>
            </a:extLst>
          </p:cNvPr>
          <p:cNvSpPr txBox="1"/>
          <p:nvPr/>
        </p:nvSpPr>
        <p:spPr>
          <a:xfrm>
            <a:off x="7719723" y="4341048"/>
            <a:ext cx="2193934" cy="461665"/>
          </a:xfrm>
          <a:prstGeom prst="rect">
            <a:avLst/>
          </a:prstGeom>
          <a:noFill/>
        </p:spPr>
        <p:txBody>
          <a:bodyPr wrap="none" rtlCol="0">
            <a:spAutoFit/>
          </a:bodyPr>
          <a:lstStyle/>
          <a:p>
            <a:pPr algn="ctr"/>
            <a:r>
              <a:rPr lang="en-US" sz="2400" b="1" dirty="0"/>
              <a:t>D. Uncertainty</a:t>
            </a:r>
          </a:p>
        </p:txBody>
      </p:sp>
      <p:pic>
        <p:nvPicPr>
          <p:cNvPr id="12" name="Picture 11">
            <a:extLst>
              <a:ext uri="{FF2B5EF4-FFF2-40B4-BE49-F238E27FC236}">
                <a16:creationId xmlns:a16="http://schemas.microsoft.com/office/drawing/2014/main" id="{D1906B62-4DC3-8048-E6A0-F635479BBB07}"/>
              </a:ext>
            </a:extLst>
          </p:cNvPr>
          <p:cNvPicPr>
            <a:picLocks noChangeAspect="1"/>
          </p:cNvPicPr>
          <p:nvPr/>
        </p:nvPicPr>
        <p:blipFill>
          <a:blip r:embed="rId4"/>
          <a:srcRect l="31322" t="52404" r="39026" b="6636"/>
          <a:stretch>
            <a:fillRect/>
          </a:stretch>
        </p:blipFill>
        <p:spPr>
          <a:xfrm>
            <a:off x="8017926" y="4755318"/>
            <a:ext cx="1597524" cy="1370402"/>
          </a:xfrm>
          <a:prstGeom prst="rect">
            <a:avLst/>
          </a:prstGeom>
        </p:spPr>
      </p:pic>
      <p:pic>
        <p:nvPicPr>
          <p:cNvPr id="16" name="Picture 15" descr="Control Systems - Introduction">
            <a:extLst>
              <a:ext uri="{FF2B5EF4-FFF2-40B4-BE49-F238E27FC236}">
                <a16:creationId xmlns:a16="http://schemas.microsoft.com/office/drawing/2014/main" id="{97FC5D70-938D-1128-781D-537694D74675}"/>
              </a:ext>
            </a:extLst>
          </p:cNvPr>
          <p:cNvPicPr>
            <a:picLocks noChangeAspect="1"/>
          </p:cNvPicPr>
          <p:nvPr/>
        </p:nvPicPr>
        <p:blipFill>
          <a:blip r:embed="rId5"/>
          <a:stretch>
            <a:fillRect/>
          </a:stretch>
        </p:blipFill>
        <p:spPr>
          <a:xfrm>
            <a:off x="1167053" y="4789063"/>
            <a:ext cx="3679590" cy="1749849"/>
          </a:xfrm>
          <a:prstGeom prst="rect">
            <a:avLst/>
          </a:prstGeom>
        </p:spPr>
      </p:pic>
      <p:pic>
        <p:nvPicPr>
          <p:cNvPr id="17" name="Picture 16" descr="Lessons Learned in Performance Testing - InfoQ">
            <a:extLst>
              <a:ext uri="{FF2B5EF4-FFF2-40B4-BE49-F238E27FC236}">
                <a16:creationId xmlns:a16="http://schemas.microsoft.com/office/drawing/2014/main" id="{1FF9F50B-AC7E-34BA-EE69-3B41C371F0B8}"/>
              </a:ext>
            </a:extLst>
          </p:cNvPr>
          <p:cNvPicPr>
            <a:picLocks noChangeAspect="1"/>
          </p:cNvPicPr>
          <p:nvPr/>
        </p:nvPicPr>
        <p:blipFill>
          <a:blip r:embed="rId6"/>
          <a:srcRect/>
          <a:stretch>
            <a:fillRect/>
          </a:stretch>
        </p:blipFill>
        <p:spPr>
          <a:xfrm>
            <a:off x="1865351" y="3083580"/>
            <a:ext cx="2227445" cy="1583342"/>
          </a:xfrm>
          <a:prstGeom prst="rect">
            <a:avLst/>
          </a:prstGeom>
        </p:spPr>
      </p:pic>
    </p:spTree>
    <p:extLst>
      <p:ext uri="{BB962C8B-B14F-4D97-AF65-F5344CB8AC3E}">
        <p14:creationId xmlns:p14="http://schemas.microsoft.com/office/powerpoint/2010/main" val="1418483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CD5BB-AF18-420F-6DD4-8E15CB9E705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691BDC4-1CDB-6E03-27F2-DF632E6CB961}"/>
              </a:ext>
            </a:extLst>
          </p:cNvPr>
          <p:cNvSpPr>
            <a:spLocks noGrp="1"/>
          </p:cNvSpPr>
          <p:nvPr>
            <p:ph type="sldNum" sz="quarter" idx="12"/>
          </p:nvPr>
        </p:nvSpPr>
        <p:spPr/>
        <p:txBody>
          <a:bodyPr/>
          <a:lstStyle/>
          <a:p>
            <a:fld id="{659B2F21-D912-7541-8ED2-FD6ABD90B685}" type="slidenum">
              <a:rPr lang="en-US" smtClean="0"/>
              <a:t>19</a:t>
            </a:fld>
            <a:endParaRPr lang="en-US"/>
          </a:p>
        </p:txBody>
      </p:sp>
      <p:sp>
        <p:nvSpPr>
          <p:cNvPr id="5" name="TextBox 4">
            <a:extLst>
              <a:ext uri="{FF2B5EF4-FFF2-40B4-BE49-F238E27FC236}">
                <a16:creationId xmlns:a16="http://schemas.microsoft.com/office/drawing/2014/main" id="{926C7C3C-294F-ABFF-6249-61AFF0CEC91F}"/>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03EF414F-0C74-5212-1A8D-C40D1468B1C8}"/>
              </a:ext>
            </a:extLst>
          </p:cNvPr>
          <p:cNvSpPr txBox="1"/>
          <p:nvPr/>
        </p:nvSpPr>
        <p:spPr>
          <a:xfrm>
            <a:off x="577850" y="1485900"/>
            <a:ext cx="10955866" cy="1077218"/>
          </a:xfrm>
          <a:prstGeom prst="rect">
            <a:avLst/>
          </a:prstGeom>
          <a:noFill/>
        </p:spPr>
        <p:txBody>
          <a:bodyPr wrap="square">
            <a:spAutoFit/>
          </a:bodyPr>
          <a:lstStyle/>
          <a:p>
            <a:r>
              <a:rPr lang="en-US" sz="3200" b="1" dirty="0"/>
              <a:t>Major points</a:t>
            </a:r>
            <a:br>
              <a:rPr lang="en-US" sz="3200" b="1" dirty="0"/>
            </a:br>
            <a:endParaRPr lang="en-US" sz="3200" b="1" dirty="0"/>
          </a:p>
        </p:txBody>
      </p:sp>
      <p:sp>
        <p:nvSpPr>
          <p:cNvPr id="10" name="TextBox 9">
            <a:extLst>
              <a:ext uri="{FF2B5EF4-FFF2-40B4-BE49-F238E27FC236}">
                <a16:creationId xmlns:a16="http://schemas.microsoft.com/office/drawing/2014/main" id="{BD1E65ED-FDAB-DD4B-2288-97FC6D8A0BEE}"/>
              </a:ext>
            </a:extLst>
          </p:cNvPr>
          <p:cNvSpPr txBox="1"/>
          <p:nvPr/>
        </p:nvSpPr>
        <p:spPr>
          <a:xfrm>
            <a:off x="1326777" y="2855123"/>
            <a:ext cx="9197787" cy="3416320"/>
          </a:xfrm>
          <a:prstGeom prst="rect">
            <a:avLst/>
          </a:prstGeom>
          <a:noFill/>
        </p:spPr>
        <p:txBody>
          <a:bodyPr wrap="square">
            <a:spAutoFit/>
          </a:bodyPr>
          <a:lstStyle/>
          <a:p>
            <a:pPr marL="457200" indent="-457200">
              <a:buFont typeface="+mj-lt"/>
              <a:buAutoNum type="alphaUcPeriod"/>
            </a:pPr>
            <a:r>
              <a:rPr lang="en-US" sz="2400" b="1" dirty="0"/>
              <a:t>Biometric performance testing is measurement, not merely metric calculation</a:t>
            </a:r>
            <a:br>
              <a:rPr lang="en-US" sz="2400" b="1" dirty="0"/>
            </a:br>
            <a:endParaRPr lang="en-US" sz="2400" dirty="0"/>
          </a:p>
          <a:p>
            <a:pPr marL="285750" lvl="0" indent="-285750">
              <a:buFont typeface="Arial" panose="020B0604020202020204" pitchFamily="34" charset="0"/>
              <a:buChar char="•"/>
            </a:pPr>
            <a:r>
              <a:rPr lang="en-US" dirty="0"/>
              <a:t>The measured quantity is not inherently “the system’s accuracy.” </a:t>
            </a:r>
            <a:br>
              <a:rPr lang="en-US" dirty="0"/>
            </a:br>
            <a:r>
              <a:rPr lang="en-US" dirty="0"/>
              <a:t>It must be defined in </a:t>
            </a:r>
            <a:r>
              <a:rPr lang="en-US" b="1" dirty="0">
                <a:solidFill>
                  <a:srgbClr val="0070C0"/>
                </a:solidFill>
              </a:rPr>
              <a:t>context</a:t>
            </a:r>
            <a:r>
              <a:rPr lang="en-US" dirty="0"/>
              <a:t>.</a:t>
            </a:r>
          </a:p>
          <a:p>
            <a:pPr marL="285750" lvl="0" indent="-285750">
              <a:buFont typeface="Arial" panose="020B0604020202020204" pitchFamily="34" charset="0"/>
              <a:buChar char="•"/>
            </a:pPr>
            <a:r>
              <a:rPr lang="en-US" dirty="0"/>
              <a:t>The authors use </a:t>
            </a:r>
            <a:r>
              <a:rPr lang="en-US" b="1" dirty="0">
                <a:solidFill>
                  <a:srgbClr val="0070C0"/>
                </a:solidFill>
              </a:rPr>
              <a:t>measurand</a:t>
            </a:r>
            <a:r>
              <a:rPr lang="en-US" dirty="0"/>
              <a:t> for the quantity intended to be measured. </a:t>
            </a:r>
            <a:br>
              <a:rPr lang="en-US" dirty="0"/>
            </a:br>
            <a:r>
              <a:rPr lang="en-US" dirty="0"/>
              <a:t>In biometrics, an observed error rate or comparison-error rate is often only a </a:t>
            </a:r>
            <a:r>
              <a:rPr lang="en-US" b="1" dirty="0">
                <a:solidFill>
                  <a:srgbClr val="0070C0"/>
                </a:solidFill>
              </a:rPr>
              <a:t>proxy</a:t>
            </a:r>
            <a:r>
              <a:rPr lang="en-US" dirty="0"/>
              <a:t> for the intended quantity.</a:t>
            </a:r>
          </a:p>
          <a:p>
            <a:pPr lvl="0"/>
            <a:endParaRPr lang="en-US" b="1" dirty="0">
              <a:solidFill>
                <a:srgbClr val="0070C0"/>
              </a:solidFill>
            </a:endParaRPr>
          </a:p>
          <a:p>
            <a:pPr lvl="0"/>
            <a:r>
              <a:rPr lang="en-US" b="1" dirty="0">
                <a:solidFill>
                  <a:srgbClr val="0070C0"/>
                </a:solidFill>
              </a:rPr>
              <a:t>A metric can be computed correctly while the underlying claim remains poorly specified.</a:t>
            </a:r>
          </a:p>
        </p:txBody>
      </p:sp>
    </p:spTree>
    <p:extLst>
      <p:ext uri="{BB962C8B-B14F-4D97-AF65-F5344CB8AC3E}">
        <p14:creationId xmlns:p14="http://schemas.microsoft.com/office/powerpoint/2010/main" val="4165591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C89FB-1C45-6828-F500-94C51E27BD5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D213661-9300-00C3-392B-EC8143E752E1}"/>
              </a:ext>
            </a:extLst>
          </p:cNvPr>
          <p:cNvSpPr>
            <a:spLocks noGrp="1"/>
          </p:cNvSpPr>
          <p:nvPr>
            <p:ph type="sldNum" sz="quarter" idx="12"/>
          </p:nvPr>
        </p:nvSpPr>
        <p:spPr/>
        <p:txBody>
          <a:bodyPr/>
          <a:lstStyle/>
          <a:p>
            <a:fld id="{659B2F21-D912-7541-8ED2-FD6ABD90B685}" type="slidenum">
              <a:rPr lang="en-US" smtClean="0"/>
              <a:t>20</a:t>
            </a:fld>
            <a:endParaRPr lang="en-US"/>
          </a:p>
        </p:txBody>
      </p:sp>
      <p:sp>
        <p:nvSpPr>
          <p:cNvPr id="5" name="TextBox 4">
            <a:extLst>
              <a:ext uri="{FF2B5EF4-FFF2-40B4-BE49-F238E27FC236}">
                <a16:creationId xmlns:a16="http://schemas.microsoft.com/office/drawing/2014/main" id="{2EB7D8AD-39DA-2301-C7DA-E38352EE7E7E}"/>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B7B1A640-2391-ED3A-CF9E-DC6F09D62C98}"/>
              </a:ext>
            </a:extLst>
          </p:cNvPr>
          <p:cNvSpPr txBox="1"/>
          <p:nvPr/>
        </p:nvSpPr>
        <p:spPr>
          <a:xfrm>
            <a:off x="577850" y="1485900"/>
            <a:ext cx="10955866" cy="1077218"/>
          </a:xfrm>
          <a:prstGeom prst="rect">
            <a:avLst/>
          </a:prstGeom>
          <a:noFill/>
        </p:spPr>
        <p:txBody>
          <a:bodyPr wrap="square">
            <a:spAutoFit/>
          </a:bodyPr>
          <a:lstStyle/>
          <a:p>
            <a:r>
              <a:rPr lang="en-US" sz="3200" b="1" dirty="0"/>
              <a:t> </a:t>
            </a:r>
            <a:br>
              <a:rPr lang="en-US" sz="3200" b="1" dirty="0"/>
            </a:br>
            <a:endParaRPr lang="en-US" sz="3200" b="1" dirty="0"/>
          </a:p>
        </p:txBody>
      </p:sp>
      <p:sp>
        <p:nvSpPr>
          <p:cNvPr id="6" name="TextBox 5">
            <a:extLst>
              <a:ext uri="{FF2B5EF4-FFF2-40B4-BE49-F238E27FC236}">
                <a16:creationId xmlns:a16="http://schemas.microsoft.com/office/drawing/2014/main" id="{496C4F27-8ABE-A137-7A3B-0A048FAACAD7}"/>
              </a:ext>
            </a:extLst>
          </p:cNvPr>
          <p:cNvSpPr txBox="1"/>
          <p:nvPr/>
        </p:nvSpPr>
        <p:spPr>
          <a:xfrm>
            <a:off x="2008594" y="1439733"/>
            <a:ext cx="8174811" cy="2246769"/>
          </a:xfrm>
          <a:prstGeom prst="rect">
            <a:avLst/>
          </a:prstGeom>
          <a:noFill/>
        </p:spPr>
        <p:txBody>
          <a:bodyPr wrap="square">
            <a:spAutoFit/>
          </a:bodyPr>
          <a:lstStyle/>
          <a:p>
            <a:pPr>
              <a:spcBef>
                <a:spcPts val="3000"/>
              </a:spcBef>
              <a:spcAft>
                <a:spcPts val="3000"/>
              </a:spcAft>
            </a:pPr>
            <a:r>
              <a:rPr lang="en-US" sz="2000" b="0" i="0" dirty="0">
                <a:solidFill>
                  <a:schemeClr val="bg1">
                    <a:lumMod val="65000"/>
                  </a:schemeClr>
                </a:solidFill>
                <a:effectLst/>
                <a:latin typeface="+mn-lt"/>
              </a:rPr>
              <a:t>“</a:t>
            </a:r>
            <a:r>
              <a:rPr lang="en-US" sz="2000" dirty="0">
                <a:solidFill>
                  <a:schemeClr val="bg1">
                    <a:lumMod val="65000"/>
                  </a:schemeClr>
                </a:solidFill>
              </a:rPr>
              <a:t>The probability that a non-mated verification attempt is incorrectly accepted for adults enrolled in the university’s access-control system, using frontal face images captured by security cameras located at building entrances (exits) during typical indoor lighting condition between the hours of 7am–7pm, processed by software version 3.2 with the stated quality checks and a threshold of 0.42, during the Fall 2026 deployment period.”</a:t>
            </a:r>
            <a:endParaRPr lang="en-US" sz="2000" b="0" i="0" dirty="0">
              <a:solidFill>
                <a:schemeClr val="bg1">
                  <a:lumMod val="65000"/>
                </a:schemeClr>
              </a:solidFill>
              <a:effectLst/>
              <a:latin typeface="+mn-lt"/>
            </a:endParaRPr>
          </a:p>
        </p:txBody>
      </p:sp>
      <p:sp>
        <p:nvSpPr>
          <p:cNvPr id="7" name="TextBox 6">
            <a:extLst>
              <a:ext uri="{FF2B5EF4-FFF2-40B4-BE49-F238E27FC236}">
                <a16:creationId xmlns:a16="http://schemas.microsoft.com/office/drawing/2014/main" id="{CA1E2A07-82A5-BCFB-9A3C-0D1DBEF46F26}"/>
              </a:ext>
            </a:extLst>
          </p:cNvPr>
          <p:cNvSpPr txBox="1"/>
          <p:nvPr/>
        </p:nvSpPr>
        <p:spPr>
          <a:xfrm>
            <a:off x="590310" y="3932340"/>
            <a:ext cx="8161658" cy="1477328"/>
          </a:xfrm>
          <a:prstGeom prst="rect">
            <a:avLst/>
          </a:prstGeom>
          <a:noFill/>
        </p:spPr>
        <p:txBody>
          <a:bodyPr wrap="none" rtlCol="0">
            <a:spAutoFit/>
          </a:bodyPr>
          <a:lstStyle/>
          <a:p>
            <a:pPr marL="285750" indent="-285750">
              <a:buFont typeface="Wingdings" pitchFamily="2" charset="2"/>
              <a:buChar char="§"/>
            </a:pPr>
            <a:r>
              <a:rPr lang="en-US" b="1" dirty="0"/>
              <a:t>Event</a:t>
            </a:r>
            <a:r>
              <a:rPr lang="en-US" dirty="0"/>
              <a:t> — non-mated verification attempt</a:t>
            </a:r>
          </a:p>
          <a:p>
            <a:pPr marL="285750" indent="-285750">
              <a:buFont typeface="Wingdings" pitchFamily="2" charset="2"/>
              <a:buChar char="§"/>
            </a:pPr>
            <a:r>
              <a:rPr lang="en-US" b="1" dirty="0"/>
              <a:t>Population</a:t>
            </a:r>
            <a:r>
              <a:rPr lang="en-US" dirty="0"/>
              <a:t> — adults enrolled in the university access control system</a:t>
            </a:r>
          </a:p>
          <a:p>
            <a:pPr marL="285750" indent="-285750">
              <a:buFont typeface="Wingdings" pitchFamily="2" charset="2"/>
              <a:buChar char="§"/>
            </a:pPr>
            <a:r>
              <a:rPr lang="en-US" b="1" dirty="0"/>
              <a:t>Complete system </a:t>
            </a:r>
            <a:r>
              <a:rPr lang="en-US" dirty="0"/>
              <a:t>— camera, software version, quality checks, and threshold</a:t>
            </a:r>
          </a:p>
          <a:p>
            <a:pPr marL="285750" indent="-285750">
              <a:buFont typeface="Wingdings" pitchFamily="2" charset="2"/>
              <a:buChar char="§"/>
            </a:pPr>
            <a:r>
              <a:rPr lang="en-US" b="1" dirty="0"/>
              <a:t>Conditions</a:t>
            </a:r>
            <a:r>
              <a:rPr lang="en-US" dirty="0"/>
              <a:t> — frontal indoor capture under typical lighting</a:t>
            </a:r>
          </a:p>
          <a:p>
            <a:pPr marL="285750" indent="-285750">
              <a:buFont typeface="Wingdings" pitchFamily="2" charset="2"/>
              <a:buChar char="§"/>
            </a:pPr>
            <a:r>
              <a:rPr lang="en-US" b="1" dirty="0"/>
              <a:t>When</a:t>
            </a:r>
            <a:r>
              <a:rPr lang="en-US" dirty="0"/>
              <a:t> — Fall 2026 deployment period</a:t>
            </a:r>
          </a:p>
        </p:txBody>
      </p:sp>
      <p:sp>
        <p:nvSpPr>
          <p:cNvPr id="8" name="TextBox 7">
            <a:extLst>
              <a:ext uri="{FF2B5EF4-FFF2-40B4-BE49-F238E27FC236}">
                <a16:creationId xmlns:a16="http://schemas.microsoft.com/office/drawing/2014/main" id="{6CE3CDD6-3E4E-1E0B-4C06-11A3ECE3C9A6}"/>
              </a:ext>
            </a:extLst>
          </p:cNvPr>
          <p:cNvSpPr txBox="1"/>
          <p:nvPr/>
        </p:nvSpPr>
        <p:spPr>
          <a:xfrm>
            <a:off x="577850" y="5725660"/>
            <a:ext cx="5187126" cy="830997"/>
          </a:xfrm>
          <a:prstGeom prst="rect">
            <a:avLst/>
          </a:prstGeom>
          <a:noFill/>
        </p:spPr>
        <p:txBody>
          <a:bodyPr wrap="none" rtlCol="0">
            <a:spAutoFit/>
          </a:bodyPr>
          <a:lstStyle/>
          <a:p>
            <a:pPr marL="285750" indent="-285750">
              <a:buFont typeface="Wingdings" pitchFamily="2" charset="2"/>
              <a:buChar char="v"/>
            </a:pPr>
            <a:r>
              <a:rPr lang="en-US" sz="2400" dirty="0">
                <a:solidFill>
                  <a:srgbClr val="FF0000"/>
                </a:solidFill>
              </a:rPr>
              <a:t>This is NOT only a metric</a:t>
            </a:r>
          </a:p>
          <a:p>
            <a:pPr marL="285750" indent="-285750">
              <a:buFont typeface="Wingdings" pitchFamily="2" charset="2"/>
              <a:buChar char="v"/>
            </a:pPr>
            <a:r>
              <a:rPr lang="en-US" sz="2400" dirty="0">
                <a:solidFill>
                  <a:srgbClr val="FF0000"/>
                </a:solidFill>
              </a:rPr>
              <a:t>This is NOT an algorithm in isolation</a:t>
            </a:r>
          </a:p>
        </p:txBody>
      </p:sp>
    </p:spTree>
    <p:extLst>
      <p:ext uri="{BB962C8B-B14F-4D97-AF65-F5344CB8AC3E}">
        <p14:creationId xmlns:p14="http://schemas.microsoft.com/office/powerpoint/2010/main" val="2154405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80C9D-1565-20C5-E0B6-A2D0477E041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A26738-0C01-EC59-02BC-70D89DEFF8F1}"/>
              </a:ext>
            </a:extLst>
          </p:cNvPr>
          <p:cNvSpPr>
            <a:spLocks noGrp="1"/>
          </p:cNvSpPr>
          <p:nvPr>
            <p:ph type="sldNum" sz="quarter" idx="12"/>
          </p:nvPr>
        </p:nvSpPr>
        <p:spPr/>
        <p:txBody>
          <a:bodyPr/>
          <a:lstStyle/>
          <a:p>
            <a:fld id="{659B2F21-D912-7541-8ED2-FD6ABD90B685}" type="slidenum">
              <a:rPr lang="en-US" smtClean="0"/>
              <a:t>21</a:t>
            </a:fld>
            <a:endParaRPr lang="en-US"/>
          </a:p>
        </p:txBody>
      </p:sp>
      <p:sp>
        <p:nvSpPr>
          <p:cNvPr id="5" name="TextBox 4">
            <a:extLst>
              <a:ext uri="{FF2B5EF4-FFF2-40B4-BE49-F238E27FC236}">
                <a16:creationId xmlns:a16="http://schemas.microsoft.com/office/drawing/2014/main" id="{46302347-D669-E75E-53B5-DB5EDDD91598}"/>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DEBC2C83-43F7-F158-49D6-7F2FF8FFC62D}"/>
              </a:ext>
            </a:extLst>
          </p:cNvPr>
          <p:cNvSpPr txBox="1"/>
          <p:nvPr/>
        </p:nvSpPr>
        <p:spPr>
          <a:xfrm>
            <a:off x="577850" y="1485900"/>
            <a:ext cx="10955866" cy="1077218"/>
          </a:xfrm>
          <a:prstGeom prst="rect">
            <a:avLst/>
          </a:prstGeom>
          <a:noFill/>
        </p:spPr>
        <p:txBody>
          <a:bodyPr wrap="square">
            <a:spAutoFit/>
          </a:bodyPr>
          <a:lstStyle/>
          <a:p>
            <a:r>
              <a:rPr lang="en-US" sz="3200" b="1" dirty="0"/>
              <a:t>Major points</a:t>
            </a:r>
            <a:br>
              <a:rPr lang="en-US" sz="3200" b="1" dirty="0"/>
            </a:br>
            <a:endParaRPr lang="en-US" sz="3200" b="1" dirty="0"/>
          </a:p>
        </p:txBody>
      </p:sp>
      <p:sp>
        <p:nvSpPr>
          <p:cNvPr id="10" name="TextBox 9">
            <a:extLst>
              <a:ext uri="{FF2B5EF4-FFF2-40B4-BE49-F238E27FC236}">
                <a16:creationId xmlns:a16="http://schemas.microsoft.com/office/drawing/2014/main" id="{EB03EF69-DE6A-0322-9D22-B0C660EA6821}"/>
              </a:ext>
            </a:extLst>
          </p:cNvPr>
          <p:cNvSpPr txBox="1"/>
          <p:nvPr/>
        </p:nvSpPr>
        <p:spPr>
          <a:xfrm>
            <a:off x="1326777" y="2855123"/>
            <a:ext cx="9197787" cy="3046988"/>
          </a:xfrm>
          <a:prstGeom prst="rect">
            <a:avLst/>
          </a:prstGeom>
          <a:noFill/>
        </p:spPr>
        <p:txBody>
          <a:bodyPr wrap="square">
            <a:spAutoFit/>
          </a:bodyPr>
          <a:lstStyle/>
          <a:p>
            <a:pPr marL="457200" indent="-457200">
              <a:buFont typeface="+mj-lt"/>
              <a:buAutoNum type="alphaUcPeriod" startAt="2"/>
            </a:pPr>
            <a:r>
              <a:rPr lang="en-US" sz="2400" b="1" dirty="0"/>
              <a:t>The unit of empirical significance is the whole test context</a:t>
            </a:r>
            <a:br>
              <a:rPr lang="en-US" sz="2400" b="1" dirty="0"/>
            </a:br>
            <a:endParaRPr lang="en-US" sz="2400" dirty="0"/>
          </a:p>
          <a:p>
            <a:pPr marL="285750" lvl="0" indent="-285750">
              <a:buFont typeface="Arial" panose="020B0604020202020204" pitchFamily="34" charset="0"/>
              <a:buChar char="•"/>
            </a:pPr>
            <a:r>
              <a:rPr lang="en-US" dirty="0"/>
              <a:t>Drawing on Duhem–Quine, the paper argues that an experiment is not an isolated test of one hypothesis or component.</a:t>
            </a:r>
          </a:p>
          <a:p>
            <a:pPr marL="285750" lvl="0" indent="-285750">
              <a:buFont typeface="Arial" panose="020B0604020202020204" pitchFamily="34" charset="0"/>
              <a:buChar char="•"/>
            </a:pPr>
            <a:r>
              <a:rPr lang="en-US" dirty="0"/>
              <a:t>The relevant unit includes the database, labels, acquisition, preprocessing, software, hardware, parameter choices, comparison process, threshold, and assumptions used to interpret results.</a:t>
            </a:r>
          </a:p>
          <a:p>
            <a:pPr marL="285750" lvl="0" indent="-285750">
              <a:buFont typeface="Arial" panose="020B0604020202020204" pitchFamily="34" charset="0"/>
              <a:buChar char="•"/>
            </a:pPr>
            <a:r>
              <a:rPr lang="en-US" dirty="0"/>
              <a:t>Consequently, “algorithm A has a better TAR than algorithm B” leaves out much of what could have produced the observed difference.</a:t>
            </a:r>
          </a:p>
          <a:p>
            <a:pPr lvl="0"/>
            <a:endParaRPr lang="en-US" b="1" dirty="0">
              <a:solidFill>
                <a:srgbClr val="0070C0"/>
              </a:solidFill>
            </a:endParaRPr>
          </a:p>
        </p:txBody>
      </p:sp>
    </p:spTree>
    <p:extLst>
      <p:ext uri="{BB962C8B-B14F-4D97-AF65-F5344CB8AC3E}">
        <p14:creationId xmlns:p14="http://schemas.microsoft.com/office/powerpoint/2010/main" val="517312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C921C-F0A1-3F6B-0E3F-5493192B775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47C5C05-1030-6AE9-7240-EE24EBA3D687}"/>
              </a:ext>
            </a:extLst>
          </p:cNvPr>
          <p:cNvSpPr>
            <a:spLocks noGrp="1"/>
          </p:cNvSpPr>
          <p:nvPr>
            <p:ph type="sldNum" sz="quarter" idx="12"/>
          </p:nvPr>
        </p:nvSpPr>
        <p:spPr/>
        <p:txBody>
          <a:bodyPr/>
          <a:lstStyle/>
          <a:p>
            <a:fld id="{659B2F21-D912-7541-8ED2-FD6ABD90B685}" type="slidenum">
              <a:rPr lang="en-US" smtClean="0"/>
              <a:t>22</a:t>
            </a:fld>
            <a:endParaRPr lang="en-US"/>
          </a:p>
        </p:txBody>
      </p:sp>
      <p:sp>
        <p:nvSpPr>
          <p:cNvPr id="5" name="TextBox 4">
            <a:extLst>
              <a:ext uri="{FF2B5EF4-FFF2-40B4-BE49-F238E27FC236}">
                <a16:creationId xmlns:a16="http://schemas.microsoft.com/office/drawing/2014/main" id="{28E694E0-CCA5-7DE6-10A9-FF07AF67E11E}"/>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pic>
        <p:nvPicPr>
          <p:cNvPr id="2" name="Picture 1">
            <a:extLst>
              <a:ext uri="{FF2B5EF4-FFF2-40B4-BE49-F238E27FC236}">
                <a16:creationId xmlns:a16="http://schemas.microsoft.com/office/drawing/2014/main" id="{F0DA0E12-5321-9233-D851-A8ACF9F16637}"/>
              </a:ext>
            </a:extLst>
          </p:cNvPr>
          <p:cNvPicPr>
            <a:picLocks noChangeAspect="1"/>
          </p:cNvPicPr>
          <p:nvPr/>
        </p:nvPicPr>
        <p:blipFill>
          <a:blip r:embed="rId3"/>
          <a:stretch>
            <a:fillRect/>
          </a:stretch>
        </p:blipFill>
        <p:spPr>
          <a:xfrm>
            <a:off x="577850" y="2370546"/>
            <a:ext cx="1942070" cy="4001445"/>
          </a:xfrm>
          <a:prstGeom prst="rect">
            <a:avLst/>
          </a:prstGeom>
        </p:spPr>
      </p:pic>
      <p:sp>
        <p:nvSpPr>
          <p:cNvPr id="6" name="TextBox 5">
            <a:extLst>
              <a:ext uri="{FF2B5EF4-FFF2-40B4-BE49-F238E27FC236}">
                <a16:creationId xmlns:a16="http://schemas.microsoft.com/office/drawing/2014/main" id="{F9EA3BB8-F9BE-BC05-C77E-A2DD1499089F}"/>
              </a:ext>
            </a:extLst>
          </p:cNvPr>
          <p:cNvSpPr txBox="1"/>
          <p:nvPr/>
        </p:nvSpPr>
        <p:spPr>
          <a:xfrm>
            <a:off x="577850" y="1485900"/>
            <a:ext cx="10955866" cy="584775"/>
          </a:xfrm>
          <a:prstGeom prst="rect">
            <a:avLst/>
          </a:prstGeom>
          <a:noFill/>
        </p:spPr>
        <p:txBody>
          <a:bodyPr wrap="square">
            <a:spAutoFit/>
          </a:bodyPr>
          <a:lstStyle/>
          <a:p>
            <a:r>
              <a:rPr lang="en-US" sz="3200" b="1" dirty="0"/>
              <a:t>Example</a:t>
            </a:r>
          </a:p>
        </p:txBody>
      </p:sp>
      <p:sp>
        <p:nvSpPr>
          <p:cNvPr id="7" name="TextBox 6">
            <a:extLst>
              <a:ext uri="{FF2B5EF4-FFF2-40B4-BE49-F238E27FC236}">
                <a16:creationId xmlns:a16="http://schemas.microsoft.com/office/drawing/2014/main" id="{13046C10-FB39-8D66-B0F3-C7CD8A7A9798}"/>
              </a:ext>
            </a:extLst>
          </p:cNvPr>
          <p:cNvSpPr txBox="1"/>
          <p:nvPr/>
        </p:nvSpPr>
        <p:spPr>
          <a:xfrm>
            <a:off x="3514017" y="3540958"/>
            <a:ext cx="9023176" cy="523220"/>
          </a:xfrm>
          <a:prstGeom prst="rect">
            <a:avLst/>
          </a:prstGeom>
          <a:noFill/>
        </p:spPr>
        <p:txBody>
          <a:bodyPr wrap="none" rtlCol="0">
            <a:spAutoFit/>
          </a:bodyPr>
          <a:lstStyle/>
          <a:p>
            <a:r>
              <a:rPr lang="en-US" sz="2800" dirty="0"/>
              <a:t>“</a:t>
            </a:r>
            <a:r>
              <a:rPr lang="en-US" sz="2800" dirty="0" err="1"/>
              <a:t>FaceNet</a:t>
            </a:r>
            <a:r>
              <a:rPr lang="en-US" sz="2800" dirty="0"/>
              <a:t> achieves 99.63% verification accuracy on LFW”</a:t>
            </a:r>
          </a:p>
        </p:txBody>
      </p:sp>
    </p:spTree>
    <p:extLst>
      <p:ext uri="{BB962C8B-B14F-4D97-AF65-F5344CB8AC3E}">
        <p14:creationId xmlns:p14="http://schemas.microsoft.com/office/powerpoint/2010/main" val="493223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D8206-EC10-4D16-DAA8-579A4F2B746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188613-76D4-3CE9-9CDB-1D176E8123E5}"/>
              </a:ext>
            </a:extLst>
          </p:cNvPr>
          <p:cNvSpPr>
            <a:spLocks noGrp="1"/>
          </p:cNvSpPr>
          <p:nvPr>
            <p:ph type="sldNum" sz="quarter" idx="12"/>
          </p:nvPr>
        </p:nvSpPr>
        <p:spPr/>
        <p:txBody>
          <a:bodyPr/>
          <a:lstStyle/>
          <a:p>
            <a:fld id="{659B2F21-D912-7541-8ED2-FD6ABD90B685}" type="slidenum">
              <a:rPr lang="en-US" smtClean="0"/>
              <a:t>23</a:t>
            </a:fld>
            <a:endParaRPr lang="en-US"/>
          </a:p>
        </p:txBody>
      </p:sp>
      <p:sp>
        <p:nvSpPr>
          <p:cNvPr id="5" name="TextBox 4">
            <a:extLst>
              <a:ext uri="{FF2B5EF4-FFF2-40B4-BE49-F238E27FC236}">
                <a16:creationId xmlns:a16="http://schemas.microsoft.com/office/drawing/2014/main" id="{313E831D-5293-35AE-EA37-273939962372}"/>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E775C1AC-2021-5B1D-E4D3-03DFBE1DFD68}"/>
              </a:ext>
            </a:extLst>
          </p:cNvPr>
          <p:cNvSpPr txBox="1"/>
          <p:nvPr/>
        </p:nvSpPr>
        <p:spPr>
          <a:xfrm>
            <a:off x="577850" y="1485900"/>
            <a:ext cx="10955866" cy="1077218"/>
          </a:xfrm>
          <a:prstGeom prst="rect">
            <a:avLst/>
          </a:prstGeom>
          <a:noFill/>
        </p:spPr>
        <p:txBody>
          <a:bodyPr wrap="square">
            <a:spAutoFit/>
          </a:bodyPr>
          <a:lstStyle/>
          <a:p>
            <a:r>
              <a:rPr lang="en-US" sz="3200" b="1" dirty="0"/>
              <a:t>Major points</a:t>
            </a:r>
            <a:br>
              <a:rPr lang="en-US" sz="3200" b="1" dirty="0"/>
            </a:br>
            <a:endParaRPr lang="en-US" sz="3200" b="1" dirty="0"/>
          </a:p>
        </p:txBody>
      </p:sp>
      <p:sp>
        <p:nvSpPr>
          <p:cNvPr id="10" name="TextBox 9">
            <a:extLst>
              <a:ext uri="{FF2B5EF4-FFF2-40B4-BE49-F238E27FC236}">
                <a16:creationId xmlns:a16="http://schemas.microsoft.com/office/drawing/2014/main" id="{2241A5F7-494C-C02C-7FB6-2AE4E9E30B08}"/>
              </a:ext>
            </a:extLst>
          </p:cNvPr>
          <p:cNvSpPr txBox="1"/>
          <p:nvPr/>
        </p:nvSpPr>
        <p:spPr>
          <a:xfrm>
            <a:off x="1326777" y="2855123"/>
            <a:ext cx="9197787" cy="3046988"/>
          </a:xfrm>
          <a:prstGeom prst="rect">
            <a:avLst/>
          </a:prstGeom>
          <a:noFill/>
        </p:spPr>
        <p:txBody>
          <a:bodyPr wrap="square">
            <a:spAutoFit/>
          </a:bodyPr>
          <a:lstStyle/>
          <a:p>
            <a:pPr marL="457200" indent="-457200">
              <a:buFont typeface="+mj-lt"/>
              <a:buAutoNum type="alphaUcPeriod" startAt="3"/>
            </a:pPr>
            <a:r>
              <a:rPr lang="en-US" sz="2400" b="1" dirty="0"/>
              <a:t>Statistical control is a prerequisite for useful interpretation</a:t>
            </a:r>
            <a:br>
              <a:rPr lang="en-US" sz="2400" b="1" dirty="0"/>
            </a:br>
            <a:endParaRPr lang="en-US" sz="2400" dirty="0"/>
          </a:p>
          <a:p>
            <a:pPr marL="285750" lvl="0" indent="-285750">
              <a:buFont typeface="Arial" panose="020B0604020202020204" pitchFamily="34" charset="0"/>
              <a:buChar char="•"/>
            </a:pPr>
            <a:r>
              <a:rPr lang="en-US" dirty="0"/>
              <a:t>The authors use </a:t>
            </a:r>
            <a:r>
              <a:rPr lang="en-US" b="1" dirty="0"/>
              <a:t>statistical control</a:t>
            </a:r>
            <a:r>
              <a:rPr lang="en-US" dirty="0"/>
              <a:t> in the quality/measurement sense: relevant conditions and sources of variation must be known, controlled, measured, or reported well enough to interpret a result.</a:t>
            </a:r>
          </a:p>
          <a:p>
            <a:pPr marL="285750" lvl="0" indent="-285750">
              <a:buFont typeface="Arial" panose="020B0604020202020204" pitchFamily="34" charset="0"/>
              <a:buChar char="•"/>
            </a:pPr>
            <a:r>
              <a:rPr lang="en-US" dirty="0"/>
              <a:t>Repeatability and reproducibility are not automatic properties of code release or a fixed dataset. They depend on conditions remaining sufficiently stable and documented.</a:t>
            </a:r>
          </a:p>
          <a:p>
            <a:pPr marL="285750" lvl="0" indent="-285750">
              <a:buFont typeface="Arial" panose="020B0604020202020204" pitchFamily="34" charset="0"/>
              <a:buChar char="•"/>
            </a:pPr>
            <a:r>
              <a:rPr lang="en-US" dirty="0"/>
              <a:t>The paper separates uncertainty that can be statistically characterized from uncertainty that must be assessed through other evidence or may remain unknown.</a:t>
            </a:r>
          </a:p>
          <a:p>
            <a:pPr lvl="0"/>
            <a:endParaRPr lang="en-US" b="1" dirty="0">
              <a:solidFill>
                <a:srgbClr val="0070C0"/>
              </a:solidFill>
            </a:endParaRPr>
          </a:p>
        </p:txBody>
      </p:sp>
    </p:spTree>
    <p:extLst>
      <p:ext uri="{BB962C8B-B14F-4D97-AF65-F5344CB8AC3E}">
        <p14:creationId xmlns:p14="http://schemas.microsoft.com/office/powerpoint/2010/main" val="17094293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0D0AE-BEC6-E15E-8F06-C1FACC5C94C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771FD3-F5F0-72EB-E211-C6A6204D6A16}"/>
              </a:ext>
            </a:extLst>
          </p:cNvPr>
          <p:cNvSpPr>
            <a:spLocks noGrp="1"/>
          </p:cNvSpPr>
          <p:nvPr>
            <p:ph type="sldNum" sz="quarter" idx="12"/>
          </p:nvPr>
        </p:nvSpPr>
        <p:spPr/>
        <p:txBody>
          <a:bodyPr/>
          <a:lstStyle/>
          <a:p>
            <a:fld id="{659B2F21-D912-7541-8ED2-FD6ABD90B685}" type="slidenum">
              <a:rPr lang="en-US" smtClean="0"/>
              <a:t>24</a:t>
            </a:fld>
            <a:endParaRPr lang="en-US"/>
          </a:p>
        </p:txBody>
      </p:sp>
      <p:sp>
        <p:nvSpPr>
          <p:cNvPr id="5" name="TextBox 4">
            <a:extLst>
              <a:ext uri="{FF2B5EF4-FFF2-40B4-BE49-F238E27FC236}">
                <a16:creationId xmlns:a16="http://schemas.microsoft.com/office/drawing/2014/main" id="{8858DB7E-27FF-C9C9-14D3-5F1B91D0A02D}"/>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6" name="TextBox 5">
            <a:extLst>
              <a:ext uri="{FF2B5EF4-FFF2-40B4-BE49-F238E27FC236}">
                <a16:creationId xmlns:a16="http://schemas.microsoft.com/office/drawing/2014/main" id="{F669505E-8BD4-C927-AD35-54110F03CF25}"/>
              </a:ext>
            </a:extLst>
          </p:cNvPr>
          <p:cNvSpPr txBox="1"/>
          <p:nvPr/>
        </p:nvSpPr>
        <p:spPr>
          <a:xfrm>
            <a:off x="577850" y="1485900"/>
            <a:ext cx="10955866" cy="584775"/>
          </a:xfrm>
          <a:prstGeom prst="rect">
            <a:avLst/>
          </a:prstGeom>
          <a:noFill/>
        </p:spPr>
        <p:txBody>
          <a:bodyPr wrap="square">
            <a:spAutoFit/>
          </a:bodyPr>
          <a:lstStyle/>
          <a:p>
            <a:r>
              <a:rPr lang="en-US" sz="3200" b="1" dirty="0"/>
              <a:t>Classical Understanding and Assumption</a:t>
            </a:r>
          </a:p>
        </p:txBody>
      </p:sp>
      <p:sp>
        <p:nvSpPr>
          <p:cNvPr id="7" name="TextBox 6">
            <a:extLst>
              <a:ext uri="{FF2B5EF4-FFF2-40B4-BE49-F238E27FC236}">
                <a16:creationId xmlns:a16="http://schemas.microsoft.com/office/drawing/2014/main" id="{03212B4E-829E-D084-28D3-E05B6AD487A1}"/>
              </a:ext>
            </a:extLst>
          </p:cNvPr>
          <p:cNvSpPr txBox="1"/>
          <p:nvPr/>
        </p:nvSpPr>
        <p:spPr>
          <a:xfrm>
            <a:off x="577850" y="2226035"/>
            <a:ext cx="9939644" cy="954107"/>
          </a:xfrm>
          <a:prstGeom prst="rect">
            <a:avLst/>
          </a:prstGeom>
          <a:noFill/>
        </p:spPr>
        <p:txBody>
          <a:bodyPr wrap="none" rtlCol="0">
            <a:spAutoFit/>
          </a:bodyPr>
          <a:lstStyle/>
          <a:p>
            <a:pPr marL="457200" indent="-457200">
              <a:buFont typeface="Arial" panose="020B0604020202020204" pitchFamily="34" charset="0"/>
              <a:buChar char="•"/>
            </a:pPr>
            <a:r>
              <a:rPr lang="en-US" sz="2800" dirty="0"/>
              <a:t>Change one variable at a time, while holding others constant</a:t>
            </a:r>
          </a:p>
          <a:p>
            <a:pPr marL="457200" indent="-457200">
              <a:buFont typeface="Arial" panose="020B0604020202020204" pitchFamily="34" charset="0"/>
              <a:buChar char="•"/>
            </a:pPr>
            <a:r>
              <a:rPr lang="en-US" sz="2800" dirty="0"/>
              <a:t>Control is expected</a:t>
            </a:r>
          </a:p>
        </p:txBody>
      </p:sp>
      <p:sp>
        <p:nvSpPr>
          <p:cNvPr id="3" name="TextBox 2">
            <a:extLst>
              <a:ext uri="{FF2B5EF4-FFF2-40B4-BE49-F238E27FC236}">
                <a16:creationId xmlns:a16="http://schemas.microsoft.com/office/drawing/2014/main" id="{221086D0-8E55-67CF-B1CD-D113E9FE67CE}"/>
              </a:ext>
            </a:extLst>
          </p:cNvPr>
          <p:cNvSpPr txBox="1"/>
          <p:nvPr/>
        </p:nvSpPr>
        <p:spPr>
          <a:xfrm>
            <a:off x="577850" y="3289447"/>
            <a:ext cx="10955866" cy="584775"/>
          </a:xfrm>
          <a:prstGeom prst="rect">
            <a:avLst/>
          </a:prstGeom>
          <a:noFill/>
        </p:spPr>
        <p:txBody>
          <a:bodyPr wrap="square">
            <a:spAutoFit/>
          </a:bodyPr>
          <a:lstStyle/>
          <a:p>
            <a:r>
              <a:rPr lang="en-US" sz="3200" b="1" dirty="0"/>
              <a:t>Modern Understanding and Assumption</a:t>
            </a:r>
          </a:p>
        </p:txBody>
      </p:sp>
      <p:sp>
        <p:nvSpPr>
          <p:cNvPr id="8" name="TextBox 7">
            <a:extLst>
              <a:ext uri="{FF2B5EF4-FFF2-40B4-BE49-F238E27FC236}">
                <a16:creationId xmlns:a16="http://schemas.microsoft.com/office/drawing/2014/main" id="{D004C12E-666F-88EA-C1E0-FDE93886A938}"/>
              </a:ext>
            </a:extLst>
          </p:cNvPr>
          <p:cNvSpPr txBox="1"/>
          <p:nvPr/>
        </p:nvSpPr>
        <p:spPr>
          <a:xfrm>
            <a:off x="577851" y="4029583"/>
            <a:ext cx="11218666" cy="1384995"/>
          </a:xfrm>
          <a:prstGeom prst="rect">
            <a:avLst/>
          </a:prstGeom>
          <a:noFill/>
        </p:spPr>
        <p:txBody>
          <a:bodyPr wrap="square" rtlCol="0">
            <a:spAutoFit/>
          </a:bodyPr>
          <a:lstStyle/>
          <a:p>
            <a:pPr marL="457200" indent="-457200">
              <a:buFont typeface="Arial" panose="020B0604020202020204" pitchFamily="34" charset="0"/>
              <a:buChar char="•"/>
            </a:pPr>
            <a:r>
              <a:rPr lang="en-US" sz="2800" dirty="0"/>
              <a:t>There are dependencies—number of model parameters and template (embedding) size</a:t>
            </a:r>
          </a:p>
          <a:p>
            <a:pPr marL="457200" indent="-457200">
              <a:buFont typeface="Arial" panose="020B0604020202020204" pitchFamily="34" charset="0"/>
              <a:buChar char="•"/>
            </a:pPr>
            <a:r>
              <a:rPr lang="en-US" sz="2800" dirty="0"/>
              <a:t>There are factors that are difficult to control  </a:t>
            </a:r>
          </a:p>
        </p:txBody>
      </p:sp>
    </p:spTree>
    <p:extLst>
      <p:ext uri="{BB962C8B-B14F-4D97-AF65-F5344CB8AC3E}">
        <p14:creationId xmlns:p14="http://schemas.microsoft.com/office/powerpoint/2010/main" val="240373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3"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8CB5E-F14E-B3C6-21CC-5813CD71AE8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1E1F5F2-CDD1-0100-1687-39857BA2535A}"/>
              </a:ext>
            </a:extLst>
          </p:cNvPr>
          <p:cNvSpPr>
            <a:spLocks noGrp="1"/>
          </p:cNvSpPr>
          <p:nvPr>
            <p:ph type="sldNum" sz="quarter" idx="12"/>
          </p:nvPr>
        </p:nvSpPr>
        <p:spPr/>
        <p:txBody>
          <a:bodyPr/>
          <a:lstStyle/>
          <a:p>
            <a:fld id="{659B2F21-D912-7541-8ED2-FD6ABD90B685}" type="slidenum">
              <a:rPr lang="en-US" smtClean="0"/>
              <a:t>25</a:t>
            </a:fld>
            <a:endParaRPr lang="en-US"/>
          </a:p>
        </p:txBody>
      </p:sp>
      <p:sp>
        <p:nvSpPr>
          <p:cNvPr id="5" name="TextBox 4">
            <a:extLst>
              <a:ext uri="{FF2B5EF4-FFF2-40B4-BE49-F238E27FC236}">
                <a16:creationId xmlns:a16="http://schemas.microsoft.com/office/drawing/2014/main" id="{C8F56F4E-0C42-33D8-3FE0-86CCC0BC621D}"/>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D2C6B308-BDB0-BF79-63D4-A9639E77CBA7}"/>
              </a:ext>
            </a:extLst>
          </p:cNvPr>
          <p:cNvSpPr txBox="1"/>
          <p:nvPr/>
        </p:nvSpPr>
        <p:spPr>
          <a:xfrm>
            <a:off x="577850" y="1485900"/>
            <a:ext cx="10955866" cy="1077218"/>
          </a:xfrm>
          <a:prstGeom prst="rect">
            <a:avLst/>
          </a:prstGeom>
          <a:noFill/>
        </p:spPr>
        <p:txBody>
          <a:bodyPr wrap="square">
            <a:spAutoFit/>
          </a:bodyPr>
          <a:lstStyle/>
          <a:p>
            <a:r>
              <a:rPr lang="en-US" sz="3200" b="1" dirty="0"/>
              <a:t>Major points</a:t>
            </a:r>
            <a:br>
              <a:rPr lang="en-US" sz="3200" b="1" dirty="0"/>
            </a:br>
            <a:endParaRPr lang="en-US" sz="3200" b="1" dirty="0"/>
          </a:p>
        </p:txBody>
      </p:sp>
      <p:sp>
        <p:nvSpPr>
          <p:cNvPr id="10" name="TextBox 9">
            <a:extLst>
              <a:ext uri="{FF2B5EF4-FFF2-40B4-BE49-F238E27FC236}">
                <a16:creationId xmlns:a16="http://schemas.microsoft.com/office/drawing/2014/main" id="{E2F0FEC3-4329-6199-E652-144974175C4A}"/>
              </a:ext>
            </a:extLst>
          </p:cNvPr>
          <p:cNvSpPr txBox="1"/>
          <p:nvPr/>
        </p:nvSpPr>
        <p:spPr>
          <a:xfrm>
            <a:off x="1326777" y="2855123"/>
            <a:ext cx="9197787" cy="3877985"/>
          </a:xfrm>
          <a:prstGeom prst="rect">
            <a:avLst/>
          </a:prstGeom>
          <a:noFill/>
        </p:spPr>
        <p:txBody>
          <a:bodyPr wrap="square">
            <a:spAutoFit/>
          </a:bodyPr>
          <a:lstStyle/>
          <a:p>
            <a:pPr marL="457200" indent="-457200">
              <a:buFont typeface="+mj-lt"/>
              <a:buAutoNum type="alphaUcPeriod" startAt="4"/>
            </a:pPr>
            <a:r>
              <a:rPr lang="en-US" sz="2400" b="1" dirty="0"/>
              <a:t>Uncertainty has multiple sources, and confidence intervals are not enough</a:t>
            </a:r>
          </a:p>
          <a:p>
            <a:endParaRPr lang="en-US" sz="600" dirty="0"/>
          </a:p>
          <a:p>
            <a:pPr lvl="0"/>
            <a:r>
              <a:rPr lang="en-US" b="1" dirty="0">
                <a:solidFill>
                  <a:srgbClr val="0070C0"/>
                </a:solidFill>
              </a:rPr>
              <a:t>ISO/IEC “Guide to Expression of Uncertainty” (GUM)</a:t>
            </a:r>
          </a:p>
          <a:p>
            <a:pPr lvl="0"/>
            <a:endParaRPr lang="en-US" sz="600" b="1" dirty="0">
              <a:solidFill>
                <a:srgbClr val="0070C0"/>
              </a:solidFill>
            </a:endParaRPr>
          </a:p>
          <a:p>
            <a:pPr marL="342900" lvl="0" indent="-342900">
              <a:buAutoNum type="alphaLcParenBoth"/>
            </a:pPr>
            <a:r>
              <a:rPr lang="en-US" sz="1400" dirty="0"/>
              <a:t>incomplete deﬁnition of the measurand;</a:t>
            </a:r>
          </a:p>
          <a:p>
            <a:pPr marL="342900" lvl="0" indent="-342900">
              <a:buAutoNum type="alphaLcParenBoth"/>
            </a:pPr>
            <a:r>
              <a:rPr lang="en-US" sz="1400" dirty="0"/>
              <a:t>imperfect realization of the deﬁnition of the measurand;</a:t>
            </a:r>
          </a:p>
          <a:p>
            <a:pPr marL="342900" lvl="0" indent="-342900">
              <a:buAutoNum type="alphaLcParenBoth"/>
            </a:pPr>
            <a:r>
              <a:rPr lang="en-US" sz="1400" dirty="0"/>
              <a:t>non-representative sampling – the sample measured may not represent the deﬁned measurand;</a:t>
            </a:r>
          </a:p>
          <a:p>
            <a:pPr marL="342900" lvl="0" indent="-342900">
              <a:buAutoNum type="alphaLcParenBoth"/>
            </a:pPr>
            <a:r>
              <a:rPr lang="en-US" sz="1400" dirty="0"/>
              <a:t>inadequate knowledge of the effects of environmental conditions on the measurement or imperfect measurement of environmental conditions;</a:t>
            </a:r>
          </a:p>
          <a:p>
            <a:pPr marL="342900" lvl="0" indent="-342900">
              <a:buAutoNum type="alphaLcParenBoth"/>
            </a:pPr>
            <a:r>
              <a:rPr lang="en-US" sz="1400" dirty="0"/>
              <a:t>personal bias in reading analogue instruments;</a:t>
            </a:r>
          </a:p>
          <a:p>
            <a:pPr marL="342900" lvl="0" indent="-342900">
              <a:buAutoNum type="alphaLcParenBoth"/>
            </a:pPr>
            <a:r>
              <a:rPr lang="en-US" sz="1400" dirty="0"/>
              <a:t>ﬁnite instrument resolution or discrimination threshold;</a:t>
            </a:r>
          </a:p>
          <a:p>
            <a:pPr marL="342900" lvl="0" indent="-342900">
              <a:buAutoNum type="alphaLcParenBoth"/>
            </a:pPr>
            <a:r>
              <a:rPr lang="en-US" sz="1400" dirty="0"/>
              <a:t>inexact values of measurement standards and reference materials;</a:t>
            </a:r>
          </a:p>
          <a:p>
            <a:pPr marL="342900" lvl="0" indent="-342900">
              <a:buAutoNum type="alphaLcParenBoth"/>
            </a:pPr>
            <a:r>
              <a:rPr lang="en-US" sz="1400" dirty="0"/>
              <a:t>inexact values of constants and other parameters obtained from external sources and used in the data reduction algorithm;</a:t>
            </a:r>
          </a:p>
          <a:p>
            <a:pPr marL="342900" lvl="0" indent="-342900">
              <a:buAutoNum type="alphaLcParenBoth"/>
            </a:pPr>
            <a:r>
              <a:rPr lang="en-US" sz="1400" dirty="0"/>
              <a:t>approximations and assumptions incorporated in </a:t>
            </a:r>
            <a:r>
              <a:rPr lang="en-US" sz="1400" dirty="0" err="1"/>
              <a:t>themeasurement</a:t>
            </a:r>
            <a:r>
              <a:rPr lang="en-US" sz="1400" dirty="0"/>
              <a:t> method and procedure;</a:t>
            </a:r>
          </a:p>
          <a:p>
            <a:pPr marL="342900" lvl="0" indent="-342900">
              <a:buAutoNum type="alphaLcParenBoth"/>
            </a:pPr>
            <a:r>
              <a:rPr lang="en-US" sz="1400" dirty="0"/>
              <a:t>variations in repeated observations of the </a:t>
            </a:r>
            <a:r>
              <a:rPr lang="en-US" sz="1400" dirty="0" err="1"/>
              <a:t>measurandunder</a:t>
            </a:r>
            <a:r>
              <a:rPr lang="en-US" sz="1400" dirty="0"/>
              <a:t> apparently identical conditions</a:t>
            </a:r>
          </a:p>
        </p:txBody>
      </p:sp>
    </p:spTree>
    <p:extLst>
      <p:ext uri="{BB962C8B-B14F-4D97-AF65-F5344CB8AC3E}">
        <p14:creationId xmlns:p14="http://schemas.microsoft.com/office/powerpoint/2010/main" val="12505767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5FDE0-243E-2494-7EEE-D8CA7ABC698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D3FDF02-A178-279A-CF95-324DFDFF3F6B}"/>
              </a:ext>
            </a:extLst>
          </p:cNvPr>
          <p:cNvSpPr>
            <a:spLocks noGrp="1"/>
          </p:cNvSpPr>
          <p:nvPr>
            <p:ph type="sldNum" sz="quarter" idx="12"/>
          </p:nvPr>
        </p:nvSpPr>
        <p:spPr/>
        <p:txBody>
          <a:bodyPr/>
          <a:lstStyle/>
          <a:p>
            <a:fld id="{659B2F21-D912-7541-8ED2-FD6ABD90B685}" type="slidenum">
              <a:rPr lang="en-US" smtClean="0"/>
              <a:t>26</a:t>
            </a:fld>
            <a:endParaRPr lang="en-US"/>
          </a:p>
        </p:txBody>
      </p:sp>
      <p:sp>
        <p:nvSpPr>
          <p:cNvPr id="5" name="TextBox 4">
            <a:extLst>
              <a:ext uri="{FF2B5EF4-FFF2-40B4-BE49-F238E27FC236}">
                <a16:creationId xmlns:a16="http://schemas.microsoft.com/office/drawing/2014/main" id="{A431EEF6-E264-224E-42BA-CC6844E7226E}"/>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A1C6F842-3A60-6BF1-C88E-C144F3A49BF8}"/>
              </a:ext>
            </a:extLst>
          </p:cNvPr>
          <p:cNvSpPr txBox="1"/>
          <p:nvPr/>
        </p:nvSpPr>
        <p:spPr>
          <a:xfrm>
            <a:off x="577850" y="1485900"/>
            <a:ext cx="10955866" cy="1077218"/>
          </a:xfrm>
          <a:prstGeom prst="rect">
            <a:avLst/>
          </a:prstGeom>
          <a:noFill/>
        </p:spPr>
        <p:txBody>
          <a:bodyPr wrap="square">
            <a:spAutoFit/>
          </a:bodyPr>
          <a:lstStyle/>
          <a:p>
            <a:r>
              <a:rPr lang="en-US" sz="3200" b="1" dirty="0"/>
              <a:t>Major points</a:t>
            </a:r>
            <a:br>
              <a:rPr lang="en-US" sz="3200" b="1" dirty="0"/>
            </a:br>
            <a:endParaRPr lang="en-US" sz="3200" b="1" dirty="0"/>
          </a:p>
        </p:txBody>
      </p:sp>
      <p:sp>
        <p:nvSpPr>
          <p:cNvPr id="10" name="TextBox 9">
            <a:extLst>
              <a:ext uri="{FF2B5EF4-FFF2-40B4-BE49-F238E27FC236}">
                <a16:creationId xmlns:a16="http://schemas.microsoft.com/office/drawing/2014/main" id="{22A77FD0-9228-70D6-3096-56468A5657E0}"/>
              </a:ext>
            </a:extLst>
          </p:cNvPr>
          <p:cNvSpPr txBox="1"/>
          <p:nvPr/>
        </p:nvSpPr>
        <p:spPr>
          <a:xfrm>
            <a:off x="1326777" y="2165061"/>
            <a:ext cx="9197787" cy="830997"/>
          </a:xfrm>
          <a:prstGeom prst="rect">
            <a:avLst/>
          </a:prstGeom>
          <a:noFill/>
        </p:spPr>
        <p:txBody>
          <a:bodyPr wrap="square">
            <a:spAutoFit/>
          </a:bodyPr>
          <a:lstStyle/>
          <a:p>
            <a:pPr marL="457200" indent="-457200">
              <a:buFont typeface="+mj-lt"/>
              <a:buAutoNum type="alphaUcPeriod" startAt="5"/>
            </a:pPr>
            <a:r>
              <a:rPr lang="en-US" sz="2400" b="1" dirty="0"/>
              <a:t>Test type determines the meaning and scope of a claim</a:t>
            </a:r>
          </a:p>
          <a:p>
            <a:endParaRPr lang="en-US" sz="2400" b="1" dirty="0"/>
          </a:p>
        </p:txBody>
      </p:sp>
      <p:graphicFrame>
        <p:nvGraphicFramePr>
          <p:cNvPr id="2" name="Table 1">
            <a:extLst>
              <a:ext uri="{FF2B5EF4-FFF2-40B4-BE49-F238E27FC236}">
                <a16:creationId xmlns:a16="http://schemas.microsoft.com/office/drawing/2014/main" id="{5794FEF0-6434-ADFA-3202-9BD44848AD42}"/>
              </a:ext>
            </a:extLst>
          </p:cNvPr>
          <p:cNvGraphicFramePr>
            <a:graphicFrameLocks noGrp="1"/>
          </p:cNvGraphicFramePr>
          <p:nvPr>
            <p:extLst>
              <p:ext uri="{D42A27DB-BD31-4B8C-83A1-F6EECF244321}">
                <p14:modId xmlns:p14="http://schemas.microsoft.com/office/powerpoint/2010/main" val="409790059"/>
              </p:ext>
            </p:extLst>
          </p:nvPr>
        </p:nvGraphicFramePr>
        <p:xfrm>
          <a:off x="236806" y="2738087"/>
          <a:ext cx="11718388" cy="3632200"/>
        </p:xfrm>
        <a:graphic>
          <a:graphicData uri="http://schemas.openxmlformats.org/drawingml/2006/table">
            <a:tbl>
              <a:tblPr firstRow="1" bandRow="1">
                <a:tableStyleId>{5C22544A-7EE6-4342-B048-85BDC9FD1C3A}</a:tableStyleId>
              </a:tblPr>
              <a:tblGrid>
                <a:gridCol w="2929597">
                  <a:extLst>
                    <a:ext uri="{9D8B030D-6E8A-4147-A177-3AD203B41FA5}">
                      <a16:colId xmlns:a16="http://schemas.microsoft.com/office/drawing/2014/main" val="564607547"/>
                    </a:ext>
                  </a:extLst>
                </a:gridCol>
                <a:gridCol w="2929597">
                  <a:extLst>
                    <a:ext uri="{9D8B030D-6E8A-4147-A177-3AD203B41FA5}">
                      <a16:colId xmlns:a16="http://schemas.microsoft.com/office/drawing/2014/main" val="2128339096"/>
                    </a:ext>
                  </a:extLst>
                </a:gridCol>
                <a:gridCol w="2929597">
                  <a:extLst>
                    <a:ext uri="{9D8B030D-6E8A-4147-A177-3AD203B41FA5}">
                      <a16:colId xmlns:a16="http://schemas.microsoft.com/office/drawing/2014/main" val="2579596835"/>
                    </a:ext>
                  </a:extLst>
                </a:gridCol>
                <a:gridCol w="2929597">
                  <a:extLst>
                    <a:ext uri="{9D8B030D-6E8A-4147-A177-3AD203B41FA5}">
                      <a16:colId xmlns:a16="http://schemas.microsoft.com/office/drawing/2014/main" val="3459603475"/>
                    </a:ext>
                  </a:extLst>
                </a:gridCol>
              </a:tblGrid>
              <a:tr h="370840">
                <a:tc>
                  <a:txBody>
                    <a:bodyPr/>
                    <a:lstStyle/>
                    <a:p>
                      <a:r>
                        <a:rPr lang="en-US" sz="1400" dirty="0">
                          <a:solidFill>
                            <a:schemeClr val="tx1"/>
                          </a:solidFill>
                        </a:rPr>
                        <a:t>Test 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Primary Setting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What it can support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Main Caution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8842800"/>
                  </a:ext>
                </a:extLst>
              </a:tr>
              <a:tr h="370840">
                <a:tc>
                  <a:txBody>
                    <a:bodyPr/>
                    <a:lstStyle/>
                    <a:p>
                      <a:r>
                        <a:rPr lang="en-US" sz="1400" i="1" dirty="0">
                          <a:solidFill>
                            <a:schemeClr val="tx1"/>
                          </a:solidFill>
                        </a:rPr>
                        <a:t>Technology 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Controlled use of a pre-collected database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Characterization of a specific software/database/test configuration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It should not be treated as general real-world performance or as a result for the algorithm independent of the database and matching key.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162475"/>
                  </a:ext>
                </a:extLst>
              </a:tr>
              <a:tr h="370840">
                <a:tc>
                  <a:txBody>
                    <a:bodyPr/>
                    <a:lstStyle/>
                    <a:p>
                      <a:r>
                        <a:rPr lang="en-US" sz="1400" i="1" dirty="0">
                          <a:solidFill>
                            <a:schemeClr val="tx1"/>
                          </a:solidFill>
                        </a:rPr>
                        <a:t>Scenario 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Data collected from human subjects under a defined prototype application scenario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Performance of a complete system under the stated scenario conditions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Uncontrolled human, environmental, and threshold-feedback effects limit repeatability/reproducibility and generalization.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6878466"/>
                  </a:ext>
                </a:extLst>
              </a:tr>
              <a:tr h="370840">
                <a:tc>
                  <a:txBody>
                    <a:bodyPr/>
                    <a:lstStyle/>
                    <a:p>
                      <a:r>
                        <a:rPr lang="en-US" sz="1400" i="1" dirty="0">
                          <a:solidFill>
                            <a:schemeClr val="tx1"/>
                          </a:solidFill>
                        </a:rPr>
                        <a:t>Operational 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A real application environment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Evidence about the deployed process in that operation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Ground truth, user behavior, policy, non-biometric rejection reasons, and changing conditions complicate interpretation.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0193291"/>
                  </a:ext>
                </a:extLst>
              </a:tr>
            </a:tbl>
          </a:graphicData>
        </a:graphic>
      </p:graphicFrame>
    </p:spTree>
    <p:extLst>
      <p:ext uri="{BB962C8B-B14F-4D97-AF65-F5344CB8AC3E}">
        <p14:creationId xmlns:p14="http://schemas.microsoft.com/office/powerpoint/2010/main" val="2300292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0DA22-3062-F190-E686-DCAAAC88D0D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E379879-4896-48F1-9F5A-1771C339B3DA}"/>
              </a:ext>
            </a:extLst>
          </p:cNvPr>
          <p:cNvSpPr>
            <a:spLocks noGrp="1"/>
          </p:cNvSpPr>
          <p:nvPr>
            <p:ph type="sldNum" sz="quarter" idx="12"/>
          </p:nvPr>
        </p:nvSpPr>
        <p:spPr/>
        <p:txBody>
          <a:bodyPr/>
          <a:lstStyle/>
          <a:p>
            <a:fld id="{659B2F21-D912-7541-8ED2-FD6ABD90B685}" type="slidenum">
              <a:rPr lang="en-US" smtClean="0"/>
              <a:t>27</a:t>
            </a:fld>
            <a:endParaRPr lang="en-US"/>
          </a:p>
        </p:txBody>
      </p:sp>
      <p:sp>
        <p:nvSpPr>
          <p:cNvPr id="5" name="TextBox 4">
            <a:extLst>
              <a:ext uri="{FF2B5EF4-FFF2-40B4-BE49-F238E27FC236}">
                <a16:creationId xmlns:a16="http://schemas.microsoft.com/office/drawing/2014/main" id="{17F9B055-EDD3-7AC9-5C84-01AC1881529D}"/>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E2CEB557-B849-7099-4A25-6337B625D967}"/>
              </a:ext>
            </a:extLst>
          </p:cNvPr>
          <p:cNvSpPr txBox="1"/>
          <p:nvPr/>
        </p:nvSpPr>
        <p:spPr>
          <a:xfrm>
            <a:off x="577850" y="1485900"/>
            <a:ext cx="10955866" cy="1077218"/>
          </a:xfrm>
          <a:prstGeom prst="rect">
            <a:avLst/>
          </a:prstGeom>
          <a:noFill/>
        </p:spPr>
        <p:txBody>
          <a:bodyPr wrap="square">
            <a:spAutoFit/>
          </a:bodyPr>
          <a:lstStyle/>
          <a:p>
            <a:r>
              <a:rPr lang="en-US" sz="3200" b="1" dirty="0"/>
              <a:t>Major points</a:t>
            </a:r>
            <a:br>
              <a:rPr lang="en-US" sz="3200" b="1" dirty="0"/>
            </a:br>
            <a:endParaRPr lang="en-US" sz="3200" b="1" dirty="0"/>
          </a:p>
        </p:txBody>
      </p:sp>
      <p:sp>
        <p:nvSpPr>
          <p:cNvPr id="10" name="TextBox 9">
            <a:extLst>
              <a:ext uri="{FF2B5EF4-FFF2-40B4-BE49-F238E27FC236}">
                <a16:creationId xmlns:a16="http://schemas.microsoft.com/office/drawing/2014/main" id="{51BF2CA1-CBB5-5207-2C8D-BEB229667699}"/>
              </a:ext>
            </a:extLst>
          </p:cNvPr>
          <p:cNvSpPr txBox="1"/>
          <p:nvPr/>
        </p:nvSpPr>
        <p:spPr>
          <a:xfrm>
            <a:off x="1326777" y="2165061"/>
            <a:ext cx="9197787" cy="830997"/>
          </a:xfrm>
          <a:prstGeom prst="rect">
            <a:avLst/>
          </a:prstGeom>
          <a:noFill/>
        </p:spPr>
        <p:txBody>
          <a:bodyPr wrap="square">
            <a:spAutoFit/>
          </a:bodyPr>
          <a:lstStyle/>
          <a:p>
            <a:pPr marL="457200" indent="-457200">
              <a:buFont typeface="+mj-lt"/>
              <a:buAutoNum type="alphaUcPeriod" startAt="6"/>
            </a:pPr>
            <a:r>
              <a:rPr lang="en-US" sz="2400" b="1" dirty="0"/>
              <a:t>The scope of a result must be limited explicitly</a:t>
            </a:r>
          </a:p>
          <a:p>
            <a:endParaRPr lang="en-US" sz="2400" b="1" dirty="0"/>
          </a:p>
        </p:txBody>
      </p:sp>
      <p:sp>
        <p:nvSpPr>
          <p:cNvPr id="7" name="TextBox 6">
            <a:extLst>
              <a:ext uri="{FF2B5EF4-FFF2-40B4-BE49-F238E27FC236}">
                <a16:creationId xmlns:a16="http://schemas.microsoft.com/office/drawing/2014/main" id="{A2741EC5-1EF0-5662-551F-DC893743EA06}"/>
              </a:ext>
            </a:extLst>
          </p:cNvPr>
          <p:cNvSpPr txBox="1"/>
          <p:nvPr/>
        </p:nvSpPr>
        <p:spPr>
          <a:xfrm>
            <a:off x="1326777" y="3340775"/>
            <a:ext cx="8430064" cy="2031325"/>
          </a:xfrm>
          <a:prstGeom prst="rect">
            <a:avLst/>
          </a:prstGeom>
          <a:noFill/>
        </p:spPr>
        <p:txBody>
          <a:bodyPr wrap="square">
            <a:spAutoFit/>
          </a:bodyPr>
          <a:lstStyle/>
          <a:p>
            <a:pPr marL="342900" lvl="0" indent="-342900" algn="l">
              <a:buFont typeface="Arial" panose="020B0604020202020204" pitchFamily="34" charset="0"/>
              <a:buChar char="•"/>
            </a:pPr>
            <a:r>
              <a:rPr lang="en-US" sz="1800" b="0" i="0" dirty="0">
                <a:solidFill>
                  <a:schemeClr val="tx1"/>
                </a:solidFill>
                <a:effectLst/>
                <a:latin typeface="+mn-lt"/>
              </a:rPr>
              <a:t>The paper’s final recommendations emphasize documenting the test conditions, defining the measurand and proxies, discussing sources of systematic uncertainty, and limiting conclusions to the specific system, conditions, and purpose of the test.</a:t>
            </a:r>
          </a:p>
          <a:p>
            <a:pPr marL="342900" lvl="0" indent="-342900" algn="l">
              <a:buFont typeface="Arial" panose="020B0604020202020204" pitchFamily="34" charset="0"/>
              <a:buChar char="•"/>
            </a:pPr>
            <a:endParaRPr lang="en-US" sz="1800" b="0" i="0" dirty="0">
              <a:solidFill>
                <a:schemeClr val="tx1"/>
              </a:solidFill>
              <a:effectLst/>
              <a:latin typeface="+mn-lt"/>
            </a:endParaRPr>
          </a:p>
          <a:p>
            <a:pPr marL="342900" lvl="0" indent="-342900" algn="l">
              <a:buFont typeface="Arial" panose="020B0604020202020204" pitchFamily="34" charset="0"/>
              <a:buChar char="•"/>
            </a:pPr>
            <a:r>
              <a:rPr lang="en-US" sz="1800" b="0" i="0" dirty="0">
                <a:solidFill>
                  <a:schemeClr val="tx1"/>
                </a:solidFill>
                <a:effectLst/>
                <a:latin typeface="+mn-lt"/>
              </a:rPr>
              <a:t>This is not a call to abandon evaluation. It is a call to align the strength of the conclusion with the evidence collected.</a:t>
            </a:r>
            <a:endParaRPr lang="en-US" sz="1200" b="0" i="0" dirty="0">
              <a:solidFill>
                <a:srgbClr val="161C24"/>
              </a:solidFill>
              <a:effectLst/>
              <a:latin typeface="-apple-system"/>
            </a:endParaRPr>
          </a:p>
        </p:txBody>
      </p:sp>
    </p:spTree>
    <p:extLst>
      <p:ext uri="{BB962C8B-B14F-4D97-AF65-F5344CB8AC3E}">
        <p14:creationId xmlns:p14="http://schemas.microsoft.com/office/powerpoint/2010/main" val="2052656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FC4B9-DC2E-28B5-8937-E6C3CE3BB8C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CA8733-736D-8A40-10B4-780E511622FE}"/>
              </a:ext>
            </a:extLst>
          </p:cNvPr>
          <p:cNvSpPr>
            <a:spLocks noGrp="1"/>
          </p:cNvSpPr>
          <p:nvPr>
            <p:ph type="sldNum" sz="quarter" idx="12"/>
          </p:nvPr>
        </p:nvSpPr>
        <p:spPr/>
        <p:txBody>
          <a:bodyPr/>
          <a:lstStyle/>
          <a:p>
            <a:fld id="{659B2F21-D912-7541-8ED2-FD6ABD90B685}" type="slidenum">
              <a:rPr lang="en-US" smtClean="0"/>
              <a:t>28</a:t>
            </a:fld>
            <a:endParaRPr lang="en-US"/>
          </a:p>
        </p:txBody>
      </p:sp>
      <p:sp>
        <p:nvSpPr>
          <p:cNvPr id="5" name="TextBox 4">
            <a:extLst>
              <a:ext uri="{FF2B5EF4-FFF2-40B4-BE49-F238E27FC236}">
                <a16:creationId xmlns:a16="http://schemas.microsoft.com/office/drawing/2014/main" id="{65380BAF-AB82-47AD-65FE-701CF6E9EF61}"/>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DF25A997-68FA-AF9A-E3FB-C1E93111F1A5}"/>
              </a:ext>
            </a:extLst>
          </p:cNvPr>
          <p:cNvSpPr txBox="1"/>
          <p:nvPr/>
        </p:nvSpPr>
        <p:spPr>
          <a:xfrm>
            <a:off x="610351" y="1532067"/>
            <a:ext cx="10955866" cy="984885"/>
          </a:xfrm>
          <a:prstGeom prst="rect">
            <a:avLst/>
          </a:prstGeom>
          <a:noFill/>
        </p:spPr>
        <p:txBody>
          <a:bodyPr wrap="square">
            <a:spAutoFit/>
          </a:bodyPr>
          <a:lstStyle/>
          <a:p>
            <a:r>
              <a:rPr lang="en-US" sz="4000" dirty="0"/>
              <a:t>Where does the paper fall short?</a:t>
            </a:r>
            <a:br>
              <a:rPr lang="en-US" sz="3200" dirty="0"/>
            </a:br>
            <a:endParaRPr lang="en-US" dirty="0"/>
          </a:p>
        </p:txBody>
      </p:sp>
      <p:sp>
        <p:nvSpPr>
          <p:cNvPr id="7" name="TextBox 6">
            <a:extLst>
              <a:ext uri="{FF2B5EF4-FFF2-40B4-BE49-F238E27FC236}">
                <a16:creationId xmlns:a16="http://schemas.microsoft.com/office/drawing/2014/main" id="{6591DE23-106D-8CD6-E55C-BB8A611146FE}"/>
              </a:ext>
            </a:extLst>
          </p:cNvPr>
          <p:cNvSpPr txBox="1"/>
          <p:nvPr/>
        </p:nvSpPr>
        <p:spPr>
          <a:xfrm>
            <a:off x="356927" y="2389186"/>
            <a:ext cx="8111823" cy="3970318"/>
          </a:xfrm>
          <a:prstGeom prst="rect">
            <a:avLst/>
          </a:prstGeom>
          <a:noFill/>
        </p:spPr>
        <p:txBody>
          <a:bodyPr wrap="square" rtlCol="0">
            <a:spAutoFit/>
          </a:bodyPr>
          <a:lstStyle/>
          <a:p>
            <a:pPr marL="285750" lvl="0" indent="-285750">
              <a:buFont typeface="Arial" panose="020B0604020202020204" pitchFamily="34" charset="0"/>
              <a:buChar char="•"/>
            </a:pPr>
            <a:r>
              <a:rPr lang="en-US" b="1" dirty="0"/>
              <a:t>Limited ML Workflow</a:t>
            </a:r>
            <a:br>
              <a:rPr lang="en-US" dirty="0"/>
            </a:br>
            <a:r>
              <a:rPr lang="en-US" dirty="0"/>
              <a:t>Strong framework, but limited practical guidance for modern ML evaluation.</a:t>
            </a:r>
          </a:p>
          <a:p>
            <a:pPr marL="285750" lvl="0" indent="-285750">
              <a:buFont typeface="Arial" panose="020B0604020202020204" pitchFamily="34" charset="0"/>
              <a:buChar char="•"/>
            </a:pPr>
            <a:r>
              <a:rPr lang="en-US" b="1" dirty="0"/>
              <a:t>Pre-AI Era</a:t>
            </a:r>
            <a:br>
              <a:rPr lang="en-US" dirty="0"/>
            </a:br>
            <a:r>
              <a:rPr lang="en-US" dirty="0"/>
              <a:t>Does not address today’s data scale, pretraining, model selection, and benchmark leakage.</a:t>
            </a:r>
          </a:p>
          <a:p>
            <a:pPr marL="285750" lvl="0" indent="-285750">
              <a:buFont typeface="Arial" panose="020B0604020202020204" pitchFamily="34" charset="0"/>
              <a:buChar char="•"/>
            </a:pPr>
            <a:r>
              <a:rPr lang="en-US" b="1" dirty="0"/>
              <a:t>Fairness Uncertainty</a:t>
            </a:r>
            <a:br>
              <a:rPr lang="en-US" dirty="0"/>
            </a:br>
            <a:r>
              <a:rPr lang="en-US" dirty="0"/>
              <a:t>Limited treatment of subgroup, intersectional, and small-sample uncertainty.</a:t>
            </a:r>
          </a:p>
          <a:p>
            <a:pPr marL="285750" lvl="0" indent="-285750">
              <a:buFont typeface="Arial" panose="020B0604020202020204" pitchFamily="34" charset="0"/>
              <a:buChar char="•"/>
            </a:pPr>
            <a:r>
              <a:rPr lang="en-US" b="1" dirty="0"/>
              <a:t>Label Uncertainty</a:t>
            </a:r>
            <a:br>
              <a:rPr lang="en-US" dirty="0"/>
            </a:br>
            <a:r>
              <a:rPr lang="en-US" dirty="0"/>
              <a:t>Identifies label and matching-key errors without modern methods for quantifying them.</a:t>
            </a:r>
          </a:p>
          <a:p>
            <a:pPr marL="285750" lvl="0" indent="-285750">
              <a:buFont typeface="Arial" panose="020B0604020202020204" pitchFamily="34" charset="0"/>
              <a:buChar char="•"/>
            </a:pPr>
            <a:r>
              <a:rPr lang="en-US" b="1" dirty="0"/>
              <a:t>Hybrid Deployment Stages</a:t>
            </a:r>
            <a:br>
              <a:rPr lang="en-US" dirty="0"/>
            </a:br>
            <a:r>
              <a:rPr lang="en-US" dirty="0"/>
              <a:t>Technology, scenario, and operational tests often overlap in evolving systems.</a:t>
            </a:r>
          </a:p>
          <a:p>
            <a:pPr marL="285750" lvl="0" indent="-285750">
              <a:buFont typeface="Arial" panose="020B0604020202020204" pitchFamily="34" charset="0"/>
              <a:buChar char="•"/>
            </a:pPr>
            <a:r>
              <a:rPr lang="en-US" b="1" dirty="0"/>
              <a:t>Decision-Ready Uncertainty</a:t>
            </a:r>
            <a:br>
              <a:rPr lang="en-US" dirty="0"/>
            </a:br>
            <a:r>
              <a:rPr lang="en-US" dirty="0"/>
              <a:t>Does not specify what uncertainty is acceptable for a given application.</a:t>
            </a:r>
          </a:p>
        </p:txBody>
      </p:sp>
      <p:pic>
        <p:nvPicPr>
          <p:cNvPr id="2" name="Picture 1" descr="On estimating uncertainty of fingerprint enhancement models - ScienceDirect">
            <a:extLst>
              <a:ext uri="{FF2B5EF4-FFF2-40B4-BE49-F238E27FC236}">
                <a16:creationId xmlns:a16="http://schemas.microsoft.com/office/drawing/2014/main" id="{F8FABBBB-2B72-B727-89BD-2364BA2BEF8A}"/>
              </a:ext>
            </a:extLst>
          </p:cNvPr>
          <p:cNvPicPr>
            <a:picLocks noChangeAspect="1"/>
          </p:cNvPicPr>
          <p:nvPr/>
        </p:nvPicPr>
        <p:blipFill>
          <a:blip r:embed="rId3"/>
          <a:stretch>
            <a:fillRect/>
          </a:stretch>
        </p:blipFill>
        <p:spPr>
          <a:xfrm>
            <a:off x="8477996" y="2855124"/>
            <a:ext cx="3357077" cy="2470809"/>
          </a:xfrm>
          <a:prstGeom prst="rect">
            <a:avLst/>
          </a:prstGeom>
        </p:spPr>
      </p:pic>
    </p:spTree>
    <p:extLst>
      <p:ext uri="{BB962C8B-B14F-4D97-AF65-F5344CB8AC3E}">
        <p14:creationId xmlns:p14="http://schemas.microsoft.com/office/powerpoint/2010/main" val="1968591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DEE0E70-4B02-C809-EFDB-23B95BEAFE62}"/>
              </a:ext>
            </a:extLst>
          </p:cNvPr>
          <p:cNvSpPr>
            <a:spLocks noGrp="1"/>
          </p:cNvSpPr>
          <p:nvPr>
            <p:ph type="sldNum" sz="quarter" idx="12"/>
          </p:nvPr>
        </p:nvSpPr>
        <p:spPr/>
        <p:txBody>
          <a:bodyPr/>
          <a:lstStyle/>
          <a:p>
            <a:fld id="{659B2F21-D912-7541-8ED2-FD6ABD90B685}" type="slidenum">
              <a:rPr lang="en-US" smtClean="0"/>
              <a:t>29</a:t>
            </a:fld>
            <a:endParaRPr lang="en-US"/>
          </a:p>
        </p:txBody>
      </p:sp>
      <p:sp>
        <p:nvSpPr>
          <p:cNvPr id="5" name="TextBox 4">
            <a:extLst>
              <a:ext uri="{FF2B5EF4-FFF2-40B4-BE49-F238E27FC236}">
                <a16:creationId xmlns:a16="http://schemas.microsoft.com/office/drawing/2014/main" id="{A8ACD655-8594-A2CE-0479-E2D4BE969C2A}"/>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Project 1 (Baseline)  due Sept. 11</a:t>
            </a:r>
          </a:p>
        </p:txBody>
      </p:sp>
      <p:pic>
        <p:nvPicPr>
          <p:cNvPr id="2" name="Picture 1">
            <a:extLst>
              <a:ext uri="{FF2B5EF4-FFF2-40B4-BE49-F238E27FC236}">
                <a16:creationId xmlns:a16="http://schemas.microsoft.com/office/drawing/2014/main" id="{958FF16C-2B37-F463-D060-535877C4AEE1}"/>
              </a:ext>
            </a:extLst>
          </p:cNvPr>
          <p:cNvPicPr>
            <a:picLocks noChangeAspect="1"/>
          </p:cNvPicPr>
          <p:nvPr/>
        </p:nvPicPr>
        <p:blipFill>
          <a:blip r:embed="rId2"/>
          <a:stretch>
            <a:fillRect/>
          </a:stretch>
        </p:blipFill>
        <p:spPr>
          <a:xfrm>
            <a:off x="2974474" y="1217837"/>
            <a:ext cx="6227620" cy="5154154"/>
          </a:xfrm>
          <a:prstGeom prst="rect">
            <a:avLst/>
          </a:prstGeom>
        </p:spPr>
      </p:pic>
    </p:spTree>
    <p:extLst>
      <p:ext uri="{BB962C8B-B14F-4D97-AF65-F5344CB8AC3E}">
        <p14:creationId xmlns:p14="http://schemas.microsoft.com/office/powerpoint/2010/main" val="23558254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12913</TotalTime>
  <Words>3061</Words>
  <Application>Microsoft Macintosh PowerPoint</Application>
  <PresentationFormat>Widescreen</PresentationFormat>
  <Paragraphs>375</Paragraphs>
  <Slides>29</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-apple-system</vt:lpstr>
      <vt:lpstr>Aptos</vt:lpstr>
      <vt:lpstr>Aptos Display</vt:lpstr>
      <vt:lpstr>Arial</vt:lpstr>
      <vt:lpstr>Cambria Math</vt:lpstr>
      <vt:lpstr>Wingdings</vt:lpstr>
      <vt:lpstr>Office Theme</vt:lpstr>
      <vt:lpstr>Week 4  How Do We Know Whether a Biometric System is “Good”?  </vt:lpstr>
      <vt:lpstr>PowerPoint Presentation</vt:lpstr>
      <vt:lpstr>PowerPoint Presentation</vt:lpstr>
      <vt:lpstr>PowerPoint Presentation</vt:lpstr>
      <vt:lpstr>❌ High Accuracy ⇒ “Good”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Benjamin Riggan</dc:creator>
  <cp:lastModifiedBy>Benjamin Riggan</cp:lastModifiedBy>
  <cp:revision>15</cp:revision>
  <cp:lastPrinted>2026-08-18T04:07:25Z</cp:lastPrinted>
  <dcterms:created xsi:type="dcterms:W3CDTF">2026-08-14T10:03:12Z</dcterms:created>
  <dcterms:modified xsi:type="dcterms:W3CDTF">2026-09-10T19:55:03Z</dcterms:modified>
</cp:coreProperties>
</file>
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handoutMasterIdLst>
    <p:handoutMasterId r:id="rId36"/>
  </p:handoutMasterIdLst>
  <p:sldIdLst>
    <p:sldId id="256" r:id="rId2"/>
    <p:sldId id="258" r:id="rId3"/>
    <p:sldId id="259" r:id="rId4"/>
    <p:sldId id="350" r:id="rId5"/>
    <p:sldId id="351" r:id="rId6"/>
    <p:sldId id="352" r:id="rId7"/>
    <p:sldId id="354" r:id="rId8"/>
    <p:sldId id="355" r:id="rId9"/>
    <p:sldId id="356" r:id="rId10"/>
    <p:sldId id="357" r:id="rId11"/>
    <p:sldId id="358" r:id="rId12"/>
    <p:sldId id="359" r:id="rId13"/>
    <p:sldId id="360" r:id="rId14"/>
    <p:sldId id="361" r:id="rId15"/>
    <p:sldId id="365" r:id="rId16"/>
    <p:sldId id="362" r:id="rId17"/>
    <p:sldId id="363" r:id="rId18"/>
    <p:sldId id="364" r:id="rId19"/>
    <p:sldId id="290" r:id="rId20"/>
    <p:sldId id="293" r:id="rId21"/>
    <p:sldId id="366" r:id="rId22"/>
    <p:sldId id="291" r:id="rId23"/>
    <p:sldId id="367" r:id="rId24"/>
    <p:sldId id="322" r:id="rId25"/>
    <p:sldId id="368" r:id="rId26"/>
    <p:sldId id="369" r:id="rId27"/>
    <p:sldId id="370" r:id="rId28"/>
    <p:sldId id="295" r:id="rId29"/>
    <p:sldId id="371" r:id="rId30"/>
    <p:sldId id="372" r:id="rId31"/>
    <p:sldId id="373" r:id="rId32"/>
    <p:sldId id="374" r:id="rId33"/>
    <p:sldId id="34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5B263A-3634-4746-B7F1-E27656F98C03}">
          <p14:sldIdLst>
            <p14:sldId id="256"/>
          </p14:sldIdLst>
        </p14:section>
        <p14:section name="Intro" id="{0AB5F8BD-592F-7E48-832C-9830A19D6645}">
          <p14:sldIdLst>
            <p14:sldId id="258"/>
            <p14:sldId id="259"/>
            <p14:sldId id="350"/>
            <p14:sldId id="351"/>
            <p14:sldId id="352"/>
          </p14:sldIdLst>
        </p14:section>
        <p14:section name="Concept" id="{DA9AA48A-BF94-1445-B381-729A6E7D522F}">
          <p14:sldIdLst>
            <p14:sldId id="354"/>
            <p14:sldId id="355"/>
            <p14:sldId id="356"/>
            <p14:sldId id="357"/>
            <p14:sldId id="358"/>
            <p14:sldId id="359"/>
            <p14:sldId id="360"/>
            <p14:sldId id="361"/>
            <p14:sldId id="365"/>
            <p14:sldId id="362"/>
            <p14:sldId id="363"/>
            <p14:sldId id="364"/>
          </p14:sldIdLst>
        </p14:section>
        <p14:section name="Discussion" id="{3D959E87-38A9-B348-A864-94621CFDF8CE}">
          <p14:sldIdLst>
            <p14:sldId id="290"/>
            <p14:sldId id="293"/>
            <p14:sldId id="366"/>
            <p14:sldId id="291"/>
            <p14:sldId id="367"/>
            <p14:sldId id="322"/>
            <p14:sldId id="368"/>
            <p14:sldId id="369"/>
            <p14:sldId id="370"/>
            <p14:sldId id="295"/>
            <p14:sldId id="371"/>
            <p14:sldId id="372"/>
            <p14:sldId id="373"/>
            <p14:sldId id="374"/>
            <p14:sldId id="349"/>
          </p14:sldIdLst>
        </p14:section>
        <p14:section name="backup" id="{43E3BE12-2119-1E47-BA96-189CE7CD79B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0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14"/>
    <p:restoredTop sz="79315"/>
  </p:normalViewPr>
  <p:slideViewPr>
    <p:cSldViewPr snapToGrid="0">
      <p:cViewPr varScale="1">
        <p:scale>
          <a:sx n="95" d="100"/>
          <a:sy n="95" d="100"/>
        </p:scale>
        <p:origin x="1352" y="176"/>
      </p:cViewPr>
      <p:guideLst/>
    </p:cSldViewPr>
  </p:slideViewPr>
  <p:notesTextViewPr>
    <p:cViewPr>
      <p:scale>
        <a:sx n="1" d="1"/>
        <a:sy n="1" d="1"/>
      </p:scale>
      <p:origin x="0" y="0"/>
    </p:cViewPr>
  </p:notesTextViewPr>
  <p:notesViewPr>
    <p:cSldViewPr snapToGrid="0">
      <p:cViewPr varScale="1">
        <p:scale>
          <a:sx n="92" d="100"/>
          <a:sy n="92" d="100"/>
        </p:scale>
        <p:origin x="4072"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5C88B7-C264-7647-9589-53AD6A0F63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DA1F27B-3FF1-705C-8E2C-5B60BF9E41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89F5D9-08F9-8545-A07A-A0C0A16AC233}" type="datetimeFigureOut">
              <a:rPr lang="en-US" smtClean="0"/>
              <a:t>9/15/26</a:t>
            </a:fld>
            <a:endParaRPr lang="en-US"/>
          </a:p>
        </p:txBody>
      </p:sp>
      <p:sp>
        <p:nvSpPr>
          <p:cNvPr id="4" name="Footer Placeholder 3">
            <a:extLst>
              <a:ext uri="{FF2B5EF4-FFF2-40B4-BE49-F238E27FC236}">
                <a16:creationId xmlns:a16="http://schemas.microsoft.com/office/drawing/2014/main" id="{0D98AE4A-4862-0E87-E51C-2246BB65C7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A82A21-79EB-226D-516C-CABEFDC260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EEDDF4-667D-1547-9AF8-514A0169605C}" type="slidenum">
              <a:rPr lang="en-US" smtClean="0"/>
              <a:t>‹#›</a:t>
            </a:fld>
            <a:endParaRPr lang="en-US"/>
          </a:p>
        </p:txBody>
      </p:sp>
    </p:spTree>
    <p:extLst>
      <p:ext uri="{BB962C8B-B14F-4D97-AF65-F5344CB8AC3E}">
        <p14:creationId xmlns:p14="http://schemas.microsoft.com/office/powerpoint/2010/main" val="3675057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4269A-2CD6-4441-B83F-9F4344585B8B}"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7BD1F-0023-244E-A8FD-1ADCC0FAE1A1}" type="slidenum">
              <a:rPr lang="en-US" smtClean="0"/>
              <a:t>‹#›</a:t>
            </a:fld>
            <a:endParaRPr lang="en-US"/>
          </a:p>
        </p:txBody>
      </p:sp>
    </p:spTree>
    <p:extLst>
      <p:ext uri="{BB962C8B-B14F-4D97-AF65-F5344CB8AC3E}">
        <p14:creationId xmlns:p14="http://schemas.microsoft.com/office/powerpoint/2010/main" val="3468264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 Artificial Intelligence</a:t>
            </a:r>
            <a:br>
              <a:rPr lang="en-US" dirty="0"/>
            </a:br>
            <a:r>
              <a:rPr lang="en-US" dirty="0"/>
              <a:t>ML = Machine Learning</a:t>
            </a:r>
            <a:br>
              <a:rPr lang="en-US" dirty="0"/>
            </a:br>
            <a:r>
              <a:rPr lang="en-US" dirty="0"/>
              <a:t>CV = Computer Vision</a:t>
            </a:r>
          </a:p>
          <a:p>
            <a:r>
              <a:rPr lang="en-US" dirty="0"/>
              <a:t>DL = Deep learning</a:t>
            </a:r>
          </a:p>
        </p:txBody>
      </p:sp>
      <p:sp>
        <p:nvSpPr>
          <p:cNvPr id="4" name="Slide Number Placeholder 3"/>
          <p:cNvSpPr>
            <a:spLocks noGrp="1"/>
          </p:cNvSpPr>
          <p:nvPr>
            <p:ph type="sldNum" sz="quarter" idx="5"/>
          </p:nvPr>
        </p:nvSpPr>
        <p:spPr/>
        <p:txBody>
          <a:bodyPr/>
          <a:lstStyle/>
          <a:p>
            <a:fld id="{29E7BD1F-0023-244E-A8FD-1ADCC0FAE1A1}" type="slidenum">
              <a:rPr lang="en-US" smtClean="0"/>
              <a:t>2</a:t>
            </a:fld>
            <a:endParaRPr lang="en-US"/>
          </a:p>
        </p:txBody>
      </p:sp>
    </p:spTree>
    <p:extLst>
      <p:ext uri="{BB962C8B-B14F-4D97-AF65-F5344CB8AC3E}">
        <p14:creationId xmlns:p14="http://schemas.microsoft.com/office/powerpoint/2010/main" val="374780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&amp; Evaluation</a:t>
            </a:r>
            <a:br>
              <a:rPr lang="en-US" dirty="0"/>
            </a:br>
            <a:r>
              <a:rPr lang="en-US" dirty="0"/>
              <a:t>Explainability</a:t>
            </a:r>
            <a:br>
              <a:rPr lang="en-US" dirty="0"/>
            </a:br>
            <a:r>
              <a:rPr lang="en-US" dirty="0"/>
              <a:t>Insanity (?)</a:t>
            </a:r>
          </a:p>
        </p:txBody>
      </p:sp>
      <p:sp>
        <p:nvSpPr>
          <p:cNvPr id="4" name="Slide Number Placeholder 3"/>
          <p:cNvSpPr>
            <a:spLocks noGrp="1"/>
          </p:cNvSpPr>
          <p:nvPr>
            <p:ph type="sldNum" sz="quarter" idx="5"/>
          </p:nvPr>
        </p:nvSpPr>
        <p:spPr/>
        <p:txBody>
          <a:bodyPr/>
          <a:lstStyle/>
          <a:p>
            <a:fld id="{29E7BD1F-0023-244E-A8FD-1ADCC0FAE1A1}" type="slidenum">
              <a:rPr lang="en-US" smtClean="0"/>
              <a:t>3</a:t>
            </a:fld>
            <a:endParaRPr lang="en-US"/>
          </a:p>
        </p:txBody>
      </p:sp>
    </p:spTree>
    <p:extLst>
      <p:ext uri="{BB962C8B-B14F-4D97-AF65-F5344CB8AC3E}">
        <p14:creationId xmlns:p14="http://schemas.microsoft.com/office/powerpoint/2010/main" val="2398572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4945B-08DE-35AF-1A88-C48E825A0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F5E9F-D90A-25EC-D305-8C0A25DAF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4F93DC-8A10-5A56-4870-D875CD702DC4}"/>
              </a:ext>
            </a:extLst>
          </p:cNvPr>
          <p:cNvSpPr>
            <a:spLocks noGrp="1"/>
          </p:cNvSpPr>
          <p:nvPr>
            <p:ph type="body" idx="1"/>
          </p:nvPr>
        </p:nvSpPr>
        <p:spPr/>
        <p:txBody>
          <a:bodyPr/>
          <a:lstStyle/>
          <a:p>
            <a:pPr marL="228600" indent="-228600">
              <a:buAutoNum type="alphaUcPeriod"/>
            </a:pPr>
            <a:r>
              <a:rPr lang="en-US" dirty="0"/>
              <a:t>Is not a problem, unless pair with with an overparameterized model</a:t>
            </a:r>
          </a:p>
          <a:p>
            <a:pPr marL="228600" indent="-228600">
              <a:buAutoNum type="alphaUcPeriod"/>
            </a:pPr>
            <a:r>
              <a:rPr lang="en-US" dirty="0"/>
              <a:t>Is not bad from a general ML perspective.  </a:t>
            </a:r>
          </a:p>
          <a:p>
            <a:pPr marL="228600" indent="-228600">
              <a:buAutoNum type="alphaUcPeriod"/>
            </a:pPr>
            <a:r>
              <a:rPr lang="en-US" dirty="0"/>
              <a:t>Generally, not acceptable but is often violated in less subtle ways.</a:t>
            </a:r>
            <a:br>
              <a:rPr lang="en-US" dirty="0"/>
            </a:br>
            <a:br>
              <a:rPr lang="en-US" dirty="0"/>
            </a:br>
            <a:r>
              <a:rPr lang="en-US" dirty="0"/>
              <a:t>Example. PCA mean statistics or normalization captured using complete dataset (train &amp; test).</a:t>
            </a:r>
          </a:p>
          <a:p>
            <a:pPr marL="228600" indent="-228600">
              <a:buAutoNum type="alphaUcPeriod"/>
            </a:pPr>
            <a:endParaRPr lang="en-US" dirty="0"/>
          </a:p>
        </p:txBody>
      </p:sp>
      <p:sp>
        <p:nvSpPr>
          <p:cNvPr id="4" name="Slide Number Placeholder 3">
            <a:extLst>
              <a:ext uri="{FF2B5EF4-FFF2-40B4-BE49-F238E27FC236}">
                <a16:creationId xmlns:a16="http://schemas.microsoft.com/office/drawing/2014/main" id="{D1CA0195-F725-87E2-0452-10FE0E195086}"/>
              </a:ext>
            </a:extLst>
          </p:cNvPr>
          <p:cNvSpPr>
            <a:spLocks noGrp="1"/>
          </p:cNvSpPr>
          <p:nvPr>
            <p:ph type="sldNum" sz="quarter" idx="5"/>
          </p:nvPr>
        </p:nvSpPr>
        <p:spPr/>
        <p:txBody>
          <a:bodyPr/>
          <a:lstStyle/>
          <a:p>
            <a:fld id="{29E7BD1F-0023-244E-A8FD-1ADCC0FAE1A1}" type="slidenum">
              <a:rPr lang="en-US" smtClean="0"/>
              <a:t>4</a:t>
            </a:fld>
            <a:endParaRPr lang="en-US"/>
          </a:p>
        </p:txBody>
      </p:sp>
    </p:spTree>
    <p:extLst>
      <p:ext uri="{BB962C8B-B14F-4D97-AF65-F5344CB8AC3E}">
        <p14:creationId xmlns:p14="http://schemas.microsoft.com/office/powerpoint/2010/main" val="3225339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4C69-F7C8-818A-F100-79F352D34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A03F0-76F8-AAC2-0305-2868EEA54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C4629-866C-2FAE-C75A-F80B81A207D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Last week asked whether a system is “good.” This week asks whether an experiment can justify that answer.</a:t>
            </a:r>
          </a:p>
          <a:p>
            <a:br>
              <a:rPr lang="en-US" dirty="0"/>
            </a:br>
            <a:endParaRPr lang="en-US" dirty="0"/>
          </a:p>
        </p:txBody>
      </p:sp>
      <p:sp>
        <p:nvSpPr>
          <p:cNvPr id="4" name="Slide Number Placeholder 3">
            <a:extLst>
              <a:ext uri="{FF2B5EF4-FFF2-40B4-BE49-F238E27FC236}">
                <a16:creationId xmlns:a16="http://schemas.microsoft.com/office/drawing/2014/main" id="{2B0CBB88-BE4A-1BC3-068F-1E64F3012C42}"/>
              </a:ext>
            </a:extLst>
          </p:cNvPr>
          <p:cNvSpPr>
            <a:spLocks noGrp="1"/>
          </p:cNvSpPr>
          <p:nvPr>
            <p:ph type="sldNum" sz="quarter" idx="5"/>
          </p:nvPr>
        </p:nvSpPr>
        <p:spPr/>
        <p:txBody>
          <a:bodyPr/>
          <a:lstStyle/>
          <a:p>
            <a:fld id="{29E7BD1F-0023-244E-A8FD-1ADCC0FAE1A1}" type="slidenum">
              <a:rPr lang="en-US" smtClean="0"/>
              <a:t>5</a:t>
            </a:fld>
            <a:endParaRPr lang="en-US"/>
          </a:p>
        </p:txBody>
      </p:sp>
    </p:spTree>
    <p:extLst>
      <p:ext uri="{BB962C8B-B14F-4D97-AF65-F5344CB8AC3E}">
        <p14:creationId xmlns:p14="http://schemas.microsoft.com/office/powerpoint/2010/main" val="1054452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202B3-2FC2-0813-1013-5750F67C0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6752F-C568-7E86-B108-591071454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FA6ABA-994C-F88B-A164-E202E4F0FE62}"/>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Core claim</a:t>
            </a:r>
          </a:p>
          <a:p>
            <a:r>
              <a:rPr lang="en-US" sz="1200" b="0" i="0" kern="1200" dirty="0">
                <a:solidFill>
                  <a:schemeClr val="tx1"/>
                </a:solidFill>
                <a:effectLst/>
                <a:latin typeface="+mn-lt"/>
                <a:ea typeface="+mn-ea"/>
                <a:cs typeface="+mn-cs"/>
              </a:rPr>
              <a:t>A biometric benchmark is not merely a container of samples. Its </a:t>
            </a:r>
            <a:r>
              <a:rPr lang="en-US" sz="1200" b="1" i="0" kern="1200" dirty="0">
                <a:solidFill>
                  <a:schemeClr val="tx1"/>
                </a:solidFill>
                <a:effectLst/>
                <a:latin typeface="+mn-lt"/>
                <a:ea typeface="+mn-ea"/>
                <a:cs typeface="+mn-cs"/>
              </a:rPr>
              <a:t>population, capture process, labels, metadata, partitioning, and comparison protocol</a:t>
            </a:r>
            <a:r>
              <a:rPr lang="en-US" sz="1200" b="0" i="0" kern="1200" dirty="0">
                <a:solidFill>
                  <a:schemeClr val="tx1"/>
                </a:solidFill>
                <a:effectLst/>
                <a:latin typeface="+mn-lt"/>
                <a:ea typeface="+mn-ea"/>
                <a:cs typeface="+mn-cs"/>
              </a:rPr>
              <a:t> define what performance means.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Answer:</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none is sufficient alone. The answer depends on the claim being tested; report the structure, not only the headline count.</a:t>
            </a:r>
          </a:p>
          <a:p>
            <a:br>
              <a:rPr lang="en-US" dirty="0"/>
            </a:br>
            <a:endParaRPr lang="en-US" sz="1200" b="1" i="0" kern="1200" dirty="0">
              <a:solidFill>
                <a:schemeClr val="tx1"/>
              </a:solidFill>
              <a:effectLst/>
              <a:latin typeface="+mn-lt"/>
              <a:ea typeface="+mn-ea"/>
              <a:cs typeface="+mn-cs"/>
            </a:endParaRPr>
          </a:p>
          <a:p>
            <a:br>
              <a:rPr lang="en-US" dirty="0"/>
            </a:br>
            <a:endParaRPr lang="en-US" dirty="0"/>
          </a:p>
        </p:txBody>
      </p:sp>
      <p:sp>
        <p:nvSpPr>
          <p:cNvPr id="4" name="Slide Number Placeholder 3">
            <a:extLst>
              <a:ext uri="{FF2B5EF4-FFF2-40B4-BE49-F238E27FC236}">
                <a16:creationId xmlns:a16="http://schemas.microsoft.com/office/drawing/2014/main" id="{DF890AAF-AD12-271B-DDB7-9A9E12A081C3}"/>
              </a:ext>
            </a:extLst>
          </p:cNvPr>
          <p:cNvSpPr>
            <a:spLocks noGrp="1"/>
          </p:cNvSpPr>
          <p:nvPr>
            <p:ph type="sldNum" sz="quarter" idx="5"/>
          </p:nvPr>
        </p:nvSpPr>
        <p:spPr/>
        <p:txBody>
          <a:bodyPr/>
          <a:lstStyle/>
          <a:p>
            <a:fld id="{29E7BD1F-0023-244E-A8FD-1ADCC0FAE1A1}" type="slidenum">
              <a:rPr lang="en-US" smtClean="0"/>
              <a:t>6</a:t>
            </a:fld>
            <a:endParaRPr lang="en-US"/>
          </a:p>
        </p:txBody>
      </p:sp>
    </p:spTree>
    <p:extLst>
      <p:ext uri="{BB962C8B-B14F-4D97-AF65-F5344CB8AC3E}">
        <p14:creationId xmlns:p14="http://schemas.microsoft.com/office/powerpoint/2010/main" val="3489732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B0E45-46C5-E7B0-3403-6614D013D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F517E-A230-6EF0-43F9-5122FBF0E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87E73-314B-AD43-CE36-648395C9CA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B3D007-0C77-881F-6CD4-2A9D32EF2D1B}"/>
              </a:ext>
            </a:extLst>
          </p:cNvPr>
          <p:cNvSpPr>
            <a:spLocks noGrp="1"/>
          </p:cNvSpPr>
          <p:nvPr>
            <p:ph type="sldNum" sz="quarter" idx="5"/>
          </p:nvPr>
        </p:nvSpPr>
        <p:spPr/>
        <p:txBody>
          <a:bodyPr/>
          <a:lstStyle/>
          <a:p>
            <a:fld id="{29E7BD1F-0023-244E-A8FD-1ADCC0FAE1A1}" type="slidenum">
              <a:rPr lang="en-US" smtClean="0"/>
              <a:t>7</a:t>
            </a:fld>
            <a:endParaRPr lang="en-US"/>
          </a:p>
        </p:txBody>
      </p:sp>
    </p:spTree>
    <p:extLst>
      <p:ext uri="{BB962C8B-B14F-4D97-AF65-F5344CB8AC3E}">
        <p14:creationId xmlns:p14="http://schemas.microsoft.com/office/powerpoint/2010/main" val="3794546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AD9A6-2F79-34F7-9503-934853921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34A6C-DDE3-8BCF-A671-B4CF32BFC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8D9542-C7CA-B77E-E7EF-BAF5A97ED760}"/>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Key distinction: target versus observed population</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Target population:</a:t>
            </a:r>
            <a:r>
              <a:rPr lang="en-US" sz="1200" b="0" i="0" kern="1200" dirty="0">
                <a:solidFill>
                  <a:schemeClr val="tx1"/>
                </a:solidFill>
                <a:effectLst/>
                <a:latin typeface="+mn-lt"/>
                <a:ea typeface="+mn-ea"/>
                <a:cs typeface="+mn-cs"/>
              </a:rPr>
              <a:t> the people, sensors, environments, and time period to which you want to generalize.</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Study population:</a:t>
            </a:r>
            <a:r>
              <a:rPr lang="en-US" sz="1200" b="0" i="0" kern="1200" dirty="0">
                <a:solidFill>
                  <a:schemeClr val="tx1"/>
                </a:solidFill>
                <a:effectLst/>
                <a:latin typeface="+mn-lt"/>
                <a:ea typeface="+mn-ea"/>
                <a:cs typeface="+mn-cs"/>
              </a:rPr>
              <a:t> the cases that could actually be sampled.</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Evaluation sample:</a:t>
            </a:r>
            <a:r>
              <a:rPr lang="en-US" sz="1200" b="0" i="0" kern="1200" dirty="0">
                <a:solidFill>
                  <a:schemeClr val="tx1"/>
                </a:solidFill>
                <a:effectLst/>
                <a:latin typeface="+mn-lt"/>
                <a:ea typeface="+mn-ea"/>
                <a:cs typeface="+mn-cs"/>
              </a:rPr>
              <a:t> the data actually included in the test protocol.</a:t>
            </a:r>
          </a:p>
          <a:p>
            <a:endParaRPr lang="en-US" dirty="0"/>
          </a:p>
          <a:p>
            <a:r>
              <a:rPr lang="en-US" b="1" dirty="0"/>
              <a:t>Question: </a:t>
            </a:r>
            <a:r>
              <a:rPr lang="en-US" b="0" dirty="0"/>
              <a:t>If a claim says “works across demographics,” what information must a protocol define before that claim is capable of being assessed, analyzed, or evaluated?</a:t>
            </a:r>
            <a:br>
              <a:rPr lang="en-US" b="0" dirty="0"/>
            </a:br>
            <a:br>
              <a:rPr lang="en-US" b="0" dirty="0"/>
            </a:br>
            <a:r>
              <a:rPr lang="en-US" b="1" dirty="0"/>
              <a:t>Answer</a:t>
            </a:r>
            <a:r>
              <a:rPr lang="en-US" b="0" dirty="0"/>
              <a:t>: </a:t>
            </a:r>
            <a:r>
              <a:rPr lang="en-US" sz="1200" b="0" i="0" kern="1200" dirty="0">
                <a:solidFill>
                  <a:schemeClr val="tx1"/>
                </a:solidFill>
                <a:effectLst/>
                <a:latin typeface="+mn-lt"/>
                <a:ea typeface="+mn-ea"/>
                <a:cs typeface="+mn-cs"/>
              </a:rPr>
              <a:t>attributes, sampling frame, inclusion criteria, label provenance, sample size, task, metric, and uncertainty</a:t>
            </a:r>
            <a:endParaRPr lang="en-US" b="1" dirty="0"/>
          </a:p>
        </p:txBody>
      </p:sp>
      <p:sp>
        <p:nvSpPr>
          <p:cNvPr id="4" name="Slide Number Placeholder 3">
            <a:extLst>
              <a:ext uri="{FF2B5EF4-FFF2-40B4-BE49-F238E27FC236}">
                <a16:creationId xmlns:a16="http://schemas.microsoft.com/office/drawing/2014/main" id="{D50F25DB-6BC5-8616-6111-500CC2273399}"/>
              </a:ext>
            </a:extLst>
          </p:cNvPr>
          <p:cNvSpPr>
            <a:spLocks noGrp="1"/>
          </p:cNvSpPr>
          <p:nvPr>
            <p:ph type="sldNum" sz="quarter" idx="5"/>
          </p:nvPr>
        </p:nvSpPr>
        <p:spPr/>
        <p:txBody>
          <a:bodyPr/>
          <a:lstStyle/>
          <a:p>
            <a:fld id="{29E7BD1F-0023-244E-A8FD-1ADCC0FAE1A1}" type="slidenum">
              <a:rPr lang="en-US" smtClean="0"/>
              <a:t>8</a:t>
            </a:fld>
            <a:endParaRPr lang="en-US"/>
          </a:p>
        </p:txBody>
      </p:sp>
    </p:spTree>
    <p:extLst>
      <p:ext uri="{BB962C8B-B14F-4D97-AF65-F5344CB8AC3E}">
        <p14:creationId xmlns:p14="http://schemas.microsoft.com/office/powerpoint/2010/main" val="2557939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02F90-3987-E76F-7CE9-FF4091AC8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C71E5-9C4C-002C-B8D1-D2247F6BB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557583-E0D3-5D0E-14AA-ED2DBCE3B9D0}"/>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Example: </a:t>
            </a:r>
            <a:r>
              <a:rPr lang="en-US" sz="1200" b="0" i="0" kern="1200" dirty="0">
                <a:solidFill>
                  <a:schemeClr val="tx1"/>
                </a:solidFill>
                <a:effectLst/>
                <a:latin typeface="+mn-lt"/>
                <a:ea typeface="+mn-ea"/>
                <a:cs typeface="+mn-cs"/>
              </a:rPr>
              <a:t>A dataset has 500 identities, each with 20 images from one 10-minute session. Is a random image-level split suitable evidence for “robust recognition over time”?</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 No. It may be suitable for a narrowly defined within-session test, but it does not test time variation.</a:t>
            </a:r>
          </a:p>
          <a:p>
            <a:endParaRPr lang="en-US" dirty="0"/>
          </a:p>
        </p:txBody>
      </p:sp>
      <p:sp>
        <p:nvSpPr>
          <p:cNvPr id="4" name="Slide Number Placeholder 3">
            <a:extLst>
              <a:ext uri="{FF2B5EF4-FFF2-40B4-BE49-F238E27FC236}">
                <a16:creationId xmlns:a16="http://schemas.microsoft.com/office/drawing/2014/main" id="{90B3B341-047F-E6AC-3129-9FF3F3257F82}"/>
              </a:ext>
            </a:extLst>
          </p:cNvPr>
          <p:cNvSpPr>
            <a:spLocks noGrp="1"/>
          </p:cNvSpPr>
          <p:nvPr>
            <p:ph type="sldNum" sz="quarter" idx="5"/>
          </p:nvPr>
        </p:nvSpPr>
        <p:spPr/>
        <p:txBody>
          <a:bodyPr/>
          <a:lstStyle/>
          <a:p>
            <a:fld id="{29E7BD1F-0023-244E-A8FD-1ADCC0FAE1A1}" type="slidenum">
              <a:rPr lang="en-US" smtClean="0"/>
              <a:t>9</a:t>
            </a:fld>
            <a:endParaRPr lang="en-US"/>
          </a:p>
        </p:txBody>
      </p:sp>
    </p:spTree>
    <p:extLst>
      <p:ext uri="{BB962C8B-B14F-4D97-AF65-F5344CB8AC3E}">
        <p14:creationId xmlns:p14="http://schemas.microsoft.com/office/powerpoint/2010/main" val="1042162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5649C-14D0-F1B8-A48F-467DE4972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0EE7B-B8DF-9560-8B0A-7117FDDBA469}"/>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1E42C001-F102-A385-D1A4-931EB50355BC}"/>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Hierarchical structure of biometric data</a:t>
                </a:r>
              </a:p>
              <a:p>
                <a:pPr/>
                <a14:m>
                  <m:oMathPara xmlns:m="http://schemas.openxmlformats.org/officeDocument/2006/math">
                    <m:oMathParaPr>
                      <m:jc m:val="left"/>
                    </m:oMathParaPr>
                    <m:oMath>
                      <m:r>
                        <m:rPr>
                          <m:nor/>
                        </m:rPr>
                        <a:rPr lang="en-US" b="0" i="0"/>
                        <m:t>population</m:t>
                      </m:r>
                      <m:r>
                        <a:rPr lang="en-US" sz="1200" b="0" i="0" kern="1200">
                          <a:solidFill>
                            <a:schemeClr val="tx1"/>
                          </a:solidFill>
                          <a:latin typeface="+mn-lt"/>
                          <a:ea typeface="+mn-ea"/>
                          <a:cs typeface="+mn-cs"/>
                        </a:rPr>
                        <m:t>⊃</m:t>
                      </m:r>
                      <m:r>
                        <m:rPr>
                          <m:nor/>
                        </m:rPr>
                        <a:rPr lang="en-US" sz="1200" b="0" i="0" kern="1200">
                          <a:solidFill>
                            <a:schemeClr val="tx1"/>
                          </a:solidFill>
                          <a:latin typeface="+mn-lt"/>
                          <a:ea typeface="+mn-ea"/>
                          <a:cs typeface="+mn-cs"/>
                        </a:rPr>
                        <m:t>subjects</m:t>
                      </m:r>
                      <m:r>
                        <a:rPr lang="en-US" sz="1200" b="0" i="0" kern="1200">
                          <a:solidFill>
                            <a:schemeClr val="tx1"/>
                          </a:solidFill>
                          <a:latin typeface="+mn-lt"/>
                          <a:ea typeface="+mn-ea"/>
                          <a:cs typeface="+mn-cs"/>
                        </a:rPr>
                        <m:t>⊃</m:t>
                      </m:r>
                      <m:r>
                        <m:rPr>
                          <m:nor/>
                        </m:rPr>
                        <a:rPr lang="en-US" sz="1200" b="0" i="0" kern="1200">
                          <a:solidFill>
                            <a:schemeClr val="tx1"/>
                          </a:solidFill>
                          <a:latin typeface="+mn-lt"/>
                          <a:ea typeface="+mn-ea"/>
                          <a:cs typeface="+mn-cs"/>
                        </a:rPr>
                        <m:t>sessions</m:t>
                      </m:r>
                      <m:r>
                        <a:rPr lang="en-US" sz="1200" b="0" i="0" kern="1200">
                          <a:solidFill>
                            <a:schemeClr val="tx1"/>
                          </a:solidFill>
                          <a:latin typeface="+mn-lt"/>
                          <a:ea typeface="+mn-ea"/>
                          <a:cs typeface="+mn-cs"/>
                        </a:rPr>
                        <m:t>⊃</m:t>
                      </m:r>
                      <m:r>
                        <m:rPr>
                          <m:nor/>
                        </m:rPr>
                        <a:rPr lang="en-US" sz="1200" b="0" i="0" kern="1200">
                          <a:solidFill>
                            <a:schemeClr val="tx1"/>
                          </a:solidFill>
                          <a:latin typeface="+mn-lt"/>
                          <a:ea typeface="+mn-ea"/>
                          <a:cs typeface="+mn-cs"/>
                        </a:rPr>
                        <m:t>captures</m:t>
                      </m:r>
                      <m:r>
                        <a:rPr lang="en-US" sz="1200" b="0" i="0" kern="1200">
                          <a:solidFill>
                            <a:schemeClr val="tx1"/>
                          </a:solidFill>
                          <a:latin typeface="+mn-lt"/>
                          <a:ea typeface="+mn-ea"/>
                          <a:cs typeface="+mn-cs"/>
                        </a:rPr>
                        <m:t>⊃</m:t>
                      </m:r>
                      <m:r>
                        <m:rPr>
                          <m:nor/>
                        </m:rPr>
                        <a:rPr lang="en-US" sz="1200" b="0" i="0" kern="1200">
                          <a:solidFill>
                            <a:schemeClr val="tx1"/>
                          </a:solidFill>
                          <a:latin typeface="+mn-lt"/>
                          <a:ea typeface="+mn-ea"/>
                          <a:cs typeface="+mn-cs"/>
                        </a:rPr>
                        <m:t>derived samples / comparisons</m:t>
                      </m:r>
                    </m:oMath>
                  </m:oMathPara>
                </a14:m>
                <a:endParaRPr lang="en-US" sz="1200" b="0" i="0" kern="1200" dirty="0">
                  <a:solidFill>
                    <a:schemeClr val="tx1"/>
                  </a:solidFill>
                  <a:effectLst/>
                  <a:latin typeface="+mn-lt"/>
                  <a:ea typeface="+mn-ea"/>
                  <a:cs typeface="+mn-cs"/>
                </a:endParaRP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Images of one person, frames from one video, or captures from one session commonly share nuisance factors: identity, pose, illumination, sensor behavior, operator, background, and time.</a:t>
                </a:r>
              </a:p>
              <a:p>
                <a:endParaRPr lang="en-US" dirty="0"/>
              </a:p>
              <a:p>
                <a:r>
                  <a:rPr lang="en-US" sz="1200" b="1" i="0" kern="1200" dirty="0">
                    <a:solidFill>
                      <a:schemeClr val="tx1"/>
                    </a:solidFill>
                    <a:effectLst/>
                    <a:latin typeface="+mn-lt"/>
                    <a:ea typeface="+mn-ea"/>
                    <a:cs typeface="+mn-cs"/>
                  </a:rPr>
                  <a:t>Consequence</a:t>
                </a:r>
              </a:p>
              <a:p>
                <a:r>
                  <a:rPr lang="en-US" sz="1200" b="0" i="0" kern="1200" dirty="0">
                    <a:solidFill>
                      <a:schemeClr val="tx1"/>
                    </a:solidFill>
                    <a:effectLst/>
                    <a:latin typeface="+mn-lt"/>
                    <a:ea typeface="+mn-ea"/>
                    <a:cs typeface="+mn-cs"/>
                  </a:rPr>
                  <a:t>Treating correlated samples as independent can yield overly optimistic performance estimates and overly narrow uncertainty intervals.</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The central split rule</a:t>
                </a:r>
              </a:p>
              <a:p>
                <a:r>
                  <a:rPr lang="en-US" sz="1200" b="0" i="0" kern="1200" dirty="0">
                    <a:solidFill>
                      <a:schemeClr val="tx1"/>
                    </a:solidFill>
                    <a:effectLst/>
                    <a:latin typeface="+mn-lt"/>
                    <a:ea typeface="+mn-ea"/>
                    <a:cs typeface="+mn-cs"/>
                  </a:rPr>
                  <a:t>Partition at the highest level that could transmit information from development to evaluation for the claim you are making.</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Examples:</a:t>
                </a:r>
              </a:p>
              <a:p>
                <a:pPr lvl="0"/>
                <a:r>
                  <a:rPr lang="en-US" sz="1200" b="0" i="0" kern="1200" dirty="0">
                    <a:solidFill>
                      <a:schemeClr val="tx1"/>
                    </a:solidFill>
                    <a:effectLst/>
                    <a:latin typeface="+mn-lt"/>
                    <a:ea typeface="+mn-ea"/>
                    <a:cs typeface="+mn-cs"/>
                  </a:rPr>
                  <a:t>Identity-disjoint split for generalization to new people.</a:t>
                </a:r>
              </a:p>
              <a:p>
                <a:pPr lvl="0"/>
                <a:r>
                  <a:rPr lang="en-US" sz="1200" b="0" i="0" kern="1200" dirty="0">
                    <a:solidFill>
                      <a:schemeClr val="tx1"/>
                    </a:solidFill>
                    <a:effectLst/>
                    <a:latin typeface="+mn-lt"/>
                    <a:ea typeface="+mn-ea"/>
                    <a:cs typeface="+mn-cs"/>
                  </a:rPr>
                  <a:t>Session-disjoint split for new acquisition episodes.</a:t>
                </a:r>
              </a:p>
              <a:p>
                <a:pPr lvl="0"/>
                <a:r>
                  <a:rPr lang="en-US" sz="1200" b="0" i="0" kern="1200" dirty="0">
                    <a:solidFill>
                      <a:schemeClr val="tx1"/>
                    </a:solidFill>
                    <a:effectLst/>
                    <a:latin typeface="+mn-lt"/>
                    <a:ea typeface="+mn-ea"/>
                    <a:cs typeface="+mn-cs"/>
                  </a:rPr>
                  <a:t>Sensor- or site-disjoint split for deployment at new devices or locations.</a:t>
                </a:r>
              </a:p>
              <a:p>
                <a:pPr lvl="0"/>
                <a:r>
                  <a:rPr lang="en-US" sz="1200" b="0" i="0" kern="1200" dirty="0">
                    <a:solidFill>
                      <a:schemeClr val="tx1"/>
                    </a:solidFill>
                    <a:effectLst/>
                    <a:latin typeface="+mn-lt"/>
                    <a:ea typeface="+mn-ea"/>
                    <a:cs typeface="+mn-cs"/>
                  </a:rPr>
                  <a:t>Time-disjoint split for future deployment.</a:t>
                </a:r>
              </a:p>
              <a:p>
                <a:endParaRPr lang="en-US" dirty="0"/>
              </a:p>
            </p:txBody>
          </p:sp>
        </mc:Choice>
        <mc:Fallback>
          <p:sp>
            <p:nvSpPr>
              <p:cNvPr id="3" name="Notes Placeholder 2">
                <a:extLst>
                  <a:ext uri="{FF2B5EF4-FFF2-40B4-BE49-F238E27FC236}">
                    <a16:creationId xmlns:a16="http://schemas.microsoft.com/office/drawing/2014/main" id="{1E42C001-F102-A385-D1A4-931EB50355BC}"/>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Hierarchical structure of biometric data</a:t>
                </a:r>
              </a:p>
              <a:p>
                <a:pPr/>
                <a:r>
                  <a:rPr lang="en-US" b="0" i="0">
                    <a:latin typeface="Cambria Math" panose="02040503050406030204" pitchFamily="18" charset="0"/>
                  </a:rPr>
                  <a:t>"population</a:t>
                </a:r>
                <a:r>
                  <a:rPr lang="en-US" sz="1200" b="0" i="0" kern="1200">
                    <a:solidFill>
                      <a:schemeClr val="tx1"/>
                    </a:solidFill>
                    <a:latin typeface="+mn-lt"/>
                    <a:ea typeface="+mn-ea"/>
                    <a:cs typeface="+mn-cs"/>
                  </a:rPr>
                  <a:t>"⊃</a:t>
                </a:r>
                <a:r>
                  <a:rPr lang="en-US" sz="1200" b="0" i="0" kern="1200">
                    <a:solidFill>
                      <a:schemeClr val="tx1"/>
                    </a:solidFill>
                    <a:latin typeface="Cambria Math" panose="02040503050406030204" pitchFamily="18" charset="0"/>
                    <a:ea typeface="+mn-ea"/>
                    <a:cs typeface="+mn-cs"/>
                  </a:rPr>
                  <a:t>"subjects</a:t>
                </a:r>
                <a:r>
                  <a:rPr lang="en-US" sz="1200" b="0" i="0" kern="1200">
                    <a:solidFill>
                      <a:schemeClr val="tx1"/>
                    </a:solidFill>
                    <a:latin typeface="+mn-lt"/>
                    <a:ea typeface="+mn-ea"/>
                    <a:cs typeface="+mn-cs"/>
                  </a:rPr>
                  <a:t>"⊃</a:t>
                </a:r>
                <a:r>
                  <a:rPr lang="en-US" sz="1200" b="0" i="0" kern="1200">
                    <a:solidFill>
                      <a:schemeClr val="tx1"/>
                    </a:solidFill>
                    <a:latin typeface="Cambria Math" panose="02040503050406030204" pitchFamily="18" charset="0"/>
                    <a:ea typeface="+mn-ea"/>
                    <a:cs typeface="+mn-cs"/>
                  </a:rPr>
                  <a:t>"sessions</a:t>
                </a:r>
                <a:r>
                  <a:rPr lang="en-US" sz="1200" b="0" i="0" kern="1200">
                    <a:solidFill>
                      <a:schemeClr val="tx1"/>
                    </a:solidFill>
                    <a:latin typeface="+mn-lt"/>
                    <a:ea typeface="+mn-ea"/>
                    <a:cs typeface="+mn-cs"/>
                  </a:rPr>
                  <a:t>"⊃</a:t>
                </a:r>
                <a:r>
                  <a:rPr lang="en-US" sz="1200" b="0" i="0" kern="1200">
                    <a:solidFill>
                      <a:schemeClr val="tx1"/>
                    </a:solidFill>
                    <a:latin typeface="Cambria Math" panose="02040503050406030204" pitchFamily="18" charset="0"/>
                    <a:ea typeface="+mn-ea"/>
                    <a:cs typeface="+mn-cs"/>
                  </a:rPr>
                  <a:t>"captures</a:t>
                </a:r>
                <a:r>
                  <a:rPr lang="en-US" sz="1200" b="0" i="0" kern="1200">
                    <a:solidFill>
                      <a:schemeClr val="tx1"/>
                    </a:solidFill>
                    <a:latin typeface="+mn-lt"/>
                    <a:ea typeface="+mn-ea"/>
                    <a:cs typeface="+mn-cs"/>
                  </a:rPr>
                  <a:t>"⊃</a:t>
                </a:r>
                <a:r>
                  <a:rPr lang="en-US" sz="1200" b="0" i="0" kern="1200">
                    <a:solidFill>
                      <a:schemeClr val="tx1"/>
                    </a:solidFill>
                    <a:latin typeface="Cambria Math" panose="02040503050406030204" pitchFamily="18" charset="0"/>
                    <a:ea typeface="+mn-ea"/>
                    <a:cs typeface="+mn-cs"/>
                  </a:rPr>
                  <a:t>"derived samples / comparisons</a:t>
                </a:r>
                <a:r>
                  <a:rPr lang="en-US" sz="1200" b="0" i="0" kern="1200">
                    <a:solidFill>
                      <a:schemeClr val="tx1"/>
                    </a:solidFill>
                    <a:latin typeface="+mn-lt"/>
                    <a:ea typeface="+mn-ea"/>
                    <a:cs typeface="+mn-cs"/>
                  </a:rPr>
                  <a:t>"</a:t>
                </a:r>
                <a:endParaRPr lang="en-US" sz="1200" b="0" i="0" kern="1200" dirty="0">
                  <a:solidFill>
                    <a:schemeClr val="tx1"/>
                  </a:solidFill>
                  <a:effectLst/>
                  <a:latin typeface="+mn-lt"/>
                  <a:ea typeface="+mn-ea"/>
                  <a:cs typeface="+mn-cs"/>
                </a:endParaRP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Images of one person, frames from one video, or captures from one session commonly share nuisance factors: identity, pose, illumination, sensor behavior, operator, background, and time.</a:t>
                </a:r>
              </a:p>
              <a:p>
                <a:endParaRPr lang="en-US" dirty="0"/>
              </a:p>
              <a:p>
                <a:r>
                  <a:rPr lang="en-US" sz="1200" b="1" i="0" kern="1200" dirty="0">
                    <a:solidFill>
                      <a:schemeClr val="tx1"/>
                    </a:solidFill>
                    <a:effectLst/>
                    <a:latin typeface="+mn-lt"/>
                    <a:ea typeface="+mn-ea"/>
                    <a:cs typeface="+mn-cs"/>
                  </a:rPr>
                  <a:t>Consequence</a:t>
                </a:r>
              </a:p>
              <a:p>
                <a:r>
                  <a:rPr lang="en-US" sz="1200" b="0" i="0" kern="1200" dirty="0">
                    <a:solidFill>
                      <a:schemeClr val="tx1"/>
                    </a:solidFill>
                    <a:effectLst/>
                    <a:latin typeface="+mn-lt"/>
                    <a:ea typeface="+mn-ea"/>
                    <a:cs typeface="+mn-cs"/>
                  </a:rPr>
                  <a:t>Treating correlated samples as independent can yield overly optimistic performance estimates and overly narrow uncertainty intervals.</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The central split rule</a:t>
                </a:r>
              </a:p>
              <a:p>
                <a:r>
                  <a:rPr lang="en-US" sz="1200" b="0" i="0" kern="1200" dirty="0">
                    <a:solidFill>
                      <a:schemeClr val="tx1"/>
                    </a:solidFill>
                    <a:effectLst/>
                    <a:latin typeface="+mn-lt"/>
                    <a:ea typeface="+mn-ea"/>
                    <a:cs typeface="+mn-cs"/>
                  </a:rPr>
                  <a:t>Partition at the highest level that could transmit information from development to evaluation for the claim you are making.</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Examples:</a:t>
                </a:r>
              </a:p>
              <a:p>
                <a:pPr lvl="0"/>
                <a:r>
                  <a:rPr lang="en-US" sz="1200" b="0" i="0" kern="1200" dirty="0">
                    <a:solidFill>
                      <a:schemeClr val="tx1"/>
                    </a:solidFill>
                    <a:effectLst/>
                    <a:latin typeface="+mn-lt"/>
                    <a:ea typeface="+mn-ea"/>
                    <a:cs typeface="+mn-cs"/>
                  </a:rPr>
                  <a:t>Identity-disjoint split for generalization to new people.</a:t>
                </a:r>
              </a:p>
              <a:p>
                <a:pPr lvl="0"/>
                <a:r>
                  <a:rPr lang="en-US" sz="1200" b="0" i="0" kern="1200" dirty="0">
                    <a:solidFill>
                      <a:schemeClr val="tx1"/>
                    </a:solidFill>
                    <a:effectLst/>
                    <a:latin typeface="+mn-lt"/>
                    <a:ea typeface="+mn-ea"/>
                    <a:cs typeface="+mn-cs"/>
                  </a:rPr>
                  <a:t>Session-disjoint split for new acquisition episodes.</a:t>
                </a:r>
              </a:p>
              <a:p>
                <a:pPr lvl="0"/>
                <a:r>
                  <a:rPr lang="en-US" sz="1200" b="0" i="0" kern="1200" dirty="0">
                    <a:solidFill>
                      <a:schemeClr val="tx1"/>
                    </a:solidFill>
                    <a:effectLst/>
                    <a:latin typeface="+mn-lt"/>
                    <a:ea typeface="+mn-ea"/>
                    <a:cs typeface="+mn-cs"/>
                  </a:rPr>
                  <a:t>Sensor- or site-disjoint split for deployment at new devices or locations.</a:t>
                </a:r>
              </a:p>
              <a:p>
                <a:pPr lvl="0"/>
                <a:r>
                  <a:rPr lang="en-US" sz="1200" b="0" i="0" kern="1200" dirty="0">
                    <a:solidFill>
                      <a:schemeClr val="tx1"/>
                    </a:solidFill>
                    <a:effectLst/>
                    <a:latin typeface="+mn-lt"/>
                    <a:ea typeface="+mn-ea"/>
                    <a:cs typeface="+mn-cs"/>
                  </a:rPr>
                  <a:t>Time-disjoint split for future deployment.</a:t>
                </a:r>
              </a:p>
              <a:p>
                <a:endParaRPr lang="en-US" dirty="0"/>
              </a:p>
            </p:txBody>
          </p:sp>
        </mc:Fallback>
      </mc:AlternateContent>
      <p:sp>
        <p:nvSpPr>
          <p:cNvPr id="4" name="Slide Number Placeholder 3">
            <a:extLst>
              <a:ext uri="{FF2B5EF4-FFF2-40B4-BE49-F238E27FC236}">
                <a16:creationId xmlns:a16="http://schemas.microsoft.com/office/drawing/2014/main" id="{88031C2F-6481-B23F-8592-4B7B0BE8D811}"/>
              </a:ext>
            </a:extLst>
          </p:cNvPr>
          <p:cNvSpPr>
            <a:spLocks noGrp="1"/>
          </p:cNvSpPr>
          <p:nvPr>
            <p:ph type="sldNum" sz="quarter" idx="5"/>
          </p:nvPr>
        </p:nvSpPr>
        <p:spPr/>
        <p:txBody>
          <a:bodyPr/>
          <a:lstStyle/>
          <a:p>
            <a:fld id="{29E7BD1F-0023-244E-A8FD-1ADCC0FAE1A1}" type="slidenum">
              <a:rPr lang="en-US" smtClean="0"/>
              <a:t>10</a:t>
            </a:fld>
            <a:endParaRPr lang="en-US"/>
          </a:p>
        </p:txBody>
      </p:sp>
    </p:spTree>
    <p:extLst>
      <p:ext uri="{BB962C8B-B14F-4D97-AF65-F5344CB8AC3E}">
        <p14:creationId xmlns:p14="http://schemas.microsoft.com/office/powerpoint/2010/main" val="3260634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C02AE-FBE3-554E-ABA5-1D0BF7B2E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C049F-F8F2-F30A-CB92-F0A8A0991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16A95-E5C7-26AF-2FE0-B1AED37BB836}"/>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A team splits individual images randomly, trains a face embedding, tunes the threshold on the validation set, and reports test performance. Each subject was photographed in several bursts during one visit. Identify every issue you would investigate before accepting the result.</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Instructor debrief</a:t>
            </a:r>
          </a:p>
          <a:p>
            <a:r>
              <a:rPr lang="en-US" sz="1200" b="0" i="0" kern="1200" dirty="0">
                <a:solidFill>
                  <a:schemeClr val="tx1"/>
                </a:solidFill>
                <a:effectLst/>
                <a:latin typeface="+mn-lt"/>
                <a:ea typeface="+mn-ea"/>
                <a:cs typeface="+mn-cs"/>
              </a:rPr>
              <a:t>Start with the unit of independence: subject and burst/session. Then ask whether the claimed use case requires new subjects, new sessions, or both.</a:t>
            </a:r>
          </a:p>
          <a:p>
            <a:br>
              <a:rPr lang="en-US" dirty="0"/>
            </a:br>
            <a:endParaRPr lang="en-US" dirty="0"/>
          </a:p>
        </p:txBody>
      </p:sp>
      <p:sp>
        <p:nvSpPr>
          <p:cNvPr id="4" name="Slide Number Placeholder 3">
            <a:extLst>
              <a:ext uri="{FF2B5EF4-FFF2-40B4-BE49-F238E27FC236}">
                <a16:creationId xmlns:a16="http://schemas.microsoft.com/office/drawing/2014/main" id="{12402E3B-580A-CA6C-067B-8D6BF65F6011}"/>
              </a:ext>
            </a:extLst>
          </p:cNvPr>
          <p:cNvSpPr>
            <a:spLocks noGrp="1"/>
          </p:cNvSpPr>
          <p:nvPr>
            <p:ph type="sldNum" sz="quarter" idx="5"/>
          </p:nvPr>
        </p:nvSpPr>
        <p:spPr/>
        <p:txBody>
          <a:bodyPr/>
          <a:lstStyle/>
          <a:p>
            <a:fld id="{29E7BD1F-0023-244E-A8FD-1ADCC0FAE1A1}" type="slidenum">
              <a:rPr lang="en-US" smtClean="0"/>
              <a:t>11</a:t>
            </a:fld>
            <a:endParaRPr lang="en-US"/>
          </a:p>
        </p:txBody>
      </p:sp>
    </p:spTree>
    <p:extLst>
      <p:ext uri="{BB962C8B-B14F-4D97-AF65-F5344CB8AC3E}">
        <p14:creationId xmlns:p14="http://schemas.microsoft.com/office/powerpoint/2010/main" val="1014651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1E86C-444B-E630-C60A-6056CF7C9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4EABE-E445-FE11-4147-A69DCF934D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D11AB-3F20-3B00-165E-889EE908CD9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Solicit two protocol designs. On the board, label each boundary: </a:t>
            </a:r>
            <a:r>
              <a:rPr lang="en-US" sz="1200" b="1" i="0" kern="1200" dirty="0">
                <a:solidFill>
                  <a:schemeClr val="tx1"/>
                </a:solidFill>
                <a:effectLst/>
                <a:latin typeface="+mn-lt"/>
                <a:ea typeface="+mn-ea"/>
                <a:cs typeface="+mn-cs"/>
              </a:rPr>
              <a:t>identity</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time/session</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sensor</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development/test</a:t>
            </a:r>
            <a:r>
              <a:rPr lang="en-US" sz="1200" b="0" i="0" kern="1200" dirty="0">
                <a:solidFill>
                  <a:schemeClr val="tx1"/>
                </a:solidFill>
                <a:effectLst/>
                <a:latin typeface="+mn-lt"/>
                <a:ea typeface="+mn-ea"/>
                <a:cs typeface="+mn-cs"/>
              </a:rPr>
              <a:t>.</a:t>
            </a:r>
          </a:p>
          <a:p>
            <a:br>
              <a:rPr lang="en-US" dirty="0"/>
            </a:br>
            <a:r>
              <a:rPr lang="en-US" sz="1200" b="1" i="0" kern="1200" dirty="0">
                <a:solidFill>
                  <a:schemeClr val="tx1"/>
                </a:solidFill>
                <a:effectLst/>
                <a:latin typeface="+mn-lt"/>
                <a:ea typeface="+mn-ea"/>
                <a:cs typeface="+mn-cs"/>
              </a:rPr>
              <a:t>Target synthesis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Hold out identities for unseen-user claims.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Use only development identities/sessions to select the threshold and all design choices.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Test cross-session comparisons; stratify same-sensor and cross-sensor conditions if sensor robustness is a question.</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Limitation: 300 subjects and two sensors still bound the population to which results can generalize.</a:t>
            </a:r>
          </a:p>
          <a:p>
            <a:endParaRPr lang="en-US" dirty="0"/>
          </a:p>
        </p:txBody>
      </p:sp>
      <p:sp>
        <p:nvSpPr>
          <p:cNvPr id="4" name="Slide Number Placeholder 3">
            <a:extLst>
              <a:ext uri="{FF2B5EF4-FFF2-40B4-BE49-F238E27FC236}">
                <a16:creationId xmlns:a16="http://schemas.microsoft.com/office/drawing/2014/main" id="{2DE27D6C-D469-5277-C6D7-6A2B37FDCAD2}"/>
              </a:ext>
            </a:extLst>
          </p:cNvPr>
          <p:cNvSpPr>
            <a:spLocks noGrp="1"/>
          </p:cNvSpPr>
          <p:nvPr>
            <p:ph type="sldNum" sz="quarter" idx="5"/>
          </p:nvPr>
        </p:nvSpPr>
        <p:spPr/>
        <p:txBody>
          <a:bodyPr/>
          <a:lstStyle/>
          <a:p>
            <a:fld id="{29E7BD1F-0023-244E-A8FD-1ADCC0FAE1A1}" type="slidenum">
              <a:rPr lang="en-US" smtClean="0"/>
              <a:t>12</a:t>
            </a:fld>
            <a:endParaRPr lang="en-US"/>
          </a:p>
        </p:txBody>
      </p:sp>
    </p:spTree>
    <p:extLst>
      <p:ext uri="{BB962C8B-B14F-4D97-AF65-F5344CB8AC3E}">
        <p14:creationId xmlns:p14="http://schemas.microsoft.com/office/powerpoint/2010/main" val="3258494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9028E-4E27-F48F-F673-AD96C8D30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1940F7-17AA-4042-B0A9-7D7A214B9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BF1C9-EE02-3F8D-DA22-F76E78B8A8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732B7-C76A-C965-A8DE-4C1B919071B7}"/>
              </a:ext>
            </a:extLst>
          </p:cNvPr>
          <p:cNvSpPr>
            <a:spLocks noGrp="1"/>
          </p:cNvSpPr>
          <p:nvPr>
            <p:ph type="sldNum" sz="quarter" idx="5"/>
          </p:nvPr>
        </p:nvSpPr>
        <p:spPr/>
        <p:txBody>
          <a:bodyPr/>
          <a:lstStyle/>
          <a:p>
            <a:fld id="{29E7BD1F-0023-244E-A8FD-1ADCC0FAE1A1}" type="slidenum">
              <a:rPr lang="en-US" smtClean="0"/>
              <a:t>13</a:t>
            </a:fld>
            <a:endParaRPr lang="en-US"/>
          </a:p>
        </p:txBody>
      </p:sp>
    </p:spTree>
    <p:extLst>
      <p:ext uri="{BB962C8B-B14F-4D97-AF65-F5344CB8AC3E}">
        <p14:creationId xmlns:p14="http://schemas.microsoft.com/office/powerpoint/2010/main" val="372860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2E3E2-D5B5-9B93-FA62-9BC138FF9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27E88-B9CD-CC0E-9DDD-BE33C2A77570}"/>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DCB1E083-A06A-C3F4-211E-12FBADCEA51A}"/>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System A has </a:t>
                </a:r>
                <a14:m>
                  <m:oMath xmlns:m="http://schemas.openxmlformats.org/officeDocument/2006/math">
                    <m:r>
                      <m:rPr>
                        <m:sty m:val="p"/>
                      </m:rPr>
                      <a:rPr lang="en-US" sz="1200" kern="1200">
                        <a:solidFill>
                          <a:schemeClr val="tx1"/>
                        </a:solidFill>
                        <a:latin typeface="+mn-lt"/>
                        <a:ea typeface="+mn-ea"/>
                        <a:cs typeface="+mn-cs"/>
                      </a:rPr>
                      <m:t>F</m:t>
                    </m:r>
                    <m:r>
                      <m:rPr>
                        <m:sty m:val="p"/>
                      </m:rPr>
                      <a:rPr lang="en-US" sz="1200" i="0" kern="1200">
                        <a:solidFill>
                          <a:schemeClr val="tx1"/>
                        </a:solidFill>
                        <a:latin typeface="+mn-lt"/>
                        <a:ea typeface="+mn-ea"/>
                        <a:cs typeface="+mn-cs"/>
                      </a:rPr>
                      <m:t>NMR</m:t>
                    </m:r>
                    <m:r>
                      <a:rPr lang="en-US" sz="1200" i="0" kern="1200">
                        <a:solidFill>
                          <a:schemeClr val="tx1"/>
                        </a:solidFill>
                        <a:latin typeface="+mn-lt"/>
                        <a:ea typeface="+mn-ea"/>
                        <a:cs typeface="+mn-cs"/>
                      </a:rPr>
                      <m:t>=2.1%</m:t>
                    </m:r>
                  </m:oMath>
                </a14:m>
                <a:r>
                  <a:rPr lang="en-US" sz="1200" b="0" i="0" kern="1200" dirty="0">
                    <a:solidFill>
                      <a:schemeClr val="tx1"/>
                    </a:solidFill>
                    <a:effectLst/>
                    <a:latin typeface="+mn-lt"/>
                    <a:ea typeface="+mn-ea"/>
                    <a:cs typeface="+mn-cs"/>
                  </a:rPr>
                  <a:t> and System B has </a:t>
                </a:r>
                <a14:m>
                  <m:oMath xmlns:m="http://schemas.openxmlformats.org/officeDocument/2006/math">
                    <m:r>
                      <m:rPr>
                        <m:sty m:val="p"/>
                      </m:rPr>
                      <a:rPr lang="en-US" sz="1200" kern="1200">
                        <a:solidFill>
                          <a:schemeClr val="tx1"/>
                        </a:solidFill>
                        <a:latin typeface="+mn-lt"/>
                        <a:ea typeface="+mn-ea"/>
                        <a:cs typeface="+mn-cs"/>
                      </a:rPr>
                      <m:t>F</m:t>
                    </m:r>
                    <m:r>
                      <m:rPr>
                        <m:sty m:val="p"/>
                      </m:rPr>
                      <a:rPr lang="en-US" sz="1200" i="0" kern="1200">
                        <a:solidFill>
                          <a:schemeClr val="tx1"/>
                        </a:solidFill>
                        <a:latin typeface="+mn-lt"/>
                        <a:ea typeface="+mn-ea"/>
                        <a:cs typeface="+mn-cs"/>
                      </a:rPr>
                      <m:t>NMR</m:t>
                    </m:r>
                    <m:r>
                      <a:rPr lang="en-US" sz="1200" i="0" kern="1200">
                        <a:solidFill>
                          <a:schemeClr val="tx1"/>
                        </a:solidFill>
                        <a:latin typeface="+mn-lt"/>
                        <a:ea typeface="+mn-ea"/>
                        <a:cs typeface="+mn-cs"/>
                      </a:rPr>
                      <m:t>=1.9%</m:t>
                    </m:r>
                  </m:oMath>
                </a14:m>
                <a:r>
                  <a:rPr lang="en-US" sz="1200" b="0" i="0" kern="1200" dirty="0">
                    <a:solidFill>
                      <a:schemeClr val="tx1"/>
                    </a:solidFill>
                    <a:effectLst/>
                    <a:latin typeface="+mn-lt"/>
                    <a:ea typeface="+mn-ea"/>
                    <a:cs typeface="+mn-cs"/>
                  </a:rPr>
                  <a:t> at the same stated </a:t>
                </a:r>
                <a14:m>
                  <m:oMath xmlns:m="http://schemas.openxmlformats.org/officeDocument/2006/math">
                    <m:r>
                      <m:rPr>
                        <m:sty m:val="p"/>
                      </m:rPr>
                      <a:rPr lang="en-US" sz="1200" kern="1200">
                        <a:solidFill>
                          <a:schemeClr val="tx1"/>
                        </a:solidFill>
                        <a:latin typeface="+mn-lt"/>
                        <a:ea typeface="+mn-ea"/>
                        <a:cs typeface="+mn-cs"/>
                      </a:rPr>
                      <m:t>F</m:t>
                    </m:r>
                    <m:r>
                      <m:rPr>
                        <m:sty m:val="p"/>
                      </m:rPr>
                      <a:rPr lang="en-US" sz="1200" i="0" kern="1200">
                        <a:solidFill>
                          <a:schemeClr val="tx1"/>
                        </a:solidFill>
                        <a:latin typeface="+mn-lt"/>
                        <a:ea typeface="+mn-ea"/>
                        <a:cs typeface="+mn-cs"/>
                      </a:rPr>
                      <m:t>MR</m:t>
                    </m:r>
                  </m:oMath>
                </a14:m>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What additional evidence do you need before claiming B is better?</a:t>
                </a:r>
              </a:p>
              <a:p>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Expected ideas</a:t>
                </a:r>
                <a:r>
                  <a:rPr lang="en-US" sz="1200" b="0" i="0" kern="1200" dirty="0">
                    <a:solidFill>
                      <a:schemeClr val="tx1"/>
                    </a:solidFill>
                    <a:effectLst/>
                    <a:latin typeface="+mn-lt"/>
                    <a:ea typeface="+mn-ea"/>
                    <a:cs typeface="+mn-cs"/>
                  </a:rPr>
                  <a:t>: paired protocol, threshold procedure, confidence interval or resampling distribution for the difference, subject/session composition, and an effect-size/operational relevance argument.</a:t>
                </a:r>
              </a:p>
              <a:p>
                <a:endParaRPr lang="en-US" dirty="0"/>
              </a:p>
            </p:txBody>
          </p:sp>
        </mc:Choice>
        <mc:Fallback>
          <p:sp>
            <p:nvSpPr>
              <p:cNvPr id="3" name="Notes Placeholder 2">
                <a:extLst>
                  <a:ext uri="{FF2B5EF4-FFF2-40B4-BE49-F238E27FC236}">
                    <a16:creationId xmlns:a16="http://schemas.microsoft.com/office/drawing/2014/main" id="{DCB1E083-A06A-C3F4-211E-12FBADCEA51A}"/>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System A has </a:t>
                </a:r>
                <a:r>
                  <a:rPr lang="en-US" sz="1200" i="0" kern="1200">
                    <a:solidFill>
                      <a:schemeClr val="tx1"/>
                    </a:solidFill>
                    <a:latin typeface="+mn-lt"/>
                    <a:ea typeface="+mn-ea"/>
                    <a:cs typeface="+mn-cs"/>
                  </a:rPr>
                  <a:t>FNMR=2.1%</a:t>
                </a:r>
                <a:r>
                  <a:rPr lang="en-US" sz="1200" b="0" i="0" kern="1200" dirty="0">
                    <a:solidFill>
                      <a:schemeClr val="tx1"/>
                    </a:solidFill>
                    <a:effectLst/>
                    <a:latin typeface="+mn-lt"/>
                    <a:ea typeface="+mn-ea"/>
                    <a:cs typeface="+mn-cs"/>
                  </a:rPr>
                  <a:t> and System B has </a:t>
                </a:r>
                <a:r>
                  <a:rPr lang="en-US" sz="1200" i="0" kern="1200">
                    <a:solidFill>
                      <a:schemeClr val="tx1"/>
                    </a:solidFill>
                    <a:latin typeface="+mn-lt"/>
                    <a:ea typeface="+mn-ea"/>
                    <a:cs typeface="+mn-cs"/>
                  </a:rPr>
                  <a:t>FNMR=1.9%</a:t>
                </a:r>
                <a:r>
                  <a:rPr lang="en-US" sz="1200" b="0" i="0" kern="1200" dirty="0">
                    <a:solidFill>
                      <a:schemeClr val="tx1"/>
                    </a:solidFill>
                    <a:effectLst/>
                    <a:latin typeface="+mn-lt"/>
                    <a:ea typeface="+mn-ea"/>
                    <a:cs typeface="+mn-cs"/>
                  </a:rPr>
                  <a:t> at the same stated </a:t>
                </a:r>
                <a:r>
                  <a:rPr lang="en-US" sz="1200" i="0" kern="1200">
                    <a:solidFill>
                      <a:schemeClr val="tx1"/>
                    </a:solidFill>
                    <a:latin typeface="+mn-lt"/>
                    <a:ea typeface="+mn-ea"/>
                    <a:cs typeface="+mn-cs"/>
                  </a:rPr>
                  <a:t>FMR</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What additional evidence do you need before claiming B is better?</a:t>
                </a:r>
              </a:p>
              <a:p>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Expected ideas</a:t>
                </a:r>
                <a:r>
                  <a:rPr lang="en-US" sz="1200" b="0" i="0" kern="1200" dirty="0">
                    <a:solidFill>
                      <a:schemeClr val="tx1"/>
                    </a:solidFill>
                    <a:effectLst/>
                    <a:latin typeface="+mn-lt"/>
                    <a:ea typeface="+mn-ea"/>
                    <a:cs typeface="+mn-cs"/>
                  </a:rPr>
                  <a:t>: paired protocol, threshold procedure, confidence interval or resampling distribution for the difference, subject/session composition, and an effect-size/operational relevance argument.</a:t>
                </a:r>
              </a:p>
              <a:p>
                <a:endParaRPr lang="en-US" dirty="0"/>
              </a:p>
            </p:txBody>
          </p:sp>
        </mc:Fallback>
      </mc:AlternateContent>
      <p:sp>
        <p:nvSpPr>
          <p:cNvPr id="4" name="Slide Number Placeholder 3">
            <a:extLst>
              <a:ext uri="{FF2B5EF4-FFF2-40B4-BE49-F238E27FC236}">
                <a16:creationId xmlns:a16="http://schemas.microsoft.com/office/drawing/2014/main" id="{68886FA2-D9DF-2FCE-E5E8-E73BEB989E82}"/>
              </a:ext>
            </a:extLst>
          </p:cNvPr>
          <p:cNvSpPr>
            <a:spLocks noGrp="1"/>
          </p:cNvSpPr>
          <p:nvPr>
            <p:ph type="sldNum" sz="quarter" idx="5"/>
          </p:nvPr>
        </p:nvSpPr>
        <p:spPr/>
        <p:txBody>
          <a:bodyPr/>
          <a:lstStyle/>
          <a:p>
            <a:fld id="{29E7BD1F-0023-244E-A8FD-1ADCC0FAE1A1}" type="slidenum">
              <a:rPr lang="en-US" smtClean="0"/>
              <a:t>14</a:t>
            </a:fld>
            <a:endParaRPr lang="en-US"/>
          </a:p>
        </p:txBody>
      </p:sp>
    </p:spTree>
    <p:extLst>
      <p:ext uri="{BB962C8B-B14F-4D97-AF65-F5344CB8AC3E}">
        <p14:creationId xmlns:p14="http://schemas.microsoft.com/office/powerpoint/2010/main" val="2794755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3B38-46FB-0844-80FB-785698B68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79D0C-1CFB-A354-2D5F-A757700E8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CE3B9-B52F-1569-C781-A1AB39EAE026}"/>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Question</a:t>
            </a:r>
          </a:p>
          <a:p>
            <a:r>
              <a:rPr lang="en-US" sz="1200" b="0" i="0" kern="1200" dirty="0">
                <a:solidFill>
                  <a:schemeClr val="tx1"/>
                </a:solidFill>
                <a:effectLst/>
                <a:latin typeface="+mn-lt"/>
                <a:ea typeface="+mn-ea"/>
                <a:cs typeface="+mn-cs"/>
              </a:rPr>
              <a:t>A method is evaluated on 12 conditions and reported only on the 3 conditions where it wins. Is this an algorithmic result, an analysis-plan problem, or both?</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Debrief:</a:t>
            </a:r>
            <a:r>
              <a:rPr lang="en-US" sz="1200" b="0" i="0" kern="1200" dirty="0">
                <a:solidFill>
                  <a:schemeClr val="tx1"/>
                </a:solidFill>
                <a:effectLst/>
                <a:latin typeface="+mn-lt"/>
                <a:ea typeface="+mn-ea"/>
                <a:cs typeface="+mn-cs"/>
              </a:rPr>
              <a:t> Both. The model may have useful strengths, but selective reporting invalidates a general superiority claim.</a:t>
            </a:r>
          </a:p>
          <a:p>
            <a:endParaRPr lang="en-US" dirty="0"/>
          </a:p>
        </p:txBody>
      </p:sp>
      <p:sp>
        <p:nvSpPr>
          <p:cNvPr id="4" name="Slide Number Placeholder 3">
            <a:extLst>
              <a:ext uri="{FF2B5EF4-FFF2-40B4-BE49-F238E27FC236}">
                <a16:creationId xmlns:a16="http://schemas.microsoft.com/office/drawing/2014/main" id="{7FA4ED14-534B-6E67-EFAE-F7C0481513E4}"/>
              </a:ext>
            </a:extLst>
          </p:cNvPr>
          <p:cNvSpPr>
            <a:spLocks noGrp="1"/>
          </p:cNvSpPr>
          <p:nvPr>
            <p:ph type="sldNum" sz="quarter" idx="5"/>
          </p:nvPr>
        </p:nvSpPr>
        <p:spPr/>
        <p:txBody>
          <a:bodyPr/>
          <a:lstStyle/>
          <a:p>
            <a:fld id="{29E7BD1F-0023-244E-A8FD-1ADCC0FAE1A1}" type="slidenum">
              <a:rPr lang="en-US" smtClean="0"/>
              <a:t>15</a:t>
            </a:fld>
            <a:endParaRPr lang="en-US"/>
          </a:p>
        </p:txBody>
      </p:sp>
    </p:spTree>
    <p:extLst>
      <p:ext uri="{BB962C8B-B14F-4D97-AF65-F5344CB8AC3E}">
        <p14:creationId xmlns:p14="http://schemas.microsoft.com/office/powerpoint/2010/main" val="3669412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4081C-92EB-5063-5B8A-96E0775873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DB2BA-B2CD-74F1-7FD3-0AA0604701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1FC7B-421C-5947-6CF2-5AE88CF188EA}"/>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Exit prompt</a:t>
            </a:r>
          </a:p>
          <a:p>
            <a:r>
              <a:rPr lang="en-US" sz="1200" b="0" i="0" kern="1200" dirty="0">
                <a:solidFill>
                  <a:schemeClr val="tx1"/>
                </a:solidFill>
                <a:effectLst/>
                <a:latin typeface="+mn-lt"/>
                <a:ea typeface="+mn-ea"/>
                <a:cs typeface="+mn-cs"/>
              </a:rPr>
              <a:t>Name one artifact you would require from a paper before trusting a reported biometric result enough to build on it.</a:t>
            </a:r>
          </a:p>
          <a:p>
            <a:endParaRPr lang="en-US" dirty="0"/>
          </a:p>
        </p:txBody>
      </p:sp>
      <p:sp>
        <p:nvSpPr>
          <p:cNvPr id="4" name="Slide Number Placeholder 3">
            <a:extLst>
              <a:ext uri="{FF2B5EF4-FFF2-40B4-BE49-F238E27FC236}">
                <a16:creationId xmlns:a16="http://schemas.microsoft.com/office/drawing/2014/main" id="{4047550E-C855-C1F0-26EE-9D50289723C5}"/>
              </a:ext>
            </a:extLst>
          </p:cNvPr>
          <p:cNvSpPr>
            <a:spLocks noGrp="1"/>
          </p:cNvSpPr>
          <p:nvPr>
            <p:ph type="sldNum" sz="quarter" idx="5"/>
          </p:nvPr>
        </p:nvSpPr>
        <p:spPr/>
        <p:txBody>
          <a:bodyPr/>
          <a:lstStyle/>
          <a:p>
            <a:fld id="{29E7BD1F-0023-244E-A8FD-1ADCC0FAE1A1}" type="slidenum">
              <a:rPr lang="en-US" smtClean="0"/>
              <a:t>16</a:t>
            </a:fld>
            <a:endParaRPr lang="en-US"/>
          </a:p>
        </p:txBody>
      </p:sp>
    </p:spTree>
    <p:extLst>
      <p:ext uri="{BB962C8B-B14F-4D97-AF65-F5344CB8AC3E}">
        <p14:creationId xmlns:p14="http://schemas.microsoft.com/office/powerpoint/2010/main" val="3057502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726DB-B43B-B8B1-9DEB-D1A41F33C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32078-7A15-85DF-1817-8A921773C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37A8A-27A5-5047-B010-FEF0836CE37E}"/>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Exit prompt</a:t>
            </a:r>
          </a:p>
          <a:p>
            <a:r>
              <a:rPr lang="en-US" sz="1200" b="0" i="0" kern="1200" dirty="0">
                <a:solidFill>
                  <a:schemeClr val="tx1"/>
                </a:solidFill>
                <a:effectLst/>
                <a:latin typeface="+mn-lt"/>
                <a:ea typeface="+mn-ea"/>
                <a:cs typeface="+mn-cs"/>
              </a:rPr>
              <a:t>Name one artifact you would require from a paper before trusting a reported biometric result enough to build on it.</a:t>
            </a:r>
          </a:p>
          <a:p>
            <a:endParaRPr lang="en-US" dirty="0"/>
          </a:p>
          <a:p>
            <a:r>
              <a:rPr lang="en-US" b="1" dirty="0"/>
              <a:t>Bridge</a:t>
            </a:r>
            <a:br>
              <a:rPr lang="en-US" b="1" dirty="0"/>
            </a:br>
            <a:r>
              <a:rPr lang="en-US" sz="1200" b="0" i="0" kern="1200" dirty="0">
                <a:solidFill>
                  <a:schemeClr val="tx1"/>
                </a:solidFill>
                <a:effectLst/>
                <a:latin typeface="+mn-lt"/>
                <a:ea typeface="+mn-ea"/>
                <a:cs typeface="+mn-cs"/>
              </a:rPr>
              <a:t>Last class treated the protocol as the instrument for measuring a system.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assigned reading asks what it takes to construct the corpus and metadata on which that instrument depends.</a:t>
            </a:r>
          </a:p>
          <a:p>
            <a:br>
              <a:rPr lang="en-US" dirty="0"/>
            </a:br>
            <a:endParaRPr lang="en-US" b="1" dirty="0"/>
          </a:p>
        </p:txBody>
      </p:sp>
      <p:sp>
        <p:nvSpPr>
          <p:cNvPr id="4" name="Slide Number Placeholder 3">
            <a:extLst>
              <a:ext uri="{FF2B5EF4-FFF2-40B4-BE49-F238E27FC236}">
                <a16:creationId xmlns:a16="http://schemas.microsoft.com/office/drawing/2014/main" id="{C048DDAF-B0C9-A5B7-DEFE-F181BCF786E7}"/>
              </a:ext>
            </a:extLst>
          </p:cNvPr>
          <p:cNvSpPr>
            <a:spLocks noGrp="1"/>
          </p:cNvSpPr>
          <p:nvPr>
            <p:ph type="sldNum" sz="quarter" idx="5"/>
          </p:nvPr>
        </p:nvSpPr>
        <p:spPr/>
        <p:txBody>
          <a:bodyPr/>
          <a:lstStyle/>
          <a:p>
            <a:fld id="{29E7BD1F-0023-244E-A8FD-1ADCC0FAE1A1}" type="slidenum">
              <a:rPr lang="en-US" smtClean="0"/>
              <a:t>17</a:t>
            </a:fld>
            <a:endParaRPr lang="en-US"/>
          </a:p>
        </p:txBody>
      </p:sp>
    </p:spTree>
    <p:extLst>
      <p:ext uri="{BB962C8B-B14F-4D97-AF65-F5344CB8AC3E}">
        <p14:creationId xmlns:p14="http://schemas.microsoft.com/office/powerpoint/2010/main" val="167714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78E60-A90E-5913-7F95-4AB8201AE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FC3E9-7237-B013-3D91-7CD878129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8A278-BEC5-D70C-C616-C93099AF6216}"/>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Exit prompt</a:t>
            </a:r>
          </a:p>
          <a:p>
            <a:r>
              <a:rPr lang="en-US" sz="1200" b="0" i="0" kern="1200" dirty="0">
                <a:solidFill>
                  <a:schemeClr val="tx1"/>
                </a:solidFill>
                <a:effectLst/>
                <a:latin typeface="+mn-lt"/>
                <a:ea typeface="+mn-ea"/>
                <a:cs typeface="+mn-cs"/>
              </a:rPr>
              <a:t>Name one artifact you would require from a paper before trusting a reported biometric result enough to build on it.</a:t>
            </a:r>
          </a:p>
          <a:p>
            <a:endParaRPr lang="en-US" dirty="0"/>
          </a:p>
        </p:txBody>
      </p:sp>
      <p:sp>
        <p:nvSpPr>
          <p:cNvPr id="4" name="Slide Number Placeholder 3">
            <a:extLst>
              <a:ext uri="{FF2B5EF4-FFF2-40B4-BE49-F238E27FC236}">
                <a16:creationId xmlns:a16="http://schemas.microsoft.com/office/drawing/2014/main" id="{75EBFF3C-22B6-5EB9-9E03-A0AB8FC4DBBA}"/>
              </a:ext>
            </a:extLst>
          </p:cNvPr>
          <p:cNvSpPr>
            <a:spLocks noGrp="1"/>
          </p:cNvSpPr>
          <p:nvPr>
            <p:ph type="sldNum" sz="quarter" idx="5"/>
          </p:nvPr>
        </p:nvSpPr>
        <p:spPr/>
        <p:txBody>
          <a:bodyPr/>
          <a:lstStyle/>
          <a:p>
            <a:fld id="{29E7BD1F-0023-244E-A8FD-1ADCC0FAE1A1}" type="slidenum">
              <a:rPr lang="en-US" smtClean="0"/>
              <a:t>18</a:t>
            </a:fld>
            <a:endParaRPr lang="en-US"/>
          </a:p>
        </p:txBody>
      </p:sp>
    </p:spTree>
    <p:extLst>
      <p:ext uri="{BB962C8B-B14F-4D97-AF65-F5344CB8AC3E}">
        <p14:creationId xmlns:p14="http://schemas.microsoft.com/office/powerpoint/2010/main" val="1146298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84292-5552-F2FE-77F2-55F1F775D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9C63A-48B7-AEC4-8C53-FF8D59977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A66DC-DDDC-A5CF-A895-77D055767929}"/>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0D52C5B-F710-9875-D9D8-6C5CF4D91725}"/>
              </a:ext>
            </a:extLst>
          </p:cNvPr>
          <p:cNvSpPr>
            <a:spLocks noGrp="1"/>
          </p:cNvSpPr>
          <p:nvPr>
            <p:ph type="sldNum" sz="quarter" idx="5"/>
          </p:nvPr>
        </p:nvSpPr>
        <p:spPr/>
        <p:txBody>
          <a:bodyPr/>
          <a:lstStyle/>
          <a:p>
            <a:fld id="{29E7BD1F-0023-244E-A8FD-1ADCC0FAE1A1}" type="slidenum">
              <a:rPr lang="en-US" smtClean="0"/>
              <a:t>20</a:t>
            </a:fld>
            <a:endParaRPr lang="en-US"/>
          </a:p>
        </p:txBody>
      </p:sp>
    </p:spTree>
    <p:extLst>
      <p:ext uri="{BB962C8B-B14F-4D97-AF65-F5344CB8AC3E}">
        <p14:creationId xmlns:p14="http://schemas.microsoft.com/office/powerpoint/2010/main" val="191761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72279-F89C-4A74-3833-738ECEF6B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03BE0-434F-7041-53F9-ABF7247244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09CB6-961C-7B91-08B6-9FE14BD1BAD8}"/>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Why the problem matters</a:t>
            </a:r>
          </a:p>
          <a:p>
            <a:r>
              <a:rPr lang="en-US" sz="1200" b="0" i="0" kern="1200" dirty="0">
                <a:solidFill>
                  <a:schemeClr val="tx1"/>
                </a:solidFill>
                <a:effectLst/>
                <a:latin typeface="+mn-lt"/>
                <a:ea typeface="+mn-ea"/>
                <a:cs typeface="+mn-cs"/>
              </a:rPr>
              <a:t>A biometric result is inseparable from its collection and evaluation conditions. A benchmark can make a method look strong because it measures a narrow condition well, or because its unmeasured structure leaks information into an evaluation.</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Whole-class discussion</a:t>
            </a:r>
          </a:p>
          <a:p>
            <a:pPr marL="228600" lvl="0" indent="-228600">
              <a:buFont typeface="+mj-lt"/>
              <a:buAutoNum type="arabicPeriod"/>
            </a:pPr>
            <a:r>
              <a:rPr lang="en-US" sz="1200" b="0" i="0" kern="1200" dirty="0">
                <a:solidFill>
                  <a:schemeClr val="tx1"/>
                </a:solidFill>
                <a:effectLst/>
                <a:latin typeface="+mn-lt"/>
                <a:ea typeface="+mn-ea"/>
                <a:cs typeface="+mn-cs"/>
              </a:rPr>
              <a:t>What scientific question becomes answerable only after moving from a small convenience collection to a large, structured collection?</a:t>
            </a:r>
          </a:p>
          <a:p>
            <a:pPr marL="228600" lvl="0" indent="-228600">
              <a:buFont typeface="+mj-lt"/>
              <a:buAutoNum type="arabicPeriod"/>
            </a:pPr>
            <a:r>
              <a:rPr lang="en-US" sz="1200" b="0" i="0" kern="1200" dirty="0">
                <a:solidFill>
                  <a:schemeClr val="tx1"/>
                </a:solidFill>
                <a:effectLst/>
                <a:latin typeface="+mn-lt"/>
                <a:ea typeface="+mn-ea"/>
                <a:cs typeface="+mn-cs"/>
              </a:rPr>
              <a:t>What scientific question remains unanswerable even with one million samples?</a:t>
            </a:r>
          </a:p>
          <a:p>
            <a:pPr marL="228600" lvl="0" indent="-228600">
              <a:buFont typeface="+mj-lt"/>
              <a:buAutoNum type="arabicPeriod"/>
            </a:pPr>
            <a:r>
              <a:rPr lang="en-US" sz="1200" b="0" i="0" kern="1200" dirty="0">
                <a:solidFill>
                  <a:schemeClr val="tx1"/>
                </a:solidFill>
                <a:effectLst/>
                <a:latin typeface="+mn-lt"/>
                <a:ea typeface="+mn-ea"/>
                <a:cs typeface="+mn-cs"/>
              </a:rPr>
              <a:t>Which is the scarcer resource: samples, subjects, independent sessions, difficult conditions, accurate labels, or metadata? Defend one choice.</a:t>
            </a:r>
          </a:p>
          <a:p>
            <a:pPr marL="228600" lvl="0" indent="-228600">
              <a:buFont typeface="+mj-lt"/>
              <a:buAutoNum type="arabicPeriod"/>
            </a:pP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synthesis:</a:t>
            </a:r>
            <a:r>
              <a:rPr lang="en-US" sz="1200" b="0" i="0" kern="1200" dirty="0">
                <a:solidFill>
                  <a:schemeClr val="tx1"/>
                </a:solidFill>
                <a:effectLst/>
                <a:latin typeface="+mn-lt"/>
                <a:ea typeface="+mn-ea"/>
                <a:cs typeface="+mn-cs"/>
              </a:rPr>
              <a:t> scale is a means to estimate defined quantities with </a:t>
            </a:r>
            <a:r>
              <a:rPr lang="en-US" sz="1200" b="1" i="0" kern="1200" dirty="0">
                <a:solidFill>
                  <a:schemeClr val="tx1"/>
                </a:solidFill>
                <a:effectLst/>
                <a:latin typeface="+mn-lt"/>
                <a:ea typeface="+mn-ea"/>
                <a:cs typeface="+mn-cs"/>
              </a:rPr>
              <a:t>useful precision</a:t>
            </a:r>
            <a:r>
              <a:rPr lang="en-US" sz="1200" b="0" i="0" kern="1200" dirty="0">
                <a:solidFill>
                  <a:schemeClr val="tx1"/>
                </a:solidFill>
                <a:effectLst/>
                <a:latin typeface="+mn-lt"/>
                <a:ea typeface="+mn-ea"/>
                <a:cs typeface="+mn-cs"/>
              </a:rPr>
              <a:t>. It is not itself a definition of representativeness, independence, or generalization.</a:t>
            </a:r>
          </a:p>
          <a:p>
            <a:br>
              <a:rPr lang="en-US" dirty="0"/>
            </a:b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40B6709-7442-A735-1816-BBC1999C9A1A}"/>
              </a:ext>
            </a:extLst>
          </p:cNvPr>
          <p:cNvSpPr>
            <a:spLocks noGrp="1"/>
          </p:cNvSpPr>
          <p:nvPr>
            <p:ph type="sldNum" sz="quarter" idx="5"/>
          </p:nvPr>
        </p:nvSpPr>
        <p:spPr/>
        <p:txBody>
          <a:bodyPr/>
          <a:lstStyle/>
          <a:p>
            <a:fld id="{29E7BD1F-0023-244E-A8FD-1ADCC0FAE1A1}" type="slidenum">
              <a:rPr lang="en-US" smtClean="0"/>
              <a:t>21</a:t>
            </a:fld>
            <a:endParaRPr lang="en-US"/>
          </a:p>
        </p:txBody>
      </p:sp>
    </p:spTree>
    <p:extLst>
      <p:ext uri="{BB962C8B-B14F-4D97-AF65-F5344CB8AC3E}">
        <p14:creationId xmlns:p14="http://schemas.microsoft.com/office/powerpoint/2010/main" val="644796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Scientific validity </a:t>
                </a:r>
                <a:r>
                  <a:rPr lang="en-US" sz="1200" b="0" i="0" kern="1200" dirty="0">
                    <a:solidFill>
                      <a:schemeClr val="tx1"/>
                    </a:solidFill>
                    <a:effectLst/>
                    <a:latin typeface="+mn-lt"/>
                    <a:ea typeface="+mn-ea"/>
                    <a:cs typeface="+mn-cs"/>
                  </a:rPr>
                  <a:t>The authors frame curated collections as the infrastructure for </a:t>
                </a:r>
                <a:r>
                  <a:rPr lang="en-US" sz="1200" b="0" i="1" kern="1200" dirty="0">
                    <a:solidFill>
                      <a:schemeClr val="tx1"/>
                    </a:solidFill>
                    <a:effectLst/>
                    <a:latin typeface="+mn-lt"/>
                    <a:ea typeface="+mn-ea"/>
                    <a:cs typeface="+mn-cs"/>
                  </a:rPr>
                  <a:t>independent evaluation</a:t>
                </a:r>
                <a:r>
                  <a:rPr lang="en-US" sz="1200" b="0" i="0" kern="1200" dirty="0">
                    <a:solidFill>
                      <a:schemeClr val="tx1"/>
                    </a:solidFill>
                    <a:effectLst/>
                    <a:latin typeface="+mn-lt"/>
                    <a:ea typeface="+mn-ea"/>
                    <a:cs typeface="+mn-cs"/>
                  </a:rPr>
                  <a:t>, but emphasize that the collection must be designed for the intended experiment—not simply made large. A collection can therefore support a claim about performance under its specified population, sensors, and acquisition protocol, but not automatically a broader claim about all people, cameras, or operational settings. </a:t>
                </a:r>
                <a:br>
                  <a:rPr lang="en-US" sz="1200" b="0" i="0" kern="1200" baseline="30000" dirty="0">
                    <a:solidFill>
                      <a:schemeClr val="tx1"/>
                    </a:solidFill>
                    <a:effectLst/>
                    <a:latin typeface="+mn-lt"/>
                    <a:ea typeface="+mn-ea"/>
                    <a:cs typeface="+mn-cs"/>
                  </a:rPr>
                </a:br>
                <a:br>
                  <a:rPr lang="en-US" sz="1200" b="0" i="0" kern="1200" baseline="300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Require a benchmark card that explicitly states the target population, sensing environment, time span, task, and evaluation protocol. “One million samples” is not evidence of generalization unless those dimensions were sampled for the intended claim.</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Scientific validity </a:t>
                </a:r>
                <a:r>
                  <a:rPr lang="en-US" sz="1200" b="0" i="0" kern="1200" dirty="0">
                    <a:solidFill>
                      <a:schemeClr val="tx1"/>
                    </a:solidFill>
                    <a:effectLst/>
                    <a:latin typeface="+mn-lt"/>
                    <a:ea typeface="+mn-ea"/>
                    <a:cs typeface="+mn-cs"/>
                  </a:rPr>
                  <a:t>The paper comes from a decade-long collection effort tied to face and gesture recognition evaluation, where the value of the corpus is its ability to support controlled challenge problems and comparative testing rather than to establish a universal property of recognition algorithms. </a:t>
                </a:r>
                <a:br>
                  <a:rPr lang="en-US" sz="1200" b="0" i="0" kern="1200" baseline="30000" dirty="0">
                    <a:solidFill>
                      <a:schemeClr val="tx1"/>
                    </a:solidFill>
                    <a:effectLst/>
                    <a:latin typeface="+mn-lt"/>
                    <a:ea typeface="+mn-ea"/>
                    <a:cs typeface="+mn-cs"/>
                  </a:rPr>
                </a:br>
                <a:br>
                  <a:rPr lang="en-US" sz="1200" b="0" i="0" kern="1200" baseline="300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Ask: </a:t>
                </a:r>
                <a:r>
                  <a:rPr lang="en-US" sz="1200" b="0" i="1" kern="1200" dirty="0">
                    <a:solidFill>
                      <a:schemeClr val="tx1"/>
                    </a:solidFill>
                    <a:effectLst/>
                    <a:latin typeface="+mn-lt"/>
                    <a:ea typeface="+mn-ea"/>
                    <a:cs typeface="+mn-cs"/>
                  </a:rPr>
                  <a:t>What is held fixed, what varies, and what deployment claim does that variation permit?</a:t>
                </a:r>
                <a:r>
                  <a:rPr lang="en-US" sz="1200" b="0" i="0" kern="1200" dirty="0">
                    <a:solidFill>
                      <a:schemeClr val="tx1"/>
                    </a:solidFill>
                    <a:effectLst/>
                    <a:latin typeface="+mn-lt"/>
                    <a:ea typeface="+mn-ea"/>
                    <a:cs typeface="+mn-cs"/>
                  </a:rPr>
                  <a:t> A constrained lab collection may be excellent for isolating pose or sensor effects while remaining insufficient for claims about real-world demographic, geographic, or temporal robustness.</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Operations </a:t>
                </a:r>
                <a:r>
                  <a:rPr lang="en-US" sz="1200" b="0" i="0" kern="1200" dirty="0">
                    <a:solidFill>
                      <a:schemeClr val="tx1"/>
                    </a:solidFill>
                    <a:effectLst/>
                    <a:latin typeface="+mn-lt"/>
                    <a:ea typeface="+mn-ea"/>
                    <a:cs typeface="+mn-cs"/>
                  </a:rPr>
                  <a:t>A large collection is not just a camera and a recruitment list: it requires repeatable acquisition procedures, staff workflow, subject management, hardware operation, quality control, storage, and data release processes. The paper explicitly treats collection as a design-and-execution problem over a long time horizon.</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Document operator instructions, capture scripts, sensor configuration, calibration or maintenance changes, quality-control rules, re-capture policy, enrollment/identity-resolution workflow, and exclusions. Otherwise, researchers cannot distinguish a model failure from an acquisition-process artifact.</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Operations </a:t>
                </a:r>
                <a:r>
                  <a:rPr lang="en-US" sz="1200" b="0" i="0" kern="1200" dirty="0">
                    <a:solidFill>
                      <a:schemeClr val="tx1"/>
                    </a:solidFill>
                    <a:effectLst/>
                    <a:latin typeface="+mn-lt"/>
                    <a:ea typeface="+mn-ea"/>
                    <a:cs typeface="+mn-cs"/>
                  </a:rPr>
                  <a:t>The authors’ retrospective perspective over ten years highlights that collection decisions made early become constraints on later analyses. If the protocol does not record a factor—or does not deliberately vary it—it may be impossible to study its effect afterward.</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Before collection, create a “future-analysis” table: for each anticipated question—cross-sensor robustness, aging, quality sensitivity, demographic performance, or failure analysis—identify the needed repeated captures and metadata fields.</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Statistics </a:t>
                </a:r>
                <a:r>
                  <a:rPr lang="en-US" sz="1200" b="0" i="0" kern="1200" dirty="0">
                    <a:solidFill>
                      <a:schemeClr val="tx1"/>
                    </a:solidFill>
                    <a:effectLst/>
                    <a:latin typeface="+mn-lt"/>
                    <a:ea typeface="+mn-ea"/>
                    <a:cs typeface="+mn-cs"/>
                  </a:rPr>
                  <a:t>The paper argues for corpus scale sufficient for statistically rigorous characterization, but its collection perspective should lead students to separate the number of files or comparisons from the number of independent experimental units. Many images or pairwise scores can come from the same people, sessions, or acquisition events.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Report the hierarchy: </a:t>
                </a:r>
                <a14:m>
                  <m:oMath xmlns:m="http://schemas.openxmlformats.org/officeDocument/2006/math">
                    <m:sSub>
                      <m:sSubPr>
                        <m:ctrlPr>
                          <a:rPr lang="en-US" sz="1200" i="1" kern="1200">
                            <a:solidFill>
                              <a:schemeClr val="tx1"/>
                            </a:solidFill>
                            <a:latin typeface="+mn-lt"/>
                            <a:ea typeface="+mn-ea"/>
                            <a:cs typeface="+mn-cs"/>
                          </a:rPr>
                        </m:ctrlPr>
                      </m:sSubPr>
                      <m:e>
                        <m:r>
                          <a:rPr lang="en-US" sz="1200" i="1" kern="1200">
                            <a:solidFill>
                              <a:schemeClr val="tx1"/>
                            </a:solidFill>
                            <a:latin typeface="+mn-lt"/>
                            <a:ea typeface="+mn-ea"/>
                            <a:cs typeface="+mn-cs"/>
                          </a:rPr>
                          <m:t>𝑁</m:t>
                        </m:r>
                      </m:e>
                      <m:sub>
                        <m:r>
                          <m:rPr>
                            <m:nor/>
                          </m:rPr>
                          <a:rPr lang="en-US" sz="1200" b="0" i="0" kern="1200">
                            <a:solidFill>
                              <a:schemeClr val="tx1"/>
                            </a:solidFill>
                            <a:latin typeface="+mn-lt"/>
                            <a:ea typeface="+mn-ea"/>
                            <a:cs typeface="+mn-cs"/>
                          </a:rPr>
                          <m:t>subjects</m:t>
                        </m:r>
                      </m:sub>
                    </m:sSub>
                    <m:r>
                      <a:rPr lang="en-US" sz="1200" b="0" i="0" kern="1200">
                        <a:solidFill>
                          <a:schemeClr val="tx1"/>
                        </a:solidFill>
                        <a:latin typeface="+mn-lt"/>
                        <a:ea typeface="+mn-ea"/>
                        <a:cs typeface="+mn-cs"/>
                      </a:rPr>
                      <m:t>,</m:t>
                    </m:r>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𝑁</m:t>
                        </m:r>
                      </m:e>
                      <m:sub>
                        <m:r>
                          <m:rPr>
                            <m:nor/>
                          </m:rPr>
                          <a:rPr lang="en-US" sz="1200" b="0" i="0" kern="1200">
                            <a:solidFill>
                              <a:schemeClr val="tx1"/>
                            </a:solidFill>
                            <a:latin typeface="+mn-lt"/>
                            <a:ea typeface="+mn-ea"/>
                            <a:cs typeface="+mn-cs"/>
                          </a:rPr>
                          <m:t>sessions</m:t>
                        </m:r>
                      </m:sub>
                    </m:sSub>
                    <m:r>
                      <a:rPr lang="en-US" sz="1200" b="0" i="0" kern="1200">
                        <a:solidFill>
                          <a:schemeClr val="tx1"/>
                        </a:solidFill>
                        <a:latin typeface="+mn-lt"/>
                        <a:ea typeface="+mn-ea"/>
                        <a:cs typeface="+mn-cs"/>
                      </a:rPr>
                      <m:t>,</m:t>
                    </m:r>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𝑁</m:t>
                        </m:r>
                      </m:e>
                      <m:sub>
                        <m:r>
                          <m:rPr>
                            <m:nor/>
                          </m:rPr>
                          <a:rPr lang="en-US" sz="1200" b="0" i="0" kern="1200">
                            <a:solidFill>
                              <a:schemeClr val="tx1"/>
                            </a:solidFill>
                            <a:latin typeface="+mn-lt"/>
                            <a:ea typeface="+mn-ea"/>
                            <a:cs typeface="+mn-cs"/>
                          </a:rPr>
                          <m:t>captures</m:t>
                        </m:r>
                      </m:sub>
                    </m:sSub>
                    <m:r>
                      <a:rPr lang="en-US" sz="1200" b="0" i="0" kern="1200">
                        <a:solidFill>
                          <a:schemeClr val="tx1"/>
                        </a:solidFill>
                        <a:latin typeface="+mn-lt"/>
                        <a:ea typeface="+mn-ea"/>
                        <a:cs typeface="+mn-cs"/>
                      </a:rPr>
                      <m:t>,</m:t>
                    </m:r>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𝑁</m:t>
                        </m:r>
                      </m:e>
                      <m:sub>
                        <m:r>
                          <m:rPr>
                            <m:nor/>
                          </m:rPr>
                          <a:rPr lang="en-US" sz="1200" b="0" i="0" kern="1200">
                            <a:solidFill>
                              <a:schemeClr val="tx1"/>
                            </a:solidFill>
                            <a:latin typeface="+mn-lt"/>
                            <a:ea typeface="+mn-ea"/>
                            <a:cs typeface="+mn-cs"/>
                          </a:rPr>
                          <m:t>comparisons</m:t>
                        </m:r>
                      </m:sub>
                    </m:sSub>
                  </m:oMath>
                </a14:m>
                <a:r>
                  <a:rPr lang="en-US" sz="1200" b="0" i="0" kern="1200" dirty="0">
                    <a:solidFill>
                      <a:schemeClr val="tx1"/>
                    </a:solidFill>
                    <a:effectLst/>
                    <a:latin typeface="+mn-lt"/>
                    <a:ea typeface="+mn-ea"/>
                    <a:cs typeface="+mn-cs"/>
                  </a:rPr>
                  <a:t>. Use identity-disjoint splits for unseen-subject claims; use session-, site-, sensor-, or time-disjoint protocols when those are the deployment shifts being claimed.</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Statistics </a:t>
                </a:r>
                <a:r>
                  <a:rPr lang="en-US" sz="1200" b="0" i="0" kern="1200" dirty="0">
                    <a:solidFill>
                      <a:schemeClr val="tx1"/>
                    </a:solidFill>
                    <a:effectLst/>
                    <a:latin typeface="+mn-lt"/>
                    <a:ea typeface="+mn-ea"/>
                    <a:cs typeface="+mn-cs"/>
                  </a:rPr>
                  <a:t>In a face-verification corpus, every extra image can generate many genuine and impostor comparisons, but the resulting scores share identities and often share session conditions. Thus, a smooth ROC curve does not by itself establish equally precise population-level performance. This is the key statistical consequence of the paper’s emphasis on experimental design and corpus structure.</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Require identity-aware uncertainty analysis, such as subject-level bootstrap resampling or confidence intervals stratified by subject/session. Ask students whether an apparent algorithmic improvement survives when the resampling unit is the subject rather than the image pair.</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Reusability </a:t>
                </a:r>
                <a:r>
                  <a:rPr lang="en-US" sz="1200" b="0" i="0" kern="1200" dirty="0">
                    <a:solidFill>
                      <a:schemeClr val="tx1"/>
                    </a:solidFill>
                    <a:effectLst/>
                    <a:latin typeface="+mn-lt"/>
                    <a:ea typeface="+mn-ea"/>
                    <a:cs typeface="+mn-cs"/>
                  </a:rPr>
                  <a:t>The authors identify comprehensive metadata as necessary for making inferences about collection attributes. Metadata turns a corpus from a fixed benchmark into an object that can be stratified, audited, and repurposed for future questions.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Preserve capture timestamp or session ID, sensor and software version, site, capture protocol, image-quality indicators, failure-to-acquire/enroll flags, identity linkage, and label provenance. For human-subject data, document permitted uses and restrictions as well.</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Reusability </a:t>
                </a:r>
                <a:r>
                  <a:rPr lang="en-US" sz="1200" b="0" i="0" kern="1200" dirty="0">
                    <a:solidFill>
                      <a:schemeClr val="tx1"/>
                    </a:solidFill>
                    <a:effectLst/>
                    <a:latin typeface="+mn-lt"/>
                    <a:ea typeface="+mn-ea"/>
                    <a:cs typeface="+mn-cs"/>
                  </a:rPr>
                  <a:t>The paper’s connection to independent evaluations implies that reuse requires more than released images: outside researchers need the experimental definition that explains how samples, identities, and comparisons were organized.</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Release or precisely specify subject-disjoint partitions, enrollment/probe roles, allowed comparison lists, score direction, threshold-selection procedure, metric implementation, and any preprocessing that was fit using development data. Without these, two groups can use the same images yet evaluate different tasks.</a:t>
                </a:r>
              </a:p>
              <a:p>
                <a:br>
                  <a:rPr lang="en-US" dirty="0"/>
                </a:br>
                <a:endParaRPr lang="en-US" dirty="0"/>
              </a:p>
            </p:txBody>
          </p:sp>
        </mc:Choice>
        <mc:Fallback>
          <p:sp>
            <p:nvSpPr>
              <p:cNvPr id="3" name="Notes Placeholder 2"/>
              <p:cNvSpPr>
                <a:spLocks noGrp="1"/>
              </p:cNvSpPr>
              <p:nvPr>
                <p:ph type="body" idx="1"/>
              </p:nvPr>
            </p:nvSpPr>
            <p:spPr/>
            <p:txBody>
              <a:bodyPr/>
              <a:lstStyle/>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Scientific validity </a:t>
                </a:r>
                <a:r>
                  <a:rPr lang="en-US" sz="1200" b="0" i="0" kern="1200" dirty="0">
                    <a:solidFill>
                      <a:schemeClr val="tx1"/>
                    </a:solidFill>
                    <a:effectLst/>
                    <a:latin typeface="+mn-lt"/>
                    <a:ea typeface="+mn-ea"/>
                    <a:cs typeface="+mn-cs"/>
                  </a:rPr>
                  <a:t>The authors frame curated collections as the infrastructure for </a:t>
                </a:r>
                <a:r>
                  <a:rPr lang="en-US" sz="1200" b="0" i="1" kern="1200" dirty="0">
                    <a:solidFill>
                      <a:schemeClr val="tx1"/>
                    </a:solidFill>
                    <a:effectLst/>
                    <a:latin typeface="+mn-lt"/>
                    <a:ea typeface="+mn-ea"/>
                    <a:cs typeface="+mn-cs"/>
                  </a:rPr>
                  <a:t>independent evaluation</a:t>
                </a:r>
                <a:r>
                  <a:rPr lang="en-US" sz="1200" b="0" i="0" kern="1200" dirty="0">
                    <a:solidFill>
                      <a:schemeClr val="tx1"/>
                    </a:solidFill>
                    <a:effectLst/>
                    <a:latin typeface="+mn-lt"/>
                    <a:ea typeface="+mn-ea"/>
                    <a:cs typeface="+mn-cs"/>
                  </a:rPr>
                  <a:t>, but emphasize that the collection must be designed for the intended experiment—not simply made large. A collection can therefore support a claim about performance under its specified population, sensors, and acquisition protocol, but not automatically a broader claim about all people, cameras, or operational settings. </a:t>
                </a:r>
                <a:br>
                  <a:rPr lang="en-US" sz="1200" b="0" i="0" kern="1200" baseline="30000" dirty="0">
                    <a:solidFill>
                      <a:schemeClr val="tx1"/>
                    </a:solidFill>
                    <a:effectLst/>
                    <a:latin typeface="+mn-lt"/>
                    <a:ea typeface="+mn-ea"/>
                    <a:cs typeface="+mn-cs"/>
                  </a:rPr>
                </a:br>
                <a:br>
                  <a:rPr lang="en-US" sz="1200" b="0" i="0" kern="1200" baseline="300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Require a benchmark card that explicitly states the target population, sensing environment, time span, task, and evaluation protocol. “One million samples” is not evidence of generalization unless those dimensions were sampled for the intended claim.</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Scientific validity </a:t>
                </a:r>
                <a:r>
                  <a:rPr lang="en-US" sz="1200" b="0" i="0" kern="1200" dirty="0">
                    <a:solidFill>
                      <a:schemeClr val="tx1"/>
                    </a:solidFill>
                    <a:effectLst/>
                    <a:latin typeface="+mn-lt"/>
                    <a:ea typeface="+mn-ea"/>
                    <a:cs typeface="+mn-cs"/>
                  </a:rPr>
                  <a:t>The paper comes from a decade-long collection effort tied to face and gesture recognition evaluation, where the value of the corpus is its ability to support controlled challenge problems and comparative testing rather than to establish a universal property of recognition algorithms. </a:t>
                </a:r>
                <a:br>
                  <a:rPr lang="en-US" sz="1200" b="0" i="0" kern="1200" baseline="30000" dirty="0">
                    <a:solidFill>
                      <a:schemeClr val="tx1"/>
                    </a:solidFill>
                    <a:effectLst/>
                    <a:latin typeface="+mn-lt"/>
                    <a:ea typeface="+mn-ea"/>
                    <a:cs typeface="+mn-cs"/>
                  </a:rPr>
                </a:br>
                <a:br>
                  <a:rPr lang="en-US" sz="1200" b="0" i="0" kern="1200" baseline="300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Ask: </a:t>
                </a:r>
                <a:r>
                  <a:rPr lang="en-US" sz="1200" b="0" i="1" kern="1200" dirty="0">
                    <a:solidFill>
                      <a:schemeClr val="tx1"/>
                    </a:solidFill>
                    <a:effectLst/>
                    <a:latin typeface="+mn-lt"/>
                    <a:ea typeface="+mn-ea"/>
                    <a:cs typeface="+mn-cs"/>
                  </a:rPr>
                  <a:t>What is held fixed, what varies, and what deployment claim does that variation permit?</a:t>
                </a:r>
                <a:r>
                  <a:rPr lang="en-US" sz="1200" b="0" i="0" kern="1200" dirty="0">
                    <a:solidFill>
                      <a:schemeClr val="tx1"/>
                    </a:solidFill>
                    <a:effectLst/>
                    <a:latin typeface="+mn-lt"/>
                    <a:ea typeface="+mn-ea"/>
                    <a:cs typeface="+mn-cs"/>
                  </a:rPr>
                  <a:t> A constrained lab collection may be excellent for isolating pose or sensor effects while remaining insufficient for claims about real-world demographic, geographic, or temporal robustness.</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Operations </a:t>
                </a:r>
                <a:r>
                  <a:rPr lang="en-US" sz="1200" b="0" i="0" kern="1200" dirty="0">
                    <a:solidFill>
                      <a:schemeClr val="tx1"/>
                    </a:solidFill>
                    <a:effectLst/>
                    <a:latin typeface="+mn-lt"/>
                    <a:ea typeface="+mn-ea"/>
                    <a:cs typeface="+mn-cs"/>
                  </a:rPr>
                  <a:t>A large collection is not just a camera and a recruitment list: it requires repeatable acquisition procedures, staff workflow, subject management, hardware operation, quality control, storage, and data release processes. The paper explicitly treats collection as a design-and-execution problem over a long time horizon.</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Document operator instructions, capture scripts, sensor configuration, calibration or maintenance changes, quality-control rules, re-capture policy, enrollment/identity-resolution workflow, and exclusions. Otherwise, researchers cannot distinguish a model failure from an acquisition-process artifact.</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Operations </a:t>
                </a:r>
                <a:r>
                  <a:rPr lang="en-US" sz="1200" b="0" i="0" kern="1200" dirty="0">
                    <a:solidFill>
                      <a:schemeClr val="tx1"/>
                    </a:solidFill>
                    <a:effectLst/>
                    <a:latin typeface="+mn-lt"/>
                    <a:ea typeface="+mn-ea"/>
                    <a:cs typeface="+mn-cs"/>
                  </a:rPr>
                  <a:t>The authors’ retrospective perspective over ten years highlights that collection decisions made early become constraints on later analyses. If the protocol does not record a factor—or does not deliberately vary it—it may be impossible to study its effect afterward.</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Before collection, create a “future-analysis” table: for each anticipated question—cross-sensor robustness, aging, quality sensitivity, demographic performance, or failure analysis—identify the needed repeated captures and metadata fields.</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Statistics </a:t>
                </a:r>
                <a:r>
                  <a:rPr lang="en-US" sz="1200" b="0" i="0" kern="1200" dirty="0">
                    <a:solidFill>
                      <a:schemeClr val="tx1"/>
                    </a:solidFill>
                    <a:effectLst/>
                    <a:latin typeface="+mn-lt"/>
                    <a:ea typeface="+mn-ea"/>
                    <a:cs typeface="+mn-cs"/>
                  </a:rPr>
                  <a:t>The paper argues for corpus scale sufficient for statistically rigorous characterization, but its collection perspective should lead students to separate the number of files or comparisons from the number of independent experimental units. Many images or pairwise scores can come from the same people, sessions, or acquisition events.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Report the hierarchy: </a:t>
                </a:r>
                <a:r>
                  <a:rPr lang="en-US" sz="1200" i="0" kern="1200">
                    <a:solidFill>
                      <a:schemeClr val="tx1"/>
                    </a:solidFill>
                    <a:latin typeface="+mn-lt"/>
                    <a:ea typeface="+mn-ea"/>
                    <a:cs typeface="+mn-cs"/>
                  </a:rPr>
                  <a:t>𝑁_</a:t>
                </a:r>
                <a:r>
                  <a:rPr lang="en-US" sz="1200" b="0" i="0" kern="1200">
                    <a:solidFill>
                      <a:schemeClr val="tx1"/>
                    </a:solidFill>
                    <a:latin typeface="+mn-lt"/>
                    <a:ea typeface="+mn-ea"/>
                    <a:cs typeface="+mn-cs"/>
                  </a:rPr>
                  <a:t>"subjects" ,𝑁_"sessions" ,𝑁_"captures" ,𝑁_"comparisons" </a:t>
                </a:r>
                <a:r>
                  <a:rPr lang="en-US" sz="1200" b="0" i="0" kern="1200" dirty="0">
                    <a:solidFill>
                      <a:schemeClr val="tx1"/>
                    </a:solidFill>
                    <a:effectLst/>
                    <a:latin typeface="+mn-lt"/>
                    <a:ea typeface="+mn-ea"/>
                    <a:cs typeface="+mn-cs"/>
                  </a:rPr>
                  <a:t>. Use identity-disjoint splits for unseen-subject claims; use session-, site-, sensor-, or time-disjoint protocols when those are the deployment shifts being claimed.</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Statistics </a:t>
                </a:r>
                <a:r>
                  <a:rPr lang="en-US" sz="1200" b="0" i="0" kern="1200" dirty="0">
                    <a:solidFill>
                      <a:schemeClr val="tx1"/>
                    </a:solidFill>
                    <a:effectLst/>
                    <a:latin typeface="+mn-lt"/>
                    <a:ea typeface="+mn-ea"/>
                    <a:cs typeface="+mn-cs"/>
                  </a:rPr>
                  <a:t>In a face-verification corpus, every extra image can generate many genuine and impostor comparisons, but the resulting scores share identities and often share session conditions. Thus, a smooth ROC curve does not by itself establish equally precise population-level performance. This is the key statistical consequence of the paper’s emphasis on experimental design and corpus structure.</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Require identity-aware uncertainty analysis, such as subject-level bootstrap resampling or confidence intervals stratified by subject/session. Ask students whether an apparent algorithmic improvement survives when the resampling unit is the subject rather than the image pair.</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Reusability </a:t>
                </a:r>
                <a:r>
                  <a:rPr lang="en-US" sz="1200" b="0" i="0" kern="1200" dirty="0">
                    <a:solidFill>
                      <a:schemeClr val="tx1"/>
                    </a:solidFill>
                    <a:effectLst/>
                    <a:latin typeface="+mn-lt"/>
                    <a:ea typeface="+mn-ea"/>
                    <a:cs typeface="+mn-cs"/>
                  </a:rPr>
                  <a:t>The authors identify comprehensive metadata as necessary for making inferences about collection attributes. Metadata turns a corpus from a fixed benchmark into an object that can be stratified, audited, and repurposed for future questions.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Preserve capture timestamp or session ID, sensor and software version, site, capture protocol, image-quality indicators, failure-to-acquire/enroll flags, identity linkage, and label provenance. For human-subject data, document permitted uses and restrictions as well.</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Reusability </a:t>
                </a:r>
                <a:r>
                  <a:rPr lang="en-US" sz="1200" b="0" i="0" kern="1200" dirty="0">
                    <a:solidFill>
                      <a:schemeClr val="tx1"/>
                    </a:solidFill>
                    <a:effectLst/>
                    <a:latin typeface="+mn-lt"/>
                    <a:ea typeface="+mn-ea"/>
                    <a:cs typeface="+mn-cs"/>
                  </a:rPr>
                  <a:t>The paper’s connection to independent evaluations implies that reuse requires more than released images: outside researchers need the experimental definition that explains how samples, identities, and comparisons were organized.</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Release or precisely specify subject-disjoint partitions, enrollment/probe roles, allowed comparison lists, score direction, threshold-selection procedure, metric implementation, and any preprocessing that was fit using development data. Without these, two groups can use the same images yet evaluate different tasks.</a:t>
                </a:r>
              </a:p>
              <a:p>
                <a:br>
                  <a:rPr lang="en-US" dirty="0"/>
                </a:br>
                <a:endParaRPr lang="en-US" dirty="0"/>
              </a:p>
            </p:txBody>
          </p:sp>
        </mc:Fallback>
      </mc:AlternateContent>
      <p:sp>
        <p:nvSpPr>
          <p:cNvPr id="4" name="Slide Number Placeholder 3"/>
          <p:cNvSpPr>
            <a:spLocks noGrp="1"/>
          </p:cNvSpPr>
          <p:nvPr>
            <p:ph type="sldNum" sz="quarter" idx="5"/>
          </p:nvPr>
        </p:nvSpPr>
        <p:spPr/>
        <p:txBody>
          <a:bodyPr/>
          <a:lstStyle/>
          <a:p>
            <a:fld id="{29E7BD1F-0023-244E-A8FD-1ADCC0FAE1A1}" type="slidenum">
              <a:rPr lang="en-US" smtClean="0"/>
              <a:t>22</a:t>
            </a:fld>
            <a:endParaRPr lang="en-US"/>
          </a:p>
        </p:txBody>
      </p:sp>
    </p:spTree>
    <p:extLst>
      <p:ext uri="{BB962C8B-B14F-4D97-AF65-F5344CB8AC3E}">
        <p14:creationId xmlns:p14="http://schemas.microsoft.com/office/powerpoint/2010/main" val="509804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0A58-7079-9BEE-7F38-154933D6A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014E9-7FE0-612A-245B-E476C490C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1763C4-5CB7-BE14-0327-548879C1FE9E}"/>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10053A6D-293C-BC96-788D-AF80D22A77FE}"/>
              </a:ext>
            </a:extLst>
          </p:cNvPr>
          <p:cNvSpPr>
            <a:spLocks noGrp="1"/>
          </p:cNvSpPr>
          <p:nvPr>
            <p:ph type="sldNum" sz="quarter" idx="5"/>
          </p:nvPr>
        </p:nvSpPr>
        <p:spPr/>
        <p:txBody>
          <a:bodyPr/>
          <a:lstStyle/>
          <a:p>
            <a:fld id="{29E7BD1F-0023-244E-A8FD-1ADCC0FAE1A1}" type="slidenum">
              <a:rPr lang="en-US" smtClean="0"/>
              <a:t>23</a:t>
            </a:fld>
            <a:endParaRPr lang="en-US"/>
          </a:p>
        </p:txBody>
      </p:sp>
    </p:spTree>
    <p:extLst>
      <p:ext uri="{BB962C8B-B14F-4D97-AF65-F5344CB8AC3E}">
        <p14:creationId xmlns:p14="http://schemas.microsoft.com/office/powerpoint/2010/main" val="198034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2F891-8B17-48F1-BE9F-1C3275E1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F921D-91EA-1844-FAFA-F04BAF30E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7BAD1-B445-87D5-07F2-6BCCEB025A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Headline: </a:t>
            </a:r>
            <a:r>
              <a:rPr lang="en-US" sz="1200" b="1" i="0" kern="1200" dirty="0">
                <a:solidFill>
                  <a:schemeClr val="tx1"/>
                </a:solidFill>
                <a:effectLst/>
                <a:latin typeface="+mn-lt"/>
                <a:ea typeface="+mn-ea"/>
                <a:cs typeface="+mn-cs"/>
              </a:rPr>
              <a:t>A million samples are not a million independent observations</a:t>
            </a:r>
          </a:p>
          <a:p>
            <a:endParaRPr lang="en-US" b="1" dirty="0"/>
          </a:p>
          <a:p>
            <a:pPr marL="0" indent="0">
              <a:buFont typeface="Arial" panose="020B0604020202020204" pitchFamily="34" charset="0"/>
              <a:buNone/>
            </a:pPr>
            <a:r>
              <a:rPr lang="en-US" b="0" dirty="0"/>
              <a:t>Recall the </a:t>
            </a:r>
            <a:r>
              <a:rPr lang="en-US" b="0" dirty="0" err="1"/>
              <a:t>hierarchial</a:t>
            </a:r>
            <a:r>
              <a:rPr lang="en-US" b="0" dirty="0"/>
              <a:t> structure: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Each level may carry shared factors: identity, physiology, camera/sensor, operator, lighting, background, time, or acquisition workflow.</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For a recognition claim, distinguish: num subjects, </a:t>
            </a:r>
            <a:r>
              <a:rPr lang="en-US" sz="1200" b="0" i="0" kern="1200" dirty="0" err="1">
                <a:solidFill>
                  <a:schemeClr val="tx1"/>
                </a:solidFill>
                <a:effectLst/>
                <a:latin typeface="+mn-lt"/>
                <a:ea typeface="+mn-ea"/>
                <a:cs typeface="+mn-cs"/>
              </a:rPr>
              <a:t>seesions</a:t>
            </a:r>
            <a:r>
              <a:rPr lang="en-US" sz="1200" b="0" i="0" kern="1200" dirty="0">
                <a:solidFill>
                  <a:schemeClr val="tx1"/>
                </a:solidFill>
                <a:effectLst/>
                <a:latin typeface="+mn-lt"/>
                <a:ea typeface="+mn-ea"/>
                <a:cs typeface="+mn-cs"/>
              </a:rPr>
              <a:t>, captures, comparisons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main point: </a:t>
            </a:r>
            <a:r>
              <a:rPr lang="en-US" sz="1200" b="0" i="0" kern="1200" dirty="0">
                <a:solidFill>
                  <a:schemeClr val="tx1"/>
                </a:solidFill>
                <a:effectLst/>
                <a:latin typeface="+mn-lt"/>
                <a:ea typeface="+mn-ea"/>
                <a:cs typeface="+mn-cs"/>
              </a:rPr>
              <a:t>A vast number of pairwise comparisons may be generated from a modest number of identities and sessions. It improves score-curve resolution but does not automatically provide an equivalent amount of independent evidence about population-level performance.</a:t>
            </a:r>
            <a:endParaRPr lang="en-US" b="0" dirty="0"/>
          </a:p>
        </p:txBody>
      </p:sp>
      <p:sp>
        <p:nvSpPr>
          <p:cNvPr id="4" name="Slide Number Placeholder 3">
            <a:extLst>
              <a:ext uri="{FF2B5EF4-FFF2-40B4-BE49-F238E27FC236}">
                <a16:creationId xmlns:a16="http://schemas.microsoft.com/office/drawing/2014/main" id="{4B987AE3-5139-29A8-79C8-D0C370AC4E33}"/>
              </a:ext>
            </a:extLst>
          </p:cNvPr>
          <p:cNvSpPr>
            <a:spLocks noGrp="1"/>
          </p:cNvSpPr>
          <p:nvPr>
            <p:ph type="sldNum" sz="quarter" idx="5"/>
          </p:nvPr>
        </p:nvSpPr>
        <p:spPr/>
        <p:txBody>
          <a:bodyPr/>
          <a:lstStyle/>
          <a:p>
            <a:fld id="{29E7BD1F-0023-244E-A8FD-1ADCC0FAE1A1}" type="slidenum">
              <a:rPr lang="en-US" smtClean="0"/>
              <a:t>24</a:t>
            </a:fld>
            <a:endParaRPr lang="en-US"/>
          </a:p>
        </p:txBody>
      </p:sp>
    </p:spTree>
    <p:extLst>
      <p:ext uri="{BB962C8B-B14F-4D97-AF65-F5344CB8AC3E}">
        <p14:creationId xmlns:p14="http://schemas.microsoft.com/office/powerpoint/2010/main" val="3409823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483F2-6B09-EA68-D40A-A4B8AE785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89980-067E-5BA0-D344-7FEE0DC8658C}"/>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5DFF52AC-8534-413C-7C57-A01D30CDC803}"/>
                  </a:ext>
                </a:extLst>
              </p:cNvPr>
              <p:cNvSpPr>
                <a:spLocks noGrp="1"/>
              </p:cNvSpPr>
              <p:nvPr>
                <p:ph type="body" idx="1"/>
              </p:nvPr>
            </p:nvSpPr>
            <p:spPr/>
            <p:txBody>
              <a:bodyPr/>
              <a:lstStyle/>
              <a:p>
                <a:pPr lvl="0"/>
                <a:r>
                  <a:rPr lang="en-US" sz="1200" b="0" i="0" kern="1200" dirty="0">
                    <a:solidFill>
                      <a:schemeClr val="tx1"/>
                    </a:solidFill>
                    <a:effectLst/>
                    <a:latin typeface="+mn-lt"/>
                    <a:ea typeface="+mn-ea"/>
                    <a:cs typeface="+mn-cs"/>
                  </a:rPr>
                  <a:t>1. When do samples from the same identity become a source of leakage rather than valuable repeated measurements?</a:t>
                </a:r>
              </a:p>
              <a:p>
                <a:pPr lvl="0"/>
                <a:r>
                  <a:rPr lang="en-US" sz="1200" b="0" i="0" kern="1200" dirty="0">
                    <a:solidFill>
                      <a:schemeClr val="tx1"/>
                    </a:solidFill>
                    <a:effectLst/>
                    <a:latin typeface="+mn-lt"/>
                    <a:ea typeface="+mn-ea"/>
                    <a:cs typeface="+mn-cs"/>
                  </a:rPr>
                  <a:t>2. If a metric is computed over all genuine and impostor pairs, which identities contribute the most influence? Is that desired?</a:t>
                </a:r>
              </a:p>
              <a:p>
                <a:pPr lvl="0"/>
                <a:r>
                  <a:rPr lang="en-US" sz="1200" b="0" i="0" kern="1200" dirty="0">
                    <a:solidFill>
                      <a:schemeClr val="tx1"/>
                    </a:solidFill>
                    <a:effectLst/>
                    <a:latin typeface="+mn-lt"/>
                    <a:ea typeface="+mn-ea"/>
                    <a:cs typeface="+mn-cs"/>
                  </a:rPr>
                  <a:t>3. What resampling unit would you use for a confidence interval: comparison, image, session, or subject? Why?</a:t>
                </a:r>
              </a:p>
              <a:p>
                <a:pPr lvl="0"/>
                <a:r>
                  <a:rPr lang="en-US" sz="1200" b="0" i="0" kern="1200" dirty="0">
                    <a:solidFill>
                      <a:schemeClr val="tx1"/>
                    </a:solidFill>
                    <a:effectLst/>
                    <a:latin typeface="+mn-lt"/>
                    <a:ea typeface="+mn-ea"/>
                    <a:cs typeface="+mn-cs"/>
                  </a:rPr>
                  <a:t>4. How would your answer change for video-frame-based gait or face recognition?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Synthesis: </a:t>
                </a:r>
                <a:r>
                  <a:rPr lang="en-US" sz="1200" b="0" i="0" kern="1200" dirty="0">
                    <a:solidFill>
                      <a:schemeClr val="tx1"/>
                    </a:solidFill>
                    <a:effectLst/>
                    <a:latin typeface="+mn-lt"/>
                    <a:ea typeface="+mn-ea"/>
                    <a:cs typeface="+mn-cs"/>
                  </a:rPr>
                  <a:t>Report the collection hierarchy—not merely a single </a:t>
                </a:r>
                <a14:m>
                  <m:oMath xmlns:m="http://schemas.openxmlformats.org/officeDocument/2006/math">
                    <m:r>
                      <a:rPr lang="en-US" sz="1200" i="1" kern="1200">
                        <a:solidFill>
                          <a:schemeClr val="tx1"/>
                        </a:solidFill>
                        <a:latin typeface="+mn-lt"/>
                        <a:ea typeface="+mn-ea"/>
                        <a:cs typeface="+mn-cs"/>
                      </a:rPr>
                      <m:t>𝑁</m:t>
                    </m:r>
                  </m:oMath>
                </a14:m>
                <a:r>
                  <a:rPr lang="en-US" sz="1200" b="0" i="0" kern="1200" dirty="0">
                    <a:solidFill>
                      <a:schemeClr val="tx1"/>
                    </a:solidFill>
                    <a:effectLst/>
                    <a:latin typeface="+mn-lt"/>
                    <a:ea typeface="+mn-ea"/>
                    <a:cs typeface="+mn-cs"/>
                  </a:rPr>
                  <a:t>. Match the split and the uncertainty procedure to the unit over which the conclusion is intended to generalize.</a:t>
                </a:r>
                <a:endParaRPr lang="en-US" b="1" dirty="0"/>
              </a:p>
            </p:txBody>
          </p:sp>
        </mc:Choice>
        <mc:Fallback>
          <p:sp>
            <p:nvSpPr>
              <p:cNvPr id="3" name="Notes Placeholder 2">
                <a:extLst>
                  <a:ext uri="{FF2B5EF4-FFF2-40B4-BE49-F238E27FC236}">
                    <a16:creationId xmlns:a16="http://schemas.microsoft.com/office/drawing/2014/main" id="{5DFF52AC-8534-413C-7C57-A01D30CDC803}"/>
                  </a:ext>
                </a:extLst>
              </p:cNvPr>
              <p:cNvSpPr>
                <a:spLocks noGrp="1"/>
              </p:cNvSpPr>
              <p:nvPr>
                <p:ph type="body" idx="1"/>
              </p:nvPr>
            </p:nvSpPr>
            <p:spPr/>
            <p:txBody>
              <a:bodyPr/>
              <a:lstStyle/>
              <a:p>
                <a:pPr lvl="0"/>
                <a:r>
                  <a:rPr lang="en-US" sz="1200" b="0" i="0" kern="1200" dirty="0">
                    <a:solidFill>
                      <a:schemeClr val="tx1"/>
                    </a:solidFill>
                    <a:effectLst/>
                    <a:latin typeface="+mn-lt"/>
                    <a:ea typeface="+mn-ea"/>
                    <a:cs typeface="+mn-cs"/>
                  </a:rPr>
                  <a:t>1. When do samples from the same identity become a source of leakage rather than valuable repeated measurements?</a:t>
                </a:r>
              </a:p>
              <a:p>
                <a:pPr lvl="0"/>
                <a:r>
                  <a:rPr lang="en-US" sz="1200" b="0" i="0" kern="1200" dirty="0">
                    <a:solidFill>
                      <a:schemeClr val="tx1"/>
                    </a:solidFill>
                    <a:effectLst/>
                    <a:latin typeface="+mn-lt"/>
                    <a:ea typeface="+mn-ea"/>
                    <a:cs typeface="+mn-cs"/>
                  </a:rPr>
                  <a:t>2. If a metric is computed over all genuine and impostor pairs, which identities contribute the most influence? Is that desired?</a:t>
                </a:r>
              </a:p>
              <a:p>
                <a:pPr lvl="0"/>
                <a:r>
                  <a:rPr lang="en-US" sz="1200" b="0" i="0" kern="1200" dirty="0">
                    <a:solidFill>
                      <a:schemeClr val="tx1"/>
                    </a:solidFill>
                    <a:effectLst/>
                    <a:latin typeface="+mn-lt"/>
                    <a:ea typeface="+mn-ea"/>
                    <a:cs typeface="+mn-cs"/>
                  </a:rPr>
                  <a:t>3. What resampling unit would you use for a confidence interval: comparison, image, session, or subject? Why?</a:t>
                </a:r>
              </a:p>
              <a:p>
                <a:pPr lvl="0"/>
                <a:r>
                  <a:rPr lang="en-US" sz="1200" b="0" i="0" kern="1200" dirty="0">
                    <a:solidFill>
                      <a:schemeClr val="tx1"/>
                    </a:solidFill>
                    <a:effectLst/>
                    <a:latin typeface="+mn-lt"/>
                    <a:ea typeface="+mn-ea"/>
                    <a:cs typeface="+mn-cs"/>
                  </a:rPr>
                  <a:t>4. How would your answer change for video-frame-based gait or face recognition?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Synthesis: </a:t>
                </a:r>
                <a:r>
                  <a:rPr lang="en-US" sz="1200" b="0" i="0" kern="1200" dirty="0">
                    <a:solidFill>
                      <a:schemeClr val="tx1"/>
                    </a:solidFill>
                    <a:effectLst/>
                    <a:latin typeface="+mn-lt"/>
                    <a:ea typeface="+mn-ea"/>
                    <a:cs typeface="+mn-cs"/>
                  </a:rPr>
                  <a:t>Report the collection hierarchy—not merely a single </a:t>
                </a:r>
                <a:r>
                  <a:rPr lang="en-US" sz="1200" i="0" kern="1200">
                    <a:solidFill>
                      <a:schemeClr val="tx1"/>
                    </a:solidFill>
                    <a:latin typeface="+mn-lt"/>
                    <a:ea typeface="+mn-ea"/>
                    <a:cs typeface="+mn-cs"/>
                  </a:rPr>
                  <a:t>𝑁</a:t>
                </a:r>
                <a:r>
                  <a:rPr lang="en-US" sz="1200" b="0" i="0" kern="1200" dirty="0">
                    <a:solidFill>
                      <a:schemeClr val="tx1"/>
                    </a:solidFill>
                    <a:effectLst/>
                    <a:latin typeface="+mn-lt"/>
                    <a:ea typeface="+mn-ea"/>
                    <a:cs typeface="+mn-cs"/>
                  </a:rPr>
                  <a:t>. Match the split and the uncertainty procedure to the unit over which the conclusion is intended to generalize.</a:t>
                </a:r>
                <a:endParaRPr lang="en-US" b="1" dirty="0"/>
              </a:p>
            </p:txBody>
          </p:sp>
        </mc:Fallback>
      </mc:AlternateContent>
      <p:sp>
        <p:nvSpPr>
          <p:cNvPr id="4" name="Slide Number Placeholder 3">
            <a:extLst>
              <a:ext uri="{FF2B5EF4-FFF2-40B4-BE49-F238E27FC236}">
                <a16:creationId xmlns:a16="http://schemas.microsoft.com/office/drawing/2014/main" id="{607679A0-97E5-70BC-0320-1853FD643CE4}"/>
              </a:ext>
            </a:extLst>
          </p:cNvPr>
          <p:cNvSpPr>
            <a:spLocks noGrp="1"/>
          </p:cNvSpPr>
          <p:nvPr>
            <p:ph type="sldNum" sz="quarter" idx="5"/>
          </p:nvPr>
        </p:nvSpPr>
        <p:spPr/>
        <p:txBody>
          <a:bodyPr/>
          <a:lstStyle/>
          <a:p>
            <a:fld id="{29E7BD1F-0023-244E-A8FD-1ADCC0FAE1A1}" type="slidenum">
              <a:rPr lang="en-US" smtClean="0"/>
              <a:t>25</a:t>
            </a:fld>
            <a:endParaRPr lang="en-US"/>
          </a:p>
        </p:txBody>
      </p:sp>
    </p:spTree>
    <p:extLst>
      <p:ext uri="{BB962C8B-B14F-4D97-AF65-F5344CB8AC3E}">
        <p14:creationId xmlns:p14="http://schemas.microsoft.com/office/powerpoint/2010/main" val="3486352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D8CDC-1D08-7EFE-6D28-5979EE484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E5942-6A9D-4CFF-E578-A12BAE85D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B3411-3342-8FD4-691C-D80281C36984}"/>
              </a:ext>
            </a:extLst>
          </p:cNvPr>
          <p:cNvSpPr>
            <a:spLocks noGrp="1"/>
          </p:cNvSpPr>
          <p:nvPr>
            <p:ph type="body" idx="1"/>
          </p:nvPr>
        </p:nvSpPr>
        <p:spPr/>
        <p:txBody>
          <a:bodyPr/>
          <a:lstStyle/>
          <a:p>
            <a:r>
              <a:rPr lang="en-US" b="1" dirty="0"/>
              <a:t>Headline: </a:t>
            </a:r>
            <a:r>
              <a:rPr lang="en-US" sz="1200" b="1" i="0" kern="1200" dirty="0">
                <a:solidFill>
                  <a:schemeClr val="tx1"/>
                </a:solidFill>
                <a:effectLst/>
                <a:latin typeface="+mn-lt"/>
                <a:ea typeface="+mn-ea"/>
                <a:cs typeface="+mn-cs"/>
              </a:rPr>
              <a:t>Controlled variation, operational realism, and confounding</a:t>
            </a:r>
          </a:p>
          <a:p>
            <a:endParaRPr lang="en-US" b="1" dirty="0"/>
          </a:p>
          <a:p>
            <a:r>
              <a:rPr lang="en-US" sz="1200" b="1" i="0" kern="1200" dirty="0">
                <a:solidFill>
                  <a:schemeClr val="tx1"/>
                </a:solidFill>
                <a:effectLst/>
                <a:latin typeface="+mn-lt"/>
                <a:ea typeface="+mn-ea"/>
                <a:cs typeface="+mn-cs"/>
              </a:rPr>
              <a:t>A lab wants to claim that Method B is more robust to illumination than Method A. Which design provides the strongest evidence?</a:t>
            </a:r>
          </a:p>
          <a:p>
            <a:r>
              <a:rPr lang="en-US" sz="1200" b="0" i="0" kern="1200" dirty="0">
                <a:solidFill>
                  <a:schemeClr val="tx1"/>
                </a:solidFill>
                <a:effectLst/>
                <a:latin typeface="+mn-lt"/>
                <a:ea typeface="+mn-ea"/>
                <a:cs typeface="+mn-cs"/>
              </a:rPr>
              <a:t>A. Capture each identity only once under whatever lighting occurs naturally.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 Capture the same identities under pre-specified lighting conditions, randomize or balance their order, and record illumination metadata.</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 Train with synthetic brightness augmentation and test on the same images.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 Report performance on a larger dataset without illumination labels.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Expected answer:</a:t>
            </a:r>
            <a:r>
              <a:rPr lang="en-US" sz="1200" b="0" i="0" kern="1200" dirty="0">
                <a:solidFill>
                  <a:schemeClr val="tx1"/>
                </a:solidFill>
                <a:effectLst/>
                <a:latin typeface="+mn-lt"/>
                <a:ea typeface="+mn-ea"/>
                <a:cs typeface="+mn-cs"/>
              </a:rPr>
              <a:t> B, with discussion of external validity and whether the specified conditions represent the target environment.</a:t>
            </a:r>
          </a:p>
          <a:p>
            <a:endParaRPr lang="en-US" b="1" dirty="0"/>
          </a:p>
          <a:p>
            <a:endParaRPr lang="en-US" b="1" dirty="0"/>
          </a:p>
          <a:p>
            <a:pPr marL="0" lvl="0" indent="0">
              <a:buFont typeface="+mj-lt"/>
              <a:buNone/>
            </a:pPr>
            <a:r>
              <a:rPr lang="en-US" b="0" dirty="0"/>
              <a:t>Discussion Questions:</a:t>
            </a:r>
          </a:p>
          <a:p>
            <a:pPr marL="228600" lvl="0" indent="-228600">
              <a:buFont typeface="+mj-lt"/>
              <a:buAutoNum type="arabicPeriod"/>
            </a:pPr>
            <a:r>
              <a:rPr lang="en-US" sz="1200" b="0" i="0" kern="1200" dirty="0">
                <a:solidFill>
                  <a:schemeClr val="tx1"/>
                </a:solidFill>
                <a:effectLst/>
                <a:latin typeface="+mn-lt"/>
                <a:ea typeface="+mn-ea"/>
                <a:cs typeface="+mn-cs"/>
              </a:rPr>
              <a:t>Identify a plausible confound if one sensor is used only at one site or for one demographic stratum.</a:t>
            </a:r>
          </a:p>
          <a:p>
            <a:pPr marL="228600" lvl="0" indent="-228600">
              <a:buFont typeface="+mj-lt"/>
              <a:buAutoNum type="arabicPeriod"/>
            </a:pPr>
            <a:r>
              <a:rPr lang="en-US" sz="1200" b="0" i="0" kern="1200" dirty="0">
                <a:solidFill>
                  <a:schemeClr val="tx1"/>
                </a:solidFill>
                <a:effectLst/>
                <a:latin typeface="+mn-lt"/>
                <a:ea typeface="+mn-ea"/>
                <a:cs typeface="+mn-cs"/>
              </a:rPr>
              <a:t>Is a highly controlled collection less useful than a “in the wild” collection? State the </a:t>
            </a:r>
            <a:r>
              <a:rPr lang="en-US" sz="1200" b="0" i="0" kern="1200" dirty="0" err="1">
                <a:solidFill>
                  <a:schemeClr val="tx1"/>
                </a:solidFill>
                <a:effectLst/>
                <a:latin typeface="+mn-lt"/>
                <a:ea typeface="+mn-ea"/>
                <a:cs typeface="+mn-cs"/>
              </a:rPr>
              <a:t>estimand</a:t>
            </a:r>
            <a:r>
              <a:rPr lang="en-US" sz="1200" b="0" i="0" kern="1200" dirty="0">
                <a:solidFill>
                  <a:schemeClr val="tx1"/>
                </a:solidFill>
                <a:effectLst/>
                <a:latin typeface="+mn-lt"/>
                <a:ea typeface="+mn-ea"/>
                <a:cs typeface="+mn-cs"/>
              </a:rPr>
              <a:t> each supports.</a:t>
            </a:r>
          </a:p>
          <a:p>
            <a:pPr marL="228600" lvl="0" indent="-228600">
              <a:buFont typeface="+mj-lt"/>
              <a:buAutoNum type="arabicPeriod"/>
            </a:pPr>
            <a:r>
              <a:rPr lang="en-US" sz="1200" b="0" i="0" kern="1200" dirty="0">
                <a:solidFill>
                  <a:schemeClr val="tx1"/>
                </a:solidFill>
                <a:effectLst/>
                <a:latin typeface="+mn-lt"/>
                <a:ea typeface="+mn-ea"/>
                <a:cs typeface="+mn-cs"/>
              </a:rPr>
              <a:t>Which acquisition variables should be mandatory metadata for face, iris, fingerprint, gait, or person re-identification? Select a modality and justify five fields.</a:t>
            </a:r>
          </a:p>
          <a:p>
            <a:pPr marL="228600" lvl="0" indent="-228600">
              <a:buFont typeface="+mj-lt"/>
              <a:buAutoNum type="arabicPeriod"/>
            </a:pPr>
            <a:r>
              <a:rPr lang="en-US" sz="1200" b="0" i="0" kern="1200" dirty="0">
                <a:solidFill>
                  <a:schemeClr val="tx1"/>
                </a:solidFill>
                <a:effectLst/>
                <a:latin typeface="+mn-lt"/>
                <a:ea typeface="+mn-ea"/>
                <a:cs typeface="+mn-cs"/>
              </a:rPr>
              <a:t>When is a nuisance factor a protected/ethical attribute rather than simply an experimental variable?</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main point: </a:t>
            </a:r>
            <a:r>
              <a:rPr lang="en-US" sz="1200" b="0" i="0" kern="1200" dirty="0">
                <a:solidFill>
                  <a:schemeClr val="tx1"/>
                </a:solidFill>
                <a:effectLst/>
                <a:latin typeface="+mn-lt"/>
                <a:ea typeface="+mn-ea"/>
                <a:cs typeface="+mn-cs"/>
              </a:rPr>
              <a:t>Protocol design is experimental design. Balance, randomization, repeated measures, and metadata determine whether a performance difference can be attributed to the intended factor.</a:t>
            </a:r>
            <a:endParaRPr lang="en-US" b="0" dirty="0"/>
          </a:p>
        </p:txBody>
      </p:sp>
      <p:sp>
        <p:nvSpPr>
          <p:cNvPr id="4" name="Slide Number Placeholder 3">
            <a:extLst>
              <a:ext uri="{FF2B5EF4-FFF2-40B4-BE49-F238E27FC236}">
                <a16:creationId xmlns:a16="http://schemas.microsoft.com/office/drawing/2014/main" id="{6A10E2D5-5F0A-FB24-EB52-FBDBA70DB9E5}"/>
              </a:ext>
            </a:extLst>
          </p:cNvPr>
          <p:cNvSpPr>
            <a:spLocks noGrp="1"/>
          </p:cNvSpPr>
          <p:nvPr>
            <p:ph type="sldNum" sz="quarter" idx="5"/>
          </p:nvPr>
        </p:nvSpPr>
        <p:spPr/>
        <p:txBody>
          <a:bodyPr/>
          <a:lstStyle/>
          <a:p>
            <a:fld id="{29E7BD1F-0023-244E-A8FD-1ADCC0FAE1A1}" type="slidenum">
              <a:rPr lang="en-US" smtClean="0"/>
              <a:t>26</a:t>
            </a:fld>
            <a:endParaRPr lang="en-US"/>
          </a:p>
        </p:txBody>
      </p:sp>
    </p:spTree>
    <p:extLst>
      <p:ext uri="{BB962C8B-B14F-4D97-AF65-F5344CB8AC3E}">
        <p14:creationId xmlns:p14="http://schemas.microsoft.com/office/powerpoint/2010/main" val="14131583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521BB-7AE8-21A8-715C-8A58C4FAB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02F30-7FD2-0B2E-490F-D2C271E0CA56}"/>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B17EEDD0-C875-D23D-48A5-EC8AB430DD23}"/>
                  </a:ext>
                </a:extLst>
              </p:cNvPr>
              <p:cNvSpPr>
                <a:spLocks noGrp="1"/>
              </p:cNvSpPr>
              <p:nvPr>
                <p:ph type="body" idx="1"/>
              </p:nvPr>
            </p:nvSpPr>
            <p:spPr/>
            <p:txBody>
              <a:bodyPr/>
              <a:lstStyle/>
              <a:p>
                <a:r>
                  <a:rPr lang="en-US" b="1" dirty="0"/>
                  <a:t>Headline: </a:t>
                </a:r>
                <a:r>
                  <a:rPr lang="en-US" sz="1200" b="1" i="0" kern="1200" dirty="0">
                    <a:solidFill>
                      <a:schemeClr val="tx1"/>
                    </a:solidFill>
                    <a:effectLst/>
                    <a:latin typeface="+mn-lt"/>
                    <a:ea typeface="+mn-ea"/>
                    <a:cs typeface="+mn-cs"/>
                  </a:rPr>
                  <a:t>Does the collection permit the operating point you report?</a:t>
                </a:r>
              </a:p>
              <a:p>
                <a:endParaRPr lang="en-US" sz="1200" b="1"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Queestion</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Your proposed access-control evaluation reports </a:t>
                </a:r>
                <a14:m>
                  <m:oMath xmlns:m="http://schemas.openxmlformats.org/officeDocument/2006/math">
                    <m:r>
                      <m:rPr>
                        <m:sty m:val="p"/>
                      </m:rPr>
                      <a:rPr lang="en-US" sz="1200" kern="1200">
                        <a:solidFill>
                          <a:schemeClr val="tx1"/>
                        </a:solidFill>
                        <a:latin typeface="+mn-lt"/>
                        <a:ea typeface="+mn-ea"/>
                        <a:cs typeface="+mn-cs"/>
                      </a:rPr>
                      <m:t>F</m:t>
                    </m:r>
                    <m:r>
                      <m:rPr>
                        <m:sty m:val="p"/>
                      </m:rPr>
                      <a:rPr lang="en-US" sz="1200" i="0" kern="1200">
                        <a:solidFill>
                          <a:schemeClr val="tx1"/>
                        </a:solidFill>
                        <a:latin typeface="+mn-lt"/>
                        <a:ea typeface="+mn-ea"/>
                        <a:cs typeface="+mn-cs"/>
                      </a:rPr>
                      <m:t>NMR</m:t>
                    </m:r>
                  </m:oMath>
                </a14:m>
                <a:r>
                  <a:rPr lang="en-US" sz="1200" b="0" i="0" kern="1200" dirty="0">
                    <a:solidFill>
                      <a:schemeClr val="tx1"/>
                    </a:solidFill>
                    <a:effectLst/>
                    <a:latin typeface="+mn-lt"/>
                    <a:ea typeface="+mn-ea"/>
                    <a:cs typeface="+mn-cs"/>
                  </a:rPr>
                  <a:t> at </a:t>
                </a:r>
                <a14:m>
                  <m:oMath xmlns:m="http://schemas.openxmlformats.org/officeDocument/2006/math">
                    <m:r>
                      <m:rPr>
                        <m:sty m:val="p"/>
                      </m:rPr>
                      <a:rPr lang="en-US" sz="1200" kern="1200">
                        <a:solidFill>
                          <a:schemeClr val="tx1"/>
                        </a:solidFill>
                        <a:latin typeface="+mn-lt"/>
                        <a:ea typeface="+mn-ea"/>
                        <a:cs typeface="+mn-cs"/>
                      </a:rPr>
                      <m:t>F</m:t>
                    </m:r>
                    <m:r>
                      <m:rPr>
                        <m:sty m:val="p"/>
                      </m:rPr>
                      <a:rPr lang="en-US" sz="1200" i="0" kern="1200">
                        <a:solidFill>
                          <a:schemeClr val="tx1"/>
                        </a:solidFill>
                        <a:latin typeface="+mn-lt"/>
                        <a:ea typeface="+mn-ea"/>
                        <a:cs typeface="+mn-cs"/>
                      </a:rPr>
                      <m:t>MR</m:t>
                    </m:r>
                    <m:r>
                      <a:rPr lang="en-US" sz="1200" i="0" kern="1200">
                        <a:solidFill>
                          <a:schemeClr val="tx1"/>
                        </a:solidFill>
                        <a:latin typeface="+mn-lt"/>
                        <a:ea typeface="+mn-ea"/>
                        <a:cs typeface="+mn-cs"/>
                      </a:rPr>
                      <m:t>=</m:t>
                    </m:r>
                    <m:sSup>
                      <m:sSupPr>
                        <m:ctrlPr>
                          <a:rPr lang="en-US" sz="1200" i="0" kern="1200">
                            <a:solidFill>
                              <a:schemeClr val="tx1"/>
                            </a:solidFill>
                            <a:latin typeface="+mn-lt"/>
                            <a:ea typeface="+mn-ea"/>
                            <a:cs typeface="+mn-cs"/>
                          </a:rPr>
                        </m:ctrlPr>
                      </m:sSupPr>
                      <m:e>
                        <m:r>
                          <a:rPr lang="en-US" sz="1200" i="0" kern="1200">
                            <a:solidFill>
                              <a:schemeClr val="tx1"/>
                            </a:solidFill>
                            <a:latin typeface="+mn-lt"/>
                            <a:ea typeface="+mn-ea"/>
                            <a:cs typeface="+mn-cs"/>
                          </a:rPr>
                          <m:t>10</m:t>
                        </m:r>
                      </m:e>
                      <m:sup>
                        <m:r>
                          <a:rPr lang="en-US" sz="1200" i="0" kern="1200">
                            <a:solidFill>
                              <a:schemeClr val="tx1"/>
                            </a:solidFill>
                            <a:latin typeface="+mn-lt"/>
                            <a:ea typeface="+mn-ea"/>
                            <a:cs typeface="+mn-cs"/>
                          </a:rPr>
                          <m:t>−6</m:t>
                        </m:r>
                      </m:sup>
                    </m:sSup>
                  </m:oMath>
                </a14:m>
                <a:r>
                  <a:rPr lang="en-US" sz="1200" b="0" i="0" kern="1200" dirty="0">
                    <a:solidFill>
                      <a:schemeClr val="tx1"/>
                    </a:solidFill>
                    <a:effectLst/>
                    <a:latin typeface="+mn-lt"/>
                    <a:ea typeface="+mn-ea"/>
                    <a:cs typeface="+mn-cs"/>
                  </a:rPr>
                  <a:t>. You have 500,000 impostor comparisons. How many false matches do you expect at that operating point? Is reporting that point defensible without qualification? What would you add to the design?</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—0.5 !!!</a:t>
                </a:r>
              </a:p>
              <a:p>
                <a:r>
                  <a:rPr lang="en-US" sz="1200" b="0" i="0" kern="1200" dirty="0">
                    <a:solidFill>
                      <a:schemeClr val="tx1"/>
                    </a:solidFill>
                    <a:effectLst/>
                    <a:latin typeface="+mn-lt"/>
                    <a:ea typeface="+mn-ea"/>
                    <a:cs typeface="+mn-cs"/>
                  </a:rPr>
                  <a:t>The point is too sparsely observed for a stable empirical characterization; add substantially more appropriate impostor trials, report uncertainty/bounds, and reconsider whether the evaluation construction matches deployment.</a:t>
                </a:r>
                <a:br>
                  <a:rPr lang="en-US" dirty="0"/>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main point: </a:t>
                </a:r>
                <a:r>
                  <a:rPr lang="en-US" sz="1200" b="0" i="0" kern="1200" dirty="0">
                    <a:solidFill>
                      <a:schemeClr val="tx1"/>
                    </a:solidFill>
                    <a:effectLst/>
                    <a:latin typeface="+mn-lt"/>
                    <a:ea typeface="+mn-ea"/>
                    <a:cs typeface="+mn-cs"/>
                  </a:rPr>
                  <a:t>A strong collection supports more than a headline ROC or CMC curve. Its structure and metadata let researchers define valid score sets, assess uncertainty, and diagnose failure modes.</a:t>
                </a:r>
                <a:endParaRPr lang="en-US" b="0" dirty="0"/>
              </a:p>
            </p:txBody>
          </p:sp>
        </mc:Choice>
        <mc:Fallback>
          <p:sp>
            <p:nvSpPr>
              <p:cNvPr id="3" name="Notes Placeholder 2">
                <a:extLst>
                  <a:ext uri="{FF2B5EF4-FFF2-40B4-BE49-F238E27FC236}">
                    <a16:creationId xmlns:a16="http://schemas.microsoft.com/office/drawing/2014/main" id="{B17EEDD0-C875-D23D-48A5-EC8AB430DD23}"/>
                  </a:ext>
                </a:extLst>
              </p:cNvPr>
              <p:cNvSpPr>
                <a:spLocks noGrp="1"/>
              </p:cNvSpPr>
              <p:nvPr>
                <p:ph type="body" idx="1"/>
              </p:nvPr>
            </p:nvSpPr>
            <p:spPr/>
            <p:txBody>
              <a:bodyPr/>
              <a:lstStyle/>
              <a:p>
                <a:r>
                  <a:rPr lang="en-US" b="1" dirty="0"/>
                  <a:t>Headline: </a:t>
                </a:r>
                <a:r>
                  <a:rPr lang="en-US" sz="1200" b="1" i="0" kern="1200" dirty="0">
                    <a:solidFill>
                      <a:schemeClr val="tx1"/>
                    </a:solidFill>
                    <a:effectLst/>
                    <a:latin typeface="+mn-lt"/>
                    <a:ea typeface="+mn-ea"/>
                    <a:cs typeface="+mn-cs"/>
                  </a:rPr>
                  <a:t>Does the collection permit the operating point you report?</a:t>
                </a:r>
              </a:p>
              <a:p>
                <a:endParaRPr lang="en-US" sz="1200" b="1"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Queestion</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Your proposed access-control evaluation reports </a:t>
                </a:r>
                <a:r>
                  <a:rPr lang="en-US" sz="1200" i="0" kern="1200">
                    <a:solidFill>
                      <a:schemeClr val="tx1"/>
                    </a:solidFill>
                    <a:latin typeface="+mn-lt"/>
                    <a:ea typeface="+mn-ea"/>
                    <a:cs typeface="+mn-cs"/>
                  </a:rPr>
                  <a:t>FNMR</a:t>
                </a:r>
                <a:r>
                  <a:rPr lang="en-US" sz="1200" b="0" i="0" kern="1200" dirty="0">
                    <a:solidFill>
                      <a:schemeClr val="tx1"/>
                    </a:solidFill>
                    <a:effectLst/>
                    <a:latin typeface="+mn-lt"/>
                    <a:ea typeface="+mn-ea"/>
                    <a:cs typeface="+mn-cs"/>
                  </a:rPr>
                  <a:t> at </a:t>
                </a:r>
                <a:r>
                  <a:rPr lang="en-US" sz="1200" i="0" kern="1200">
                    <a:solidFill>
                      <a:schemeClr val="tx1"/>
                    </a:solidFill>
                    <a:latin typeface="+mn-lt"/>
                    <a:ea typeface="+mn-ea"/>
                    <a:cs typeface="+mn-cs"/>
                  </a:rPr>
                  <a:t>FMR=10^(−6)</a:t>
                </a:r>
                <a:r>
                  <a:rPr lang="en-US" sz="1200" b="0" i="0" kern="1200" dirty="0">
                    <a:solidFill>
                      <a:schemeClr val="tx1"/>
                    </a:solidFill>
                    <a:effectLst/>
                    <a:latin typeface="+mn-lt"/>
                    <a:ea typeface="+mn-ea"/>
                    <a:cs typeface="+mn-cs"/>
                  </a:rPr>
                  <a:t>. You have 500,000 impostor comparisons. How many false matches do you expect at that operating point? Is reporting that point defensible without qualification? What would you add to the design?</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—0.5 !!!</a:t>
                </a:r>
              </a:p>
              <a:p>
                <a:r>
                  <a:rPr lang="en-US" sz="1200" b="0" i="0" kern="1200" dirty="0">
                    <a:solidFill>
                      <a:schemeClr val="tx1"/>
                    </a:solidFill>
                    <a:effectLst/>
                    <a:latin typeface="+mn-lt"/>
                    <a:ea typeface="+mn-ea"/>
                    <a:cs typeface="+mn-cs"/>
                  </a:rPr>
                  <a:t>The point is too sparsely observed for a stable empirical characterization; add substantially more appropriate impostor trials, report uncertainty/bounds, and reconsider whether the evaluation construction matches deployment.</a:t>
                </a:r>
                <a:br>
                  <a:rPr lang="en-US" dirty="0"/>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main point: </a:t>
                </a:r>
                <a:r>
                  <a:rPr lang="en-US" sz="1200" b="0" i="0" kern="1200" dirty="0">
                    <a:solidFill>
                      <a:schemeClr val="tx1"/>
                    </a:solidFill>
                    <a:effectLst/>
                    <a:latin typeface="+mn-lt"/>
                    <a:ea typeface="+mn-ea"/>
                    <a:cs typeface="+mn-cs"/>
                  </a:rPr>
                  <a:t>A strong collection supports more than a headline ROC or CMC curve. Its structure and metadata let researchers define valid score sets, assess uncertainty, and diagnose failure modes.</a:t>
                </a:r>
                <a:endParaRPr lang="en-US" b="0" dirty="0"/>
              </a:p>
            </p:txBody>
          </p:sp>
        </mc:Fallback>
      </mc:AlternateContent>
      <p:sp>
        <p:nvSpPr>
          <p:cNvPr id="4" name="Slide Number Placeholder 3">
            <a:extLst>
              <a:ext uri="{FF2B5EF4-FFF2-40B4-BE49-F238E27FC236}">
                <a16:creationId xmlns:a16="http://schemas.microsoft.com/office/drawing/2014/main" id="{DACA40C9-80C3-105B-6DDD-52C94713F6B6}"/>
              </a:ext>
            </a:extLst>
          </p:cNvPr>
          <p:cNvSpPr>
            <a:spLocks noGrp="1"/>
          </p:cNvSpPr>
          <p:nvPr>
            <p:ph type="sldNum" sz="quarter" idx="5"/>
          </p:nvPr>
        </p:nvSpPr>
        <p:spPr/>
        <p:txBody>
          <a:bodyPr/>
          <a:lstStyle/>
          <a:p>
            <a:fld id="{29E7BD1F-0023-244E-A8FD-1ADCC0FAE1A1}" type="slidenum">
              <a:rPr lang="en-US" smtClean="0"/>
              <a:t>27</a:t>
            </a:fld>
            <a:endParaRPr lang="en-US"/>
          </a:p>
        </p:txBody>
      </p:sp>
    </p:spTree>
    <p:extLst>
      <p:ext uri="{BB962C8B-B14F-4D97-AF65-F5344CB8AC3E}">
        <p14:creationId xmlns:p14="http://schemas.microsoft.com/office/powerpoint/2010/main" val="3685352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BFCDC-4FAC-AABC-D509-DC5CEE29B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0DB1E-F4B9-C32A-FE24-97099EA6C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A44D4-EF0E-FA67-2EB6-698ADE8FB0E7}"/>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88BC0318-09B4-41C2-CBA5-293E91137C5C}"/>
              </a:ext>
            </a:extLst>
          </p:cNvPr>
          <p:cNvSpPr>
            <a:spLocks noGrp="1"/>
          </p:cNvSpPr>
          <p:nvPr>
            <p:ph type="sldNum" sz="quarter" idx="5"/>
          </p:nvPr>
        </p:nvSpPr>
        <p:spPr/>
        <p:txBody>
          <a:bodyPr/>
          <a:lstStyle/>
          <a:p>
            <a:fld id="{29E7BD1F-0023-244E-A8FD-1ADCC0FAE1A1}" type="slidenum">
              <a:rPr lang="en-US" smtClean="0"/>
              <a:t>28</a:t>
            </a:fld>
            <a:endParaRPr lang="en-US"/>
          </a:p>
        </p:txBody>
      </p:sp>
    </p:spTree>
    <p:extLst>
      <p:ext uri="{BB962C8B-B14F-4D97-AF65-F5344CB8AC3E}">
        <p14:creationId xmlns:p14="http://schemas.microsoft.com/office/powerpoint/2010/main" val="10381711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2A0A-B484-B614-E24F-2FDE47FE6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BC630F-A7A8-ED54-E6AB-FE00F45943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D9E2A-E9DF-CB8B-50B0-DE1548CC3D8A}"/>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9E98468D-5EAF-ED18-1EAE-944DA98FFCEB}"/>
              </a:ext>
            </a:extLst>
          </p:cNvPr>
          <p:cNvSpPr>
            <a:spLocks noGrp="1"/>
          </p:cNvSpPr>
          <p:nvPr>
            <p:ph type="sldNum" sz="quarter" idx="5"/>
          </p:nvPr>
        </p:nvSpPr>
        <p:spPr/>
        <p:txBody>
          <a:bodyPr/>
          <a:lstStyle/>
          <a:p>
            <a:fld id="{29E7BD1F-0023-244E-A8FD-1ADCC0FAE1A1}" type="slidenum">
              <a:rPr lang="en-US" smtClean="0"/>
              <a:t>29</a:t>
            </a:fld>
            <a:endParaRPr lang="en-US"/>
          </a:p>
        </p:txBody>
      </p:sp>
    </p:spTree>
    <p:extLst>
      <p:ext uri="{BB962C8B-B14F-4D97-AF65-F5344CB8AC3E}">
        <p14:creationId xmlns:p14="http://schemas.microsoft.com/office/powerpoint/2010/main" val="18918137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726C9-5BA0-9D6E-9704-DC286A8BB8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E3812-10EB-BB68-2519-249004135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D1FDA2-3BFD-4180-4FD3-AAF1C8DCB35B}"/>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0631A860-0970-3552-A618-847C64E7E04E}"/>
              </a:ext>
            </a:extLst>
          </p:cNvPr>
          <p:cNvSpPr>
            <a:spLocks noGrp="1"/>
          </p:cNvSpPr>
          <p:nvPr>
            <p:ph type="sldNum" sz="quarter" idx="5"/>
          </p:nvPr>
        </p:nvSpPr>
        <p:spPr/>
        <p:txBody>
          <a:bodyPr/>
          <a:lstStyle/>
          <a:p>
            <a:fld id="{29E7BD1F-0023-244E-A8FD-1ADCC0FAE1A1}" type="slidenum">
              <a:rPr lang="en-US" smtClean="0"/>
              <a:t>30</a:t>
            </a:fld>
            <a:endParaRPr lang="en-US"/>
          </a:p>
        </p:txBody>
      </p:sp>
    </p:spTree>
    <p:extLst>
      <p:ext uri="{BB962C8B-B14F-4D97-AF65-F5344CB8AC3E}">
        <p14:creationId xmlns:p14="http://schemas.microsoft.com/office/powerpoint/2010/main" val="4863452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AEFC7-7386-F99E-E051-4B5BB09F9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C4C5E-55DE-E8B1-EA68-AC8DF598E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9AA3A-8774-5110-96B4-C72DA9F8E702}"/>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FA854CAF-827C-4210-0DB2-7A8EAD4BD944}"/>
              </a:ext>
            </a:extLst>
          </p:cNvPr>
          <p:cNvSpPr>
            <a:spLocks noGrp="1"/>
          </p:cNvSpPr>
          <p:nvPr>
            <p:ph type="sldNum" sz="quarter" idx="5"/>
          </p:nvPr>
        </p:nvSpPr>
        <p:spPr/>
        <p:txBody>
          <a:bodyPr/>
          <a:lstStyle/>
          <a:p>
            <a:fld id="{29E7BD1F-0023-244E-A8FD-1ADCC0FAE1A1}" type="slidenum">
              <a:rPr lang="en-US" smtClean="0"/>
              <a:t>31</a:t>
            </a:fld>
            <a:endParaRPr lang="en-US"/>
          </a:p>
        </p:txBody>
      </p:sp>
    </p:spTree>
    <p:extLst>
      <p:ext uri="{BB962C8B-B14F-4D97-AF65-F5344CB8AC3E}">
        <p14:creationId xmlns:p14="http://schemas.microsoft.com/office/powerpoint/2010/main" val="31327408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56775-FB55-0C0D-5BA4-19A5F4FFD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0F6A6-6C17-86B3-E909-D7CD37CD0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9C123-3D3C-7E9E-E247-2ABC2E71799D}"/>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F4F1194B-041C-0B4A-D22E-676F884918F9}"/>
              </a:ext>
            </a:extLst>
          </p:cNvPr>
          <p:cNvSpPr>
            <a:spLocks noGrp="1"/>
          </p:cNvSpPr>
          <p:nvPr>
            <p:ph type="sldNum" sz="quarter" idx="5"/>
          </p:nvPr>
        </p:nvSpPr>
        <p:spPr/>
        <p:txBody>
          <a:bodyPr/>
          <a:lstStyle/>
          <a:p>
            <a:fld id="{29E7BD1F-0023-244E-A8FD-1ADCC0FAE1A1}" type="slidenum">
              <a:rPr lang="en-US" smtClean="0"/>
              <a:t>32</a:t>
            </a:fld>
            <a:endParaRPr lang="en-US"/>
          </a:p>
        </p:txBody>
      </p:sp>
    </p:spTree>
    <p:extLst>
      <p:ext uri="{BB962C8B-B14F-4D97-AF65-F5344CB8AC3E}">
        <p14:creationId xmlns:p14="http://schemas.microsoft.com/office/powerpoint/2010/main" val="3464748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55BD7-37BF-4E36-8F28-67BD40373D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3ACBF7-D240-A320-978B-7E21B71C2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CB2A34-3520-C142-2371-9A000140B56F}"/>
              </a:ext>
            </a:extLst>
          </p:cNvPr>
          <p:cNvSpPr>
            <a:spLocks noGrp="1"/>
          </p:cNvSpPr>
          <p:nvPr>
            <p:ph type="dt" sz="half" idx="10"/>
          </p:nvPr>
        </p:nvSpPr>
        <p:spPr/>
        <p:txBody>
          <a:bodyPr/>
          <a:lstStyle/>
          <a:p>
            <a:fld id="{A9B189FA-D012-F74A-85A4-7BDC5A0DCC07}" type="datetime1">
              <a:rPr lang="en-US" smtClean="0"/>
              <a:t>9/15/26</a:t>
            </a:fld>
            <a:endParaRPr lang="en-US"/>
          </a:p>
        </p:txBody>
      </p:sp>
      <p:sp>
        <p:nvSpPr>
          <p:cNvPr id="5" name="Footer Placeholder 4">
            <a:extLst>
              <a:ext uri="{FF2B5EF4-FFF2-40B4-BE49-F238E27FC236}">
                <a16:creationId xmlns:a16="http://schemas.microsoft.com/office/drawing/2014/main" id="{DFFB9F44-3BB6-E725-24EB-941F27C9CA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224BD5-3153-0587-36B8-CD91C3703711}"/>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79400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E3FE9-A364-D73A-05F6-FFF58EA302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ACE305-35F5-5977-7B49-2F2A8ECC2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FE3B5-FE82-2C25-DDE3-47AE2CFAC5F5}"/>
              </a:ext>
            </a:extLst>
          </p:cNvPr>
          <p:cNvSpPr>
            <a:spLocks noGrp="1"/>
          </p:cNvSpPr>
          <p:nvPr>
            <p:ph type="dt" sz="half" idx="10"/>
          </p:nvPr>
        </p:nvSpPr>
        <p:spPr/>
        <p:txBody>
          <a:bodyPr/>
          <a:lstStyle/>
          <a:p>
            <a:fld id="{323757D1-56E3-134F-BEDA-601B842448FF}" type="datetime1">
              <a:rPr lang="en-US" smtClean="0"/>
              <a:t>9/15/26</a:t>
            </a:fld>
            <a:endParaRPr lang="en-US"/>
          </a:p>
        </p:txBody>
      </p:sp>
      <p:sp>
        <p:nvSpPr>
          <p:cNvPr id="5" name="Footer Placeholder 4">
            <a:extLst>
              <a:ext uri="{FF2B5EF4-FFF2-40B4-BE49-F238E27FC236}">
                <a16:creationId xmlns:a16="http://schemas.microsoft.com/office/drawing/2014/main" id="{2AF54B18-4598-3209-5C87-B0577647DD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259C2-4D2B-65D3-EC28-6A093F58B5FC}"/>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184792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D270-ED86-A140-D2D2-6E40EE7709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E1BFEE-3B5B-8F42-E644-E11232A428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E3541-DCB2-3A84-28A5-55AA090C7367}"/>
              </a:ext>
            </a:extLst>
          </p:cNvPr>
          <p:cNvSpPr>
            <a:spLocks noGrp="1"/>
          </p:cNvSpPr>
          <p:nvPr>
            <p:ph type="dt" sz="half" idx="10"/>
          </p:nvPr>
        </p:nvSpPr>
        <p:spPr/>
        <p:txBody>
          <a:bodyPr/>
          <a:lstStyle/>
          <a:p>
            <a:fld id="{DBF24889-6A33-6C4A-885A-202C4F8C5613}" type="datetime1">
              <a:rPr lang="en-US" smtClean="0"/>
              <a:t>9/15/26</a:t>
            </a:fld>
            <a:endParaRPr lang="en-US"/>
          </a:p>
        </p:txBody>
      </p:sp>
      <p:sp>
        <p:nvSpPr>
          <p:cNvPr id="5" name="Footer Placeholder 4">
            <a:extLst>
              <a:ext uri="{FF2B5EF4-FFF2-40B4-BE49-F238E27FC236}">
                <a16:creationId xmlns:a16="http://schemas.microsoft.com/office/drawing/2014/main" id="{2DBC3851-4B31-8B2D-70B6-C0FC1D883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0680C5-9A79-9CF1-B265-3FD1EDCADD42}"/>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967775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4A61-1D50-E17A-7E22-578C312D4F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56280B-9CD0-9EA9-D5B2-5291E6A070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EAEC1E-92A3-F81F-C252-A8FF4F1A03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ED603F-FA12-FED1-58D5-6A8BC717800F}"/>
              </a:ext>
            </a:extLst>
          </p:cNvPr>
          <p:cNvSpPr>
            <a:spLocks noGrp="1"/>
          </p:cNvSpPr>
          <p:nvPr>
            <p:ph type="dt" sz="half" idx="10"/>
          </p:nvPr>
        </p:nvSpPr>
        <p:spPr/>
        <p:txBody>
          <a:bodyPr/>
          <a:lstStyle/>
          <a:p>
            <a:fld id="{CFA7F8CA-C602-1143-BC37-691685131BC4}" type="datetime1">
              <a:rPr lang="en-US" smtClean="0"/>
              <a:t>9/15/26</a:t>
            </a:fld>
            <a:endParaRPr lang="en-US"/>
          </a:p>
        </p:txBody>
      </p:sp>
      <p:sp>
        <p:nvSpPr>
          <p:cNvPr id="6" name="Footer Placeholder 5">
            <a:extLst>
              <a:ext uri="{FF2B5EF4-FFF2-40B4-BE49-F238E27FC236}">
                <a16:creationId xmlns:a16="http://schemas.microsoft.com/office/drawing/2014/main" id="{0B6826EA-8FB4-C6B9-30B3-2510583EAF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EC8D0-A8F1-6023-2FFB-D130171B0AC1}"/>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944185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DEC2B-3E3F-0138-5350-608E24D7F3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007462-B5F0-6C22-50CD-5C106C5833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6E5DFC-5DBE-20CF-F375-FFEAB8E457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B81173-E1E3-7B84-B402-65A61171CB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126268-0CD1-ACA1-14AB-8ADF04620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6EFB38-0E1D-E36D-BB00-8C6CE66D26CB}"/>
              </a:ext>
            </a:extLst>
          </p:cNvPr>
          <p:cNvSpPr>
            <a:spLocks noGrp="1"/>
          </p:cNvSpPr>
          <p:nvPr>
            <p:ph type="dt" sz="half" idx="10"/>
          </p:nvPr>
        </p:nvSpPr>
        <p:spPr/>
        <p:txBody>
          <a:bodyPr/>
          <a:lstStyle/>
          <a:p>
            <a:fld id="{024CE067-138D-5B43-81DC-9DAB0F0B5506}" type="datetime1">
              <a:rPr lang="en-US" smtClean="0"/>
              <a:t>9/15/26</a:t>
            </a:fld>
            <a:endParaRPr lang="en-US"/>
          </a:p>
        </p:txBody>
      </p:sp>
      <p:sp>
        <p:nvSpPr>
          <p:cNvPr id="8" name="Footer Placeholder 7">
            <a:extLst>
              <a:ext uri="{FF2B5EF4-FFF2-40B4-BE49-F238E27FC236}">
                <a16:creationId xmlns:a16="http://schemas.microsoft.com/office/drawing/2014/main" id="{3A46F722-1880-BC96-896E-EC21AC89AA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9DEDEE-16E9-C882-1F36-FD088FDB2ECD}"/>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366051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90D7-4AE0-27F9-D2BB-4D7D49CB28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670660-75F0-0CDD-5F9F-3829800A37F0}"/>
              </a:ext>
            </a:extLst>
          </p:cNvPr>
          <p:cNvSpPr>
            <a:spLocks noGrp="1"/>
          </p:cNvSpPr>
          <p:nvPr>
            <p:ph type="dt" sz="half" idx="10"/>
          </p:nvPr>
        </p:nvSpPr>
        <p:spPr/>
        <p:txBody>
          <a:bodyPr/>
          <a:lstStyle/>
          <a:p>
            <a:fld id="{D4F39845-7DD4-DF41-8287-EDB7FDC122CC}" type="datetime1">
              <a:rPr lang="en-US" smtClean="0"/>
              <a:t>9/15/26</a:t>
            </a:fld>
            <a:endParaRPr lang="en-US"/>
          </a:p>
        </p:txBody>
      </p:sp>
      <p:sp>
        <p:nvSpPr>
          <p:cNvPr id="4" name="Footer Placeholder 3">
            <a:extLst>
              <a:ext uri="{FF2B5EF4-FFF2-40B4-BE49-F238E27FC236}">
                <a16:creationId xmlns:a16="http://schemas.microsoft.com/office/drawing/2014/main" id="{398BC658-82FA-564A-9F95-B794A70921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FBABAE-8960-26DD-C0AB-2DCC13A2F7D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156741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A9F884-98FA-788E-B999-6A02AF64B412}"/>
              </a:ext>
            </a:extLst>
          </p:cNvPr>
          <p:cNvSpPr>
            <a:spLocks noGrp="1"/>
          </p:cNvSpPr>
          <p:nvPr>
            <p:ph type="dt" sz="half" idx="10"/>
          </p:nvPr>
        </p:nvSpPr>
        <p:spPr/>
        <p:txBody>
          <a:bodyPr/>
          <a:lstStyle/>
          <a:p>
            <a:fld id="{A1A62EA6-5930-8A4D-AEF1-EABF7985616A}" type="datetime1">
              <a:rPr lang="en-US" smtClean="0"/>
              <a:t>9/15/26</a:t>
            </a:fld>
            <a:endParaRPr lang="en-US"/>
          </a:p>
        </p:txBody>
      </p:sp>
      <p:sp>
        <p:nvSpPr>
          <p:cNvPr id="3" name="Footer Placeholder 2">
            <a:extLst>
              <a:ext uri="{FF2B5EF4-FFF2-40B4-BE49-F238E27FC236}">
                <a16:creationId xmlns:a16="http://schemas.microsoft.com/office/drawing/2014/main" id="{F030D628-459C-C358-6CF0-984B7230F4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B541A-0371-C571-6FDC-A08FC27F2D0E}"/>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152612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AE166-F8AB-C666-2915-D32D1DB8C6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F9D79C-7FE7-7EB6-94F7-E67700E11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0CAAC-0B0D-2303-0A8B-936E8DFFD2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36B8F6-A943-5DDA-083F-63368D42D56F}"/>
              </a:ext>
            </a:extLst>
          </p:cNvPr>
          <p:cNvSpPr>
            <a:spLocks noGrp="1"/>
          </p:cNvSpPr>
          <p:nvPr>
            <p:ph type="dt" sz="half" idx="10"/>
          </p:nvPr>
        </p:nvSpPr>
        <p:spPr/>
        <p:txBody>
          <a:bodyPr/>
          <a:lstStyle/>
          <a:p>
            <a:fld id="{8FBA0ADB-7E75-B24E-8874-218BE3090DE3}" type="datetime1">
              <a:rPr lang="en-US" smtClean="0"/>
              <a:t>9/15/26</a:t>
            </a:fld>
            <a:endParaRPr lang="en-US"/>
          </a:p>
        </p:txBody>
      </p:sp>
      <p:sp>
        <p:nvSpPr>
          <p:cNvPr id="6" name="Footer Placeholder 5">
            <a:extLst>
              <a:ext uri="{FF2B5EF4-FFF2-40B4-BE49-F238E27FC236}">
                <a16:creationId xmlns:a16="http://schemas.microsoft.com/office/drawing/2014/main" id="{36FF915C-6EB4-D110-FA78-79FE9A6BE6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2DB6A3-BDF8-29F7-37A1-7D8629195C6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514836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9944-1659-BA22-CE12-045B87F594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BEA263-FFA1-DA08-023D-7E0A161E5E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1F6F9F-1567-8C00-C197-57568694A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F6AD5D-DCC3-871D-FE87-F7F2E18AC18B}"/>
              </a:ext>
            </a:extLst>
          </p:cNvPr>
          <p:cNvSpPr>
            <a:spLocks noGrp="1"/>
          </p:cNvSpPr>
          <p:nvPr>
            <p:ph type="dt" sz="half" idx="10"/>
          </p:nvPr>
        </p:nvSpPr>
        <p:spPr/>
        <p:txBody>
          <a:bodyPr/>
          <a:lstStyle/>
          <a:p>
            <a:fld id="{BA81D44F-1F34-3942-AA2D-B5758A581CC9}" type="datetime1">
              <a:rPr lang="en-US" smtClean="0"/>
              <a:t>9/15/26</a:t>
            </a:fld>
            <a:endParaRPr lang="en-US"/>
          </a:p>
        </p:txBody>
      </p:sp>
      <p:sp>
        <p:nvSpPr>
          <p:cNvPr id="6" name="Footer Placeholder 5">
            <a:extLst>
              <a:ext uri="{FF2B5EF4-FFF2-40B4-BE49-F238E27FC236}">
                <a16:creationId xmlns:a16="http://schemas.microsoft.com/office/drawing/2014/main" id="{630417D0-BA01-36B5-653A-A1E9A7E57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259C58-0C4D-0374-B981-57831FBD5C40}"/>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76349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2CD7-E54F-CD89-7485-5677F839E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D466E9-BB5C-83A8-CF56-D7E21D8005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C86D00-F991-E78A-93EE-F68973EBE222}"/>
              </a:ext>
            </a:extLst>
          </p:cNvPr>
          <p:cNvSpPr>
            <a:spLocks noGrp="1"/>
          </p:cNvSpPr>
          <p:nvPr>
            <p:ph type="dt" sz="half" idx="10"/>
          </p:nvPr>
        </p:nvSpPr>
        <p:spPr/>
        <p:txBody>
          <a:bodyPr/>
          <a:lstStyle/>
          <a:p>
            <a:fld id="{BA71C76E-4CD2-3541-91F7-6CFB112AC445}" type="datetime1">
              <a:rPr lang="en-US" smtClean="0"/>
              <a:t>9/15/26</a:t>
            </a:fld>
            <a:endParaRPr lang="en-US"/>
          </a:p>
        </p:txBody>
      </p:sp>
      <p:sp>
        <p:nvSpPr>
          <p:cNvPr id="5" name="Footer Placeholder 4">
            <a:extLst>
              <a:ext uri="{FF2B5EF4-FFF2-40B4-BE49-F238E27FC236}">
                <a16:creationId xmlns:a16="http://schemas.microsoft.com/office/drawing/2014/main" id="{CF8CA405-E72D-8C54-88CA-BC6B2F35A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4AE63-D71B-CD9C-AFEC-7E890DF29A0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160403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77E43-ACC6-26B0-8AB5-B0B5432A6B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BB03F7-DBAC-4849-A157-459FD38A10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43A34-F2DF-E4D4-43C5-B5B902106714}"/>
              </a:ext>
            </a:extLst>
          </p:cNvPr>
          <p:cNvSpPr>
            <a:spLocks noGrp="1"/>
          </p:cNvSpPr>
          <p:nvPr>
            <p:ph type="dt" sz="half" idx="10"/>
          </p:nvPr>
        </p:nvSpPr>
        <p:spPr/>
        <p:txBody>
          <a:bodyPr/>
          <a:lstStyle/>
          <a:p>
            <a:fld id="{A1EFDC6F-4961-104C-B0C1-DB03E481A001}" type="datetime1">
              <a:rPr lang="en-US" smtClean="0"/>
              <a:t>9/15/26</a:t>
            </a:fld>
            <a:endParaRPr lang="en-US"/>
          </a:p>
        </p:txBody>
      </p:sp>
      <p:sp>
        <p:nvSpPr>
          <p:cNvPr id="5" name="Footer Placeholder 4">
            <a:extLst>
              <a:ext uri="{FF2B5EF4-FFF2-40B4-BE49-F238E27FC236}">
                <a16:creationId xmlns:a16="http://schemas.microsoft.com/office/drawing/2014/main" id="{73C5EC14-305F-7D57-9D0B-746CE62821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F64559-BF47-1AD2-E577-83E2F6E72B8B}"/>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64768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9DD8B-A0D3-DCAC-67BF-1DA87AE35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F0C4E0-63A9-F57B-3913-E42895A20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F23F0-1925-A80E-E6A6-CD06E96B3B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2C4FE2-D0F9-394C-BCBD-D168F4B4D931}" type="datetime1">
              <a:rPr lang="en-US" smtClean="0"/>
              <a:t>9/15/26</a:t>
            </a:fld>
            <a:endParaRPr lang="en-US"/>
          </a:p>
        </p:txBody>
      </p:sp>
      <p:sp>
        <p:nvSpPr>
          <p:cNvPr id="5" name="Footer Placeholder 4">
            <a:extLst>
              <a:ext uri="{FF2B5EF4-FFF2-40B4-BE49-F238E27FC236}">
                <a16:creationId xmlns:a16="http://schemas.microsoft.com/office/drawing/2014/main" id="{E45E9B10-0740-78EF-0212-FE71B83721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A7D157-0278-E6CB-A277-999243C7E9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B2F21-D912-7541-8ED2-FD6ABD90B685}" type="slidenum">
              <a:rPr lang="en-US" smtClean="0"/>
              <a:t>‹#›</a:t>
            </a:fld>
            <a:endParaRPr lang="en-US"/>
          </a:p>
        </p:txBody>
      </p:sp>
    </p:spTree>
    <p:extLst>
      <p:ext uri="{BB962C8B-B14F-4D97-AF65-F5344CB8AC3E}">
        <p14:creationId xmlns:p14="http://schemas.microsoft.com/office/powerpoint/2010/main" val="716033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s://www.sciencedirect.com/journal/image-and-vision-computing"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136A7-C380-6533-68F7-5FCB25388587}"/>
              </a:ext>
            </a:extLst>
          </p:cNvPr>
          <p:cNvSpPr>
            <a:spLocks noGrp="1"/>
          </p:cNvSpPr>
          <p:nvPr>
            <p:ph type="ctrTitle"/>
          </p:nvPr>
        </p:nvSpPr>
        <p:spPr/>
        <p:txBody>
          <a:bodyPr anchor="t">
            <a:normAutofit fontScale="90000"/>
          </a:bodyPr>
          <a:lstStyle/>
          <a:p>
            <a:r>
              <a:rPr lang="en-US" sz="4000" dirty="0"/>
              <a:t>Week 5</a:t>
            </a:r>
            <a:br>
              <a:rPr lang="en-US" sz="4000" dirty="0"/>
            </a:br>
            <a:br>
              <a:rPr lang="en-US" sz="4000" dirty="0"/>
            </a:br>
            <a:r>
              <a:rPr lang="en-US" sz="3600" b="1" dirty="0">
                <a:solidFill>
                  <a:srgbClr val="0070C0"/>
                </a:solidFill>
              </a:rPr>
              <a:t>How Should Biometric Experiments Be Designed?</a:t>
            </a:r>
            <a:br>
              <a:rPr lang="en-US" sz="3200" dirty="0">
                <a:solidFill>
                  <a:srgbClr val="0070C0"/>
                </a:solidFill>
              </a:rPr>
            </a:br>
            <a:br>
              <a:rPr lang="en-US" sz="3200" dirty="0">
                <a:solidFill>
                  <a:srgbClr val="0070C0"/>
                </a:solidFill>
              </a:rPr>
            </a:br>
            <a:endParaRPr lang="en-US" sz="3200" dirty="0">
              <a:solidFill>
                <a:srgbClr val="0070C0"/>
              </a:solidFill>
            </a:endParaRPr>
          </a:p>
        </p:txBody>
      </p:sp>
      <p:sp>
        <p:nvSpPr>
          <p:cNvPr id="3" name="Subtitle 2">
            <a:extLst>
              <a:ext uri="{FF2B5EF4-FFF2-40B4-BE49-F238E27FC236}">
                <a16:creationId xmlns:a16="http://schemas.microsoft.com/office/drawing/2014/main" id="{DEAD4E25-E958-FBCE-E1A7-3803FC37C249}"/>
              </a:ext>
            </a:extLst>
          </p:cNvPr>
          <p:cNvSpPr>
            <a:spLocks noGrp="1"/>
          </p:cNvSpPr>
          <p:nvPr>
            <p:ph type="subTitle" idx="1"/>
          </p:nvPr>
        </p:nvSpPr>
        <p:spPr/>
        <p:txBody>
          <a:bodyPr>
            <a:normAutofit fontScale="92500" lnSpcReduction="20000"/>
          </a:bodyPr>
          <a:lstStyle/>
          <a:p>
            <a:r>
              <a:rPr lang="en-US" dirty="0"/>
              <a:t>COSC 594-003 Special Topics in Computer Science</a:t>
            </a:r>
          </a:p>
          <a:p>
            <a:r>
              <a:rPr lang="en-US" b="1" dirty="0"/>
              <a:t>Biometrics</a:t>
            </a:r>
          </a:p>
          <a:p>
            <a:r>
              <a:rPr lang="en-US" dirty="0"/>
              <a:t>Benjamin S. Riggan</a:t>
            </a:r>
            <a:br>
              <a:rPr lang="en-US" dirty="0"/>
            </a:br>
            <a:r>
              <a:rPr lang="en-US" dirty="0"/>
              <a:t>Associate Professor</a:t>
            </a:r>
            <a:br>
              <a:rPr lang="en-US" dirty="0"/>
            </a:br>
            <a:endParaRPr lang="en-US" dirty="0"/>
          </a:p>
        </p:txBody>
      </p:sp>
      <p:pic>
        <p:nvPicPr>
          <p:cNvPr id="4" name="Picture 3" descr="EECS IT Help">
            <a:extLst>
              <a:ext uri="{FF2B5EF4-FFF2-40B4-BE49-F238E27FC236}">
                <a16:creationId xmlns:a16="http://schemas.microsoft.com/office/drawing/2014/main" id="{C1A58977-E919-897B-53CC-470809EFB2BD}"/>
              </a:ext>
            </a:extLst>
          </p:cNvPr>
          <p:cNvPicPr>
            <a:picLocks noChangeAspect="1"/>
          </p:cNvPicPr>
          <p:nvPr/>
        </p:nvPicPr>
        <p:blipFill>
          <a:blip r:embed="rId2"/>
          <a:stretch>
            <a:fillRect/>
          </a:stretch>
        </p:blipFill>
        <p:spPr>
          <a:xfrm>
            <a:off x="4651663" y="5013468"/>
            <a:ext cx="2888673" cy="1444337"/>
          </a:xfrm>
          <a:prstGeom prst="rect">
            <a:avLst/>
          </a:prstGeom>
        </p:spPr>
      </p:pic>
      <p:pic>
        <p:nvPicPr>
          <p:cNvPr id="6" name="Picture 5" descr="IEEE Biometrics Council | Welcome To IEEE Biometrics">
            <a:extLst>
              <a:ext uri="{FF2B5EF4-FFF2-40B4-BE49-F238E27FC236}">
                <a16:creationId xmlns:a16="http://schemas.microsoft.com/office/drawing/2014/main" id="{0FDF122F-DF23-DC90-3D7B-1D677CA35E6F}"/>
              </a:ext>
            </a:extLst>
          </p:cNvPr>
          <p:cNvPicPr>
            <a:picLocks noChangeAspect="1"/>
          </p:cNvPicPr>
          <p:nvPr/>
        </p:nvPicPr>
        <p:blipFill>
          <a:blip r:embed="rId3"/>
          <a:stretch>
            <a:fillRect/>
          </a:stretch>
        </p:blipFill>
        <p:spPr>
          <a:xfrm>
            <a:off x="7965458" y="5013467"/>
            <a:ext cx="2543317" cy="1426739"/>
          </a:xfrm>
          <a:prstGeom prst="rect">
            <a:avLst/>
          </a:prstGeom>
        </p:spPr>
      </p:pic>
      <p:sp>
        <p:nvSpPr>
          <p:cNvPr id="5" name="Slide Number Placeholder 4">
            <a:extLst>
              <a:ext uri="{FF2B5EF4-FFF2-40B4-BE49-F238E27FC236}">
                <a16:creationId xmlns:a16="http://schemas.microsoft.com/office/drawing/2014/main" id="{6D147458-81C4-53D5-F1DE-6786C4996ACD}"/>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a:t>
            </a:fld>
            <a:endParaRPr lang="en-US"/>
          </a:p>
        </p:txBody>
      </p:sp>
    </p:spTree>
    <p:extLst>
      <p:ext uri="{BB962C8B-B14F-4D97-AF65-F5344CB8AC3E}">
        <p14:creationId xmlns:p14="http://schemas.microsoft.com/office/powerpoint/2010/main" val="1434099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DCD0-74E7-7EED-EA12-0C52EB33BE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3492DB-C6FA-E032-8EBA-3EA23E96D14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Key Learning Objectives</a:t>
            </a:r>
          </a:p>
        </p:txBody>
      </p:sp>
      <p:sp>
        <p:nvSpPr>
          <p:cNvPr id="3" name="Slide Number Placeholder 2">
            <a:extLst>
              <a:ext uri="{FF2B5EF4-FFF2-40B4-BE49-F238E27FC236}">
                <a16:creationId xmlns:a16="http://schemas.microsoft.com/office/drawing/2014/main" id="{7EFE87CF-4D45-6613-2765-6D7C1DF99278}"/>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2</a:t>
            </a:fld>
            <a:endParaRPr lang="en-US"/>
          </a:p>
        </p:txBody>
      </p:sp>
      <p:sp>
        <p:nvSpPr>
          <p:cNvPr id="5" name="TextBox 4">
            <a:extLst>
              <a:ext uri="{FF2B5EF4-FFF2-40B4-BE49-F238E27FC236}">
                <a16:creationId xmlns:a16="http://schemas.microsoft.com/office/drawing/2014/main" id="{2C8A448B-A02B-8F61-533A-059A3D4A3D35}"/>
              </a:ext>
            </a:extLst>
          </p:cNvPr>
          <p:cNvSpPr txBox="1"/>
          <p:nvPr/>
        </p:nvSpPr>
        <p:spPr>
          <a:xfrm>
            <a:off x="1113496" y="1640685"/>
            <a:ext cx="9965007" cy="1569660"/>
          </a:xfrm>
          <a:prstGeom prst="rect">
            <a:avLst/>
          </a:prstGeom>
          <a:noFill/>
        </p:spPr>
        <p:txBody>
          <a:bodyPr wrap="square">
            <a:spAutoFit/>
          </a:bodyPr>
          <a:lstStyle/>
          <a:p>
            <a:r>
              <a:rPr lang="en-US" sz="3200" b="1" i="0" dirty="0">
                <a:solidFill>
                  <a:schemeClr val="tx1"/>
                </a:solidFill>
                <a:effectLst/>
                <a:latin typeface="+mn-lt"/>
              </a:rPr>
              <a:t>How can biometric experiments be designed so that conclusions are supported by the evidence—not by accidental properties of the dataset or protocol?</a:t>
            </a:r>
            <a:endParaRPr lang="en-US" sz="3200" b="1" dirty="0"/>
          </a:p>
        </p:txBody>
      </p:sp>
      <p:sp>
        <p:nvSpPr>
          <p:cNvPr id="9" name="TextBox 8">
            <a:extLst>
              <a:ext uri="{FF2B5EF4-FFF2-40B4-BE49-F238E27FC236}">
                <a16:creationId xmlns:a16="http://schemas.microsoft.com/office/drawing/2014/main" id="{8DC44CE4-3EF7-C2D2-CB1A-3F3A1B1FAD09}"/>
              </a:ext>
            </a:extLst>
          </p:cNvPr>
          <p:cNvSpPr txBox="1"/>
          <p:nvPr/>
        </p:nvSpPr>
        <p:spPr>
          <a:xfrm>
            <a:off x="590310" y="4417358"/>
            <a:ext cx="7617007" cy="1938992"/>
          </a:xfrm>
          <a:prstGeom prst="rect">
            <a:avLst/>
          </a:prstGeom>
          <a:noFill/>
        </p:spPr>
        <p:txBody>
          <a:bodyPr wrap="square">
            <a:spAutoFit/>
          </a:bodyPr>
          <a:lstStyle/>
          <a:p>
            <a:pPr marL="342900" lvl="0" indent="-342900" algn="l">
              <a:buFont typeface="+mj-lt"/>
              <a:buAutoNum type="arabicPeriod"/>
            </a:pPr>
            <a:r>
              <a:rPr lang="en-US" sz="2000" b="0" i="0" dirty="0">
                <a:solidFill>
                  <a:schemeClr val="tx1"/>
                </a:solidFill>
                <a:effectLst/>
                <a:latin typeface="+mn-lt"/>
              </a:rPr>
              <a:t>Translate a biometric research question into a testable claim, population, protocol, and metric.</a:t>
            </a:r>
          </a:p>
          <a:p>
            <a:pPr marL="342900" lvl="0" indent="-342900" algn="l">
              <a:buFont typeface="+mj-lt"/>
              <a:buAutoNum type="arabicPeriod"/>
            </a:pPr>
            <a:r>
              <a:rPr lang="en-US" sz="2000" b="0" i="0" dirty="0">
                <a:solidFill>
                  <a:schemeClr val="tx1"/>
                </a:solidFill>
                <a:effectLst/>
                <a:latin typeface="+mn-lt"/>
              </a:rPr>
              <a:t>Identify dependence and leakage caused by repeated captures, identities, sessions, sensors, and acquisition conditions.</a:t>
            </a:r>
          </a:p>
          <a:p>
            <a:pPr marL="342900" lvl="0" indent="-342900" algn="l">
              <a:buFont typeface="+mj-lt"/>
              <a:buAutoNum type="arabicPeriod"/>
            </a:pPr>
            <a:r>
              <a:rPr lang="en-US" sz="2000" b="0" i="0" dirty="0">
                <a:solidFill>
                  <a:schemeClr val="tx1"/>
                </a:solidFill>
                <a:effectLst/>
                <a:latin typeface="+mn-lt"/>
              </a:rPr>
              <a:t>Design an evaluation that distinguishes an algorithmic gain from a data-collection or protocol artifact.</a:t>
            </a:r>
            <a:endParaRPr lang="en-US" sz="2000" b="0" i="0" dirty="0">
              <a:solidFill>
                <a:srgbClr val="161C24"/>
              </a:solidFill>
              <a:effectLst/>
              <a:latin typeface="-apple-system"/>
            </a:endParaRPr>
          </a:p>
        </p:txBody>
      </p:sp>
      <p:sp>
        <p:nvSpPr>
          <p:cNvPr id="10" name="TextBox 9">
            <a:extLst>
              <a:ext uri="{FF2B5EF4-FFF2-40B4-BE49-F238E27FC236}">
                <a16:creationId xmlns:a16="http://schemas.microsoft.com/office/drawing/2014/main" id="{30773BF2-626A-3A11-445E-25310ED35C7B}"/>
              </a:ext>
            </a:extLst>
          </p:cNvPr>
          <p:cNvSpPr txBox="1"/>
          <p:nvPr/>
        </p:nvSpPr>
        <p:spPr>
          <a:xfrm>
            <a:off x="590310" y="3821400"/>
            <a:ext cx="2771099" cy="461665"/>
          </a:xfrm>
          <a:prstGeom prst="rect">
            <a:avLst/>
          </a:prstGeom>
          <a:noFill/>
        </p:spPr>
        <p:txBody>
          <a:bodyPr wrap="square" rtlCol="0">
            <a:spAutoFit/>
          </a:bodyPr>
          <a:lstStyle/>
          <a:p>
            <a:r>
              <a:rPr lang="en-US" sz="2400" b="1" dirty="0">
                <a:solidFill>
                  <a:srgbClr val="0070C0"/>
                </a:solidFill>
              </a:rPr>
              <a:t>Key Outcomes:</a:t>
            </a:r>
          </a:p>
        </p:txBody>
      </p:sp>
    </p:spTree>
    <p:extLst>
      <p:ext uri="{BB962C8B-B14F-4D97-AF65-F5344CB8AC3E}">
        <p14:creationId xmlns:p14="http://schemas.microsoft.com/office/powerpoint/2010/main" val="384238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A31F-5EAB-033B-35CA-1E849C9D140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CB728B4-528D-97D1-5AB5-963EF952FE8D}"/>
              </a:ext>
            </a:extLst>
          </p:cNvPr>
          <p:cNvSpPr txBox="1"/>
          <p:nvPr/>
        </p:nvSpPr>
        <p:spPr>
          <a:xfrm>
            <a:off x="605742" y="1125100"/>
            <a:ext cx="10995948" cy="1569660"/>
          </a:xfrm>
          <a:prstGeom prst="rect">
            <a:avLst/>
          </a:prstGeom>
          <a:noFill/>
        </p:spPr>
        <p:txBody>
          <a:bodyPr wrap="square" rtlCol="0">
            <a:spAutoFit/>
          </a:bodyPr>
          <a:lstStyle/>
          <a:p>
            <a:r>
              <a:rPr lang="en-US" sz="2400" dirty="0"/>
              <a:t>LAST WEEK — How do we know whether a biometric system is “good”? </a:t>
            </a:r>
          </a:p>
          <a:p>
            <a:endParaRPr lang="en-US" sz="2400" b="1" dirty="0">
              <a:solidFill>
                <a:srgbClr val="0070C0"/>
              </a:solidFill>
            </a:endParaRPr>
          </a:p>
          <a:p>
            <a:r>
              <a:rPr lang="en-US" sz="2400" b="1" dirty="0">
                <a:solidFill>
                  <a:srgbClr val="0070C0"/>
                </a:solidFill>
              </a:rPr>
              <a:t>THIS WEEK — How Should Biometric Experiments Be Designed?</a:t>
            </a:r>
          </a:p>
          <a:p>
            <a:endParaRPr lang="en-US" sz="2400" dirty="0">
              <a:solidFill>
                <a:srgbClr val="0070C0"/>
              </a:solidFill>
            </a:endParaRPr>
          </a:p>
        </p:txBody>
      </p:sp>
      <p:sp>
        <p:nvSpPr>
          <p:cNvPr id="20" name="Slide Number Placeholder 19">
            <a:extLst>
              <a:ext uri="{FF2B5EF4-FFF2-40B4-BE49-F238E27FC236}">
                <a16:creationId xmlns:a16="http://schemas.microsoft.com/office/drawing/2014/main" id="{909AA2BC-369B-13FB-9DED-3098BC38067E}"/>
              </a:ext>
            </a:extLst>
          </p:cNvPr>
          <p:cNvSpPr>
            <a:spLocks noGrp="1"/>
          </p:cNvSpPr>
          <p:nvPr>
            <p:ph type="sldNum" sz="quarter" idx="12"/>
          </p:nvPr>
        </p:nvSpPr>
        <p:spPr/>
        <p:txBody>
          <a:bodyPr/>
          <a:lstStyle/>
          <a:p>
            <a:fld id="{659B2F21-D912-7541-8ED2-FD6ABD90B685}" type="slidenum">
              <a:rPr lang="en-US" smtClean="0"/>
              <a:t>3</a:t>
            </a:fld>
            <a:endParaRPr lang="en-US"/>
          </a:p>
        </p:txBody>
      </p:sp>
      <p:pic>
        <p:nvPicPr>
          <p:cNvPr id="6" name="Picture 2">
            <a:extLst>
              <a:ext uri="{FF2B5EF4-FFF2-40B4-BE49-F238E27FC236}">
                <a16:creationId xmlns:a16="http://schemas.microsoft.com/office/drawing/2014/main" id="{04282464-FF17-EC95-87AA-6F58F60D65D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46057" y="2715316"/>
            <a:ext cx="11299886" cy="3152633"/>
          </a:xfrm>
          <a:prstGeom prst="rect">
            <a:avLst/>
          </a:prstGeom>
        </p:spPr>
      </p:pic>
      <p:sp>
        <p:nvSpPr>
          <p:cNvPr id="7" name="TextBox 6">
            <a:extLst>
              <a:ext uri="{FF2B5EF4-FFF2-40B4-BE49-F238E27FC236}">
                <a16:creationId xmlns:a16="http://schemas.microsoft.com/office/drawing/2014/main" id="{EF878B1F-BA44-18DE-3CB2-1844BE710A4C}"/>
              </a:ext>
            </a:extLst>
          </p:cNvPr>
          <p:cNvSpPr txBox="1"/>
          <p:nvPr/>
        </p:nvSpPr>
        <p:spPr>
          <a:xfrm>
            <a:off x="2647666" y="5103674"/>
            <a:ext cx="1486241" cy="1754326"/>
          </a:xfrm>
          <a:prstGeom prst="rect">
            <a:avLst/>
          </a:prstGeom>
          <a:noFill/>
        </p:spPr>
        <p:txBody>
          <a:bodyPr wrap="none" rtlCol="0">
            <a:spAutoFit/>
          </a:bodyPr>
          <a:lstStyle/>
          <a:p>
            <a:pPr marL="285750" indent="-285750">
              <a:buFontTx/>
              <a:buChar char="-"/>
            </a:pPr>
            <a:r>
              <a:rPr lang="en-US" i="1" dirty="0"/>
              <a:t>person</a:t>
            </a:r>
          </a:p>
          <a:p>
            <a:pPr marL="285750" indent="-285750">
              <a:buFontTx/>
              <a:buChar char="-"/>
            </a:pPr>
            <a:r>
              <a:rPr lang="en-US" i="1" dirty="0"/>
              <a:t>face</a:t>
            </a:r>
          </a:p>
          <a:p>
            <a:pPr marL="285750" indent="-285750">
              <a:buFontTx/>
              <a:buChar char="-"/>
            </a:pPr>
            <a:r>
              <a:rPr lang="en-US" i="1" dirty="0"/>
              <a:t>fingerprint</a:t>
            </a:r>
          </a:p>
          <a:p>
            <a:pPr marL="285750" indent="-285750">
              <a:buFontTx/>
              <a:buChar char="-"/>
            </a:pPr>
            <a:r>
              <a:rPr lang="en-US" i="1" dirty="0"/>
              <a:t>iris</a:t>
            </a:r>
          </a:p>
          <a:p>
            <a:pPr marL="285750" indent="-285750">
              <a:buFontTx/>
              <a:buChar char="-"/>
            </a:pPr>
            <a:r>
              <a:rPr lang="en-US" i="1" dirty="0"/>
              <a:t>…</a:t>
            </a:r>
          </a:p>
          <a:p>
            <a:endParaRPr lang="en-US" i="1" dirty="0"/>
          </a:p>
        </p:txBody>
      </p:sp>
      <p:cxnSp>
        <p:nvCxnSpPr>
          <p:cNvPr id="11" name="Straight Arrow Connector 10">
            <a:extLst>
              <a:ext uri="{FF2B5EF4-FFF2-40B4-BE49-F238E27FC236}">
                <a16:creationId xmlns:a16="http://schemas.microsoft.com/office/drawing/2014/main" id="{19834419-AA21-0EE0-4A76-C32EE7DE7519}"/>
              </a:ext>
            </a:extLst>
          </p:cNvPr>
          <p:cNvCxnSpPr>
            <a:cxnSpLocks/>
          </p:cNvCxnSpPr>
          <p:nvPr/>
        </p:nvCxnSpPr>
        <p:spPr>
          <a:xfrm>
            <a:off x="5216576" y="1535176"/>
            <a:ext cx="0" cy="404734"/>
          </a:xfrm>
          <a:prstGeom prst="straightConnector1">
            <a:avLst/>
          </a:prstGeom>
          <a:ln w="76200">
            <a:solidFill>
              <a:srgbClr val="0070C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691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070CE-809A-242C-8F58-FBBC30200F08}"/>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FC089CCF-4275-6BE9-5413-A522AE206F4B}"/>
              </a:ext>
            </a:extLst>
          </p:cNvPr>
          <p:cNvSpPr>
            <a:spLocks noGrp="1"/>
          </p:cNvSpPr>
          <p:nvPr>
            <p:ph type="sldNum" sz="quarter" idx="12"/>
          </p:nvPr>
        </p:nvSpPr>
        <p:spPr/>
        <p:txBody>
          <a:bodyPr/>
          <a:lstStyle/>
          <a:p>
            <a:fld id="{659B2F21-D912-7541-8ED2-FD6ABD90B685}" type="slidenum">
              <a:rPr lang="en-US" smtClean="0"/>
              <a:t>4</a:t>
            </a:fld>
            <a:endParaRPr lang="en-US"/>
          </a:p>
        </p:txBody>
      </p:sp>
      <p:sp>
        <p:nvSpPr>
          <p:cNvPr id="3" name="TextBox 2">
            <a:extLst>
              <a:ext uri="{FF2B5EF4-FFF2-40B4-BE49-F238E27FC236}">
                <a16:creationId xmlns:a16="http://schemas.microsoft.com/office/drawing/2014/main" id="{62BD68B5-8C45-3844-738E-0A61E91F5373}"/>
              </a:ext>
            </a:extLst>
          </p:cNvPr>
          <p:cNvSpPr txBox="1"/>
          <p:nvPr/>
        </p:nvSpPr>
        <p:spPr>
          <a:xfrm>
            <a:off x="338994" y="1039549"/>
            <a:ext cx="11514011" cy="523220"/>
          </a:xfrm>
          <a:prstGeom prst="rect">
            <a:avLst/>
          </a:prstGeom>
          <a:noFill/>
        </p:spPr>
        <p:txBody>
          <a:bodyPr wrap="square">
            <a:spAutoFit/>
          </a:bodyPr>
          <a:lstStyle/>
          <a:p>
            <a:pPr indent="0" algn="l">
              <a:buNone/>
            </a:pPr>
            <a:r>
              <a:rPr lang="en-US" sz="2800" b="1" i="0" dirty="0">
                <a:solidFill>
                  <a:schemeClr val="tx1"/>
                </a:solidFill>
                <a:effectLst/>
                <a:latin typeface="+mn-lt"/>
              </a:rPr>
              <a:t>Which choice most threatens the validity of a face-verification result?</a:t>
            </a:r>
            <a:endParaRPr lang="en-US" sz="2800" b="0" i="0" dirty="0">
              <a:solidFill>
                <a:schemeClr val="tx1"/>
              </a:solidFill>
              <a:effectLst/>
              <a:latin typeface="+mn-lt"/>
            </a:endParaRPr>
          </a:p>
        </p:txBody>
      </p:sp>
      <p:pic>
        <p:nvPicPr>
          <p:cNvPr id="4" name="Picture 3" descr="t-SNE fit to the MNIST dataset">
            <a:extLst>
              <a:ext uri="{FF2B5EF4-FFF2-40B4-BE49-F238E27FC236}">
                <a16:creationId xmlns:a16="http://schemas.microsoft.com/office/drawing/2014/main" id="{7DBCE203-75DC-8028-C4DE-74C6CCFE5625}"/>
              </a:ext>
            </a:extLst>
          </p:cNvPr>
          <p:cNvPicPr>
            <a:picLocks noChangeAspect="1"/>
          </p:cNvPicPr>
          <p:nvPr/>
        </p:nvPicPr>
        <p:blipFill>
          <a:blip r:embed="rId3"/>
          <a:stretch>
            <a:fillRect/>
          </a:stretch>
        </p:blipFill>
        <p:spPr>
          <a:xfrm>
            <a:off x="535675" y="3795646"/>
            <a:ext cx="2830492" cy="2560704"/>
          </a:xfrm>
          <a:prstGeom prst="rect">
            <a:avLst/>
          </a:prstGeom>
        </p:spPr>
      </p:pic>
      <p:sp>
        <p:nvSpPr>
          <p:cNvPr id="9" name="TextBox 8">
            <a:extLst>
              <a:ext uri="{FF2B5EF4-FFF2-40B4-BE49-F238E27FC236}">
                <a16:creationId xmlns:a16="http://schemas.microsoft.com/office/drawing/2014/main" id="{ED3F3F22-E31E-2E4B-AF0D-1AC1725E2F34}"/>
              </a:ext>
            </a:extLst>
          </p:cNvPr>
          <p:cNvSpPr txBox="1"/>
          <p:nvPr/>
        </p:nvSpPr>
        <p:spPr>
          <a:xfrm>
            <a:off x="535675" y="2291063"/>
            <a:ext cx="3285671" cy="830997"/>
          </a:xfrm>
          <a:prstGeom prst="rect">
            <a:avLst/>
          </a:prstGeom>
          <a:noFill/>
        </p:spPr>
        <p:txBody>
          <a:bodyPr wrap="square">
            <a:spAutoFit/>
          </a:bodyPr>
          <a:lstStyle/>
          <a:p>
            <a:pPr lvl="0" algn="l"/>
            <a:r>
              <a:rPr lang="en-US" sz="2400" b="0" i="0" dirty="0">
                <a:solidFill>
                  <a:schemeClr val="tx1"/>
                </a:solidFill>
                <a:effectLst/>
                <a:latin typeface="+mn-lt"/>
              </a:rPr>
              <a:t>A. A test set with too few images</a:t>
            </a:r>
          </a:p>
        </p:txBody>
      </p:sp>
      <p:pic>
        <p:nvPicPr>
          <p:cNvPr id="12" name="Picture 11">
            <a:extLst>
              <a:ext uri="{FF2B5EF4-FFF2-40B4-BE49-F238E27FC236}">
                <a16:creationId xmlns:a16="http://schemas.microsoft.com/office/drawing/2014/main" id="{74AE3603-B5F3-C316-0344-38E7E9843FAE}"/>
              </a:ext>
            </a:extLst>
          </p:cNvPr>
          <p:cNvPicPr>
            <a:picLocks noChangeAspect="1"/>
          </p:cNvPicPr>
          <p:nvPr/>
        </p:nvPicPr>
        <p:blipFill>
          <a:blip r:embed="rId4"/>
          <a:stretch>
            <a:fillRect/>
          </a:stretch>
        </p:blipFill>
        <p:spPr>
          <a:xfrm>
            <a:off x="4414381" y="4217923"/>
            <a:ext cx="1514143" cy="1946755"/>
          </a:xfrm>
          <a:prstGeom prst="rect">
            <a:avLst/>
          </a:prstGeom>
        </p:spPr>
      </p:pic>
      <p:pic>
        <p:nvPicPr>
          <p:cNvPr id="16" name="Picture 15">
            <a:extLst>
              <a:ext uri="{FF2B5EF4-FFF2-40B4-BE49-F238E27FC236}">
                <a16:creationId xmlns:a16="http://schemas.microsoft.com/office/drawing/2014/main" id="{2F1E8C12-BF08-46FD-E306-6C2B5C67B6FF}"/>
              </a:ext>
            </a:extLst>
          </p:cNvPr>
          <p:cNvPicPr>
            <a:picLocks noChangeAspect="1"/>
          </p:cNvPicPr>
          <p:nvPr/>
        </p:nvPicPr>
        <p:blipFill>
          <a:blip r:embed="rId5"/>
          <a:stretch>
            <a:fillRect/>
          </a:stretch>
        </p:blipFill>
        <p:spPr>
          <a:xfrm>
            <a:off x="6096000" y="4217923"/>
            <a:ext cx="1514143" cy="1946756"/>
          </a:xfrm>
          <a:prstGeom prst="rect">
            <a:avLst/>
          </a:prstGeom>
        </p:spPr>
      </p:pic>
      <p:sp>
        <p:nvSpPr>
          <p:cNvPr id="18" name="TextBox 17">
            <a:extLst>
              <a:ext uri="{FF2B5EF4-FFF2-40B4-BE49-F238E27FC236}">
                <a16:creationId xmlns:a16="http://schemas.microsoft.com/office/drawing/2014/main" id="{A813B729-0E11-51E2-F496-69BDC0D57CCD}"/>
              </a:ext>
            </a:extLst>
          </p:cNvPr>
          <p:cNvSpPr txBox="1"/>
          <p:nvPr/>
        </p:nvSpPr>
        <p:spPr>
          <a:xfrm>
            <a:off x="4414381" y="2291061"/>
            <a:ext cx="3500358" cy="1200329"/>
          </a:xfrm>
          <a:prstGeom prst="rect">
            <a:avLst/>
          </a:prstGeom>
          <a:noFill/>
        </p:spPr>
        <p:txBody>
          <a:bodyPr wrap="square">
            <a:spAutoFit/>
          </a:bodyPr>
          <a:lstStyle/>
          <a:p>
            <a:r>
              <a:rPr lang="en-US" sz="2400" b="0" i="0" dirty="0">
                <a:solidFill>
                  <a:schemeClr val="tx1"/>
                </a:solidFill>
                <a:effectLst/>
                <a:latin typeface="+mn-lt"/>
              </a:rPr>
              <a:t>B. The same subject appearing in training and evaluation splits</a:t>
            </a:r>
            <a:endParaRPr lang="en-US" dirty="0"/>
          </a:p>
        </p:txBody>
      </p:sp>
      <p:sp>
        <p:nvSpPr>
          <p:cNvPr id="19" name="TextBox 18">
            <a:extLst>
              <a:ext uri="{FF2B5EF4-FFF2-40B4-BE49-F238E27FC236}">
                <a16:creationId xmlns:a16="http://schemas.microsoft.com/office/drawing/2014/main" id="{DBC1289D-A18F-A6BC-9D2F-3AF72018CCB9}"/>
              </a:ext>
            </a:extLst>
          </p:cNvPr>
          <p:cNvSpPr txBox="1"/>
          <p:nvPr/>
        </p:nvSpPr>
        <p:spPr>
          <a:xfrm>
            <a:off x="4841682" y="3819984"/>
            <a:ext cx="659540" cy="369332"/>
          </a:xfrm>
          <a:prstGeom prst="rect">
            <a:avLst/>
          </a:prstGeom>
          <a:noFill/>
        </p:spPr>
        <p:txBody>
          <a:bodyPr wrap="none" rtlCol="0">
            <a:spAutoFit/>
          </a:bodyPr>
          <a:lstStyle/>
          <a:p>
            <a:r>
              <a:rPr lang="en-US" dirty="0"/>
              <a:t>Train</a:t>
            </a:r>
          </a:p>
        </p:txBody>
      </p:sp>
      <p:sp>
        <p:nvSpPr>
          <p:cNvPr id="21" name="TextBox 20">
            <a:extLst>
              <a:ext uri="{FF2B5EF4-FFF2-40B4-BE49-F238E27FC236}">
                <a16:creationId xmlns:a16="http://schemas.microsoft.com/office/drawing/2014/main" id="{F4DB524A-2C5F-52B5-4C7B-DF8C7420A84A}"/>
              </a:ext>
            </a:extLst>
          </p:cNvPr>
          <p:cNvSpPr txBox="1"/>
          <p:nvPr/>
        </p:nvSpPr>
        <p:spPr>
          <a:xfrm>
            <a:off x="6523301" y="3819984"/>
            <a:ext cx="599651" cy="369332"/>
          </a:xfrm>
          <a:prstGeom prst="rect">
            <a:avLst/>
          </a:prstGeom>
          <a:noFill/>
        </p:spPr>
        <p:txBody>
          <a:bodyPr wrap="none" rtlCol="0">
            <a:spAutoFit/>
          </a:bodyPr>
          <a:lstStyle/>
          <a:p>
            <a:r>
              <a:rPr lang="en-US" dirty="0"/>
              <a:t>Eval</a:t>
            </a:r>
          </a:p>
        </p:txBody>
      </p:sp>
      <p:pic>
        <p:nvPicPr>
          <p:cNvPr id="22" name="Picture 21" descr="What Are Biometrics? Biometric System Accuracy Testing">
            <a:extLst>
              <a:ext uri="{FF2B5EF4-FFF2-40B4-BE49-F238E27FC236}">
                <a16:creationId xmlns:a16="http://schemas.microsoft.com/office/drawing/2014/main" id="{ABC0B893-54B0-76E7-9534-3706AB104002}"/>
              </a:ext>
            </a:extLst>
          </p:cNvPr>
          <p:cNvPicPr>
            <a:picLocks noChangeAspect="1"/>
          </p:cNvPicPr>
          <p:nvPr/>
        </p:nvPicPr>
        <p:blipFill>
          <a:blip r:embed="rId6"/>
          <a:stretch>
            <a:fillRect/>
          </a:stretch>
        </p:blipFill>
        <p:spPr>
          <a:xfrm>
            <a:off x="8610600" y="3942635"/>
            <a:ext cx="3135424" cy="2413715"/>
          </a:xfrm>
          <a:prstGeom prst="rect">
            <a:avLst/>
          </a:prstGeom>
        </p:spPr>
      </p:pic>
      <p:sp>
        <p:nvSpPr>
          <p:cNvPr id="24" name="TextBox 23">
            <a:extLst>
              <a:ext uri="{FF2B5EF4-FFF2-40B4-BE49-F238E27FC236}">
                <a16:creationId xmlns:a16="http://schemas.microsoft.com/office/drawing/2014/main" id="{D766F15B-9511-0F0E-7573-F0E093F01A96}"/>
              </a:ext>
            </a:extLst>
          </p:cNvPr>
          <p:cNvSpPr txBox="1"/>
          <p:nvPr/>
        </p:nvSpPr>
        <p:spPr>
          <a:xfrm>
            <a:off x="8479575" y="2289302"/>
            <a:ext cx="3599831" cy="1200329"/>
          </a:xfrm>
          <a:prstGeom prst="rect">
            <a:avLst/>
          </a:prstGeom>
          <a:noFill/>
        </p:spPr>
        <p:txBody>
          <a:bodyPr wrap="square">
            <a:spAutoFit/>
          </a:bodyPr>
          <a:lstStyle/>
          <a:p>
            <a:pPr lvl="0" algn="l"/>
            <a:r>
              <a:rPr lang="en-US" sz="2400" b="0" i="0" dirty="0">
                <a:solidFill>
                  <a:schemeClr val="tx1"/>
                </a:solidFill>
                <a:effectLst/>
                <a:latin typeface="+mn-lt"/>
              </a:rPr>
              <a:t>C. A threshold selected after inspecting the test ROC curve</a:t>
            </a:r>
            <a:endParaRPr lang="en-US" sz="2400" b="0" i="0" dirty="0">
              <a:solidFill>
                <a:srgbClr val="161C24"/>
              </a:solidFill>
              <a:effectLst/>
              <a:latin typeface="-apple-system"/>
            </a:endParaRPr>
          </a:p>
        </p:txBody>
      </p:sp>
    </p:spTree>
    <p:extLst>
      <p:ext uri="{BB962C8B-B14F-4D97-AF65-F5344CB8AC3E}">
        <p14:creationId xmlns:p14="http://schemas.microsoft.com/office/powerpoint/2010/main" val="2669045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53018-25DB-D423-7D93-A54DF8053F38}"/>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2811FD38-BCE3-1D2A-8467-DD4D39C477B7}"/>
              </a:ext>
            </a:extLst>
          </p:cNvPr>
          <p:cNvSpPr>
            <a:spLocks noGrp="1"/>
          </p:cNvSpPr>
          <p:nvPr>
            <p:ph type="sldNum" sz="quarter" idx="12"/>
          </p:nvPr>
        </p:nvSpPr>
        <p:spPr/>
        <p:txBody>
          <a:bodyPr/>
          <a:lstStyle/>
          <a:p>
            <a:fld id="{659B2F21-D912-7541-8ED2-FD6ABD90B685}" type="slidenum">
              <a:rPr lang="en-US" smtClean="0"/>
              <a:t>5</a:t>
            </a:fld>
            <a:endParaRPr lang="en-US"/>
          </a:p>
        </p:txBody>
      </p:sp>
      <p:sp>
        <p:nvSpPr>
          <p:cNvPr id="3" name="TextBox 2">
            <a:extLst>
              <a:ext uri="{FF2B5EF4-FFF2-40B4-BE49-F238E27FC236}">
                <a16:creationId xmlns:a16="http://schemas.microsoft.com/office/drawing/2014/main" id="{5481EB4D-E0DA-6A8F-1306-FC23833614BE}"/>
              </a:ext>
            </a:extLst>
          </p:cNvPr>
          <p:cNvSpPr txBox="1"/>
          <p:nvPr/>
        </p:nvSpPr>
        <p:spPr>
          <a:xfrm>
            <a:off x="331278" y="1397208"/>
            <a:ext cx="11514011" cy="954107"/>
          </a:xfrm>
          <a:prstGeom prst="rect">
            <a:avLst/>
          </a:prstGeom>
          <a:noFill/>
        </p:spPr>
        <p:txBody>
          <a:bodyPr wrap="square">
            <a:spAutoFit/>
          </a:bodyPr>
          <a:lstStyle/>
          <a:p>
            <a:pPr indent="0" algn="l">
              <a:buNone/>
            </a:pPr>
            <a:r>
              <a:rPr lang="en-US" sz="2800" b="1" i="0" dirty="0">
                <a:solidFill>
                  <a:schemeClr val="tx1"/>
                </a:solidFill>
                <a:effectLst/>
                <a:latin typeface="+mn-lt"/>
              </a:rPr>
              <a:t>What must be specified before the statement “</a:t>
            </a:r>
            <a:r>
              <a:rPr lang="en-US" sz="2800" b="1" dirty="0"/>
              <a:t>The s</a:t>
            </a:r>
            <a:r>
              <a:rPr lang="en-US" sz="2800" b="1" i="0" dirty="0">
                <a:solidFill>
                  <a:schemeClr val="tx1"/>
                </a:solidFill>
                <a:effectLst/>
                <a:latin typeface="+mn-lt"/>
              </a:rPr>
              <a:t>ystem is state-of-the-art” has technical meaning? </a:t>
            </a:r>
            <a:endParaRPr lang="en-US" sz="2800" b="0" i="0" dirty="0">
              <a:solidFill>
                <a:schemeClr val="tx1"/>
              </a:solidFill>
              <a:effectLst/>
              <a:latin typeface="+mn-lt"/>
            </a:endParaRPr>
          </a:p>
        </p:txBody>
      </p:sp>
      <p:sp>
        <p:nvSpPr>
          <p:cNvPr id="2" name="TextBox 1">
            <a:extLst>
              <a:ext uri="{FF2B5EF4-FFF2-40B4-BE49-F238E27FC236}">
                <a16:creationId xmlns:a16="http://schemas.microsoft.com/office/drawing/2014/main" id="{D309398E-2B30-21E9-AE6F-715E64A48EF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Review Week 4</a:t>
            </a:r>
          </a:p>
        </p:txBody>
      </p:sp>
      <p:sp>
        <p:nvSpPr>
          <p:cNvPr id="5" name="TextBox 4">
            <a:extLst>
              <a:ext uri="{FF2B5EF4-FFF2-40B4-BE49-F238E27FC236}">
                <a16:creationId xmlns:a16="http://schemas.microsoft.com/office/drawing/2014/main" id="{02C29BD7-A5DE-17DF-87FB-3B3DA84D4FFB}"/>
              </a:ext>
            </a:extLst>
          </p:cNvPr>
          <p:cNvSpPr txBox="1"/>
          <p:nvPr/>
        </p:nvSpPr>
        <p:spPr>
          <a:xfrm>
            <a:off x="590310" y="3015004"/>
            <a:ext cx="5046215" cy="2677656"/>
          </a:xfrm>
          <a:prstGeom prst="rect">
            <a:avLst/>
          </a:prstGeom>
          <a:noFill/>
        </p:spPr>
        <p:txBody>
          <a:bodyPr wrap="square" rtlCol="0">
            <a:spAutoFit/>
          </a:bodyPr>
          <a:lstStyle/>
          <a:p>
            <a:pPr marL="285750" indent="-285750">
              <a:buFont typeface="Wingdings" pitchFamily="2" charset="2"/>
              <a:buChar char="§"/>
            </a:pPr>
            <a:r>
              <a:rPr lang="en-US" sz="2400" dirty="0"/>
              <a:t>Event (or Task)</a:t>
            </a:r>
          </a:p>
          <a:p>
            <a:pPr marL="285750" indent="-285750">
              <a:buFont typeface="Wingdings" pitchFamily="2" charset="2"/>
              <a:buChar char="§"/>
            </a:pPr>
            <a:r>
              <a:rPr lang="en-US" sz="2400" dirty="0"/>
              <a:t>Population and Protocols</a:t>
            </a:r>
          </a:p>
          <a:p>
            <a:pPr marL="285750" indent="-285750">
              <a:buFont typeface="Wingdings" pitchFamily="2" charset="2"/>
              <a:buChar char="§"/>
            </a:pPr>
            <a:r>
              <a:rPr lang="en-US" sz="2400" dirty="0"/>
              <a:t>Complete system</a:t>
            </a:r>
          </a:p>
          <a:p>
            <a:pPr marL="285750" indent="-285750">
              <a:buFont typeface="Wingdings" pitchFamily="2" charset="2"/>
              <a:buChar char="§"/>
            </a:pPr>
            <a:r>
              <a:rPr lang="en-US" sz="2400" dirty="0"/>
              <a:t>Conditions </a:t>
            </a:r>
          </a:p>
          <a:p>
            <a:pPr marL="285750" indent="-285750">
              <a:buFont typeface="Wingdings" pitchFamily="2" charset="2"/>
              <a:buChar char="§"/>
            </a:pPr>
            <a:r>
              <a:rPr lang="en-US" sz="2400" dirty="0"/>
              <a:t>When</a:t>
            </a:r>
          </a:p>
          <a:p>
            <a:pPr marL="285750" indent="-285750">
              <a:buFont typeface="Wingdings" pitchFamily="2" charset="2"/>
              <a:buChar char="§"/>
            </a:pPr>
            <a:r>
              <a:rPr lang="en-US" sz="2400" dirty="0"/>
              <a:t>Decision Rule</a:t>
            </a:r>
          </a:p>
          <a:p>
            <a:pPr marL="285750" indent="-285750">
              <a:buFont typeface="Wingdings" pitchFamily="2" charset="2"/>
              <a:buChar char="§"/>
            </a:pPr>
            <a:r>
              <a:rPr lang="en-US" sz="2400" dirty="0"/>
              <a:t>Operating Points</a:t>
            </a:r>
          </a:p>
        </p:txBody>
      </p:sp>
      <p:pic>
        <p:nvPicPr>
          <p:cNvPr id="6" name="Picture 5">
            <a:extLst>
              <a:ext uri="{FF2B5EF4-FFF2-40B4-BE49-F238E27FC236}">
                <a16:creationId xmlns:a16="http://schemas.microsoft.com/office/drawing/2014/main" id="{810F5E3E-DF5C-6E17-235C-479E3288D5FD}"/>
              </a:ext>
            </a:extLst>
          </p:cNvPr>
          <p:cNvPicPr>
            <a:picLocks noChangeAspect="1"/>
          </p:cNvPicPr>
          <p:nvPr/>
        </p:nvPicPr>
        <p:blipFill>
          <a:blip r:embed="rId3"/>
          <a:stretch>
            <a:fillRect/>
          </a:stretch>
        </p:blipFill>
        <p:spPr>
          <a:xfrm>
            <a:off x="5368120" y="2639332"/>
            <a:ext cx="6096000" cy="3429000"/>
          </a:xfrm>
          <a:prstGeom prst="rect">
            <a:avLst/>
          </a:prstGeom>
        </p:spPr>
      </p:pic>
    </p:spTree>
    <p:extLst>
      <p:ext uri="{BB962C8B-B14F-4D97-AF65-F5344CB8AC3E}">
        <p14:creationId xmlns:p14="http://schemas.microsoft.com/office/powerpoint/2010/main" val="11234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F347B-1AF4-290E-F82B-9EE248372FC9}"/>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DBD5ABCD-EA1E-2CD5-782B-3FBCE437DF56}"/>
              </a:ext>
            </a:extLst>
          </p:cNvPr>
          <p:cNvSpPr>
            <a:spLocks noGrp="1"/>
          </p:cNvSpPr>
          <p:nvPr>
            <p:ph type="sldNum" sz="quarter" idx="12"/>
          </p:nvPr>
        </p:nvSpPr>
        <p:spPr/>
        <p:txBody>
          <a:bodyPr/>
          <a:lstStyle/>
          <a:p>
            <a:fld id="{659B2F21-D912-7541-8ED2-FD6ABD90B685}" type="slidenum">
              <a:rPr lang="en-US" smtClean="0"/>
              <a:t>6</a:t>
            </a:fld>
            <a:endParaRPr lang="en-US"/>
          </a:p>
        </p:txBody>
      </p:sp>
      <p:sp>
        <p:nvSpPr>
          <p:cNvPr id="2" name="TextBox 1">
            <a:extLst>
              <a:ext uri="{FF2B5EF4-FFF2-40B4-BE49-F238E27FC236}">
                <a16:creationId xmlns:a16="http://schemas.microsoft.com/office/drawing/2014/main" id="{7D6F573A-9762-B8C6-2D3B-0355C76B33AC}"/>
              </a:ext>
            </a:extLst>
          </p:cNvPr>
          <p:cNvSpPr txBox="1"/>
          <p:nvPr/>
        </p:nvSpPr>
        <p:spPr>
          <a:xfrm>
            <a:off x="590310" y="486009"/>
            <a:ext cx="10995948" cy="1323439"/>
          </a:xfrm>
          <a:prstGeom prst="rect">
            <a:avLst/>
          </a:prstGeom>
          <a:noFill/>
        </p:spPr>
        <p:txBody>
          <a:bodyPr wrap="square" rtlCol="0">
            <a:spAutoFit/>
          </a:bodyPr>
          <a:lstStyle/>
          <a:p>
            <a:r>
              <a:rPr lang="en-US" sz="4000" b="1" dirty="0">
                <a:solidFill>
                  <a:srgbClr val="0070C0"/>
                </a:solidFill>
              </a:rPr>
              <a:t>Why collection and design are part of the method?</a:t>
            </a:r>
          </a:p>
        </p:txBody>
      </p:sp>
      <p:sp>
        <p:nvSpPr>
          <p:cNvPr id="7" name="TextBox 6">
            <a:extLst>
              <a:ext uri="{FF2B5EF4-FFF2-40B4-BE49-F238E27FC236}">
                <a16:creationId xmlns:a16="http://schemas.microsoft.com/office/drawing/2014/main" id="{BD787C25-F2C3-CF9E-0EEC-A36DD6C66B9C}"/>
              </a:ext>
            </a:extLst>
          </p:cNvPr>
          <p:cNvSpPr txBox="1"/>
          <p:nvPr/>
        </p:nvSpPr>
        <p:spPr>
          <a:xfrm>
            <a:off x="590310" y="1997375"/>
            <a:ext cx="10995948" cy="954107"/>
          </a:xfrm>
          <a:prstGeom prst="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txBody>
          <a:bodyPr wrap="square">
            <a:spAutoFit/>
          </a:bodyPr>
          <a:lstStyle/>
          <a:p>
            <a:r>
              <a:rPr lang="en-US" sz="3200" b="1" dirty="0"/>
              <a:t>Claim</a:t>
            </a:r>
            <a:br>
              <a:rPr lang="en-US" sz="1800" b="0" i="0" dirty="0">
                <a:solidFill>
                  <a:schemeClr val="tx1"/>
                </a:solidFill>
                <a:effectLst/>
                <a:latin typeface="+mn-lt"/>
              </a:rPr>
            </a:br>
            <a:r>
              <a:rPr lang="en-US" sz="2400" b="0" i="0" dirty="0">
                <a:solidFill>
                  <a:schemeClr val="tx1"/>
                </a:solidFill>
                <a:effectLst/>
                <a:latin typeface="+mn-lt"/>
              </a:rPr>
              <a:t>A biometric benchmark is not merely a container of samples.</a:t>
            </a:r>
            <a:endParaRPr lang="en-US" sz="2400" dirty="0"/>
          </a:p>
        </p:txBody>
      </p:sp>
      <p:sp>
        <p:nvSpPr>
          <p:cNvPr id="8" name="TextBox 7">
            <a:extLst>
              <a:ext uri="{FF2B5EF4-FFF2-40B4-BE49-F238E27FC236}">
                <a16:creationId xmlns:a16="http://schemas.microsoft.com/office/drawing/2014/main" id="{D5F4E816-0962-41FF-A1FA-9EA283E8C331}"/>
              </a:ext>
            </a:extLst>
          </p:cNvPr>
          <p:cNvSpPr txBox="1"/>
          <p:nvPr/>
        </p:nvSpPr>
        <p:spPr>
          <a:xfrm>
            <a:off x="590310" y="3139409"/>
            <a:ext cx="6509411" cy="2031325"/>
          </a:xfrm>
          <a:prstGeom prst="rect">
            <a:avLst/>
          </a:prstGeom>
          <a:noFill/>
        </p:spPr>
        <p:txBody>
          <a:bodyPr wrap="none" rtlCol="0">
            <a:spAutoFit/>
          </a:bodyPr>
          <a:lstStyle/>
          <a:p>
            <a:r>
              <a:rPr lang="en-US" b="1" dirty="0"/>
              <a:t>Collecting biometric data at scale turns operational choices</a:t>
            </a:r>
            <a:r>
              <a:rPr lang="en-US" dirty="0"/>
              <a:t>:</a:t>
            </a:r>
          </a:p>
          <a:p>
            <a:pPr marL="285750" indent="-285750">
              <a:buFontTx/>
              <a:buChar char="-"/>
            </a:pPr>
            <a:r>
              <a:rPr lang="en-US" dirty="0"/>
              <a:t>Subject recruitment, </a:t>
            </a:r>
          </a:p>
          <a:p>
            <a:pPr marL="285750" indent="-285750">
              <a:buFontTx/>
              <a:buChar char="-"/>
            </a:pPr>
            <a:r>
              <a:rPr lang="en-US" dirty="0"/>
              <a:t>Repeated acquisition, </a:t>
            </a:r>
          </a:p>
          <a:p>
            <a:pPr marL="285750" indent="-285750">
              <a:buFontTx/>
              <a:buChar char="-"/>
            </a:pPr>
            <a:r>
              <a:rPr lang="en-US" dirty="0"/>
              <a:t>Metadata, </a:t>
            </a:r>
          </a:p>
          <a:p>
            <a:pPr marL="285750" indent="-285750">
              <a:buFontTx/>
              <a:buChar char="-"/>
            </a:pPr>
            <a:r>
              <a:rPr lang="en-US" dirty="0"/>
              <a:t>Quality control, </a:t>
            </a:r>
          </a:p>
          <a:p>
            <a:pPr marL="285750" indent="-285750">
              <a:buFontTx/>
              <a:buChar char="-"/>
            </a:pPr>
            <a:r>
              <a:rPr lang="en-US" dirty="0"/>
              <a:t>Data management</a:t>
            </a:r>
          </a:p>
          <a:p>
            <a:r>
              <a:rPr lang="en-US" b="1" dirty="0"/>
              <a:t>Into scientific design decisions.</a:t>
            </a:r>
          </a:p>
        </p:txBody>
      </p:sp>
      <p:sp>
        <p:nvSpPr>
          <p:cNvPr id="9" name="TextBox 8">
            <a:extLst>
              <a:ext uri="{FF2B5EF4-FFF2-40B4-BE49-F238E27FC236}">
                <a16:creationId xmlns:a16="http://schemas.microsoft.com/office/drawing/2014/main" id="{8126FC45-0F60-5DD8-C96B-3E5B5D8F4080}"/>
              </a:ext>
            </a:extLst>
          </p:cNvPr>
          <p:cNvSpPr txBox="1"/>
          <p:nvPr/>
        </p:nvSpPr>
        <p:spPr>
          <a:xfrm>
            <a:off x="590310" y="5218334"/>
            <a:ext cx="9875293" cy="1569660"/>
          </a:xfrm>
          <a:prstGeom prst="rect">
            <a:avLst/>
          </a:prstGeom>
          <a:noFill/>
        </p:spPr>
        <p:txBody>
          <a:bodyPr wrap="square" rtlCol="0">
            <a:spAutoFit/>
          </a:bodyPr>
          <a:lstStyle/>
          <a:p>
            <a:r>
              <a:rPr lang="en-US" sz="2400" b="1" dirty="0">
                <a:solidFill>
                  <a:srgbClr val="0070C0"/>
                </a:solidFill>
              </a:rPr>
              <a:t>Scenario:</a:t>
            </a:r>
            <a:r>
              <a:rPr lang="en-US" sz="2400" b="1" dirty="0"/>
              <a:t> </a:t>
            </a:r>
            <a:r>
              <a:rPr lang="en-US" sz="2400" dirty="0"/>
              <a:t>You collect 1,000,000 face images. </a:t>
            </a:r>
            <a:br>
              <a:rPr lang="en-US" sz="2400" b="1" dirty="0"/>
            </a:br>
            <a:r>
              <a:rPr lang="en-US" sz="2400" b="1" dirty="0">
                <a:solidFill>
                  <a:srgbClr val="0070C0"/>
                </a:solidFill>
              </a:rPr>
              <a:t>Question</a:t>
            </a:r>
            <a:r>
              <a:rPr lang="en-US" sz="2400" dirty="0">
                <a:solidFill>
                  <a:srgbClr val="0070C0"/>
                </a:solidFill>
              </a:rPr>
              <a:t>: </a:t>
            </a:r>
            <a:r>
              <a:rPr lang="en-US" sz="2400" dirty="0"/>
              <a:t>Which quantity is more informative for judging experimental breadth: </a:t>
            </a:r>
            <a:r>
              <a:rPr lang="en-US" sz="2400" i="1" dirty="0"/>
              <a:t>sample count, subject count, number of sessions, or number of capture conditions</a:t>
            </a:r>
            <a:r>
              <a:rPr lang="en-US" sz="2400" dirty="0"/>
              <a:t>?</a:t>
            </a:r>
          </a:p>
        </p:txBody>
      </p:sp>
    </p:spTree>
    <p:extLst>
      <p:ext uri="{BB962C8B-B14F-4D97-AF65-F5344CB8AC3E}">
        <p14:creationId xmlns:p14="http://schemas.microsoft.com/office/powerpoint/2010/main" val="38320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3AAE5-F3E5-4A95-EEED-52B86D8B61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8388DBB-211C-9198-565C-BA8F8A600F9B}"/>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Concept Overview</a:t>
            </a:r>
          </a:p>
        </p:txBody>
      </p:sp>
      <p:sp>
        <p:nvSpPr>
          <p:cNvPr id="3" name="Slide Number Placeholder 2">
            <a:extLst>
              <a:ext uri="{FF2B5EF4-FFF2-40B4-BE49-F238E27FC236}">
                <a16:creationId xmlns:a16="http://schemas.microsoft.com/office/drawing/2014/main" id="{841FDFA6-B298-C035-78A4-0ED9B6CF8D18}"/>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7</a:t>
            </a:fld>
            <a:endParaRPr lang="en-US"/>
          </a:p>
        </p:txBody>
      </p:sp>
      <p:sp>
        <p:nvSpPr>
          <p:cNvPr id="2" name="TextBox 1">
            <a:extLst>
              <a:ext uri="{FF2B5EF4-FFF2-40B4-BE49-F238E27FC236}">
                <a16:creationId xmlns:a16="http://schemas.microsoft.com/office/drawing/2014/main" id="{D5C10511-10E3-A968-1D24-EA24BB51F911}"/>
              </a:ext>
            </a:extLst>
          </p:cNvPr>
          <p:cNvSpPr txBox="1"/>
          <p:nvPr/>
        </p:nvSpPr>
        <p:spPr>
          <a:xfrm>
            <a:off x="590310" y="1512965"/>
            <a:ext cx="10614502" cy="4708981"/>
          </a:xfrm>
          <a:prstGeom prst="rect">
            <a:avLst/>
          </a:prstGeom>
          <a:noFill/>
        </p:spPr>
        <p:txBody>
          <a:bodyPr wrap="square" rtlCol="0">
            <a:spAutoFit/>
          </a:bodyPr>
          <a:lstStyle/>
          <a:p>
            <a:pPr marL="400050" indent="-400050">
              <a:buFont typeface="+mj-lt"/>
              <a:buAutoNum type="romanUcPeriod"/>
            </a:pPr>
            <a:r>
              <a:rPr lang="en-US" sz="2800" b="1" dirty="0">
                <a:solidFill>
                  <a:srgbClr val="0070C0"/>
                </a:solidFill>
              </a:rPr>
              <a:t>From research question to protocol</a:t>
            </a:r>
          </a:p>
          <a:p>
            <a:pPr marL="914400" lvl="1" indent="-457200">
              <a:buFont typeface="+mj-lt"/>
              <a:buAutoNum type="alphaLcParenR"/>
            </a:pPr>
            <a:r>
              <a:rPr lang="en-US" sz="2400" i="1" dirty="0"/>
              <a:t>state the claim</a:t>
            </a:r>
          </a:p>
          <a:p>
            <a:pPr marL="914400" lvl="1" indent="-457200">
              <a:buFont typeface="+mj-lt"/>
              <a:buAutoNum type="alphaLcParenR"/>
            </a:pPr>
            <a:r>
              <a:rPr lang="en-US" sz="2400" i="1" dirty="0"/>
              <a:t>protocol is the experimental instrument</a:t>
            </a:r>
            <a:br>
              <a:rPr lang="en-US" sz="2400" i="1" dirty="0"/>
            </a:br>
            <a:endParaRPr lang="en-US" sz="2400" i="1" dirty="0"/>
          </a:p>
          <a:p>
            <a:pPr marL="400050" indent="-400050">
              <a:buFont typeface="+mj-lt"/>
              <a:buAutoNum type="romanUcPeriod"/>
            </a:pPr>
            <a:r>
              <a:rPr lang="en-US" sz="2800" b="1" dirty="0">
                <a:solidFill>
                  <a:srgbClr val="0070C0"/>
                </a:solidFill>
              </a:rPr>
              <a:t>Dependence, leakage, and effective sample size</a:t>
            </a:r>
          </a:p>
          <a:p>
            <a:pPr marL="914400" lvl="1" indent="-457200">
              <a:buFont typeface="+mj-lt"/>
              <a:buAutoNum type="alphaLcParenR"/>
            </a:pPr>
            <a:r>
              <a:rPr lang="en-US" sz="2400" i="1" dirty="0"/>
              <a:t>samples are not always independent</a:t>
            </a:r>
          </a:p>
          <a:p>
            <a:pPr marL="914400" lvl="1" indent="-457200">
              <a:buFont typeface="+mj-lt"/>
              <a:buAutoNum type="alphaLcParenR"/>
            </a:pPr>
            <a:r>
              <a:rPr lang="en-US" sz="2400" i="1" dirty="0"/>
              <a:t>where can information cross boundaries?</a:t>
            </a:r>
          </a:p>
          <a:p>
            <a:pPr lvl="1"/>
            <a:r>
              <a:rPr lang="en-US" sz="2400" i="1" dirty="0"/>
              <a:t> </a:t>
            </a:r>
          </a:p>
          <a:p>
            <a:pPr marL="400050" indent="-400050">
              <a:buFont typeface="+mj-lt"/>
              <a:buAutoNum type="romanUcPeriod"/>
            </a:pPr>
            <a:r>
              <a:rPr lang="en-US" sz="2800" b="1" dirty="0">
                <a:solidFill>
                  <a:srgbClr val="0070C0"/>
                </a:solidFill>
              </a:rPr>
              <a:t>Valid Inference: uncertainty, comparison, and reproducibility</a:t>
            </a:r>
          </a:p>
          <a:p>
            <a:pPr marL="914400" lvl="1" indent="-457200">
              <a:buFont typeface="+mj-lt"/>
              <a:buAutoNum type="alphaLcParenR"/>
            </a:pPr>
            <a:r>
              <a:rPr lang="en-US" sz="2400" i="1" dirty="0"/>
              <a:t>a point estimate is not a conclusion</a:t>
            </a:r>
          </a:p>
          <a:p>
            <a:pPr marL="914400" lvl="1" indent="-457200">
              <a:buFont typeface="+mj-lt"/>
              <a:buAutoNum type="alphaLcParenR"/>
            </a:pPr>
            <a:r>
              <a:rPr lang="en-US" sz="2400" i="1" dirty="0"/>
              <a:t>fair comparisons require control</a:t>
            </a:r>
          </a:p>
          <a:p>
            <a:pPr marL="914400" lvl="1" indent="-457200">
              <a:buFont typeface="+mj-lt"/>
              <a:buAutoNum type="alphaLcParenR"/>
            </a:pPr>
            <a:r>
              <a:rPr lang="en-US" sz="2400" i="1" dirty="0"/>
              <a:t>reproducibility is an experimental result</a:t>
            </a:r>
          </a:p>
        </p:txBody>
      </p:sp>
    </p:spTree>
    <p:extLst>
      <p:ext uri="{BB962C8B-B14F-4D97-AF65-F5344CB8AC3E}">
        <p14:creationId xmlns:p14="http://schemas.microsoft.com/office/powerpoint/2010/main" val="369058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87BCA-BC3C-51A7-57EC-49AD46F6A6E9}"/>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5289005C-B5A2-C135-691D-30D1E7AC7761}"/>
              </a:ext>
            </a:extLst>
          </p:cNvPr>
          <p:cNvSpPr/>
          <p:nvPr/>
        </p:nvSpPr>
        <p:spPr>
          <a:xfrm>
            <a:off x="225700" y="1983136"/>
            <a:ext cx="11308264" cy="100990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3DCD364-4274-C5C5-4EB4-F1FD6D3CCE2F}"/>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Concept I: </a:t>
            </a:r>
            <a:r>
              <a:rPr lang="en-US" sz="4000" b="1" i="1" dirty="0">
                <a:solidFill>
                  <a:srgbClr val="0070C0"/>
                </a:solidFill>
              </a:rPr>
              <a:t>state the claim</a:t>
            </a:r>
            <a:endParaRPr lang="en-US" sz="4000" b="1" dirty="0">
              <a:solidFill>
                <a:srgbClr val="0070C0"/>
              </a:solidFill>
            </a:endParaRPr>
          </a:p>
        </p:txBody>
      </p:sp>
      <p:sp>
        <p:nvSpPr>
          <p:cNvPr id="3" name="Slide Number Placeholder 2">
            <a:extLst>
              <a:ext uri="{FF2B5EF4-FFF2-40B4-BE49-F238E27FC236}">
                <a16:creationId xmlns:a16="http://schemas.microsoft.com/office/drawing/2014/main" id="{A4CC5825-B2AC-E01C-D9A0-81DB02C07AF4}"/>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8</a:t>
            </a:fld>
            <a:endParaRPr lang="en-US"/>
          </a:p>
        </p:txBody>
      </p:sp>
      <p:sp>
        <p:nvSpPr>
          <p:cNvPr id="6" name="TextBox 5">
            <a:extLst>
              <a:ext uri="{FF2B5EF4-FFF2-40B4-BE49-F238E27FC236}">
                <a16:creationId xmlns:a16="http://schemas.microsoft.com/office/drawing/2014/main" id="{F4318B78-5159-6395-E399-D9D4E8B01554}"/>
              </a:ext>
            </a:extLst>
          </p:cNvPr>
          <p:cNvSpPr txBox="1"/>
          <p:nvPr/>
        </p:nvSpPr>
        <p:spPr>
          <a:xfrm>
            <a:off x="590310" y="1441328"/>
            <a:ext cx="8550277" cy="523220"/>
          </a:xfrm>
          <a:prstGeom prst="rect">
            <a:avLst/>
          </a:prstGeom>
          <a:noFill/>
        </p:spPr>
        <p:txBody>
          <a:bodyPr wrap="square">
            <a:spAutoFit/>
          </a:bodyPr>
          <a:lstStyle/>
          <a:p>
            <a:pPr indent="0" algn="l">
              <a:buNone/>
            </a:pPr>
            <a:r>
              <a:rPr lang="en-US" sz="2800" b="1" i="0" dirty="0">
                <a:solidFill>
                  <a:schemeClr val="tx1"/>
                </a:solidFill>
                <a:effectLst/>
                <a:latin typeface="+mn-lt"/>
              </a:rPr>
              <a:t>Experiment Chain:</a:t>
            </a:r>
            <a:endParaRPr lang="en-US" sz="2000"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337C4B5-C17E-B103-4820-EBB8B222C397}"/>
                  </a:ext>
                </a:extLst>
              </p:cNvPr>
              <p:cNvSpPr txBox="1"/>
              <p:nvPr/>
            </p:nvSpPr>
            <p:spPr>
              <a:xfrm>
                <a:off x="225700" y="2230569"/>
                <a:ext cx="11203675" cy="461665"/>
              </a:xfrm>
              <a:prstGeom prst="rect">
                <a:avLst/>
              </a:prstGeom>
              <a:noFill/>
            </p:spPr>
            <p:txBody>
              <a:bodyPr wrap="square">
                <a:spAutoFit/>
              </a:bodyPr>
              <a:lstStyle/>
              <a:p>
                <a:pPr indent="0" algn="l">
                  <a:buNone/>
                </a:pPr>
                <a14:m>
                  <m:oMathPara xmlns:m="http://schemas.openxmlformats.org/officeDocument/2006/math">
                    <m:oMath>
                      <m:r>
                        <m:rPr>
                          <m:nor/>
                        </m:rPr>
                        <a:rPr lang="en-US" sz="2400" b="1" i="0" smtClean="0">
                          <a:solidFill>
                            <a:schemeClr val="bg1"/>
                          </a:solidFill>
                        </a:rPr>
                        <m:t>claim</m:t>
                      </m:r>
                      <m:r>
                        <a:rPr lang="en-US" sz="2400" b="1" i="0">
                          <a:solidFill>
                            <a:schemeClr val="bg1"/>
                          </a:solidFill>
                          <a:latin typeface="Cambria Math" panose="02040503050406030204" pitchFamily="18" charset="0"/>
                        </a:rPr>
                        <m:t>→</m:t>
                      </m:r>
                      <m:r>
                        <m:rPr>
                          <m:nor/>
                        </m:rPr>
                        <a:rPr lang="en-US" sz="2400" b="1" i="0">
                          <a:solidFill>
                            <a:schemeClr val="bg1"/>
                          </a:solidFill>
                        </a:rPr>
                        <m:t>target population</m:t>
                      </m:r>
                      <m:r>
                        <a:rPr lang="en-US" sz="2400" b="1" i="0">
                          <a:solidFill>
                            <a:schemeClr val="bg1"/>
                          </a:solidFill>
                          <a:latin typeface="Cambria Math" panose="02040503050406030204" pitchFamily="18" charset="0"/>
                        </a:rPr>
                        <m:t>→</m:t>
                      </m:r>
                      <m:r>
                        <m:rPr>
                          <m:nor/>
                        </m:rPr>
                        <a:rPr lang="en-US" sz="2400" b="1" i="0">
                          <a:solidFill>
                            <a:schemeClr val="bg1"/>
                          </a:solidFill>
                        </a:rPr>
                        <m:t>sampling unit</m:t>
                      </m:r>
                      <m:r>
                        <a:rPr lang="en-US" sz="2400" b="1" i="0">
                          <a:solidFill>
                            <a:schemeClr val="bg1"/>
                          </a:solidFill>
                          <a:latin typeface="Cambria Math" panose="02040503050406030204" pitchFamily="18" charset="0"/>
                        </a:rPr>
                        <m:t>→</m:t>
                      </m:r>
                      <m:r>
                        <m:rPr>
                          <m:nor/>
                        </m:rPr>
                        <a:rPr lang="en-US" sz="2400" b="1" i="0">
                          <a:solidFill>
                            <a:schemeClr val="bg1"/>
                          </a:solidFill>
                        </a:rPr>
                        <m:t>protocol</m:t>
                      </m:r>
                      <m:r>
                        <a:rPr lang="en-US" sz="2400" b="1" i="0">
                          <a:solidFill>
                            <a:schemeClr val="bg1"/>
                          </a:solidFill>
                          <a:latin typeface="Cambria Math" panose="02040503050406030204" pitchFamily="18" charset="0"/>
                        </a:rPr>
                        <m:t>→</m:t>
                      </m:r>
                      <m:r>
                        <m:rPr>
                          <m:nor/>
                        </m:rPr>
                        <a:rPr lang="en-US" sz="2400" b="1" i="0">
                          <a:solidFill>
                            <a:schemeClr val="bg1"/>
                          </a:solidFill>
                        </a:rPr>
                        <m:t>metric</m:t>
                      </m:r>
                      <m:r>
                        <a:rPr lang="en-US" sz="2400" b="1" i="0">
                          <a:solidFill>
                            <a:schemeClr val="bg1"/>
                          </a:solidFill>
                          <a:latin typeface="Cambria Math" panose="02040503050406030204" pitchFamily="18" charset="0"/>
                        </a:rPr>
                        <m:t>→</m:t>
                      </m:r>
                      <m:r>
                        <m:rPr>
                          <m:nor/>
                        </m:rPr>
                        <a:rPr lang="en-US" sz="2400" b="1" i="0">
                          <a:solidFill>
                            <a:schemeClr val="bg1"/>
                          </a:solidFill>
                        </a:rPr>
                        <m:t>uncertainty</m:t>
                      </m:r>
                    </m:oMath>
                  </m:oMathPara>
                </a14:m>
                <a:endParaRPr lang="en-US" sz="2400" b="1" i="0" dirty="0">
                  <a:solidFill>
                    <a:schemeClr val="bg1"/>
                  </a:solidFill>
                  <a:effectLst/>
                </a:endParaRPr>
              </a:p>
            </p:txBody>
          </p:sp>
        </mc:Choice>
        <mc:Fallback>
          <p:sp>
            <p:nvSpPr>
              <p:cNvPr id="8" name="TextBox 7">
                <a:extLst>
                  <a:ext uri="{FF2B5EF4-FFF2-40B4-BE49-F238E27FC236}">
                    <a16:creationId xmlns:a16="http://schemas.microsoft.com/office/drawing/2014/main" id="{0337C4B5-C17E-B103-4820-EBB8B222C397}"/>
                  </a:ext>
                </a:extLst>
              </p:cNvPr>
              <p:cNvSpPr txBox="1">
                <a:spLocks noRot="1" noChangeAspect="1" noMove="1" noResize="1" noEditPoints="1" noAdjustHandles="1" noChangeArrowheads="1" noChangeShapeType="1" noTextEdit="1"/>
              </p:cNvSpPr>
              <p:nvPr/>
            </p:nvSpPr>
            <p:spPr>
              <a:xfrm>
                <a:off x="225700" y="2230569"/>
                <a:ext cx="11203675" cy="461665"/>
              </a:xfrm>
              <a:prstGeom prst="rect">
                <a:avLst/>
              </a:prstGeom>
              <a:blipFill>
                <a:blip r:embed="rId3"/>
                <a:stretch>
                  <a:fillRect t="-7895"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B9DF9E5D-6062-0804-A03D-6AE24447DFFE}"/>
                  </a:ext>
                </a:extLst>
              </p:cNvPr>
              <p:cNvGraphicFramePr>
                <a:graphicFrameLocks noGrp="1"/>
              </p:cNvGraphicFramePr>
              <p:nvPr>
                <p:extLst>
                  <p:ext uri="{D42A27DB-BD31-4B8C-83A1-F6EECF244321}">
                    <p14:modId xmlns:p14="http://schemas.microsoft.com/office/powerpoint/2010/main" val="3687030381"/>
                  </p:ext>
                </p:extLst>
              </p:nvPr>
            </p:nvGraphicFramePr>
            <p:xfrm>
              <a:off x="330288" y="3782277"/>
              <a:ext cx="11203676" cy="1930781"/>
            </p:xfrm>
            <a:graphic>
              <a:graphicData uri="http://schemas.openxmlformats.org/drawingml/2006/table">
                <a:tbl>
                  <a:tblPr firstRow="1" bandRow="1">
                    <a:tableStyleId>{5C22544A-7EE6-4342-B048-85BDC9FD1C3A}</a:tableStyleId>
                  </a:tblPr>
                  <a:tblGrid>
                    <a:gridCol w="3652561">
                      <a:extLst>
                        <a:ext uri="{9D8B030D-6E8A-4147-A177-3AD203B41FA5}">
                          <a16:colId xmlns:a16="http://schemas.microsoft.com/office/drawing/2014/main" val="857256472"/>
                        </a:ext>
                      </a:extLst>
                    </a:gridCol>
                    <a:gridCol w="7551115">
                      <a:extLst>
                        <a:ext uri="{9D8B030D-6E8A-4147-A177-3AD203B41FA5}">
                          <a16:colId xmlns:a16="http://schemas.microsoft.com/office/drawing/2014/main" val="3840134453"/>
                        </a:ext>
                      </a:extLst>
                    </a:gridCol>
                  </a:tblGrid>
                  <a:tr h="370840">
                    <a:tc>
                      <a:txBody>
                        <a:bodyPr/>
                        <a:lstStyle/>
                        <a:p>
                          <a:pPr algn="ctr"/>
                          <a:r>
                            <a:rPr lang="en-US" dirty="0"/>
                            <a:t>Vague</a:t>
                          </a:r>
                        </a:p>
                      </a:txBody>
                      <a:tcPr/>
                    </a:tc>
                    <a:tc>
                      <a:txBody>
                        <a:bodyPr/>
                        <a:lstStyle/>
                        <a:p>
                          <a:pPr algn="ctr"/>
                          <a:r>
                            <a:rPr lang="en-US" dirty="0"/>
                            <a:t>Testable</a:t>
                          </a:r>
                        </a:p>
                      </a:txBody>
                      <a:tcPr/>
                    </a:tc>
                    <a:extLst>
                      <a:ext uri="{0D108BD9-81ED-4DB2-BD59-A6C34878D82A}">
                        <a16:rowId xmlns:a16="http://schemas.microsoft.com/office/drawing/2014/main" val="3970795060"/>
                      </a:ext>
                    </a:extLst>
                  </a:tr>
                  <a:tr h="370840">
                    <a:tc>
                      <a:txBody>
                        <a:bodyPr/>
                        <a:lstStyle/>
                        <a:p>
                          <a:r>
                            <a:rPr lang="en-US" dirty="0"/>
                            <a:t>“Our representation is robust”</a:t>
                          </a:r>
                        </a:p>
                      </a:txBody>
                      <a:tcPr/>
                    </a:tc>
                    <a:tc>
                      <a:txBody>
                        <a:bodyPr/>
                        <a:lstStyle/>
                        <a:p>
                          <a:r>
                            <a:rPr lang="en-US" sz="1800" b="0" i="0" kern="1200" dirty="0">
                              <a:solidFill>
                                <a:schemeClr val="dk1"/>
                              </a:solidFill>
                              <a:effectLst/>
                              <a:latin typeface="+mn-lt"/>
                              <a:ea typeface="+mn-ea"/>
                              <a:cs typeface="+mn-cs"/>
                            </a:rPr>
                            <a:t>“At </a:t>
                          </a:r>
                          <a14:m>
                            <m:oMath xmlns:m="http://schemas.openxmlformats.org/officeDocument/2006/math">
                              <m:r>
                                <m:rPr>
                                  <m:sty m:val="p"/>
                                </m:rPr>
                                <a:rPr lang="en-US" sz="1800" kern="1200">
                                  <a:solidFill>
                                    <a:schemeClr val="dk1"/>
                                  </a:solidFill>
                                  <a:latin typeface="+mn-lt"/>
                                  <a:ea typeface="+mn-ea"/>
                                  <a:cs typeface="+mn-cs"/>
                                </a:rPr>
                                <m:t>F</m:t>
                              </m:r>
                              <m:r>
                                <m:rPr>
                                  <m:sty m:val="p"/>
                                </m:rPr>
                                <a:rPr lang="en-US" sz="1800" i="0" kern="1200">
                                  <a:solidFill>
                                    <a:schemeClr val="dk1"/>
                                  </a:solidFill>
                                  <a:latin typeface="+mn-lt"/>
                                  <a:ea typeface="+mn-ea"/>
                                  <a:cs typeface="+mn-cs"/>
                                </a:rPr>
                                <m:t>MR</m:t>
                              </m:r>
                              <m:r>
                                <a:rPr lang="en-US" sz="1800" i="0" kern="1200">
                                  <a:solidFill>
                                    <a:schemeClr val="dk1"/>
                                  </a:solidFill>
                                  <a:latin typeface="+mn-lt"/>
                                  <a:ea typeface="+mn-ea"/>
                                  <a:cs typeface="+mn-cs"/>
                                </a:rPr>
                                <m:t>=</m:t>
                              </m:r>
                              <m:sSup>
                                <m:sSupPr>
                                  <m:ctrlPr>
                                    <a:rPr lang="en-US" sz="1800" i="0" kern="1200">
                                      <a:solidFill>
                                        <a:schemeClr val="dk1"/>
                                      </a:solidFill>
                                      <a:latin typeface="+mn-lt"/>
                                      <a:ea typeface="+mn-ea"/>
                                      <a:cs typeface="+mn-cs"/>
                                    </a:rPr>
                                  </m:ctrlPr>
                                </m:sSupPr>
                                <m:e>
                                  <m:r>
                                    <a:rPr lang="en-US" sz="1800" i="0" kern="1200">
                                      <a:solidFill>
                                        <a:schemeClr val="dk1"/>
                                      </a:solidFill>
                                      <a:latin typeface="+mn-lt"/>
                                      <a:ea typeface="+mn-ea"/>
                                      <a:cs typeface="+mn-cs"/>
                                    </a:rPr>
                                    <m:t>10</m:t>
                                  </m:r>
                                </m:e>
                                <m:sup>
                                  <m:r>
                                    <a:rPr lang="en-US" sz="1800" i="0" kern="1200">
                                      <a:solidFill>
                                        <a:schemeClr val="dk1"/>
                                      </a:solidFill>
                                      <a:latin typeface="+mn-lt"/>
                                      <a:ea typeface="+mn-ea"/>
                                      <a:cs typeface="+mn-cs"/>
                                    </a:rPr>
                                    <m:t>−4</m:t>
                                  </m:r>
                                </m:sup>
                              </m:sSup>
                            </m:oMath>
                          </a14:m>
                          <a:r>
                            <a:rPr lang="en-US" sz="1800" b="0" i="0" kern="1200" dirty="0">
                              <a:solidFill>
                                <a:schemeClr val="dk1"/>
                              </a:solidFill>
                              <a:effectLst/>
                              <a:latin typeface="+mn-lt"/>
                              <a:ea typeface="+mn-ea"/>
                              <a:cs typeface="+mn-cs"/>
                            </a:rPr>
                            <a:t>, the representation reduces </a:t>
                          </a:r>
                          <a14:m>
                            <m:oMath xmlns:m="http://schemas.openxmlformats.org/officeDocument/2006/math">
                              <m:r>
                                <m:rPr>
                                  <m:sty m:val="p"/>
                                </m:rPr>
                                <a:rPr lang="en-US" sz="1800" kern="1200">
                                  <a:solidFill>
                                    <a:schemeClr val="dk1"/>
                                  </a:solidFill>
                                  <a:latin typeface="+mn-lt"/>
                                  <a:ea typeface="+mn-ea"/>
                                  <a:cs typeface="+mn-cs"/>
                                </a:rPr>
                                <m:t>F</m:t>
                              </m:r>
                              <m:r>
                                <m:rPr>
                                  <m:sty m:val="p"/>
                                </m:rPr>
                                <a:rPr lang="en-US" sz="1800" i="0" kern="1200">
                                  <a:solidFill>
                                    <a:schemeClr val="dk1"/>
                                  </a:solidFill>
                                  <a:latin typeface="+mn-lt"/>
                                  <a:ea typeface="+mn-ea"/>
                                  <a:cs typeface="+mn-cs"/>
                                </a:rPr>
                                <m:t>NMR</m:t>
                              </m:r>
                            </m:oMath>
                          </a14:m>
                          <a:r>
                            <a:rPr lang="en-US" sz="1800" b="0" i="0" kern="1200" dirty="0">
                              <a:solidFill>
                                <a:schemeClr val="dk1"/>
                              </a:solidFill>
                              <a:effectLst/>
                              <a:latin typeface="+mn-lt"/>
                              <a:ea typeface="+mn-ea"/>
                              <a:cs typeface="+mn-cs"/>
                            </a:rPr>
                            <a:t> on cross-session verification of previously unseen subjects captured under the specified sensor and illumination conditions.”</a:t>
                          </a:r>
                          <a:endParaRPr lang="en-US" dirty="0"/>
                        </a:p>
                      </a:txBody>
                      <a:tcPr/>
                    </a:tc>
                    <a:extLst>
                      <a:ext uri="{0D108BD9-81ED-4DB2-BD59-A6C34878D82A}">
                        <a16:rowId xmlns:a16="http://schemas.microsoft.com/office/drawing/2014/main" val="1648037456"/>
                      </a:ext>
                    </a:extLst>
                  </a:tr>
                  <a:tr h="370840">
                    <a:tc>
                      <a:txBody>
                        <a:bodyPr/>
                        <a:lstStyle/>
                        <a:p>
                          <a:r>
                            <a:rPr lang="en-US" dirty="0"/>
                            <a:t>“Method X generalizes”</a:t>
                          </a:r>
                        </a:p>
                      </a:txBody>
                      <a:tcPr/>
                    </a:tc>
                    <a:tc>
                      <a:txBody>
                        <a:bodyPr/>
                        <a:lstStyle/>
                        <a:p>
                          <a:r>
                            <a:rPr lang="en-US" sz="1800" b="0" i="0" kern="1200" dirty="0">
                              <a:solidFill>
                                <a:schemeClr val="dk1"/>
                              </a:solidFill>
                              <a:effectLst/>
                              <a:latin typeface="+mn-lt"/>
                              <a:ea typeface="+mn-ea"/>
                              <a:cs typeface="+mn-cs"/>
                            </a:rPr>
                            <a:t>“Method X improves mean identification performance on a predeclared held-out domain, with identities disjoint from development data.”</a:t>
                          </a:r>
                          <a:endParaRPr lang="en-US" dirty="0"/>
                        </a:p>
                      </a:txBody>
                      <a:tcPr/>
                    </a:tc>
                    <a:extLst>
                      <a:ext uri="{0D108BD9-81ED-4DB2-BD59-A6C34878D82A}">
                        <a16:rowId xmlns:a16="http://schemas.microsoft.com/office/drawing/2014/main" val="2266873865"/>
                      </a:ext>
                    </a:extLst>
                  </a:tr>
                </a:tbl>
              </a:graphicData>
            </a:graphic>
          </p:graphicFrame>
        </mc:Choice>
        <mc:Fallback>
          <p:graphicFrame>
            <p:nvGraphicFramePr>
              <p:cNvPr id="10" name="Table 9">
                <a:extLst>
                  <a:ext uri="{FF2B5EF4-FFF2-40B4-BE49-F238E27FC236}">
                    <a16:creationId xmlns:a16="http://schemas.microsoft.com/office/drawing/2014/main" id="{B9DF9E5D-6062-0804-A03D-6AE24447DFFE}"/>
                  </a:ext>
                </a:extLst>
              </p:cNvPr>
              <p:cNvGraphicFramePr>
                <a:graphicFrameLocks noGrp="1"/>
              </p:cNvGraphicFramePr>
              <p:nvPr>
                <p:extLst>
                  <p:ext uri="{D42A27DB-BD31-4B8C-83A1-F6EECF244321}">
                    <p14:modId xmlns:p14="http://schemas.microsoft.com/office/powerpoint/2010/main" val="3687030381"/>
                  </p:ext>
                </p:extLst>
              </p:nvPr>
            </p:nvGraphicFramePr>
            <p:xfrm>
              <a:off x="330288" y="3782277"/>
              <a:ext cx="11203676" cy="1930781"/>
            </p:xfrm>
            <a:graphic>
              <a:graphicData uri="http://schemas.openxmlformats.org/drawingml/2006/table">
                <a:tbl>
                  <a:tblPr firstRow="1" bandRow="1">
                    <a:tableStyleId>{5C22544A-7EE6-4342-B048-85BDC9FD1C3A}</a:tableStyleId>
                  </a:tblPr>
                  <a:tblGrid>
                    <a:gridCol w="3652561">
                      <a:extLst>
                        <a:ext uri="{9D8B030D-6E8A-4147-A177-3AD203B41FA5}">
                          <a16:colId xmlns:a16="http://schemas.microsoft.com/office/drawing/2014/main" val="857256472"/>
                        </a:ext>
                      </a:extLst>
                    </a:gridCol>
                    <a:gridCol w="7551115">
                      <a:extLst>
                        <a:ext uri="{9D8B030D-6E8A-4147-A177-3AD203B41FA5}">
                          <a16:colId xmlns:a16="http://schemas.microsoft.com/office/drawing/2014/main" val="3840134453"/>
                        </a:ext>
                      </a:extLst>
                    </a:gridCol>
                  </a:tblGrid>
                  <a:tr h="370840">
                    <a:tc>
                      <a:txBody>
                        <a:bodyPr/>
                        <a:lstStyle/>
                        <a:p>
                          <a:pPr algn="ctr"/>
                          <a:r>
                            <a:rPr lang="en-US" dirty="0"/>
                            <a:t>Vague</a:t>
                          </a:r>
                        </a:p>
                      </a:txBody>
                      <a:tcPr/>
                    </a:tc>
                    <a:tc>
                      <a:txBody>
                        <a:bodyPr/>
                        <a:lstStyle/>
                        <a:p>
                          <a:pPr algn="ctr"/>
                          <a:r>
                            <a:rPr lang="en-US" dirty="0"/>
                            <a:t>Testable</a:t>
                          </a:r>
                        </a:p>
                      </a:txBody>
                      <a:tcPr/>
                    </a:tc>
                    <a:extLst>
                      <a:ext uri="{0D108BD9-81ED-4DB2-BD59-A6C34878D82A}">
                        <a16:rowId xmlns:a16="http://schemas.microsoft.com/office/drawing/2014/main" val="3970795060"/>
                      </a:ext>
                    </a:extLst>
                  </a:tr>
                  <a:tr h="919861">
                    <a:tc>
                      <a:txBody>
                        <a:bodyPr/>
                        <a:lstStyle/>
                        <a:p>
                          <a:r>
                            <a:rPr lang="en-US" dirty="0"/>
                            <a:t>“Our representation is robust”</a:t>
                          </a:r>
                        </a:p>
                      </a:txBody>
                      <a:tcPr/>
                    </a:tc>
                    <a:tc>
                      <a:txBody>
                        <a:bodyPr/>
                        <a:lstStyle/>
                        <a:p>
                          <a:endParaRPr lang="en-US"/>
                        </a:p>
                      </a:txBody>
                      <a:tcPr>
                        <a:blipFill>
                          <a:blip r:embed="rId4"/>
                          <a:stretch>
                            <a:fillRect l="-48571" t="-42466" r="-336" b="-80822"/>
                          </a:stretch>
                        </a:blipFill>
                      </a:tcPr>
                    </a:tc>
                    <a:extLst>
                      <a:ext uri="{0D108BD9-81ED-4DB2-BD59-A6C34878D82A}">
                        <a16:rowId xmlns:a16="http://schemas.microsoft.com/office/drawing/2014/main" val="1648037456"/>
                      </a:ext>
                    </a:extLst>
                  </a:tr>
                  <a:tr h="640080">
                    <a:tc>
                      <a:txBody>
                        <a:bodyPr/>
                        <a:lstStyle/>
                        <a:p>
                          <a:r>
                            <a:rPr lang="en-US" dirty="0"/>
                            <a:t>“Method X generalizes”</a:t>
                          </a:r>
                        </a:p>
                      </a:txBody>
                      <a:tcPr/>
                    </a:tc>
                    <a:tc>
                      <a:txBody>
                        <a:bodyPr/>
                        <a:lstStyle/>
                        <a:p>
                          <a:r>
                            <a:rPr lang="en-US" sz="1800" b="0" i="0" kern="1200" dirty="0">
                              <a:solidFill>
                                <a:schemeClr val="dk1"/>
                              </a:solidFill>
                              <a:effectLst/>
                              <a:latin typeface="+mn-lt"/>
                              <a:ea typeface="+mn-ea"/>
                              <a:cs typeface="+mn-cs"/>
                            </a:rPr>
                            <a:t>“Method X improves mean identification performance on a predeclared held-out domain, with identities disjoint from development data.”</a:t>
                          </a:r>
                          <a:endParaRPr lang="en-US" dirty="0"/>
                        </a:p>
                      </a:txBody>
                      <a:tcPr/>
                    </a:tc>
                    <a:extLst>
                      <a:ext uri="{0D108BD9-81ED-4DB2-BD59-A6C34878D82A}">
                        <a16:rowId xmlns:a16="http://schemas.microsoft.com/office/drawing/2014/main" val="2266873865"/>
                      </a:ext>
                    </a:extLst>
                  </a:tr>
                </a:tbl>
              </a:graphicData>
            </a:graphic>
          </p:graphicFrame>
        </mc:Fallback>
      </mc:AlternateContent>
      <p:sp>
        <p:nvSpPr>
          <p:cNvPr id="11" name="TextBox 10">
            <a:extLst>
              <a:ext uri="{FF2B5EF4-FFF2-40B4-BE49-F238E27FC236}">
                <a16:creationId xmlns:a16="http://schemas.microsoft.com/office/drawing/2014/main" id="{04337B4F-F816-9FB2-2C0B-AA9EF8D80AB4}"/>
              </a:ext>
            </a:extLst>
          </p:cNvPr>
          <p:cNvSpPr txBox="1"/>
          <p:nvPr/>
        </p:nvSpPr>
        <p:spPr>
          <a:xfrm>
            <a:off x="590310" y="3240469"/>
            <a:ext cx="8550277" cy="523220"/>
          </a:xfrm>
          <a:prstGeom prst="rect">
            <a:avLst/>
          </a:prstGeom>
          <a:noFill/>
        </p:spPr>
        <p:txBody>
          <a:bodyPr wrap="square">
            <a:spAutoFit/>
          </a:bodyPr>
          <a:lstStyle/>
          <a:p>
            <a:pPr indent="0" algn="l">
              <a:buNone/>
            </a:pPr>
            <a:r>
              <a:rPr lang="en-US" sz="2800" b="1" i="0" dirty="0">
                <a:solidFill>
                  <a:schemeClr val="tx1"/>
                </a:solidFill>
                <a:effectLst/>
                <a:latin typeface="+mn-lt"/>
              </a:rPr>
              <a:t>Vague vs. Testable:</a:t>
            </a:r>
            <a:endParaRPr lang="en-US" sz="2000" dirty="0"/>
          </a:p>
        </p:txBody>
      </p:sp>
    </p:spTree>
    <p:extLst>
      <p:ext uri="{BB962C8B-B14F-4D97-AF65-F5344CB8AC3E}">
        <p14:creationId xmlns:p14="http://schemas.microsoft.com/office/powerpoint/2010/main" val="481675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717A2-9EC5-3ACA-659A-FF334D775B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103A45-FCC4-550B-8725-89402FFCE7B5}"/>
              </a:ext>
            </a:extLst>
          </p:cNvPr>
          <p:cNvSpPr txBox="1"/>
          <p:nvPr/>
        </p:nvSpPr>
        <p:spPr>
          <a:xfrm>
            <a:off x="179695" y="466777"/>
            <a:ext cx="11832609" cy="707886"/>
          </a:xfrm>
          <a:prstGeom prst="rect">
            <a:avLst/>
          </a:prstGeom>
          <a:noFill/>
        </p:spPr>
        <p:txBody>
          <a:bodyPr wrap="square" rtlCol="0">
            <a:spAutoFit/>
          </a:bodyPr>
          <a:lstStyle/>
          <a:p>
            <a:r>
              <a:rPr lang="en-US" sz="4000" b="1" dirty="0">
                <a:solidFill>
                  <a:srgbClr val="0070C0"/>
                </a:solidFill>
              </a:rPr>
              <a:t>Concept I: </a:t>
            </a:r>
            <a:r>
              <a:rPr lang="en-US" sz="4000" b="1" i="1" dirty="0">
                <a:solidFill>
                  <a:srgbClr val="0070C0"/>
                </a:solidFill>
              </a:rPr>
              <a:t>protocol is the experimental instrument</a:t>
            </a:r>
            <a:endParaRPr lang="en-US" sz="4000" b="1" dirty="0">
              <a:solidFill>
                <a:srgbClr val="0070C0"/>
              </a:solidFill>
            </a:endParaRPr>
          </a:p>
        </p:txBody>
      </p:sp>
      <p:sp>
        <p:nvSpPr>
          <p:cNvPr id="3" name="Slide Number Placeholder 2">
            <a:extLst>
              <a:ext uri="{FF2B5EF4-FFF2-40B4-BE49-F238E27FC236}">
                <a16:creationId xmlns:a16="http://schemas.microsoft.com/office/drawing/2014/main" id="{3A247292-FAF4-C438-50F3-FE8E8605A8C1}"/>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9</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F462BD2-F0C8-DEA0-1D1E-19EE494895A0}"/>
                  </a:ext>
                </a:extLst>
              </p:cNvPr>
              <p:cNvSpPr txBox="1"/>
              <p:nvPr/>
            </p:nvSpPr>
            <p:spPr>
              <a:xfrm>
                <a:off x="545670" y="1883390"/>
                <a:ext cx="5550329" cy="4443973"/>
              </a:xfrm>
              <a:prstGeom prst="rect">
                <a:avLst/>
              </a:prstGeom>
              <a:noFill/>
            </p:spPr>
            <p:txBody>
              <a:bodyPr wrap="square" rtlCol="0">
                <a:spAutoFit/>
              </a:bodyPr>
              <a:lstStyle/>
              <a:p>
                <a:r>
                  <a:rPr lang="en-US" sz="2800" b="1" dirty="0"/>
                  <a:t>Verification Scores Sets </a:t>
                </a:r>
                <a:br>
                  <a:rPr lang="en-US" sz="2800" b="1" dirty="0"/>
                </a:br>
                <a:r>
                  <a:rPr lang="en-US" sz="2800" dirty="0"/>
                  <a:t>(Genuine and Imposter):</a:t>
                </a:r>
              </a:p>
              <a:p>
                <a:endParaRPr lang="en-US" b="1" dirty="0"/>
              </a:p>
              <a:p>
                <a:r>
                  <a:rPr lang="en-US" sz="2000" dirty="0"/>
                  <a:t>For an embedding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oMath>
                </a14:m>
                <a:r>
                  <a:rPr lang="en-US" sz="2000" dirty="0"/>
                  <a:t> and comparison score </a:t>
                </a:r>
                <a14:m>
                  <m:oMath xmlns:m="http://schemas.openxmlformats.org/officeDocument/2006/math">
                    <m:r>
                      <a:rPr lang="en-US" sz="2000" b="0" i="1" smtClean="0">
                        <a:latin typeface="Cambria Math" panose="02040503050406030204" pitchFamily="18" charset="0"/>
                      </a:rPr>
                      <m:t>𝑠</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oMath>
                </a14:m>
                <a:r>
                  <a:rPr lang="en-US" sz="2000" dirty="0"/>
                  <a:t>:</a:t>
                </a:r>
              </a:p>
              <a:p>
                <a:endParaRPr lang="en-US" sz="2000" dirty="0"/>
              </a:p>
              <a:p>
                <a:pPr marL="342900" indent="-34290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𝒢</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𝑗</m:t>
                                </m:r>
                              </m:sub>
                            </m:sSub>
                          </m:e>
                        </m:d>
                        <m:r>
                          <a:rPr lang="en-US" sz="2000" b="0" i="1" smtClean="0">
                            <a:latin typeface="Cambria Math" panose="02040503050406030204" pitchFamily="18" charset="0"/>
                          </a:rPr>
                          <m:t> |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e>
                    </m:d>
                  </m:oMath>
                </a14:m>
                <a:endParaRPr lang="en-US" sz="2000" dirty="0"/>
              </a:p>
              <a:p>
                <a:pPr marL="342900" indent="-34290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ℐ</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𝑗</m:t>
                                </m:r>
                              </m:sub>
                            </m:sSub>
                          </m:e>
                        </m:d>
                        <m:r>
                          <a:rPr lang="en-US" sz="2000" b="0" i="1" smtClean="0">
                            <a:latin typeface="Cambria Math" panose="02040503050406030204" pitchFamily="18" charset="0"/>
                          </a:rPr>
                          <m:t> |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e>
                    </m:d>
                  </m:oMath>
                </a14:m>
                <a:endParaRPr lang="en-US" sz="2000" dirty="0"/>
              </a:p>
              <a:p>
                <a:pPr marL="342900" indent="-342900">
                  <a:buFont typeface="Arial" panose="020B0604020202020204" pitchFamily="34" charset="0"/>
                  <a:buChar char="•"/>
                </a:pPr>
                <a:endParaRPr lang="en-US" sz="2000" dirty="0"/>
              </a:p>
              <a:p>
                <a:r>
                  <a:rPr lang="en-US" sz="2000" dirty="0"/>
                  <a:t>At threshold </a:t>
                </a:r>
                <a14:m>
                  <m:oMath xmlns:m="http://schemas.openxmlformats.org/officeDocument/2006/math">
                    <m:r>
                      <a:rPr lang="en-US" sz="2000" b="0" i="1" smtClean="0">
                        <a:latin typeface="Cambria Math" panose="02040503050406030204" pitchFamily="18" charset="0"/>
                      </a:rPr>
                      <m:t>𝜏</m:t>
                    </m:r>
                  </m:oMath>
                </a14:m>
                <a:r>
                  <a:rPr lang="en-US" sz="2000" dirty="0"/>
                  <a:t>:</a:t>
                </a:r>
              </a:p>
              <a:p>
                <a:pPr marL="342900" indent="-34290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𝐹𝑀𝑅</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𝜏</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ℐ</m:t>
                            </m:r>
                          </m:e>
                        </m:d>
                      </m:den>
                    </m:f>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𝑠</m:t>
                        </m:r>
                        <m:r>
                          <a:rPr lang="en-US" sz="2000" b="0" i="1" smtClean="0">
                            <a:latin typeface="Cambria Math" panose="02040503050406030204" pitchFamily="18" charset="0"/>
                          </a:rPr>
                          <m:t>∈</m:t>
                        </m:r>
                        <m:r>
                          <a:rPr lang="en-US" sz="2000" b="0" i="1" smtClean="0">
                            <a:latin typeface="Cambria Math" panose="02040503050406030204" pitchFamily="18" charset="0"/>
                          </a:rPr>
                          <m:t>ℐ</m:t>
                        </m:r>
                      </m:sub>
                      <m:sup/>
                      <m:e>
                        <m:r>
                          <a:rPr lang="en-US" sz="2000" b="1" i="1" smtClean="0">
                            <a:latin typeface="Cambria Math" panose="02040503050406030204" pitchFamily="18" charset="0"/>
                          </a:rPr>
                          <m:t>𝟏</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r>
                              <a:rPr lang="en-US" sz="2000" b="0" i="1" smtClean="0">
                                <a:latin typeface="Cambria Math" panose="02040503050406030204" pitchFamily="18" charset="0"/>
                              </a:rPr>
                              <m:t>≥</m:t>
                            </m:r>
                            <m:r>
                              <a:rPr lang="en-US" sz="2000" b="0" i="1" smtClean="0">
                                <a:latin typeface="Cambria Math" panose="02040503050406030204" pitchFamily="18" charset="0"/>
                              </a:rPr>
                              <m:t>𝜏</m:t>
                            </m:r>
                          </m:e>
                        </m:d>
                      </m:e>
                    </m:nary>
                  </m:oMath>
                </a14:m>
                <a:endParaRPr lang="en-US" sz="2000" dirty="0"/>
              </a:p>
              <a:p>
                <a:pPr marL="342900" indent="-34290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𝐹𝑁𝑀𝑅</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𝜏</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𝒢</m:t>
                            </m:r>
                          </m:e>
                        </m:d>
                      </m:den>
                    </m:f>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𝑠</m:t>
                        </m:r>
                        <m:r>
                          <a:rPr lang="en-US" sz="2000" b="0" i="1" smtClean="0">
                            <a:latin typeface="Cambria Math" panose="02040503050406030204" pitchFamily="18" charset="0"/>
                          </a:rPr>
                          <m:t>∈</m:t>
                        </m:r>
                        <m:r>
                          <a:rPr lang="en-US" sz="2000" b="0" i="1" smtClean="0">
                            <a:latin typeface="Cambria Math" panose="02040503050406030204" pitchFamily="18" charset="0"/>
                          </a:rPr>
                          <m:t>𝒢</m:t>
                        </m:r>
                      </m:sub>
                      <m:sup/>
                      <m:e>
                        <m:r>
                          <a:rPr lang="en-US" sz="2000" b="1" i="1" smtClean="0">
                            <a:latin typeface="Cambria Math" panose="02040503050406030204" pitchFamily="18" charset="0"/>
                          </a:rPr>
                          <m:t>𝟏</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r>
                              <a:rPr lang="en-US" sz="2000" b="0" i="1" smtClean="0">
                                <a:latin typeface="Cambria Math" panose="02040503050406030204" pitchFamily="18" charset="0"/>
                              </a:rPr>
                              <m:t>&lt;</m:t>
                            </m:r>
                            <m:r>
                              <a:rPr lang="en-US" sz="2000" b="0" i="1" smtClean="0">
                                <a:latin typeface="Cambria Math" panose="02040503050406030204" pitchFamily="18" charset="0"/>
                              </a:rPr>
                              <m:t>𝜏</m:t>
                            </m:r>
                          </m:e>
                        </m:d>
                      </m:e>
                    </m:nary>
                  </m:oMath>
                </a14:m>
                <a:endParaRPr lang="en-US" sz="2000" dirty="0"/>
              </a:p>
            </p:txBody>
          </p:sp>
        </mc:Choice>
        <mc:Fallback>
          <p:sp>
            <p:nvSpPr>
              <p:cNvPr id="5" name="TextBox 4">
                <a:extLst>
                  <a:ext uri="{FF2B5EF4-FFF2-40B4-BE49-F238E27FC236}">
                    <a16:creationId xmlns:a16="http://schemas.microsoft.com/office/drawing/2014/main" id="{2F462BD2-F0C8-DEA0-1D1E-19EE494895A0}"/>
                  </a:ext>
                </a:extLst>
              </p:cNvPr>
              <p:cNvSpPr txBox="1">
                <a:spLocks noRot="1" noChangeAspect="1" noMove="1" noResize="1" noEditPoints="1" noAdjustHandles="1" noChangeArrowheads="1" noChangeShapeType="1" noTextEdit="1"/>
              </p:cNvSpPr>
              <p:nvPr/>
            </p:nvSpPr>
            <p:spPr>
              <a:xfrm>
                <a:off x="545670" y="1883390"/>
                <a:ext cx="5550329" cy="4443973"/>
              </a:xfrm>
              <a:prstGeom prst="rect">
                <a:avLst/>
              </a:prstGeom>
              <a:blipFill>
                <a:blip r:embed="rId3"/>
                <a:stretch>
                  <a:fillRect l="-2283" t="-1425" b="-131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EA60197-D07F-AB70-652D-8462CA6DC963}"/>
                  </a:ext>
                </a:extLst>
              </p:cNvPr>
              <p:cNvSpPr txBox="1"/>
              <p:nvPr/>
            </p:nvSpPr>
            <p:spPr>
              <a:xfrm>
                <a:off x="6096001" y="1883390"/>
                <a:ext cx="5550329" cy="3985706"/>
              </a:xfrm>
              <a:prstGeom prst="rect">
                <a:avLst/>
              </a:prstGeom>
              <a:noFill/>
            </p:spPr>
            <p:txBody>
              <a:bodyPr wrap="square">
                <a:spAutoFit/>
              </a:bodyPr>
              <a:lstStyle/>
              <a:p>
                <a:pPr indent="0" algn="l">
                  <a:spcAft>
                    <a:spcPts val="600"/>
                  </a:spcAft>
                  <a:buNone/>
                </a:pPr>
                <a:r>
                  <a:rPr lang="en-US" sz="2800" b="1" i="0" dirty="0">
                    <a:solidFill>
                      <a:schemeClr val="tx1"/>
                    </a:solidFill>
                    <a:effectLst/>
                    <a:latin typeface="+mn-lt"/>
                  </a:rPr>
                  <a:t>Hidden Design Decisions</a:t>
                </a:r>
              </a:p>
              <a:p>
                <a:pPr marL="342900" lvl="0" indent="-342900" algn="l">
                  <a:spcAft>
                    <a:spcPts val="600"/>
                  </a:spcAft>
                  <a:buFont typeface="Arial" panose="020B0604020202020204" pitchFamily="34" charset="0"/>
                  <a:buChar char="•"/>
                </a:pPr>
                <a:r>
                  <a:rPr lang="en-US" sz="2000" b="0" i="0" dirty="0">
                    <a:solidFill>
                      <a:schemeClr val="tx1"/>
                    </a:solidFill>
                    <a:effectLst/>
                    <a:latin typeface="+mn-lt"/>
                  </a:rPr>
                  <a:t>What constitutes an enrollment and a probe?</a:t>
                </a:r>
              </a:p>
              <a:p>
                <a:pPr marL="342900" lvl="0" indent="-342900" algn="l">
                  <a:spcAft>
                    <a:spcPts val="600"/>
                  </a:spcAft>
                  <a:buFont typeface="Arial" panose="020B0604020202020204" pitchFamily="34" charset="0"/>
                  <a:buChar char="•"/>
                </a:pPr>
                <a:r>
                  <a:rPr lang="en-US" sz="2000" b="0" i="0" dirty="0">
                    <a:solidFill>
                      <a:schemeClr val="tx1"/>
                    </a:solidFill>
                    <a:effectLst/>
                    <a:latin typeface="+mn-lt"/>
                  </a:rPr>
                  <a:t>Are comparisons same-session, cross-session, cross-sensor, or cross-environment?</a:t>
                </a:r>
              </a:p>
              <a:p>
                <a:pPr marL="342900" lvl="0" indent="-342900" algn="l">
                  <a:spcAft>
                    <a:spcPts val="600"/>
                  </a:spcAft>
                  <a:buFont typeface="Arial" panose="020B0604020202020204" pitchFamily="34" charset="0"/>
                  <a:buChar char="•"/>
                </a:pPr>
                <a:r>
                  <a:rPr lang="en-US" sz="2000" b="0" i="0" dirty="0">
                    <a:solidFill>
                      <a:schemeClr val="tx1"/>
                    </a:solidFill>
                    <a:effectLst/>
                    <a:latin typeface="+mn-lt"/>
                  </a:rPr>
                  <a:t>Does every identity contribute equally, or do identities with many samples dominate the result?</a:t>
                </a:r>
              </a:p>
              <a:p>
                <a:pPr marL="342900" lvl="0" indent="-342900" algn="l">
                  <a:spcAft>
                    <a:spcPts val="600"/>
                  </a:spcAft>
                  <a:buFont typeface="Arial" panose="020B0604020202020204" pitchFamily="34" charset="0"/>
                  <a:buChar char="•"/>
                </a:pPr>
                <a:r>
                  <a:rPr lang="en-US" sz="2000" b="0" i="0" dirty="0">
                    <a:solidFill>
                      <a:schemeClr val="tx1"/>
                    </a:solidFill>
                    <a:effectLst/>
                    <a:latin typeface="+mn-lt"/>
                  </a:rPr>
                  <a:t>Is </a:t>
                </a:r>
                <a14:m>
                  <m:oMath xmlns:m="http://schemas.openxmlformats.org/officeDocument/2006/math">
                    <m:r>
                      <a:rPr lang="en-US" sz="2000" i="1">
                        <a:latin typeface="+mn-lt"/>
                      </a:rPr>
                      <m:t>𝜏</m:t>
                    </m:r>
                  </m:oMath>
                </a14:m>
                <a:r>
                  <a:rPr lang="en-US" sz="2000" b="0" i="0" dirty="0">
                    <a:solidFill>
                      <a:schemeClr val="tx1"/>
                    </a:solidFill>
                    <a:effectLst/>
                    <a:latin typeface="+mn-lt"/>
                  </a:rPr>
                  <a:t> selected on development data and frozen before final testing?</a:t>
                </a:r>
              </a:p>
              <a:p>
                <a:pPr marL="342900" lvl="0" indent="-342900" algn="l">
                  <a:spcAft>
                    <a:spcPts val="600"/>
                  </a:spcAft>
                  <a:buFont typeface="Arial" panose="020B0604020202020204" pitchFamily="34" charset="0"/>
                  <a:buChar char="•"/>
                </a:pPr>
                <a:r>
                  <a:rPr lang="en-US" sz="2000" b="0" i="0" dirty="0">
                    <a:solidFill>
                      <a:schemeClr val="tx1"/>
                    </a:solidFill>
                    <a:effectLst/>
                    <a:latin typeface="+mn-lt"/>
                  </a:rPr>
                  <a:t>Is the intended deployment a closed set, open set, or verification setting?</a:t>
                </a:r>
                <a:endParaRPr lang="en-US" sz="2000" b="0" i="0" dirty="0">
                  <a:solidFill>
                    <a:srgbClr val="161C24"/>
                  </a:solidFill>
                  <a:effectLst/>
                  <a:latin typeface="-apple-system"/>
                </a:endParaRPr>
              </a:p>
            </p:txBody>
          </p:sp>
        </mc:Choice>
        <mc:Fallback>
          <p:sp>
            <p:nvSpPr>
              <p:cNvPr id="7" name="TextBox 6">
                <a:extLst>
                  <a:ext uri="{FF2B5EF4-FFF2-40B4-BE49-F238E27FC236}">
                    <a16:creationId xmlns:a16="http://schemas.microsoft.com/office/drawing/2014/main" id="{AEA60197-D07F-AB70-652D-8462CA6DC963}"/>
                  </a:ext>
                </a:extLst>
              </p:cNvPr>
              <p:cNvSpPr txBox="1">
                <a:spLocks noRot="1" noChangeAspect="1" noMove="1" noResize="1" noEditPoints="1" noAdjustHandles="1" noChangeArrowheads="1" noChangeShapeType="1" noTextEdit="1"/>
              </p:cNvSpPr>
              <p:nvPr/>
            </p:nvSpPr>
            <p:spPr>
              <a:xfrm>
                <a:off x="6096001" y="1883390"/>
                <a:ext cx="5550329" cy="3985706"/>
              </a:xfrm>
              <a:prstGeom prst="rect">
                <a:avLst/>
              </a:prstGeom>
              <a:blipFill>
                <a:blip r:embed="rId4"/>
                <a:stretch>
                  <a:fillRect l="-2517" t="-1587" r="-458" b="-1905"/>
                </a:stretch>
              </a:blipFill>
            </p:spPr>
            <p:txBody>
              <a:bodyPr/>
              <a:lstStyle/>
              <a:p>
                <a:r>
                  <a:rPr lang="en-US">
                    <a:noFill/>
                  </a:rPr>
                  <a:t> </a:t>
                </a:r>
              </a:p>
            </p:txBody>
          </p:sp>
        </mc:Fallback>
      </mc:AlternateContent>
    </p:spTree>
    <p:extLst>
      <p:ext uri="{BB962C8B-B14F-4D97-AF65-F5344CB8AC3E}">
        <p14:creationId xmlns:p14="http://schemas.microsoft.com/office/powerpoint/2010/main" val="40609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E55F7-9B73-0D6C-A503-2C111D6D28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C4F6CE-A286-6FB4-5E0A-111D3D97669B}"/>
              </a:ext>
            </a:extLst>
          </p:cNvPr>
          <p:cNvSpPr txBox="1"/>
          <p:nvPr/>
        </p:nvSpPr>
        <p:spPr>
          <a:xfrm>
            <a:off x="179695" y="466777"/>
            <a:ext cx="11832609" cy="707886"/>
          </a:xfrm>
          <a:prstGeom prst="rect">
            <a:avLst/>
          </a:prstGeom>
          <a:noFill/>
        </p:spPr>
        <p:txBody>
          <a:bodyPr wrap="square" rtlCol="0">
            <a:spAutoFit/>
          </a:bodyPr>
          <a:lstStyle/>
          <a:p>
            <a:r>
              <a:rPr lang="en-US" sz="4000" b="1" dirty="0">
                <a:solidFill>
                  <a:srgbClr val="0070C0"/>
                </a:solidFill>
              </a:rPr>
              <a:t>Concept II: </a:t>
            </a:r>
            <a:r>
              <a:rPr lang="en-US" sz="4000" i="1" dirty="0">
                <a:solidFill>
                  <a:srgbClr val="0070C0"/>
                </a:solidFill>
              </a:rPr>
              <a:t>samples are not always independent</a:t>
            </a:r>
          </a:p>
        </p:txBody>
      </p:sp>
      <p:sp>
        <p:nvSpPr>
          <p:cNvPr id="3" name="Slide Number Placeholder 2">
            <a:extLst>
              <a:ext uri="{FF2B5EF4-FFF2-40B4-BE49-F238E27FC236}">
                <a16:creationId xmlns:a16="http://schemas.microsoft.com/office/drawing/2014/main" id="{C84616DF-0A65-8C7A-EBE2-492D3F5229BE}"/>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10</a:t>
            </a:fld>
            <a:endParaRPr lang="en-US"/>
          </a:p>
        </p:txBody>
      </p:sp>
      <p:pic>
        <p:nvPicPr>
          <p:cNvPr id="15" name="Picture 14">
            <a:extLst>
              <a:ext uri="{FF2B5EF4-FFF2-40B4-BE49-F238E27FC236}">
                <a16:creationId xmlns:a16="http://schemas.microsoft.com/office/drawing/2014/main" id="{5907513A-1AEF-E3A6-3E9F-81C7D74AD236}"/>
              </a:ext>
            </a:extLst>
          </p:cNvPr>
          <p:cNvPicPr>
            <a:picLocks noChangeAspect="1"/>
          </p:cNvPicPr>
          <p:nvPr/>
        </p:nvPicPr>
        <p:blipFill>
          <a:blip r:embed="rId3"/>
          <a:stretch>
            <a:fillRect/>
          </a:stretch>
        </p:blipFill>
        <p:spPr>
          <a:xfrm>
            <a:off x="1780462" y="1731220"/>
            <a:ext cx="9026857" cy="4807692"/>
          </a:xfrm>
          <a:prstGeom prst="rect">
            <a:avLst/>
          </a:prstGeom>
        </p:spPr>
      </p:pic>
      <p:sp>
        <p:nvSpPr>
          <p:cNvPr id="17" name="TextBox 16">
            <a:extLst>
              <a:ext uri="{FF2B5EF4-FFF2-40B4-BE49-F238E27FC236}">
                <a16:creationId xmlns:a16="http://schemas.microsoft.com/office/drawing/2014/main" id="{A3C5F618-8B15-97FB-9FC9-D7015FF32E7A}"/>
              </a:ext>
            </a:extLst>
          </p:cNvPr>
          <p:cNvSpPr txBox="1"/>
          <p:nvPr/>
        </p:nvSpPr>
        <p:spPr>
          <a:xfrm>
            <a:off x="2309882" y="1174663"/>
            <a:ext cx="7572233" cy="523220"/>
          </a:xfrm>
          <a:prstGeom prst="rect">
            <a:avLst/>
          </a:prstGeom>
          <a:noFill/>
        </p:spPr>
        <p:txBody>
          <a:bodyPr wrap="square">
            <a:spAutoFit/>
          </a:bodyPr>
          <a:lstStyle/>
          <a:p>
            <a:pPr algn="ctr"/>
            <a:r>
              <a:rPr lang="en-US" sz="2800" b="1" i="0" kern="1200" dirty="0">
                <a:solidFill>
                  <a:schemeClr val="tx1"/>
                </a:solidFill>
                <a:effectLst/>
                <a:latin typeface="+mn-lt"/>
                <a:ea typeface="+mn-ea"/>
                <a:cs typeface="+mn-cs"/>
              </a:rPr>
              <a:t>Hierarchical structure of biometric data</a:t>
            </a:r>
          </a:p>
        </p:txBody>
      </p:sp>
    </p:spTree>
    <p:extLst>
      <p:ext uri="{BB962C8B-B14F-4D97-AF65-F5344CB8AC3E}">
        <p14:creationId xmlns:p14="http://schemas.microsoft.com/office/powerpoint/2010/main" val="2587214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1817D-E49D-81AA-2226-70A157CB6D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250943-7DE7-32B7-B2CD-5DAF99CA0DE4}"/>
              </a:ext>
            </a:extLst>
          </p:cNvPr>
          <p:cNvSpPr txBox="1"/>
          <p:nvPr/>
        </p:nvSpPr>
        <p:spPr>
          <a:xfrm>
            <a:off x="179695" y="466777"/>
            <a:ext cx="12012305" cy="707886"/>
          </a:xfrm>
          <a:prstGeom prst="rect">
            <a:avLst/>
          </a:prstGeom>
          <a:noFill/>
        </p:spPr>
        <p:txBody>
          <a:bodyPr wrap="square" rtlCol="0">
            <a:spAutoFit/>
          </a:bodyPr>
          <a:lstStyle/>
          <a:p>
            <a:r>
              <a:rPr lang="en-US" sz="4000" b="1" dirty="0">
                <a:solidFill>
                  <a:srgbClr val="0070C0"/>
                </a:solidFill>
              </a:rPr>
              <a:t>Concept II: </a:t>
            </a:r>
            <a:r>
              <a:rPr lang="en-US" sz="4000" i="1" dirty="0">
                <a:solidFill>
                  <a:srgbClr val="0070C0"/>
                </a:solidFill>
              </a:rPr>
              <a:t>where can information cross boundaries?</a:t>
            </a:r>
          </a:p>
        </p:txBody>
      </p:sp>
      <p:sp>
        <p:nvSpPr>
          <p:cNvPr id="3" name="Slide Number Placeholder 2">
            <a:extLst>
              <a:ext uri="{FF2B5EF4-FFF2-40B4-BE49-F238E27FC236}">
                <a16:creationId xmlns:a16="http://schemas.microsoft.com/office/drawing/2014/main" id="{D0236BF2-795C-3BDB-D58E-343D24B72035}"/>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11</a:t>
            </a:fld>
            <a:endParaRPr lang="en-US"/>
          </a:p>
        </p:txBody>
      </p:sp>
      <p:sp>
        <p:nvSpPr>
          <p:cNvPr id="5" name="TextBox 4">
            <a:extLst>
              <a:ext uri="{FF2B5EF4-FFF2-40B4-BE49-F238E27FC236}">
                <a16:creationId xmlns:a16="http://schemas.microsoft.com/office/drawing/2014/main" id="{56456078-D0B0-9E14-C142-33891A9EF064}"/>
              </a:ext>
            </a:extLst>
          </p:cNvPr>
          <p:cNvSpPr txBox="1"/>
          <p:nvPr/>
        </p:nvSpPr>
        <p:spPr>
          <a:xfrm>
            <a:off x="627798" y="1497576"/>
            <a:ext cx="8703859" cy="4955203"/>
          </a:xfrm>
          <a:prstGeom prst="rect">
            <a:avLst/>
          </a:prstGeom>
          <a:noFill/>
        </p:spPr>
        <p:txBody>
          <a:bodyPr wrap="square">
            <a:spAutoFit/>
          </a:bodyPr>
          <a:lstStyle/>
          <a:p>
            <a:pPr indent="0" algn="l">
              <a:buNone/>
            </a:pPr>
            <a:r>
              <a:rPr lang="en-US" sz="2800" b="1" i="0" dirty="0">
                <a:solidFill>
                  <a:schemeClr val="tx1"/>
                </a:solidFill>
                <a:effectLst/>
                <a:latin typeface="+mn-lt"/>
              </a:rPr>
              <a:t>Common leakage pathways</a:t>
            </a:r>
          </a:p>
          <a:p>
            <a:pPr marL="342900" lvl="0" indent="-342900" algn="l">
              <a:buFont typeface="+mj-lt"/>
              <a:buAutoNum type="arabicPeriod"/>
            </a:pPr>
            <a:r>
              <a:rPr lang="en-US" sz="2400" b="1" i="0" dirty="0">
                <a:solidFill>
                  <a:schemeClr val="tx1"/>
                </a:solidFill>
                <a:effectLst/>
                <a:latin typeface="+mn-lt"/>
              </a:rPr>
              <a:t>Identity overlap:</a:t>
            </a:r>
            <a:r>
              <a:rPr lang="en-US" sz="2400" b="0" i="0" dirty="0">
                <a:solidFill>
                  <a:schemeClr val="tx1"/>
                </a:solidFill>
                <a:effectLst/>
                <a:latin typeface="+mn-lt"/>
              </a:rPr>
              <a:t> the same person appears in training and test data.</a:t>
            </a:r>
          </a:p>
          <a:p>
            <a:pPr marL="342900" lvl="0" indent="-342900" algn="l">
              <a:buFont typeface="+mj-lt"/>
              <a:buAutoNum type="arabicPeriod"/>
            </a:pPr>
            <a:r>
              <a:rPr lang="en-US" sz="2400" b="1" i="0" dirty="0">
                <a:solidFill>
                  <a:schemeClr val="tx1"/>
                </a:solidFill>
                <a:effectLst/>
                <a:latin typeface="+mn-lt"/>
              </a:rPr>
              <a:t>Near-duplicate overlap:</a:t>
            </a:r>
            <a:r>
              <a:rPr lang="en-US" sz="2400" b="0" i="0" dirty="0">
                <a:solidFill>
                  <a:schemeClr val="tx1"/>
                </a:solidFill>
                <a:effectLst/>
                <a:latin typeface="+mn-lt"/>
              </a:rPr>
              <a:t> adjacent video frames, bursts, crops, or augmentations appear across partitions.</a:t>
            </a:r>
          </a:p>
          <a:p>
            <a:pPr marL="342900" lvl="0" indent="-342900" algn="l">
              <a:buFont typeface="+mj-lt"/>
              <a:buAutoNum type="arabicPeriod"/>
            </a:pPr>
            <a:r>
              <a:rPr lang="en-US" sz="2400" b="1" i="0" dirty="0">
                <a:solidFill>
                  <a:schemeClr val="tx1"/>
                </a:solidFill>
                <a:effectLst/>
                <a:latin typeface="+mn-lt"/>
              </a:rPr>
              <a:t>Session overlap:</a:t>
            </a:r>
            <a:r>
              <a:rPr lang="en-US" sz="2400" b="0" i="0" dirty="0">
                <a:solidFill>
                  <a:schemeClr val="tx1"/>
                </a:solidFill>
                <a:effectLst/>
                <a:latin typeface="+mn-lt"/>
              </a:rPr>
              <a:t> environment or capture setup is shared between development and test.</a:t>
            </a:r>
          </a:p>
          <a:p>
            <a:pPr marL="342900" lvl="0" indent="-342900" algn="l">
              <a:buFont typeface="+mj-lt"/>
              <a:buAutoNum type="arabicPeriod"/>
            </a:pPr>
            <a:r>
              <a:rPr lang="en-US" sz="2400" b="1" i="0" dirty="0">
                <a:solidFill>
                  <a:schemeClr val="tx1"/>
                </a:solidFill>
                <a:effectLst/>
                <a:latin typeface="+mn-lt"/>
              </a:rPr>
              <a:t>Preprocessing leakage:</a:t>
            </a:r>
            <a:r>
              <a:rPr lang="en-US" sz="2400" b="0" i="0" dirty="0">
                <a:solidFill>
                  <a:schemeClr val="tx1"/>
                </a:solidFill>
                <a:effectLst/>
                <a:latin typeface="+mn-lt"/>
              </a:rPr>
              <a:t> normalization, PCA, imputation, quality thresholds, or hyperparameters use all data.</a:t>
            </a:r>
          </a:p>
          <a:p>
            <a:pPr marL="342900" lvl="0" indent="-342900" algn="l">
              <a:buFont typeface="+mj-lt"/>
              <a:buAutoNum type="arabicPeriod"/>
            </a:pPr>
            <a:r>
              <a:rPr lang="en-US" sz="2400" b="1" i="0" dirty="0">
                <a:solidFill>
                  <a:schemeClr val="tx1"/>
                </a:solidFill>
                <a:effectLst/>
                <a:latin typeface="+mn-lt"/>
              </a:rPr>
              <a:t>Threshold leakage:</a:t>
            </a:r>
            <a:r>
              <a:rPr lang="en-US" sz="2400" b="0" i="0" dirty="0">
                <a:solidFill>
                  <a:schemeClr val="tx1"/>
                </a:solidFill>
                <a:effectLst/>
                <a:latin typeface="+mn-lt"/>
              </a:rPr>
              <a:t> the final test set determines the operating threshold.</a:t>
            </a:r>
          </a:p>
          <a:p>
            <a:pPr marL="342900" lvl="0" indent="-342900" algn="l">
              <a:buFont typeface="+mj-lt"/>
              <a:buAutoNum type="arabicPeriod"/>
            </a:pPr>
            <a:r>
              <a:rPr lang="en-US" sz="2400" b="1" i="0" dirty="0">
                <a:solidFill>
                  <a:schemeClr val="tx1"/>
                </a:solidFill>
                <a:effectLst/>
                <a:latin typeface="+mn-lt"/>
              </a:rPr>
              <a:t>Benchmark feedback:</a:t>
            </a:r>
            <a:r>
              <a:rPr lang="en-US" sz="2400" b="0" i="0" dirty="0">
                <a:solidFill>
                  <a:schemeClr val="tx1"/>
                </a:solidFill>
                <a:effectLst/>
                <a:latin typeface="+mn-lt"/>
              </a:rPr>
              <a:t> repeated tuning against a public test set turns it into development data.</a:t>
            </a:r>
            <a:endParaRPr lang="en-US" sz="2400" b="0" i="0" dirty="0">
              <a:solidFill>
                <a:srgbClr val="161C24"/>
              </a:solidFill>
              <a:effectLst/>
              <a:latin typeface="-apple-system"/>
            </a:endParaRPr>
          </a:p>
        </p:txBody>
      </p:sp>
    </p:spTree>
    <p:extLst>
      <p:ext uri="{BB962C8B-B14F-4D97-AF65-F5344CB8AC3E}">
        <p14:creationId xmlns:p14="http://schemas.microsoft.com/office/powerpoint/2010/main" val="4173746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F273-066E-A42F-EBD7-CF54D705843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F4153E-4153-1D35-D84C-8DB1783DF81C}"/>
              </a:ext>
            </a:extLst>
          </p:cNvPr>
          <p:cNvSpPr txBox="1"/>
          <p:nvPr/>
        </p:nvSpPr>
        <p:spPr>
          <a:xfrm>
            <a:off x="179695" y="466777"/>
            <a:ext cx="12012305" cy="707886"/>
          </a:xfrm>
          <a:prstGeom prst="rect">
            <a:avLst/>
          </a:prstGeom>
          <a:noFill/>
        </p:spPr>
        <p:txBody>
          <a:bodyPr wrap="square" rtlCol="0">
            <a:spAutoFit/>
          </a:bodyPr>
          <a:lstStyle/>
          <a:p>
            <a:r>
              <a:rPr lang="en-US" sz="4000" b="1" dirty="0">
                <a:solidFill>
                  <a:srgbClr val="0070C0"/>
                </a:solidFill>
              </a:rPr>
              <a:t>Think-Pair-Share: </a:t>
            </a:r>
            <a:r>
              <a:rPr lang="en-US" sz="4000" dirty="0">
                <a:solidFill>
                  <a:srgbClr val="0070C0"/>
                </a:solidFill>
              </a:rPr>
              <a:t>Design a defensible split</a:t>
            </a:r>
            <a:endParaRPr lang="en-US" sz="4000" i="1" dirty="0">
              <a:solidFill>
                <a:srgbClr val="0070C0"/>
              </a:solidFill>
            </a:endParaRPr>
          </a:p>
        </p:txBody>
      </p:sp>
      <p:sp>
        <p:nvSpPr>
          <p:cNvPr id="3" name="Slide Number Placeholder 2">
            <a:extLst>
              <a:ext uri="{FF2B5EF4-FFF2-40B4-BE49-F238E27FC236}">
                <a16:creationId xmlns:a16="http://schemas.microsoft.com/office/drawing/2014/main" id="{C9F50250-2D10-E4AB-74C6-2FB91DE5B08F}"/>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12</a:t>
            </a:fld>
            <a:endParaRPr lang="en-US"/>
          </a:p>
        </p:txBody>
      </p:sp>
      <p:sp>
        <p:nvSpPr>
          <p:cNvPr id="6" name="TextBox 5">
            <a:extLst>
              <a:ext uri="{FF2B5EF4-FFF2-40B4-BE49-F238E27FC236}">
                <a16:creationId xmlns:a16="http://schemas.microsoft.com/office/drawing/2014/main" id="{D5848D7A-90E9-883A-7206-ABD034AC30DC}"/>
              </a:ext>
            </a:extLst>
          </p:cNvPr>
          <p:cNvSpPr txBox="1"/>
          <p:nvPr/>
        </p:nvSpPr>
        <p:spPr>
          <a:xfrm>
            <a:off x="327547" y="1688014"/>
            <a:ext cx="6114196" cy="4955203"/>
          </a:xfrm>
          <a:prstGeom prst="rect">
            <a:avLst/>
          </a:prstGeom>
          <a:noFill/>
        </p:spPr>
        <p:txBody>
          <a:bodyPr wrap="square">
            <a:spAutoFit/>
          </a:bodyPr>
          <a:lstStyle/>
          <a:p>
            <a:pPr indent="0" algn="l">
              <a:buNone/>
            </a:pPr>
            <a:r>
              <a:rPr lang="en-US" sz="2800" b="1" i="0" dirty="0">
                <a:solidFill>
                  <a:schemeClr val="tx1"/>
                </a:solidFill>
                <a:effectLst/>
                <a:latin typeface="+mn-lt"/>
              </a:rPr>
              <a:t>Scenario</a:t>
            </a:r>
            <a:endParaRPr lang="en-US" sz="2400" b="1" i="0" dirty="0">
              <a:solidFill>
                <a:schemeClr val="tx1"/>
              </a:solidFill>
              <a:effectLst/>
              <a:latin typeface="+mn-lt"/>
            </a:endParaRPr>
          </a:p>
          <a:p>
            <a:pPr indent="0" algn="l">
              <a:buNone/>
            </a:pPr>
            <a:r>
              <a:rPr lang="en-US" sz="2400" b="0" i="0" dirty="0">
                <a:solidFill>
                  <a:schemeClr val="tx1"/>
                </a:solidFill>
                <a:effectLst/>
                <a:latin typeface="+mn-lt"/>
              </a:rPr>
              <a:t>You are building an iris-verification system.</a:t>
            </a:r>
          </a:p>
          <a:p>
            <a:pPr indent="0" algn="l">
              <a:buNone/>
            </a:pPr>
            <a:endParaRPr lang="en-US" sz="2400" dirty="0"/>
          </a:p>
          <a:p>
            <a:pPr indent="0" algn="l">
              <a:buNone/>
            </a:pPr>
            <a:r>
              <a:rPr lang="en-US" sz="2400" b="0" i="0" dirty="0">
                <a:solidFill>
                  <a:schemeClr val="tx1"/>
                </a:solidFill>
                <a:effectLst/>
                <a:latin typeface="+mn-lt"/>
              </a:rPr>
              <a:t>The collection contains:</a:t>
            </a:r>
          </a:p>
          <a:p>
            <a:pPr marL="342900" lvl="0" indent="-342900" algn="l">
              <a:buFont typeface="Arial" panose="020B0604020202020204" pitchFamily="34" charset="0"/>
              <a:buChar char="•"/>
            </a:pPr>
            <a:r>
              <a:rPr lang="en-US" sz="2400" b="0" i="0" dirty="0">
                <a:solidFill>
                  <a:schemeClr val="tx1"/>
                </a:solidFill>
                <a:effectLst/>
                <a:latin typeface="+mn-lt"/>
              </a:rPr>
              <a:t>300 subjects;</a:t>
            </a:r>
          </a:p>
          <a:p>
            <a:pPr marL="342900" lvl="0" indent="-342900" algn="l">
              <a:buFont typeface="Arial" panose="020B0604020202020204" pitchFamily="34" charset="0"/>
              <a:buChar char="•"/>
            </a:pPr>
            <a:r>
              <a:rPr lang="en-US" sz="2400" b="0" i="0" dirty="0">
                <a:solidFill>
                  <a:schemeClr val="tx1"/>
                </a:solidFill>
                <a:effectLst/>
                <a:latin typeface="+mn-lt"/>
              </a:rPr>
              <a:t>left and right eye images;</a:t>
            </a:r>
          </a:p>
          <a:p>
            <a:pPr marL="342900" lvl="0" indent="-342900" algn="l">
              <a:buFont typeface="Arial" panose="020B0604020202020204" pitchFamily="34" charset="0"/>
              <a:buChar char="•"/>
            </a:pPr>
            <a:r>
              <a:rPr lang="en-US" sz="2400" b="0" i="0" dirty="0">
                <a:solidFill>
                  <a:schemeClr val="tx1"/>
                </a:solidFill>
                <a:effectLst/>
                <a:latin typeface="+mn-lt"/>
              </a:rPr>
              <a:t>3 visits per subject, one month apart;</a:t>
            </a:r>
          </a:p>
          <a:p>
            <a:pPr marL="342900" lvl="0" indent="-342900" algn="l">
              <a:buFont typeface="Arial" panose="020B0604020202020204" pitchFamily="34" charset="0"/>
              <a:buChar char="•"/>
            </a:pPr>
            <a:r>
              <a:rPr lang="en-US" sz="2400" b="0" i="0" dirty="0">
                <a:solidFill>
                  <a:schemeClr val="tx1"/>
                </a:solidFill>
                <a:effectLst/>
                <a:latin typeface="+mn-lt"/>
              </a:rPr>
              <a:t>2 sensors used at every visit; and</a:t>
            </a:r>
          </a:p>
          <a:p>
            <a:pPr marL="342900" lvl="0" indent="-342900" algn="l">
              <a:buFont typeface="Arial" panose="020B0604020202020204" pitchFamily="34" charset="0"/>
              <a:buChar char="•"/>
            </a:pPr>
            <a:r>
              <a:rPr lang="en-US" sz="2400" b="0" i="0" dirty="0">
                <a:solidFill>
                  <a:schemeClr val="tx1"/>
                </a:solidFill>
                <a:effectLst/>
                <a:latin typeface="+mn-lt"/>
              </a:rPr>
              <a:t>5 captures per eye–sensor pair.</a:t>
            </a:r>
          </a:p>
          <a:p>
            <a:pPr indent="0" algn="l">
              <a:buNone/>
            </a:pPr>
            <a:endParaRPr lang="en-US" sz="2400" b="0" i="0" dirty="0">
              <a:solidFill>
                <a:schemeClr val="tx1"/>
              </a:solidFill>
              <a:effectLst/>
              <a:latin typeface="+mn-lt"/>
            </a:endParaRPr>
          </a:p>
          <a:p>
            <a:pPr indent="0" algn="l">
              <a:buNone/>
            </a:pPr>
            <a:r>
              <a:rPr lang="en-US" sz="2400" b="0" i="0" dirty="0">
                <a:solidFill>
                  <a:schemeClr val="tx1"/>
                </a:solidFill>
                <a:effectLst/>
                <a:latin typeface="+mn-lt"/>
              </a:rPr>
              <a:t>Your claim is: </a:t>
            </a:r>
            <a:r>
              <a:rPr lang="en-US" sz="2400" b="1" i="0" dirty="0">
                <a:solidFill>
                  <a:schemeClr val="tx1"/>
                </a:solidFill>
                <a:effectLst/>
                <a:latin typeface="+mn-lt"/>
              </a:rPr>
              <a:t>“The system verifies previously unseen users under a later acquisition session and either sensor.”</a:t>
            </a:r>
            <a:endParaRPr lang="en-US" sz="2400" b="0" i="0" dirty="0">
              <a:solidFill>
                <a:srgbClr val="161C24"/>
              </a:solidFill>
              <a:effectLst/>
              <a:latin typeface="-apple-system"/>
            </a:endParaRPr>
          </a:p>
        </p:txBody>
      </p:sp>
      <p:sp>
        <p:nvSpPr>
          <p:cNvPr id="8" name="TextBox 7">
            <a:extLst>
              <a:ext uri="{FF2B5EF4-FFF2-40B4-BE49-F238E27FC236}">
                <a16:creationId xmlns:a16="http://schemas.microsoft.com/office/drawing/2014/main" id="{325DE17D-9CA2-2C15-DE94-269BA7DACE4B}"/>
              </a:ext>
            </a:extLst>
          </p:cNvPr>
          <p:cNvSpPr txBox="1"/>
          <p:nvPr/>
        </p:nvSpPr>
        <p:spPr>
          <a:xfrm>
            <a:off x="7019498" y="1688014"/>
            <a:ext cx="4844955" cy="3785652"/>
          </a:xfrm>
          <a:prstGeom prst="rect">
            <a:avLst/>
          </a:prstGeom>
          <a:noFill/>
        </p:spPr>
        <p:txBody>
          <a:bodyPr wrap="square">
            <a:spAutoFit/>
          </a:bodyPr>
          <a:lstStyle/>
          <a:p>
            <a:pPr lvl="0" algn="l">
              <a:spcAft>
                <a:spcPts val="600"/>
              </a:spcAft>
            </a:pPr>
            <a:r>
              <a:rPr lang="en-US" sz="2800" b="1" i="0" dirty="0">
                <a:solidFill>
                  <a:schemeClr val="tx1"/>
                </a:solidFill>
                <a:effectLst/>
                <a:latin typeface="+mn-lt"/>
              </a:rPr>
              <a:t>Questions to consider:</a:t>
            </a:r>
          </a:p>
          <a:p>
            <a:pPr marL="342900" lvl="0" indent="-342900" algn="l">
              <a:spcAft>
                <a:spcPts val="600"/>
              </a:spcAft>
              <a:buFont typeface="+mj-lt"/>
              <a:buAutoNum type="arabicPeriod"/>
            </a:pPr>
            <a:r>
              <a:rPr lang="en-US" sz="2400" b="0" i="0" dirty="0">
                <a:solidFill>
                  <a:schemeClr val="tx1"/>
                </a:solidFill>
                <a:effectLst/>
                <a:latin typeface="+mn-lt"/>
              </a:rPr>
              <a:t>What is the primary unit of partitioning?</a:t>
            </a:r>
          </a:p>
          <a:p>
            <a:pPr marL="342900" lvl="0" indent="-342900" algn="l">
              <a:spcAft>
                <a:spcPts val="600"/>
              </a:spcAft>
              <a:buFont typeface="+mj-lt"/>
              <a:buAutoNum type="arabicPeriod"/>
            </a:pPr>
            <a:r>
              <a:rPr lang="en-US" sz="2400" b="0" i="0" dirty="0">
                <a:solidFill>
                  <a:schemeClr val="tx1"/>
                </a:solidFill>
                <a:effectLst/>
                <a:latin typeface="+mn-lt"/>
              </a:rPr>
              <a:t>What data may be used for threshold selection?</a:t>
            </a:r>
          </a:p>
          <a:p>
            <a:pPr marL="342900" lvl="0" indent="-342900" algn="l">
              <a:spcAft>
                <a:spcPts val="600"/>
              </a:spcAft>
              <a:buFont typeface="+mj-lt"/>
              <a:buAutoNum type="arabicPeriod"/>
            </a:pPr>
            <a:r>
              <a:rPr lang="en-US" sz="2400" b="0" i="0" dirty="0">
                <a:solidFill>
                  <a:schemeClr val="tx1"/>
                </a:solidFill>
                <a:effectLst/>
                <a:latin typeface="+mn-lt"/>
              </a:rPr>
              <a:t>Which comparisons belong in the final test protocol?</a:t>
            </a:r>
          </a:p>
          <a:p>
            <a:pPr marL="342900" lvl="0" indent="-342900" algn="l">
              <a:spcAft>
                <a:spcPts val="600"/>
              </a:spcAft>
              <a:buFont typeface="+mj-lt"/>
              <a:buAutoNum type="arabicPeriod"/>
            </a:pPr>
            <a:r>
              <a:rPr lang="en-US" sz="2400" b="0" i="0" dirty="0">
                <a:solidFill>
                  <a:schemeClr val="tx1"/>
                </a:solidFill>
                <a:effectLst/>
                <a:latin typeface="+mn-lt"/>
              </a:rPr>
              <a:t>What limitation remains even after a careful split?</a:t>
            </a:r>
            <a:endParaRPr lang="en-US" sz="2400" b="0" i="0" dirty="0">
              <a:solidFill>
                <a:srgbClr val="161C24"/>
              </a:solidFill>
              <a:effectLst/>
              <a:latin typeface="-apple-system"/>
            </a:endParaRPr>
          </a:p>
        </p:txBody>
      </p:sp>
    </p:spTree>
    <p:extLst>
      <p:ext uri="{BB962C8B-B14F-4D97-AF65-F5344CB8AC3E}">
        <p14:creationId xmlns:p14="http://schemas.microsoft.com/office/powerpoint/2010/main" val="65822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76E8E-C3F7-62A6-7D16-D11336061E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18A4B7-E4A7-281A-337B-F786430A26FA}"/>
              </a:ext>
            </a:extLst>
          </p:cNvPr>
          <p:cNvSpPr txBox="1"/>
          <p:nvPr/>
        </p:nvSpPr>
        <p:spPr>
          <a:xfrm>
            <a:off x="179695" y="466777"/>
            <a:ext cx="12012305" cy="707886"/>
          </a:xfrm>
          <a:prstGeom prst="rect">
            <a:avLst/>
          </a:prstGeom>
          <a:noFill/>
        </p:spPr>
        <p:txBody>
          <a:bodyPr wrap="square" rtlCol="0">
            <a:spAutoFit/>
          </a:bodyPr>
          <a:lstStyle/>
          <a:p>
            <a:r>
              <a:rPr lang="en-US" sz="4000" b="1" dirty="0">
                <a:solidFill>
                  <a:srgbClr val="0070C0"/>
                </a:solidFill>
              </a:rPr>
              <a:t>Concept III: </a:t>
            </a:r>
            <a:r>
              <a:rPr lang="en-US" sz="4000" i="1" dirty="0">
                <a:solidFill>
                  <a:srgbClr val="0070C0"/>
                </a:solidFill>
              </a:rPr>
              <a:t>a point estimate is not a conclusion</a:t>
            </a:r>
          </a:p>
        </p:txBody>
      </p:sp>
      <p:sp>
        <p:nvSpPr>
          <p:cNvPr id="3" name="Slide Number Placeholder 2">
            <a:extLst>
              <a:ext uri="{FF2B5EF4-FFF2-40B4-BE49-F238E27FC236}">
                <a16:creationId xmlns:a16="http://schemas.microsoft.com/office/drawing/2014/main" id="{331B2573-FFCD-6E57-9369-74550B98B731}"/>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13</a:t>
            </a:fld>
            <a:endParaRPr lang="en-US"/>
          </a:p>
        </p:txBody>
      </p:sp>
      <p:sp>
        <p:nvSpPr>
          <p:cNvPr id="6" name="TextBox 5">
            <a:extLst>
              <a:ext uri="{FF2B5EF4-FFF2-40B4-BE49-F238E27FC236}">
                <a16:creationId xmlns:a16="http://schemas.microsoft.com/office/drawing/2014/main" id="{D6C455D1-29CF-808E-3380-D3653CBCE287}"/>
              </a:ext>
            </a:extLst>
          </p:cNvPr>
          <p:cNvSpPr txBox="1"/>
          <p:nvPr/>
        </p:nvSpPr>
        <p:spPr>
          <a:xfrm>
            <a:off x="1694596" y="2207472"/>
            <a:ext cx="9182669" cy="2893100"/>
          </a:xfrm>
          <a:prstGeom prst="rect">
            <a:avLst/>
          </a:prstGeom>
          <a:noFill/>
        </p:spPr>
        <p:txBody>
          <a:bodyPr wrap="square">
            <a:spAutoFit/>
          </a:bodyPr>
          <a:lstStyle/>
          <a:p>
            <a:pPr indent="0" algn="l">
              <a:buNone/>
            </a:pPr>
            <a:r>
              <a:rPr lang="en-US" sz="2800" b="1" i="0" dirty="0">
                <a:solidFill>
                  <a:schemeClr val="tx1"/>
                </a:solidFill>
                <a:effectLst/>
                <a:latin typeface="+mn-lt"/>
              </a:rPr>
              <a:t>Questions an experimental result must answer:</a:t>
            </a:r>
          </a:p>
          <a:p>
            <a:pPr indent="0" algn="l">
              <a:buNone/>
            </a:pPr>
            <a:endParaRPr lang="en-US" sz="2400" b="1" i="0" dirty="0">
              <a:solidFill>
                <a:schemeClr val="tx1"/>
              </a:solidFill>
              <a:effectLst/>
              <a:latin typeface="+mn-lt"/>
            </a:endParaRPr>
          </a:p>
          <a:p>
            <a:pPr marL="342900" lvl="0" indent="-342900" algn="l">
              <a:spcAft>
                <a:spcPts val="600"/>
              </a:spcAft>
              <a:buFont typeface="Arial" panose="020B0604020202020204" pitchFamily="34" charset="0"/>
              <a:buChar char="•"/>
            </a:pPr>
            <a:r>
              <a:rPr lang="en-US" sz="2400" b="0" i="0" dirty="0">
                <a:solidFill>
                  <a:schemeClr val="tx1"/>
                </a:solidFill>
                <a:effectLst/>
                <a:latin typeface="+mn-lt"/>
              </a:rPr>
              <a:t>What quantity was estimated?</a:t>
            </a:r>
          </a:p>
          <a:p>
            <a:pPr marL="342900" lvl="0" indent="-342900" algn="l">
              <a:spcAft>
                <a:spcPts val="600"/>
              </a:spcAft>
              <a:buFont typeface="Arial" panose="020B0604020202020204" pitchFamily="34" charset="0"/>
              <a:buChar char="•"/>
            </a:pPr>
            <a:r>
              <a:rPr lang="en-US" sz="2400" b="0" i="0" dirty="0">
                <a:solidFill>
                  <a:schemeClr val="tx1"/>
                </a:solidFill>
                <a:effectLst/>
                <a:latin typeface="+mn-lt"/>
              </a:rPr>
              <a:t>How variable would that estimate be under another plausible sample of subjects, sessions, or captures?</a:t>
            </a:r>
          </a:p>
          <a:p>
            <a:pPr marL="342900" lvl="0" indent="-342900" algn="l">
              <a:spcAft>
                <a:spcPts val="600"/>
              </a:spcAft>
              <a:buFont typeface="Arial" panose="020B0604020202020204" pitchFamily="34" charset="0"/>
              <a:buChar char="•"/>
            </a:pPr>
            <a:r>
              <a:rPr lang="en-US" sz="2400" b="0" i="0" dirty="0">
                <a:solidFill>
                  <a:schemeClr val="tx1"/>
                </a:solidFill>
                <a:effectLst/>
                <a:latin typeface="+mn-lt"/>
              </a:rPr>
              <a:t>Is the apparent difference between systems larger than the uncertainty introduced by the protocol?</a:t>
            </a:r>
            <a:endParaRPr lang="en-US" sz="2400" b="0" i="0" dirty="0">
              <a:solidFill>
                <a:srgbClr val="161C24"/>
              </a:solidFill>
              <a:effectLst/>
              <a:latin typeface="-apple-system"/>
            </a:endParaRPr>
          </a:p>
        </p:txBody>
      </p:sp>
    </p:spTree>
    <p:extLst>
      <p:ext uri="{BB962C8B-B14F-4D97-AF65-F5344CB8AC3E}">
        <p14:creationId xmlns:p14="http://schemas.microsoft.com/office/powerpoint/2010/main" val="2923361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AA7E-6D49-3807-2CCB-D545D86097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1825F4-15E3-1D8D-5B3A-5E462A92CF5F}"/>
              </a:ext>
            </a:extLst>
          </p:cNvPr>
          <p:cNvSpPr txBox="1"/>
          <p:nvPr/>
        </p:nvSpPr>
        <p:spPr>
          <a:xfrm>
            <a:off x="179695" y="466777"/>
            <a:ext cx="12012305" cy="707886"/>
          </a:xfrm>
          <a:prstGeom prst="rect">
            <a:avLst/>
          </a:prstGeom>
          <a:noFill/>
        </p:spPr>
        <p:txBody>
          <a:bodyPr wrap="square" rtlCol="0">
            <a:spAutoFit/>
          </a:bodyPr>
          <a:lstStyle/>
          <a:p>
            <a:r>
              <a:rPr lang="en-US" sz="4000" b="1" dirty="0">
                <a:solidFill>
                  <a:srgbClr val="0070C0"/>
                </a:solidFill>
              </a:rPr>
              <a:t>Concept III: </a:t>
            </a:r>
            <a:r>
              <a:rPr lang="en-US" sz="4000" i="1" dirty="0">
                <a:solidFill>
                  <a:srgbClr val="0070C0"/>
                </a:solidFill>
              </a:rPr>
              <a:t>a point estimate is not a conclusion</a:t>
            </a:r>
          </a:p>
        </p:txBody>
      </p:sp>
      <p:sp>
        <p:nvSpPr>
          <p:cNvPr id="3" name="Slide Number Placeholder 2">
            <a:extLst>
              <a:ext uri="{FF2B5EF4-FFF2-40B4-BE49-F238E27FC236}">
                <a16:creationId xmlns:a16="http://schemas.microsoft.com/office/drawing/2014/main" id="{8068BBC9-1DAB-B5FB-FBA1-C55E7887467D}"/>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14</a:t>
            </a:fld>
            <a:endParaRPr lang="en-US"/>
          </a:p>
        </p:txBody>
      </p:sp>
      <p:sp>
        <p:nvSpPr>
          <p:cNvPr id="5" name="TextBox 4">
            <a:extLst>
              <a:ext uri="{FF2B5EF4-FFF2-40B4-BE49-F238E27FC236}">
                <a16:creationId xmlns:a16="http://schemas.microsoft.com/office/drawing/2014/main" id="{983862A0-E193-500D-7894-F91FAEEBE3FD}"/>
              </a:ext>
            </a:extLst>
          </p:cNvPr>
          <p:cNvSpPr txBox="1"/>
          <p:nvPr/>
        </p:nvSpPr>
        <p:spPr>
          <a:xfrm>
            <a:off x="723332" y="1534868"/>
            <a:ext cx="10481480" cy="4093428"/>
          </a:xfrm>
          <a:prstGeom prst="rect">
            <a:avLst/>
          </a:prstGeom>
          <a:noFill/>
        </p:spPr>
        <p:txBody>
          <a:bodyPr wrap="square">
            <a:spAutoFit/>
          </a:bodyPr>
          <a:lstStyle/>
          <a:p>
            <a:pPr indent="0" algn="l">
              <a:buNone/>
            </a:pPr>
            <a:r>
              <a:rPr lang="en-US" sz="2800" b="1" i="0" dirty="0">
                <a:solidFill>
                  <a:schemeClr val="tx1"/>
                </a:solidFill>
                <a:effectLst/>
                <a:latin typeface="+mn-lt"/>
              </a:rPr>
              <a:t>Why subject-aware uncertainty matters</a:t>
            </a:r>
          </a:p>
          <a:p>
            <a:pPr marL="342900" indent="-342900" algn="l">
              <a:buFont typeface="Arial" panose="020B0604020202020204" pitchFamily="34" charset="0"/>
              <a:buChar char="•"/>
            </a:pPr>
            <a:r>
              <a:rPr lang="en-US" sz="2400" b="0" i="0" dirty="0">
                <a:solidFill>
                  <a:schemeClr val="tx1"/>
                </a:solidFill>
                <a:effectLst/>
                <a:latin typeface="+mn-lt"/>
              </a:rPr>
              <a:t>A biometric test may contain many pairwise comparisons but far fewer independent identities. Resampling comparisons alone can overstate precision when comparisons share subjects.</a:t>
            </a:r>
          </a:p>
          <a:p>
            <a:pPr indent="0" algn="l">
              <a:buNone/>
            </a:pPr>
            <a:endParaRPr lang="en-US" sz="2400" b="1" i="0" dirty="0">
              <a:solidFill>
                <a:schemeClr val="tx1"/>
              </a:solidFill>
              <a:effectLst/>
              <a:latin typeface="+mn-lt"/>
            </a:endParaRPr>
          </a:p>
          <a:p>
            <a:pPr indent="0" algn="l">
              <a:buNone/>
            </a:pPr>
            <a:r>
              <a:rPr lang="en-US" sz="2800" b="1" i="0" dirty="0">
                <a:solidFill>
                  <a:schemeClr val="tx1"/>
                </a:solidFill>
                <a:effectLst/>
                <a:latin typeface="+mn-lt"/>
              </a:rPr>
              <a:t>Practical recommendation</a:t>
            </a:r>
          </a:p>
          <a:p>
            <a:pPr marL="342900" indent="-342900" algn="l">
              <a:buFont typeface="Arial" panose="020B0604020202020204" pitchFamily="34" charset="0"/>
              <a:buChar char="•"/>
            </a:pPr>
            <a:r>
              <a:rPr lang="en-US" sz="2400" b="0" i="0" dirty="0">
                <a:solidFill>
                  <a:schemeClr val="tx1"/>
                </a:solidFill>
                <a:effectLst/>
                <a:latin typeface="+mn-lt"/>
              </a:rPr>
              <a:t>Use </a:t>
            </a:r>
            <a:r>
              <a:rPr lang="en-US" sz="2400" b="1" i="0" dirty="0">
                <a:solidFill>
                  <a:schemeClr val="tx1"/>
                </a:solidFill>
                <a:effectLst/>
                <a:latin typeface="+mn-lt"/>
              </a:rPr>
              <a:t>subject-level resampling</a:t>
            </a:r>
            <a:r>
              <a:rPr lang="en-US" sz="2400" b="0" i="0" dirty="0">
                <a:solidFill>
                  <a:schemeClr val="tx1"/>
                </a:solidFill>
                <a:effectLst/>
                <a:latin typeface="+mn-lt"/>
              </a:rPr>
              <a:t> (or a hierarchy-aware resampling scheme) for interval estimates when the scientific unit is the person. Preserve the protocol structure during resampling.</a:t>
            </a:r>
          </a:p>
          <a:p>
            <a:pPr>
              <a:buNone/>
            </a:pPr>
            <a:br>
              <a:rPr lang="en-US" dirty="0"/>
            </a:br>
            <a:endParaRPr lang="en-US" dirty="0"/>
          </a:p>
        </p:txBody>
      </p:sp>
    </p:spTree>
    <p:extLst>
      <p:ext uri="{BB962C8B-B14F-4D97-AF65-F5344CB8AC3E}">
        <p14:creationId xmlns:p14="http://schemas.microsoft.com/office/powerpoint/2010/main" val="1107367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B72FE-A007-A716-DD97-0A3606CCFE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DFD85B-AF22-768E-D82F-F16E777A5500}"/>
              </a:ext>
            </a:extLst>
          </p:cNvPr>
          <p:cNvSpPr txBox="1"/>
          <p:nvPr/>
        </p:nvSpPr>
        <p:spPr>
          <a:xfrm>
            <a:off x="179695" y="466777"/>
            <a:ext cx="12012305" cy="707886"/>
          </a:xfrm>
          <a:prstGeom prst="rect">
            <a:avLst/>
          </a:prstGeom>
          <a:noFill/>
        </p:spPr>
        <p:txBody>
          <a:bodyPr wrap="square" rtlCol="0">
            <a:spAutoFit/>
          </a:bodyPr>
          <a:lstStyle/>
          <a:p>
            <a:r>
              <a:rPr lang="en-US" sz="4000" b="1" dirty="0">
                <a:solidFill>
                  <a:srgbClr val="0070C0"/>
                </a:solidFill>
              </a:rPr>
              <a:t>Concept III: </a:t>
            </a:r>
            <a:r>
              <a:rPr lang="en-US" sz="4000" i="1" dirty="0">
                <a:solidFill>
                  <a:srgbClr val="0070C0"/>
                </a:solidFill>
              </a:rPr>
              <a:t>fair comparisons require control</a:t>
            </a:r>
          </a:p>
        </p:txBody>
      </p:sp>
      <p:sp>
        <p:nvSpPr>
          <p:cNvPr id="3" name="Slide Number Placeholder 2">
            <a:extLst>
              <a:ext uri="{FF2B5EF4-FFF2-40B4-BE49-F238E27FC236}">
                <a16:creationId xmlns:a16="http://schemas.microsoft.com/office/drawing/2014/main" id="{B9BDFF27-39C2-5657-AC27-294A9167EDE0}"/>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15</a:t>
            </a:fld>
            <a:endParaRPr lang="en-US"/>
          </a:p>
        </p:txBody>
      </p:sp>
      <p:sp>
        <p:nvSpPr>
          <p:cNvPr id="6" name="TextBox 5">
            <a:extLst>
              <a:ext uri="{FF2B5EF4-FFF2-40B4-BE49-F238E27FC236}">
                <a16:creationId xmlns:a16="http://schemas.microsoft.com/office/drawing/2014/main" id="{709EBE24-7183-8C2A-64FC-1E0E7C46B5E1}"/>
              </a:ext>
            </a:extLst>
          </p:cNvPr>
          <p:cNvSpPr txBox="1"/>
          <p:nvPr/>
        </p:nvSpPr>
        <p:spPr>
          <a:xfrm>
            <a:off x="179695" y="1374465"/>
            <a:ext cx="5593308" cy="5016758"/>
          </a:xfrm>
          <a:prstGeom prst="rect">
            <a:avLst/>
          </a:prstGeom>
          <a:noFill/>
        </p:spPr>
        <p:txBody>
          <a:bodyPr wrap="square">
            <a:spAutoFit/>
          </a:bodyPr>
          <a:lstStyle/>
          <a:p>
            <a:pPr indent="0" algn="l">
              <a:buNone/>
            </a:pPr>
            <a:r>
              <a:rPr lang="en-US" sz="2800" b="1" i="0" dirty="0">
                <a:effectLst/>
                <a:latin typeface="+mn-lt"/>
              </a:rPr>
              <a:t>Keep constant </a:t>
            </a:r>
            <a:br>
              <a:rPr lang="en-US" sz="2800" b="1" i="0" dirty="0">
                <a:effectLst/>
                <a:latin typeface="+mn-lt"/>
              </a:rPr>
            </a:br>
            <a:r>
              <a:rPr lang="en-US" sz="2800" b="1" i="0" dirty="0">
                <a:effectLst/>
                <a:latin typeface="+mn-lt"/>
              </a:rPr>
              <a:t>(justify differences):</a:t>
            </a:r>
          </a:p>
          <a:p>
            <a:pPr marL="342900" lvl="0" indent="-342900" algn="l">
              <a:buFont typeface="Arial" panose="020B0604020202020204" pitchFamily="34" charset="0"/>
              <a:buChar char="•"/>
            </a:pPr>
            <a:r>
              <a:rPr lang="en-US" sz="2400" b="0" i="0" dirty="0">
                <a:solidFill>
                  <a:schemeClr val="tx1"/>
                </a:solidFill>
                <a:effectLst/>
                <a:latin typeface="+mn-lt"/>
              </a:rPr>
              <a:t>training identities and samples;</a:t>
            </a:r>
          </a:p>
          <a:p>
            <a:pPr marL="342900" lvl="0" indent="-342900" algn="l">
              <a:buFont typeface="Arial" panose="020B0604020202020204" pitchFamily="34" charset="0"/>
              <a:buChar char="•"/>
            </a:pPr>
            <a:r>
              <a:rPr lang="en-US" sz="2400" b="0" i="0" dirty="0">
                <a:solidFill>
                  <a:schemeClr val="tx1"/>
                </a:solidFill>
                <a:effectLst/>
                <a:latin typeface="+mn-lt"/>
              </a:rPr>
              <a:t>preprocessing and quality filtering;</a:t>
            </a:r>
          </a:p>
          <a:p>
            <a:pPr marL="342900" lvl="0" indent="-342900" algn="l">
              <a:buFont typeface="Arial" panose="020B0604020202020204" pitchFamily="34" charset="0"/>
              <a:buChar char="•"/>
            </a:pPr>
            <a:r>
              <a:rPr lang="en-US" sz="2400" b="0" i="0" dirty="0">
                <a:solidFill>
                  <a:schemeClr val="tx1"/>
                </a:solidFill>
                <a:effectLst/>
                <a:latin typeface="+mn-lt"/>
              </a:rPr>
              <a:t>image resolution and alignment;</a:t>
            </a:r>
          </a:p>
          <a:p>
            <a:pPr marL="342900" lvl="0" indent="-342900" algn="l">
              <a:buFont typeface="Arial" panose="020B0604020202020204" pitchFamily="34" charset="0"/>
              <a:buChar char="•"/>
            </a:pPr>
            <a:r>
              <a:rPr lang="en-US" sz="2400" b="0" i="0" dirty="0">
                <a:solidFill>
                  <a:schemeClr val="tx1"/>
                </a:solidFill>
                <a:effectLst/>
                <a:latin typeface="+mn-lt"/>
              </a:rPr>
              <a:t>augmentation and external pretraining data;</a:t>
            </a:r>
          </a:p>
          <a:p>
            <a:pPr marL="342900" lvl="0" indent="-342900" algn="l">
              <a:buFont typeface="Arial" panose="020B0604020202020204" pitchFamily="34" charset="0"/>
              <a:buChar char="•"/>
            </a:pPr>
            <a:r>
              <a:rPr lang="en-US" sz="2400" b="0" i="0" dirty="0">
                <a:solidFill>
                  <a:schemeClr val="tx1"/>
                </a:solidFill>
                <a:effectLst/>
                <a:latin typeface="+mn-lt"/>
              </a:rPr>
              <a:t>hyperparameter search budget;</a:t>
            </a:r>
          </a:p>
          <a:p>
            <a:pPr marL="342900" lvl="0" indent="-342900" algn="l">
              <a:buFont typeface="Arial" panose="020B0604020202020204" pitchFamily="34" charset="0"/>
              <a:buChar char="•"/>
            </a:pPr>
            <a:r>
              <a:rPr lang="en-US" sz="2400" b="0" i="0" dirty="0">
                <a:solidFill>
                  <a:schemeClr val="tx1"/>
                </a:solidFill>
                <a:effectLst/>
                <a:latin typeface="+mn-lt"/>
              </a:rPr>
              <a:t>score normalization, fusion, and calibration;</a:t>
            </a:r>
          </a:p>
          <a:p>
            <a:pPr marL="342900" lvl="0" indent="-342900" algn="l">
              <a:buFont typeface="Arial" panose="020B0604020202020204" pitchFamily="34" charset="0"/>
              <a:buChar char="•"/>
            </a:pPr>
            <a:r>
              <a:rPr lang="en-US" sz="2400" b="0" i="0" dirty="0">
                <a:solidFill>
                  <a:schemeClr val="tx1"/>
                </a:solidFill>
                <a:effectLst/>
                <a:latin typeface="+mn-lt"/>
              </a:rPr>
              <a:t>threshold-selection data;</a:t>
            </a:r>
          </a:p>
          <a:p>
            <a:pPr marL="342900" lvl="0" indent="-342900" algn="l">
              <a:buFont typeface="Arial" panose="020B0604020202020204" pitchFamily="34" charset="0"/>
              <a:buChar char="•"/>
            </a:pPr>
            <a:r>
              <a:rPr lang="en-US" sz="2400" b="0" i="0" dirty="0">
                <a:solidFill>
                  <a:schemeClr val="tx1"/>
                </a:solidFill>
                <a:effectLst/>
                <a:latin typeface="+mn-lt"/>
              </a:rPr>
              <a:t>test comparisons and metric implementation.</a:t>
            </a:r>
            <a:endParaRPr lang="en-US" sz="2400" b="0" i="0" dirty="0">
              <a:solidFill>
                <a:srgbClr val="161C24"/>
              </a:solidFill>
              <a:effectLst/>
              <a:latin typeface="-apple-system"/>
            </a:endParaRPr>
          </a:p>
        </p:txBody>
      </p:sp>
      <p:sp>
        <p:nvSpPr>
          <p:cNvPr id="7" name="TextBox 6">
            <a:extLst>
              <a:ext uri="{FF2B5EF4-FFF2-40B4-BE49-F238E27FC236}">
                <a16:creationId xmlns:a16="http://schemas.microsoft.com/office/drawing/2014/main" id="{0D4A1B40-CEB0-85E2-4F78-34E048915B42}"/>
              </a:ext>
            </a:extLst>
          </p:cNvPr>
          <p:cNvSpPr txBox="1"/>
          <p:nvPr/>
        </p:nvSpPr>
        <p:spPr>
          <a:xfrm>
            <a:off x="6418997" y="1374465"/>
            <a:ext cx="5593308" cy="3847207"/>
          </a:xfrm>
          <a:prstGeom prst="rect">
            <a:avLst/>
          </a:prstGeom>
          <a:noFill/>
        </p:spPr>
        <p:txBody>
          <a:bodyPr wrap="square">
            <a:spAutoFit/>
          </a:bodyPr>
          <a:lstStyle/>
          <a:p>
            <a:pPr indent="0" algn="l">
              <a:buNone/>
            </a:pPr>
            <a:r>
              <a:rPr lang="en-US" sz="2800" b="1" dirty="0"/>
              <a:t>Analysis Plan</a:t>
            </a:r>
            <a:endParaRPr lang="en-US" sz="2800" b="1" i="0" dirty="0">
              <a:effectLst/>
              <a:latin typeface="+mn-lt"/>
            </a:endParaRPr>
          </a:p>
          <a:p>
            <a:pPr marL="342900" lvl="0" indent="-342900" algn="l">
              <a:buFont typeface="Arial" panose="020B0604020202020204" pitchFamily="34" charset="0"/>
              <a:buChar char="•"/>
            </a:pPr>
            <a:endParaRPr lang="en-US" sz="2400" b="0" i="0" dirty="0">
              <a:solidFill>
                <a:schemeClr val="tx1"/>
              </a:solidFill>
              <a:effectLst/>
              <a:latin typeface="+mn-lt"/>
            </a:endParaRPr>
          </a:p>
          <a:p>
            <a:pPr lvl="0" algn="l"/>
            <a:r>
              <a:rPr lang="en-US" sz="2400" b="0" i="0" dirty="0">
                <a:solidFill>
                  <a:schemeClr val="tx1"/>
                </a:solidFill>
                <a:effectLst/>
                <a:latin typeface="+mn-lt"/>
              </a:rPr>
              <a:t>Before </a:t>
            </a:r>
            <a:r>
              <a:rPr lang="en-US" sz="2400" b="0" i="0" dirty="0" err="1">
                <a:solidFill>
                  <a:schemeClr val="tx1"/>
                </a:solidFill>
                <a:effectLst/>
                <a:latin typeface="+mn-lt"/>
              </a:rPr>
              <a:t>examing</a:t>
            </a:r>
            <a:r>
              <a:rPr lang="en-US" sz="2400" b="0" i="0" dirty="0">
                <a:solidFill>
                  <a:schemeClr val="tx1"/>
                </a:solidFill>
                <a:effectLst/>
                <a:latin typeface="+mn-lt"/>
              </a:rPr>
              <a:t> results, record:</a:t>
            </a:r>
          </a:p>
          <a:p>
            <a:pPr marL="457200" lvl="0" indent="-457200">
              <a:buFont typeface="+mj-lt"/>
              <a:buAutoNum type="arabicPeriod"/>
            </a:pPr>
            <a:r>
              <a:rPr lang="en-US" sz="2400" dirty="0"/>
              <a:t>primary claim and primary metric;</a:t>
            </a:r>
          </a:p>
          <a:p>
            <a:pPr marL="457200" lvl="0" indent="-457200">
              <a:buFont typeface="+mj-lt"/>
              <a:buAutoNum type="arabicPeriod"/>
            </a:pPr>
            <a:r>
              <a:rPr lang="en-US" sz="2400" dirty="0"/>
              <a:t>partitions and inclusion/exclusion criteria;</a:t>
            </a:r>
          </a:p>
          <a:p>
            <a:pPr marL="457200" lvl="0" indent="-457200">
              <a:buFont typeface="+mj-lt"/>
              <a:buAutoNum type="arabicPeriod"/>
            </a:pPr>
            <a:r>
              <a:rPr lang="en-US" sz="2400" dirty="0"/>
              <a:t>threshold/calibration procedure;</a:t>
            </a:r>
          </a:p>
          <a:p>
            <a:pPr marL="457200" lvl="0" indent="-457200">
              <a:buFont typeface="+mj-lt"/>
              <a:buAutoNum type="arabicPeriod"/>
            </a:pPr>
            <a:r>
              <a:rPr lang="en-US" sz="2400" dirty="0"/>
              <a:t>subgroup or condition analyses;</a:t>
            </a:r>
          </a:p>
          <a:p>
            <a:pPr marL="457200" lvl="0" indent="-457200">
              <a:buFont typeface="+mj-lt"/>
              <a:buAutoNum type="arabicPeriod"/>
            </a:pPr>
            <a:r>
              <a:rPr lang="en-US" sz="2400" dirty="0"/>
              <a:t>uncertainty method; and</a:t>
            </a:r>
          </a:p>
          <a:p>
            <a:pPr marL="457200" lvl="0" indent="-457200">
              <a:buFont typeface="+mj-lt"/>
              <a:buAutoNum type="arabicPeriod"/>
            </a:pPr>
            <a:r>
              <a:rPr lang="en-US" sz="2400" dirty="0"/>
              <a:t>stopping or model-selection rule.</a:t>
            </a:r>
          </a:p>
        </p:txBody>
      </p:sp>
    </p:spTree>
    <p:extLst>
      <p:ext uri="{BB962C8B-B14F-4D97-AF65-F5344CB8AC3E}">
        <p14:creationId xmlns:p14="http://schemas.microsoft.com/office/powerpoint/2010/main" val="339330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D0035-72D3-977B-9CE8-F5B628C49B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603F94-73DA-68DA-51FB-BC8232B2C918}"/>
              </a:ext>
            </a:extLst>
          </p:cNvPr>
          <p:cNvSpPr txBox="1"/>
          <p:nvPr/>
        </p:nvSpPr>
        <p:spPr>
          <a:xfrm>
            <a:off x="179695" y="466777"/>
            <a:ext cx="12012305" cy="707886"/>
          </a:xfrm>
          <a:prstGeom prst="rect">
            <a:avLst/>
          </a:prstGeom>
          <a:noFill/>
        </p:spPr>
        <p:txBody>
          <a:bodyPr wrap="square" rtlCol="0">
            <a:spAutoFit/>
          </a:bodyPr>
          <a:lstStyle/>
          <a:p>
            <a:r>
              <a:rPr lang="en-US" sz="4000" b="1" dirty="0">
                <a:solidFill>
                  <a:srgbClr val="0070C0"/>
                </a:solidFill>
              </a:rPr>
              <a:t>Concept III: </a:t>
            </a:r>
            <a:r>
              <a:rPr lang="en-US" sz="4000" i="1" dirty="0">
                <a:solidFill>
                  <a:srgbClr val="0070C0"/>
                </a:solidFill>
              </a:rPr>
              <a:t>reproducibility is an experimental result</a:t>
            </a:r>
          </a:p>
        </p:txBody>
      </p:sp>
      <p:sp>
        <p:nvSpPr>
          <p:cNvPr id="3" name="Slide Number Placeholder 2">
            <a:extLst>
              <a:ext uri="{FF2B5EF4-FFF2-40B4-BE49-F238E27FC236}">
                <a16:creationId xmlns:a16="http://schemas.microsoft.com/office/drawing/2014/main" id="{63E9ECC5-DCA4-7FED-6136-6B9318DC7566}"/>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16</a:t>
            </a:fld>
            <a:endParaRPr lang="en-US"/>
          </a:p>
        </p:txBody>
      </p:sp>
      <p:sp>
        <p:nvSpPr>
          <p:cNvPr id="5" name="TextBox 4">
            <a:extLst>
              <a:ext uri="{FF2B5EF4-FFF2-40B4-BE49-F238E27FC236}">
                <a16:creationId xmlns:a16="http://schemas.microsoft.com/office/drawing/2014/main" id="{1CB3F920-95AA-DA7E-5393-80EF419B567D}"/>
              </a:ext>
            </a:extLst>
          </p:cNvPr>
          <p:cNvSpPr txBox="1"/>
          <p:nvPr/>
        </p:nvSpPr>
        <p:spPr>
          <a:xfrm>
            <a:off x="723332" y="1534868"/>
            <a:ext cx="10481480" cy="4647426"/>
          </a:xfrm>
          <a:prstGeom prst="rect">
            <a:avLst/>
          </a:prstGeom>
          <a:noFill/>
        </p:spPr>
        <p:txBody>
          <a:bodyPr wrap="square">
            <a:spAutoFit/>
          </a:bodyPr>
          <a:lstStyle/>
          <a:p>
            <a:r>
              <a:rPr lang="en-US" sz="2800" b="1" dirty="0">
                <a:solidFill>
                  <a:srgbClr val="0070C0"/>
                </a:solidFill>
              </a:rPr>
              <a:t>Reproducible Biometric Experiment Enable Reconstruction of:</a:t>
            </a:r>
          </a:p>
          <a:p>
            <a:pPr marL="342900" lvl="0" indent="-342900">
              <a:buFont typeface="Wingdings" pitchFamily="2" charset="2"/>
              <a:buChar char="§"/>
            </a:pPr>
            <a:r>
              <a:rPr lang="en-US" sz="2400" dirty="0"/>
              <a:t>data version and provenance;</a:t>
            </a:r>
          </a:p>
          <a:p>
            <a:pPr marL="342900" lvl="0" indent="-342900">
              <a:buFont typeface="Wingdings" pitchFamily="2" charset="2"/>
              <a:buChar char="§"/>
            </a:pPr>
            <a:r>
              <a:rPr lang="en-US" sz="2400" dirty="0"/>
              <a:t>subject/session/sensor metadata and split manifest;</a:t>
            </a:r>
          </a:p>
          <a:p>
            <a:pPr marL="342900" lvl="0" indent="-342900">
              <a:buFont typeface="Wingdings" pitchFamily="2" charset="2"/>
              <a:buChar char="§"/>
            </a:pPr>
            <a:r>
              <a:rPr lang="en-US" sz="2400" dirty="0"/>
              <a:t>code revision and dependency environment;</a:t>
            </a:r>
          </a:p>
          <a:p>
            <a:pPr marL="342900" lvl="0" indent="-342900">
              <a:buFont typeface="Wingdings" pitchFamily="2" charset="2"/>
              <a:buChar char="§"/>
            </a:pPr>
            <a:r>
              <a:rPr lang="en-US" sz="2400" dirty="0"/>
              <a:t>random seeds and nondeterminism controls;</a:t>
            </a:r>
          </a:p>
          <a:p>
            <a:pPr marL="342900" lvl="0" indent="-342900">
              <a:buFont typeface="Wingdings" pitchFamily="2" charset="2"/>
              <a:buChar char="§"/>
            </a:pPr>
            <a:r>
              <a:rPr lang="en-US" sz="2400" dirty="0"/>
              <a:t>training configuration and checkpoint selection rule;</a:t>
            </a:r>
          </a:p>
          <a:p>
            <a:pPr marL="342900" lvl="0" indent="-342900">
              <a:buFont typeface="Wingdings" pitchFamily="2" charset="2"/>
              <a:buChar char="§"/>
            </a:pPr>
            <a:r>
              <a:rPr lang="en-US" sz="2400" dirty="0"/>
              <a:t>exact comparison lists and metric code;</a:t>
            </a:r>
          </a:p>
          <a:p>
            <a:pPr marL="342900" lvl="0" indent="-342900">
              <a:buFont typeface="Wingdings" pitchFamily="2" charset="2"/>
              <a:buChar char="§"/>
            </a:pPr>
            <a:r>
              <a:rPr lang="en-US" sz="2400" dirty="0"/>
              <a:t>all exclusions, failures, and deviations from plan.</a:t>
            </a:r>
          </a:p>
          <a:p>
            <a:endParaRPr lang="en-US" sz="2400" b="1" dirty="0"/>
          </a:p>
          <a:p>
            <a:r>
              <a:rPr lang="en-US" sz="2800" b="1" dirty="0">
                <a:solidFill>
                  <a:srgbClr val="0070C0"/>
                </a:solidFill>
              </a:rPr>
              <a:t>Practice &amp; Reproducibility Expectations</a:t>
            </a:r>
          </a:p>
          <a:p>
            <a:pPr marL="285750" indent="-285750">
              <a:buFont typeface="Arial" panose="020B0604020202020204" pitchFamily="34" charset="0"/>
              <a:buChar char="•"/>
            </a:pPr>
            <a:r>
              <a:rPr lang="en-US" sz="2400" dirty="0"/>
              <a:t>A repository should let another researcher distinguish </a:t>
            </a:r>
            <a:r>
              <a:rPr lang="en-US" sz="2400" b="1" dirty="0"/>
              <a:t>what was planned</a:t>
            </a:r>
            <a:r>
              <a:rPr lang="en-US" sz="2400" dirty="0"/>
              <a:t>, </a:t>
            </a:r>
            <a:r>
              <a:rPr lang="en-US" sz="2400" b="1" dirty="0"/>
              <a:t>what was run</a:t>
            </a:r>
            <a:r>
              <a:rPr lang="en-US" sz="2400" dirty="0"/>
              <a:t>, and </a:t>
            </a:r>
            <a:r>
              <a:rPr lang="en-US" sz="2400" b="1" dirty="0"/>
              <a:t>what was reported</a:t>
            </a:r>
            <a:r>
              <a:rPr lang="en-US" sz="2400" dirty="0"/>
              <a:t>.</a:t>
            </a:r>
          </a:p>
        </p:txBody>
      </p:sp>
    </p:spTree>
    <p:extLst>
      <p:ext uri="{BB962C8B-B14F-4D97-AF65-F5344CB8AC3E}">
        <p14:creationId xmlns:p14="http://schemas.microsoft.com/office/powerpoint/2010/main" val="1144201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9454E-9976-F1E6-7626-1E7DD75914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07CE2F-C589-BE00-63D2-C63B66110DD1}"/>
              </a:ext>
            </a:extLst>
          </p:cNvPr>
          <p:cNvSpPr txBox="1"/>
          <p:nvPr/>
        </p:nvSpPr>
        <p:spPr>
          <a:xfrm>
            <a:off x="179695" y="466777"/>
            <a:ext cx="12012305" cy="707886"/>
          </a:xfrm>
          <a:prstGeom prst="rect">
            <a:avLst/>
          </a:prstGeom>
          <a:noFill/>
        </p:spPr>
        <p:txBody>
          <a:bodyPr wrap="square" rtlCol="0">
            <a:spAutoFit/>
          </a:bodyPr>
          <a:lstStyle/>
          <a:p>
            <a:r>
              <a:rPr lang="en-US" sz="4000" b="1" dirty="0">
                <a:solidFill>
                  <a:srgbClr val="0070C0"/>
                </a:solidFill>
              </a:rPr>
              <a:t>Summary</a:t>
            </a:r>
            <a:endParaRPr lang="en-US" sz="4000" dirty="0">
              <a:solidFill>
                <a:srgbClr val="0070C0"/>
              </a:solidFill>
            </a:endParaRPr>
          </a:p>
        </p:txBody>
      </p:sp>
      <p:sp>
        <p:nvSpPr>
          <p:cNvPr id="3" name="Slide Number Placeholder 2">
            <a:extLst>
              <a:ext uri="{FF2B5EF4-FFF2-40B4-BE49-F238E27FC236}">
                <a16:creationId xmlns:a16="http://schemas.microsoft.com/office/drawing/2014/main" id="{565FF5DB-30F2-46DA-E9C3-3DE0CF7724E9}"/>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17</a:t>
            </a:fld>
            <a:endParaRPr lang="en-US"/>
          </a:p>
        </p:txBody>
      </p:sp>
      <p:sp>
        <p:nvSpPr>
          <p:cNvPr id="5" name="TextBox 4">
            <a:extLst>
              <a:ext uri="{FF2B5EF4-FFF2-40B4-BE49-F238E27FC236}">
                <a16:creationId xmlns:a16="http://schemas.microsoft.com/office/drawing/2014/main" id="{A70BA102-C6E7-ED05-6B06-D8B4A102EAA4}"/>
              </a:ext>
            </a:extLst>
          </p:cNvPr>
          <p:cNvSpPr txBox="1"/>
          <p:nvPr/>
        </p:nvSpPr>
        <p:spPr>
          <a:xfrm>
            <a:off x="655093" y="2067130"/>
            <a:ext cx="10481480" cy="3708708"/>
          </a:xfrm>
          <a:prstGeom prst="rect">
            <a:avLst/>
          </a:prstGeom>
          <a:noFill/>
        </p:spPr>
        <p:txBody>
          <a:bodyPr wrap="square">
            <a:spAutoFit/>
          </a:bodyPr>
          <a:lstStyle/>
          <a:p>
            <a:pPr>
              <a:spcAft>
                <a:spcPts val="600"/>
              </a:spcAft>
            </a:pPr>
            <a:r>
              <a:rPr lang="en-US" sz="2800" b="1" dirty="0">
                <a:solidFill>
                  <a:srgbClr val="0070C0"/>
                </a:solidFill>
              </a:rPr>
              <a:t>Three Concept to Recall:</a:t>
            </a:r>
          </a:p>
          <a:p>
            <a:pPr marL="342900" lvl="0" indent="-342900">
              <a:spcAft>
                <a:spcPts val="600"/>
              </a:spcAft>
              <a:buFont typeface="Courier New" panose="02070309020205020404" pitchFamily="49" charset="0"/>
              <a:buChar char="o"/>
            </a:pPr>
            <a:r>
              <a:rPr lang="en-US" sz="2400" b="1" dirty="0"/>
              <a:t>Claim–protocol alignment:</a:t>
            </a:r>
            <a:r>
              <a:rPr lang="en-US" sz="2400" dirty="0"/>
              <a:t> define the target population, task, operating condition, and metric before evaluating.</a:t>
            </a:r>
          </a:p>
          <a:p>
            <a:pPr marL="342900" lvl="0" indent="-342900">
              <a:spcAft>
                <a:spcPts val="600"/>
              </a:spcAft>
              <a:buFont typeface="Courier New" panose="02070309020205020404" pitchFamily="49" charset="0"/>
              <a:buChar char="o"/>
            </a:pPr>
            <a:r>
              <a:rPr lang="en-US" sz="2400" b="1" dirty="0"/>
              <a:t>Dependence-aware partitioning:</a:t>
            </a:r>
            <a:r>
              <a:rPr lang="en-US" sz="2400" dirty="0"/>
              <a:t> split at the level required to prevent the information transfer that would invalidate the claim.</a:t>
            </a:r>
          </a:p>
          <a:p>
            <a:pPr marL="342900" lvl="0" indent="-342900">
              <a:spcAft>
                <a:spcPts val="600"/>
              </a:spcAft>
              <a:buFont typeface="Courier New" panose="02070309020205020404" pitchFamily="49" charset="0"/>
              <a:buChar char="o"/>
            </a:pPr>
            <a:r>
              <a:rPr lang="en-US" sz="2400" b="1" dirty="0"/>
              <a:t>Valid inference and reproducibility:</a:t>
            </a:r>
            <a:r>
              <a:rPr lang="en-US" sz="2400" dirty="0"/>
              <a:t> quantify uncertainty, control experimental degrees of freedom, and preserve the artifacts needed to audit the result.</a:t>
            </a:r>
            <a:br>
              <a:rPr lang="en-US" sz="2400" dirty="0"/>
            </a:br>
            <a:endParaRPr lang="en-US" sz="2400" dirty="0"/>
          </a:p>
        </p:txBody>
      </p:sp>
    </p:spTree>
    <p:extLst>
      <p:ext uri="{BB962C8B-B14F-4D97-AF65-F5344CB8AC3E}">
        <p14:creationId xmlns:p14="http://schemas.microsoft.com/office/powerpoint/2010/main" val="1982950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1136-229C-A059-C32E-005B6C8D95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2BA494-0C98-C33B-C88B-0FCCEE179766}"/>
              </a:ext>
            </a:extLst>
          </p:cNvPr>
          <p:cNvSpPr txBox="1"/>
          <p:nvPr/>
        </p:nvSpPr>
        <p:spPr>
          <a:xfrm>
            <a:off x="179695" y="466777"/>
            <a:ext cx="12012305" cy="707886"/>
          </a:xfrm>
          <a:prstGeom prst="rect">
            <a:avLst/>
          </a:prstGeom>
          <a:noFill/>
        </p:spPr>
        <p:txBody>
          <a:bodyPr wrap="square" rtlCol="0">
            <a:spAutoFit/>
          </a:bodyPr>
          <a:lstStyle/>
          <a:p>
            <a:r>
              <a:rPr lang="en-US" sz="4000" b="1" dirty="0">
                <a:solidFill>
                  <a:srgbClr val="0070C0"/>
                </a:solidFill>
              </a:rPr>
              <a:t>Summary</a:t>
            </a:r>
            <a:endParaRPr lang="en-US" sz="4000" dirty="0">
              <a:solidFill>
                <a:srgbClr val="0070C0"/>
              </a:solidFill>
            </a:endParaRPr>
          </a:p>
        </p:txBody>
      </p:sp>
      <p:sp>
        <p:nvSpPr>
          <p:cNvPr id="3" name="Slide Number Placeholder 2">
            <a:extLst>
              <a:ext uri="{FF2B5EF4-FFF2-40B4-BE49-F238E27FC236}">
                <a16:creationId xmlns:a16="http://schemas.microsoft.com/office/drawing/2014/main" id="{92A9C122-F0A5-5197-3B24-E4DE2E30C2EA}"/>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18</a:t>
            </a:fld>
            <a:endParaRPr lang="en-US"/>
          </a:p>
        </p:txBody>
      </p:sp>
      <p:sp>
        <p:nvSpPr>
          <p:cNvPr id="5" name="TextBox 4">
            <a:extLst>
              <a:ext uri="{FF2B5EF4-FFF2-40B4-BE49-F238E27FC236}">
                <a16:creationId xmlns:a16="http://schemas.microsoft.com/office/drawing/2014/main" id="{08DB1B44-0FED-996E-E1C9-29D329DDD3E2}"/>
              </a:ext>
            </a:extLst>
          </p:cNvPr>
          <p:cNvSpPr txBox="1"/>
          <p:nvPr/>
        </p:nvSpPr>
        <p:spPr>
          <a:xfrm>
            <a:off x="655093" y="2067130"/>
            <a:ext cx="10481480" cy="3570208"/>
          </a:xfrm>
          <a:prstGeom prst="rect">
            <a:avLst/>
          </a:prstGeom>
          <a:noFill/>
        </p:spPr>
        <p:txBody>
          <a:bodyPr wrap="square">
            <a:spAutoFit/>
          </a:bodyPr>
          <a:lstStyle/>
          <a:p>
            <a:pPr>
              <a:spcAft>
                <a:spcPts val="600"/>
              </a:spcAft>
            </a:pPr>
            <a:r>
              <a:rPr lang="en-US" sz="2800" b="1" dirty="0">
                <a:solidFill>
                  <a:srgbClr val="0070C0"/>
                </a:solidFill>
              </a:rPr>
              <a:t>Five Questions to Ask of Every Biometric Experiment:</a:t>
            </a:r>
          </a:p>
          <a:p>
            <a:pPr marL="342900" lvl="0" indent="-342900">
              <a:spcAft>
                <a:spcPts val="600"/>
              </a:spcAft>
              <a:buFont typeface="Wingdings" pitchFamily="2" charset="2"/>
              <a:buChar char="ü"/>
            </a:pPr>
            <a:r>
              <a:rPr lang="en-US" sz="2400" dirty="0"/>
              <a:t>Who and what conditions does this result claim to represent?</a:t>
            </a:r>
          </a:p>
          <a:p>
            <a:pPr marL="342900" lvl="0" indent="-342900">
              <a:spcAft>
                <a:spcPts val="600"/>
              </a:spcAft>
              <a:buFont typeface="Wingdings" pitchFamily="2" charset="2"/>
              <a:buChar char="ü"/>
            </a:pPr>
            <a:r>
              <a:rPr lang="en-US" sz="2400" dirty="0"/>
              <a:t>What is the unit of independence, and where is the split boundary?</a:t>
            </a:r>
          </a:p>
          <a:p>
            <a:pPr marL="342900" lvl="0" indent="-342900">
              <a:spcAft>
                <a:spcPts val="600"/>
              </a:spcAft>
              <a:buFont typeface="Wingdings" pitchFamily="2" charset="2"/>
              <a:buChar char="ü"/>
            </a:pPr>
            <a:r>
              <a:rPr lang="en-US" sz="2400" dirty="0"/>
              <a:t>What is fixed before final testing?</a:t>
            </a:r>
          </a:p>
          <a:p>
            <a:pPr marL="342900" lvl="0" indent="-342900">
              <a:spcAft>
                <a:spcPts val="600"/>
              </a:spcAft>
              <a:buFont typeface="Wingdings" pitchFamily="2" charset="2"/>
              <a:buChar char="ü"/>
            </a:pPr>
            <a:r>
              <a:rPr lang="en-US" sz="2400" dirty="0"/>
              <a:t>Which metric and operating point correspond to the real decision problem?</a:t>
            </a:r>
          </a:p>
          <a:p>
            <a:pPr marL="342900" lvl="0" indent="-342900">
              <a:spcAft>
                <a:spcPts val="600"/>
              </a:spcAft>
              <a:buFont typeface="Wingdings" pitchFamily="2" charset="2"/>
              <a:buChar char="ü"/>
            </a:pPr>
            <a:r>
              <a:rPr lang="en-US" sz="2400" dirty="0"/>
              <a:t>Can another researcher reconstruct the data protocol and analysis?</a:t>
            </a:r>
          </a:p>
          <a:p>
            <a:pPr lvl="0">
              <a:spcAft>
                <a:spcPts val="600"/>
              </a:spcAft>
            </a:pPr>
            <a:br>
              <a:rPr lang="en-US" sz="2400" dirty="0"/>
            </a:br>
            <a:endParaRPr lang="en-US" sz="2400" dirty="0"/>
          </a:p>
        </p:txBody>
      </p:sp>
    </p:spTree>
    <p:extLst>
      <p:ext uri="{BB962C8B-B14F-4D97-AF65-F5344CB8AC3E}">
        <p14:creationId xmlns:p14="http://schemas.microsoft.com/office/powerpoint/2010/main" val="609246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77D530-303B-CAE8-9F69-37E20A4774D2}"/>
              </a:ext>
            </a:extLst>
          </p:cNvPr>
          <p:cNvSpPr>
            <a:spLocks noGrp="1"/>
          </p:cNvSpPr>
          <p:nvPr>
            <p:ph type="sldNum" sz="quarter" idx="12"/>
          </p:nvPr>
        </p:nvSpPr>
        <p:spPr/>
        <p:txBody>
          <a:bodyPr/>
          <a:lstStyle/>
          <a:p>
            <a:fld id="{659B2F21-D912-7541-8ED2-FD6ABD90B685}" type="slidenum">
              <a:rPr lang="en-US" smtClean="0"/>
              <a:t>19</a:t>
            </a:fld>
            <a:endParaRPr lang="en-US"/>
          </a:p>
        </p:txBody>
      </p:sp>
      <p:sp>
        <p:nvSpPr>
          <p:cNvPr id="5" name="TextBox 4">
            <a:extLst>
              <a:ext uri="{FF2B5EF4-FFF2-40B4-BE49-F238E27FC236}">
                <a16:creationId xmlns:a16="http://schemas.microsoft.com/office/drawing/2014/main" id="{EA70448C-22FE-BBAE-B9CD-7CC4E2CFF8CF}"/>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pic>
        <p:nvPicPr>
          <p:cNvPr id="6" name="Picture 5">
            <a:extLst>
              <a:ext uri="{FF2B5EF4-FFF2-40B4-BE49-F238E27FC236}">
                <a16:creationId xmlns:a16="http://schemas.microsoft.com/office/drawing/2014/main" id="{971289AC-DEF8-75D0-6B4E-FC72A76C4A2B}"/>
              </a:ext>
            </a:extLst>
          </p:cNvPr>
          <p:cNvPicPr>
            <a:picLocks noChangeAspect="1"/>
          </p:cNvPicPr>
          <p:nvPr/>
        </p:nvPicPr>
        <p:blipFill>
          <a:blip r:embed="rId2"/>
          <a:srcRect t="1250" b="1250"/>
          <a:stretch/>
        </p:blipFill>
        <p:spPr>
          <a:xfrm>
            <a:off x="6555403" y="1175182"/>
            <a:ext cx="4110393" cy="5363730"/>
          </a:xfrm>
          <a:prstGeom prst="rect">
            <a:avLst/>
          </a:prstGeom>
        </p:spPr>
      </p:pic>
      <p:pic>
        <p:nvPicPr>
          <p:cNvPr id="2" name="Picture 1" descr="Go to journal home page - Image and Vision Computing">
            <a:extLst>
              <a:ext uri="{FF2B5EF4-FFF2-40B4-BE49-F238E27FC236}">
                <a16:creationId xmlns:a16="http://schemas.microsoft.com/office/drawing/2014/main" id="{EC3983CC-C339-670E-5E01-755E7456D070}"/>
              </a:ext>
            </a:extLst>
          </p:cNvPr>
          <p:cNvPicPr>
            <a:picLocks noChangeAspect="1"/>
          </p:cNvPicPr>
          <p:nvPr/>
        </p:nvPicPr>
        <p:blipFill>
          <a:blip r:embed="rId3"/>
          <a:stretch>
            <a:fillRect/>
          </a:stretch>
        </p:blipFill>
        <p:spPr>
          <a:xfrm>
            <a:off x="2311588" y="2074459"/>
            <a:ext cx="2200702" cy="2934269"/>
          </a:xfrm>
          <a:prstGeom prst="rect">
            <a:avLst/>
          </a:prstGeom>
        </p:spPr>
      </p:pic>
      <p:sp>
        <p:nvSpPr>
          <p:cNvPr id="3" name="TextBox 2">
            <a:extLst>
              <a:ext uri="{FF2B5EF4-FFF2-40B4-BE49-F238E27FC236}">
                <a16:creationId xmlns:a16="http://schemas.microsoft.com/office/drawing/2014/main" id="{B62FE240-F718-83DB-236D-405471630629}"/>
              </a:ext>
            </a:extLst>
          </p:cNvPr>
          <p:cNvSpPr txBox="1"/>
          <p:nvPr/>
        </p:nvSpPr>
        <p:spPr>
          <a:xfrm>
            <a:off x="1366087" y="5294773"/>
            <a:ext cx="4161717" cy="1077218"/>
          </a:xfrm>
          <a:prstGeom prst="rect">
            <a:avLst/>
          </a:prstGeom>
          <a:noFill/>
        </p:spPr>
        <p:txBody>
          <a:bodyPr wrap="none" rtlCol="0">
            <a:spAutoFit/>
          </a:bodyPr>
          <a:lstStyle/>
          <a:p>
            <a:pPr marL="285750" indent="-285750">
              <a:buFont typeface="Arial" panose="020B0604020202020204" pitchFamily="34" charset="0"/>
              <a:buChar char="•"/>
            </a:pPr>
            <a:r>
              <a:rPr lang="en-US" dirty="0"/>
              <a:t>Impact Factor 5.0</a:t>
            </a:r>
          </a:p>
          <a:p>
            <a:pPr marL="285750" indent="-285750">
              <a:buFont typeface="Arial" panose="020B0604020202020204" pitchFamily="34" charset="0"/>
              <a:buChar char="•"/>
            </a:pPr>
            <a:r>
              <a:rPr lang="en-US" dirty="0" err="1"/>
              <a:t>CiteScore</a:t>
            </a:r>
            <a:r>
              <a:rPr lang="en-US" dirty="0"/>
              <a:t> 7.7</a:t>
            </a:r>
            <a:br>
              <a:rPr lang="en-US" dirty="0"/>
            </a:br>
            <a:endParaRPr lang="en-US" dirty="0"/>
          </a:p>
          <a:p>
            <a:r>
              <a:rPr lang="en-US" sz="1000" dirty="0">
                <a:hlinkClick r:id="rId4"/>
              </a:rPr>
              <a:t>https://www.sciencedirect.com/journal/image-and-vision-computing</a:t>
            </a:r>
            <a:r>
              <a:rPr lang="en-US" sz="1000" dirty="0"/>
              <a:t> </a:t>
            </a:r>
          </a:p>
        </p:txBody>
      </p:sp>
    </p:spTree>
    <p:extLst>
      <p:ext uri="{BB962C8B-B14F-4D97-AF65-F5344CB8AC3E}">
        <p14:creationId xmlns:p14="http://schemas.microsoft.com/office/powerpoint/2010/main" val="96728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4533-2D5D-6226-3EF2-76438442CD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1CB11A-F8C4-9B1A-5279-FDEA37BB0AC9}"/>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9F084720-9696-2128-9E56-B32E0A92CA3D}"/>
              </a:ext>
            </a:extLst>
          </p:cNvPr>
          <p:cNvSpPr txBox="1"/>
          <p:nvPr/>
        </p:nvSpPr>
        <p:spPr>
          <a:xfrm>
            <a:off x="590310" y="1347401"/>
            <a:ext cx="10955866" cy="1600438"/>
          </a:xfrm>
          <a:prstGeom prst="rect">
            <a:avLst/>
          </a:prstGeom>
          <a:noFill/>
        </p:spPr>
        <p:txBody>
          <a:bodyPr wrap="square">
            <a:spAutoFit/>
          </a:bodyPr>
          <a:lstStyle/>
          <a:p>
            <a:r>
              <a:rPr lang="en-US" sz="4000" dirty="0"/>
              <a:t>What problem is addressed?</a:t>
            </a:r>
          </a:p>
          <a:p>
            <a:r>
              <a:rPr lang="en-US" sz="4000" dirty="0"/>
              <a:t>Why?</a:t>
            </a:r>
            <a:br>
              <a:rPr lang="en-US" sz="3200" dirty="0"/>
            </a:br>
            <a:endParaRPr lang="en-US" dirty="0"/>
          </a:p>
        </p:txBody>
      </p:sp>
      <p:sp>
        <p:nvSpPr>
          <p:cNvPr id="8" name="TextBox 7">
            <a:extLst>
              <a:ext uri="{FF2B5EF4-FFF2-40B4-BE49-F238E27FC236}">
                <a16:creationId xmlns:a16="http://schemas.microsoft.com/office/drawing/2014/main" id="{1F9BDA66-FACE-03E0-4823-88C15FE3A696}"/>
              </a:ext>
            </a:extLst>
          </p:cNvPr>
          <p:cNvSpPr txBox="1"/>
          <p:nvPr/>
        </p:nvSpPr>
        <p:spPr>
          <a:xfrm>
            <a:off x="1433185" y="3348306"/>
            <a:ext cx="9880979" cy="1123712"/>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txBody>
          <a:bodyPr wrap="square">
            <a:spAutoFit/>
          </a:bodyPr>
          <a:lstStyle/>
          <a:p>
            <a:r>
              <a:rPr lang="en-US" sz="2800" b="0" i="0" dirty="0">
                <a:solidFill>
                  <a:schemeClr val="tx1"/>
                </a:solidFill>
                <a:effectLst/>
                <a:latin typeface="+mn-lt"/>
              </a:rPr>
              <a:t>Consider and complete the following claim: </a:t>
            </a:r>
            <a:br>
              <a:rPr lang="en-US" sz="1800" b="0" i="0" dirty="0">
                <a:solidFill>
                  <a:schemeClr val="tx1"/>
                </a:solidFill>
                <a:effectLst/>
                <a:latin typeface="+mn-lt"/>
              </a:rPr>
            </a:br>
            <a:endParaRPr lang="en-US" sz="800" b="0" i="0" dirty="0">
              <a:solidFill>
                <a:schemeClr val="tx1"/>
              </a:solidFill>
              <a:effectLst/>
              <a:latin typeface="+mn-lt"/>
            </a:endParaRPr>
          </a:p>
          <a:p>
            <a:r>
              <a:rPr lang="en-US" sz="2400" b="0" i="0" dirty="0">
                <a:solidFill>
                  <a:schemeClr val="tx1"/>
                </a:solidFill>
                <a:effectLst/>
                <a:latin typeface="+mn-lt"/>
              </a:rPr>
              <a:t>“A dataset of one million biometric samples is valuable </a:t>
            </a:r>
            <a:r>
              <a:rPr lang="en-US" sz="2400" b="1" i="0" dirty="0">
                <a:solidFill>
                  <a:schemeClr val="tx1"/>
                </a:solidFill>
                <a:effectLst/>
                <a:latin typeface="+mn-lt"/>
              </a:rPr>
              <a:t>only if</a:t>
            </a:r>
            <a:r>
              <a:rPr lang="en-US" sz="2400" b="0" i="0" dirty="0">
                <a:solidFill>
                  <a:schemeClr val="tx1"/>
                </a:solidFill>
                <a:effectLst/>
                <a:latin typeface="+mn-lt"/>
              </a:rPr>
              <a:t> …”</a:t>
            </a:r>
            <a:endParaRPr lang="en-US" sz="2400" dirty="0"/>
          </a:p>
        </p:txBody>
      </p:sp>
    </p:spTree>
    <p:extLst>
      <p:ext uri="{BB962C8B-B14F-4D97-AF65-F5344CB8AC3E}">
        <p14:creationId xmlns:p14="http://schemas.microsoft.com/office/powerpoint/2010/main" val="369969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BF15-04EC-7EEE-5992-2926019FB3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55FA37-8CED-27B5-59B9-802FB842766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9E336502-AE44-50CC-37D6-7E848CF32325}"/>
              </a:ext>
            </a:extLst>
          </p:cNvPr>
          <p:cNvSpPr txBox="1"/>
          <p:nvPr/>
        </p:nvSpPr>
        <p:spPr>
          <a:xfrm>
            <a:off x="590310" y="1347401"/>
            <a:ext cx="10955866" cy="1600438"/>
          </a:xfrm>
          <a:prstGeom prst="rect">
            <a:avLst/>
          </a:prstGeom>
          <a:noFill/>
        </p:spPr>
        <p:txBody>
          <a:bodyPr wrap="square">
            <a:spAutoFit/>
          </a:bodyPr>
          <a:lstStyle/>
          <a:p>
            <a:r>
              <a:rPr lang="en-US" sz="4000" dirty="0"/>
              <a:t>What problem is addressed?</a:t>
            </a:r>
          </a:p>
          <a:p>
            <a:r>
              <a:rPr lang="en-US" sz="4000" dirty="0"/>
              <a:t>Why?</a:t>
            </a:r>
            <a:br>
              <a:rPr lang="en-US" sz="3200" dirty="0"/>
            </a:br>
            <a:endParaRPr lang="en-US" dirty="0"/>
          </a:p>
        </p:txBody>
      </p:sp>
      <p:sp>
        <p:nvSpPr>
          <p:cNvPr id="2" name="TextBox 1">
            <a:extLst>
              <a:ext uri="{FF2B5EF4-FFF2-40B4-BE49-F238E27FC236}">
                <a16:creationId xmlns:a16="http://schemas.microsoft.com/office/drawing/2014/main" id="{503078D6-E116-5E4C-A4F3-8740195A7F1A}"/>
              </a:ext>
            </a:extLst>
          </p:cNvPr>
          <p:cNvSpPr txBox="1"/>
          <p:nvPr/>
        </p:nvSpPr>
        <p:spPr>
          <a:xfrm>
            <a:off x="570269" y="2879523"/>
            <a:ext cx="10995948" cy="3354765"/>
          </a:xfrm>
          <a:prstGeom prst="rect">
            <a:avLst/>
          </a:prstGeom>
          <a:noFill/>
        </p:spPr>
        <p:txBody>
          <a:bodyPr wrap="square" rtlCol="0">
            <a:spAutoFit/>
          </a:bodyPr>
          <a:lstStyle/>
          <a:p>
            <a:pPr>
              <a:spcAft>
                <a:spcPts val="600"/>
              </a:spcAft>
            </a:pPr>
            <a:r>
              <a:rPr lang="en-US" sz="2400" b="1" dirty="0"/>
              <a:t>Biometric recognition research requires data collections that are</a:t>
            </a:r>
          </a:p>
          <a:p>
            <a:pPr marL="285750" indent="-285750">
              <a:spcAft>
                <a:spcPts val="600"/>
              </a:spcAft>
              <a:buFont typeface="Wingdings" pitchFamily="2" charset="2"/>
              <a:buChar char="q"/>
            </a:pPr>
            <a:r>
              <a:rPr lang="en-US" sz="2400" dirty="0">
                <a:solidFill>
                  <a:srgbClr val="0070C0"/>
                </a:solidFill>
              </a:rPr>
              <a:t> fit for an experimental purpose</a:t>
            </a:r>
            <a:r>
              <a:rPr lang="en-US" sz="2400" dirty="0"/>
              <a:t>, rather than merely large</a:t>
            </a:r>
          </a:p>
          <a:p>
            <a:pPr marL="285750" indent="-285750">
              <a:spcAft>
                <a:spcPts val="600"/>
              </a:spcAft>
              <a:buFont typeface="Wingdings" pitchFamily="2" charset="2"/>
              <a:buChar char="q"/>
            </a:pPr>
            <a:r>
              <a:rPr lang="en-US" sz="2400" dirty="0">
                <a:solidFill>
                  <a:srgbClr val="0070C0"/>
                </a:solidFill>
              </a:rPr>
              <a:t> large/structured</a:t>
            </a:r>
            <a:r>
              <a:rPr lang="en-US" sz="2400" dirty="0"/>
              <a:t> enough to support meaningful error estimates at relevant operating points</a:t>
            </a:r>
          </a:p>
          <a:p>
            <a:pPr marL="285750" indent="-285750">
              <a:spcAft>
                <a:spcPts val="600"/>
              </a:spcAft>
              <a:buFont typeface="Wingdings" pitchFamily="2" charset="2"/>
              <a:buChar char="q"/>
            </a:pPr>
            <a:r>
              <a:rPr lang="en-US" sz="2400" dirty="0">
                <a:solidFill>
                  <a:srgbClr val="0070C0"/>
                </a:solidFill>
              </a:rPr>
              <a:t> </a:t>
            </a:r>
            <a:r>
              <a:rPr lang="en-US" sz="2400" dirty="0"/>
              <a:t>accompanied by </a:t>
            </a:r>
            <a:r>
              <a:rPr lang="en-US" sz="2400" dirty="0">
                <a:solidFill>
                  <a:srgbClr val="0070C0"/>
                </a:solidFill>
              </a:rPr>
              <a:t>metadata</a:t>
            </a:r>
            <a:r>
              <a:rPr lang="en-US" sz="2400" dirty="0"/>
              <a:t> that make variation, failures, and confounds observable</a:t>
            </a:r>
          </a:p>
          <a:p>
            <a:pPr marL="285750" indent="-285750">
              <a:spcAft>
                <a:spcPts val="600"/>
              </a:spcAft>
              <a:buFont typeface="Wingdings" pitchFamily="2" charset="2"/>
              <a:buChar char="q"/>
            </a:pPr>
            <a:r>
              <a:rPr lang="en-US" sz="2400" dirty="0">
                <a:solidFill>
                  <a:srgbClr val="0070C0"/>
                </a:solidFill>
              </a:rPr>
              <a:t> documented</a:t>
            </a:r>
            <a:r>
              <a:rPr lang="en-US" sz="2400" dirty="0"/>
              <a:t> sufficiently for external researcher(s) to understand the protocol and </a:t>
            </a:r>
            <a:r>
              <a:rPr lang="en-US" sz="2400" dirty="0">
                <a:solidFill>
                  <a:srgbClr val="0070C0"/>
                </a:solidFill>
              </a:rPr>
              <a:t>reproduce</a:t>
            </a:r>
            <a:r>
              <a:rPr lang="en-US" sz="2400" dirty="0"/>
              <a:t> the evaluation </a:t>
            </a:r>
          </a:p>
        </p:txBody>
      </p:sp>
    </p:spTree>
    <p:extLst>
      <p:ext uri="{BB962C8B-B14F-4D97-AF65-F5344CB8AC3E}">
        <p14:creationId xmlns:p14="http://schemas.microsoft.com/office/powerpoint/2010/main" val="2847723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831EE-703E-954B-D918-CE258B25CF6C}"/>
            </a:ext>
          </a:extLst>
        </p:cNvPr>
        <p:cNvGrpSpPr/>
        <p:nvPr/>
      </p:nvGrpSpPr>
      <p:grpSpPr>
        <a:xfrm>
          <a:off x="0" y="0"/>
          <a:ext cx="0" cy="0"/>
          <a:chOff x="0" y="0"/>
          <a:chExt cx="0" cy="0"/>
        </a:xfrm>
      </p:grpSpPr>
      <p:pic>
        <p:nvPicPr>
          <p:cNvPr id="20" name="Picture 19" descr="Valid Biometric Collection">
            <a:extLst>
              <a:ext uri="{FF2B5EF4-FFF2-40B4-BE49-F238E27FC236}">
                <a16:creationId xmlns:a16="http://schemas.microsoft.com/office/drawing/2014/main" id="{010AD0AF-A307-7932-EEF1-1569CA26B6A0}"/>
              </a:ext>
            </a:extLst>
          </p:cNvPr>
          <p:cNvPicPr>
            <a:picLocks noChangeAspect="1"/>
          </p:cNvPicPr>
          <p:nvPr/>
        </p:nvPicPr>
        <p:blipFill>
          <a:blip r:embed="rId3"/>
          <a:srcRect l="40481"/>
          <a:stretch>
            <a:fillRect/>
          </a:stretch>
        </p:blipFill>
        <p:spPr>
          <a:xfrm>
            <a:off x="8778758" y="2627412"/>
            <a:ext cx="3205278" cy="3590225"/>
          </a:xfrm>
          <a:prstGeom prst="rect">
            <a:avLst/>
          </a:prstGeom>
        </p:spPr>
      </p:pic>
      <p:sp>
        <p:nvSpPr>
          <p:cNvPr id="4" name="Slide Number Placeholder 3">
            <a:extLst>
              <a:ext uri="{FF2B5EF4-FFF2-40B4-BE49-F238E27FC236}">
                <a16:creationId xmlns:a16="http://schemas.microsoft.com/office/drawing/2014/main" id="{9803643A-002D-5AB0-4CCA-72C173BA128E}"/>
              </a:ext>
            </a:extLst>
          </p:cNvPr>
          <p:cNvSpPr>
            <a:spLocks noGrp="1"/>
          </p:cNvSpPr>
          <p:nvPr>
            <p:ph type="sldNum" sz="quarter" idx="12"/>
          </p:nvPr>
        </p:nvSpPr>
        <p:spPr/>
        <p:txBody>
          <a:bodyPr/>
          <a:lstStyle/>
          <a:p>
            <a:fld id="{659B2F21-D912-7541-8ED2-FD6ABD90B685}" type="slidenum">
              <a:rPr lang="en-US" smtClean="0"/>
              <a:t>22</a:t>
            </a:fld>
            <a:endParaRPr lang="en-US" dirty="0"/>
          </a:p>
        </p:txBody>
      </p:sp>
      <p:sp>
        <p:nvSpPr>
          <p:cNvPr id="5" name="TextBox 4">
            <a:extLst>
              <a:ext uri="{FF2B5EF4-FFF2-40B4-BE49-F238E27FC236}">
                <a16:creationId xmlns:a16="http://schemas.microsoft.com/office/drawing/2014/main" id="{B87FEDC1-F778-BE9F-E9D1-210F3A0D650F}"/>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Design Case Study (Groups)</a:t>
            </a:r>
          </a:p>
        </p:txBody>
      </p:sp>
      <p:sp>
        <p:nvSpPr>
          <p:cNvPr id="7" name="TextBox 6">
            <a:extLst>
              <a:ext uri="{FF2B5EF4-FFF2-40B4-BE49-F238E27FC236}">
                <a16:creationId xmlns:a16="http://schemas.microsoft.com/office/drawing/2014/main" id="{E2FC32E9-6BA7-DF40-4087-DEB3C0ABE470}"/>
              </a:ext>
            </a:extLst>
          </p:cNvPr>
          <p:cNvSpPr txBox="1"/>
          <p:nvPr/>
        </p:nvSpPr>
        <p:spPr>
          <a:xfrm>
            <a:off x="399196" y="2535297"/>
            <a:ext cx="3845258" cy="1354217"/>
          </a:xfrm>
          <a:prstGeom prst="rect">
            <a:avLst/>
          </a:prstGeom>
          <a:noFill/>
        </p:spPr>
        <p:txBody>
          <a:bodyPr wrap="square">
            <a:spAutoFit/>
          </a:bodyPr>
          <a:lstStyle/>
          <a:p>
            <a:pPr>
              <a:spcAft>
                <a:spcPts val="600"/>
              </a:spcAft>
            </a:pPr>
            <a:r>
              <a:rPr lang="en-US" sz="2400" b="1" i="0" dirty="0">
                <a:solidFill>
                  <a:schemeClr val="tx1"/>
                </a:solidFill>
                <a:effectLst/>
                <a:latin typeface="+mn-lt"/>
              </a:rPr>
              <a:t>Group 1 Topics/Questions</a:t>
            </a:r>
          </a:p>
          <a:p>
            <a:pPr marL="342900" indent="-342900">
              <a:spcAft>
                <a:spcPts val="600"/>
              </a:spcAft>
              <a:buFont typeface="+mj-lt"/>
              <a:buAutoNum type="arabicPeriod"/>
            </a:pPr>
            <a:r>
              <a:rPr lang="en-US" sz="2400" b="0" i="0" dirty="0">
                <a:solidFill>
                  <a:schemeClr val="tx1"/>
                </a:solidFill>
                <a:effectLst/>
                <a:latin typeface="+mn-lt"/>
              </a:rPr>
              <a:t>Scientific Validity</a:t>
            </a:r>
          </a:p>
          <a:p>
            <a:pPr marL="342900" indent="-342900">
              <a:spcAft>
                <a:spcPts val="600"/>
              </a:spcAft>
              <a:buFont typeface="+mj-lt"/>
              <a:buAutoNum type="arabicPeriod"/>
            </a:pPr>
            <a:r>
              <a:rPr lang="en-US" sz="2400" dirty="0"/>
              <a:t>Operations</a:t>
            </a:r>
          </a:p>
        </p:txBody>
      </p:sp>
      <p:sp>
        <p:nvSpPr>
          <p:cNvPr id="13" name="TextBox 12">
            <a:extLst>
              <a:ext uri="{FF2B5EF4-FFF2-40B4-BE49-F238E27FC236}">
                <a16:creationId xmlns:a16="http://schemas.microsoft.com/office/drawing/2014/main" id="{0EC4D3F1-F107-FC92-B1A9-AFFE8708BCAA}"/>
              </a:ext>
            </a:extLst>
          </p:cNvPr>
          <p:cNvSpPr txBox="1"/>
          <p:nvPr/>
        </p:nvSpPr>
        <p:spPr>
          <a:xfrm>
            <a:off x="4599295" y="2540712"/>
            <a:ext cx="3845257" cy="1354217"/>
          </a:xfrm>
          <a:prstGeom prst="rect">
            <a:avLst/>
          </a:prstGeom>
          <a:noFill/>
        </p:spPr>
        <p:txBody>
          <a:bodyPr wrap="square">
            <a:spAutoFit/>
          </a:bodyPr>
          <a:lstStyle/>
          <a:p>
            <a:pPr>
              <a:spcAft>
                <a:spcPts val="600"/>
              </a:spcAft>
            </a:pPr>
            <a:r>
              <a:rPr lang="en-US" sz="2400" b="1" i="0" dirty="0">
                <a:solidFill>
                  <a:schemeClr val="tx1"/>
                </a:solidFill>
                <a:effectLst/>
                <a:latin typeface="+mn-lt"/>
              </a:rPr>
              <a:t>Group 2 Topics/Questions</a:t>
            </a:r>
          </a:p>
          <a:p>
            <a:pPr marL="342900" indent="-342900">
              <a:spcAft>
                <a:spcPts val="600"/>
              </a:spcAft>
              <a:buFont typeface="+mj-lt"/>
              <a:buAutoNum type="arabicPeriod"/>
            </a:pPr>
            <a:r>
              <a:rPr lang="en-US" sz="2400" b="0" i="0" dirty="0">
                <a:solidFill>
                  <a:schemeClr val="tx1"/>
                </a:solidFill>
                <a:effectLst/>
                <a:latin typeface="+mn-lt"/>
              </a:rPr>
              <a:t>Statistics</a:t>
            </a:r>
          </a:p>
          <a:p>
            <a:pPr marL="342900" indent="-342900">
              <a:spcAft>
                <a:spcPts val="600"/>
              </a:spcAft>
              <a:buFont typeface="+mj-lt"/>
              <a:buAutoNum type="arabicPeriod"/>
            </a:pPr>
            <a:r>
              <a:rPr lang="en-US" sz="2400" dirty="0"/>
              <a:t>Reusability</a:t>
            </a:r>
          </a:p>
        </p:txBody>
      </p:sp>
      <p:sp>
        <p:nvSpPr>
          <p:cNvPr id="14" name="TextBox 13">
            <a:extLst>
              <a:ext uri="{FF2B5EF4-FFF2-40B4-BE49-F238E27FC236}">
                <a16:creationId xmlns:a16="http://schemas.microsoft.com/office/drawing/2014/main" id="{9CE8E475-6651-BBE2-6F66-368E3C147DA4}"/>
              </a:ext>
            </a:extLst>
          </p:cNvPr>
          <p:cNvSpPr txBox="1"/>
          <p:nvPr/>
        </p:nvSpPr>
        <p:spPr>
          <a:xfrm>
            <a:off x="1149823" y="1668900"/>
            <a:ext cx="9463586" cy="707886"/>
          </a:xfrm>
          <a:prstGeom prst="rect">
            <a:avLst/>
          </a:prstGeom>
          <a:noFill/>
        </p:spPr>
        <p:txBody>
          <a:bodyPr wrap="square" rtlCol="0">
            <a:spAutoFit/>
          </a:bodyPr>
          <a:lstStyle/>
          <a:p>
            <a:r>
              <a:rPr lang="en-US" sz="2000" dirty="0"/>
              <a:t>In groups, open the paper and find at least one observation in the paper that aligns under the following topics… </a:t>
            </a:r>
          </a:p>
        </p:txBody>
      </p:sp>
      <p:sp>
        <p:nvSpPr>
          <p:cNvPr id="18" name="TextBox 17">
            <a:extLst>
              <a:ext uri="{FF2B5EF4-FFF2-40B4-BE49-F238E27FC236}">
                <a16:creationId xmlns:a16="http://schemas.microsoft.com/office/drawing/2014/main" id="{46113CC9-2C6C-AB07-2D99-37D4BAE18B2F}"/>
              </a:ext>
            </a:extLst>
          </p:cNvPr>
          <p:cNvSpPr txBox="1"/>
          <p:nvPr/>
        </p:nvSpPr>
        <p:spPr>
          <a:xfrm>
            <a:off x="399196" y="4230588"/>
            <a:ext cx="4200099" cy="2308324"/>
          </a:xfrm>
          <a:prstGeom prst="rect">
            <a:avLst/>
          </a:prstGeom>
          <a:noFill/>
        </p:spPr>
        <p:txBody>
          <a:bodyPr wrap="square">
            <a:spAutoFit/>
          </a:bodyPr>
          <a:lstStyle/>
          <a:p>
            <a:r>
              <a:rPr lang="en-US" sz="1800" b="1" i="0" dirty="0">
                <a:solidFill>
                  <a:schemeClr val="tx1"/>
                </a:solidFill>
                <a:effectLst/>
                <a:latin typeface="+mn-lt"/>
              </a:rPr>
              <a:t>Scientific Validity</a:t>
            </a:r>
            <a:br>
              <a:rPr lang="en-US" sz="1800" b="0" i="0" dirty="0">
                <a:solidFill>
                  <a:schemeClr val="tx1"/>
                </a:solidFill>
                <a:effectLst/>
                <a:latin typeface="+mn-lt"/>
              </a:rPr>
            </a:br>
            <a:r>
              <a:rPr lang="en-US" sz="1800" b="0" i="0" dirty="0">
                <a:solidFill>
                  <a:schemeClr val="tx1"/>
                </a:solidFill>
                <a:effectLst/>
                <a:latin typeface="+mn-lt"/>
              </a:rPr>
              <a:t>What claim does the collection permit, and what claim does it not permit?</a:t>
            </a:r>
          </a:p>
          <a:p>
            <a:br>
              <a:rPr lang="en-US" b="1" dirty="0"/>
            </a:br>
            <a:r>
              <a:rPr lang="en-US" b="1" dirty="0"/>
              <a:t>Operations</a:t>
            </a:r>
          </a:p>
          <a:p>
            <a:r>
              <a:rPr lang="en-US" dirty="0"/>
              <a:t>What human, hardware, workflow, and quality-control decisions determine what can be collected?</a:t>
            </a:r>
          </a:p>
        </p:txBody>
      </p:sp>
      <p:sp>
        <p:nvSpPr>
          <p:cNvPr id="21" name="TextBox 20">
            <a:extLst>
              <a:ext uri="{FF2B5EF4-FFF2-40B4-BE49-F238E27FC236}">
                <a16:creationId xmlns:a16="http://schemas.microsoft.com/office/drawing/2014/main" id="{DA438DF0-AE06-B6A0-7263-4D7643A9AA53}"/>
              </a:ext>
            </a:extLst>
          </p:cNvPr>
          <p:cNvSpPr txBox="1"/>
          <p:nvPr/>
        </p:nvSpPr>
        <p:spPr>
          <a:xfrm>
            <a:off x="4578659" y="4230588"/>
            <a:ext cx="4200099" cy="2308324"/>
          </a:xfrm>
          <a:prstGeom prst="rect">
            <a:avLst/>
          </a:prstGeom>
          <a:noFill/>
        </p:spPr>
        <p:txBody>
          <a:bodyPr wrap="square">
            <a:spAutoFit/>
          </a:bodyPr>
          <a:lstStyle/>
          <a:p>
            <a:r>
              <a:rPr lang="en-US" sz="1800" b="1" i="0" dirty="0">
                <a:solidFill>
                  <a:schemeClr val="tx1"/>
                </a:solidFill>
                <a:effectLst/>
                <a:latin typeface="+mn-lt"/>
              </a:rPr>
              <a:t>Statistics</a:t>
            </a:r>
            <a:br>
              <a:rPr lang="en-US" sz="1800" b="0" i="0" dirty="0">
                <a:solidFill>
                  <a:schemeClr val="tx1"/>
                </a:solidFill>
                <a:effectLst/>
                <a:latin typeface="+mn-lt"/>
              </a:rPr>
            </a:br>
            <a:r>
              <a:rPr lang="en-US" dirty="0"/>
              <a:t>What are the independent units; where does dependence enter?</a:t>
            </a:r>
          </a:p>
          <a:p>
            <a:br>
              <a:rPr lang="en-US" b="1" dirty="0"/>
            </a:br>
            <a:r>
              <a:rPr lang="en-US" b="1" dirty="0"/>
              <a:t>Reusability</a:t>
            </a:r>
          </a:p>
          <a:p>
            <a:r>
              <a:rPr lang="en-US" dirty="0"/>
              <a:t>Which metadata and documentation enable a future researcher to pose a different valid question?</a:t>
            </a:r>
          </a:p>
        </p:txBody>
      </p:sp>
    </p:spTree>
    <p:extLst>
      <p:ext uri="{BB962C8B-B14F-4D97-AF65-F5344CB8AC3E}">
        <p14:creationId xmlns:p14="http://schemas.microsoft.com/office/powerpoint/2010/main" val="141848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C810-77C3-B76E-68A2-295831212DB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53D453-84A4-4493-038D-4AB360D09181}"/>
              </a:ext>
            </a:extLst>
          </p:cNvPr>
          <p:cNvSpPr>
            <a:spLocks noGrp="1"/>
          </p:cNvSpPr>
          <p:nvPr>
            <p:ph type="sldNum" sz="quarter" idx="12"/>
          </p:nvPr>
        </p:nvSpPr>
        <p:spPr/>
        <p:txBody>
          <a:bodyPr/>
          <a:lstStyle/>
          <a:p>
            <a:fld id="{659B2F21-D912-7541-8ED2-FD6ABD90B685}" type="slidenum">
              <a:rPr lang="en-US" smtClean="0"/>
              <a:t>23</a:t>
            </a:fld>
            <a:endParaRPr lang="en-US"/>
          </a:p>
        </p:txBody>
      </p:sp>
      <p:sp>
        <p:nvSpPr>
          <p:cNvPr id="5" name="TextBox 4">
            <a:extLst>
              <a:ext uri="{FF2B5EF4-FFF2-40B4-BE49-F238E27FC236}">
                <a16:creationId xmlns:a16="http://schemas.microsoft.com/office/drawing/2014/main" id="{9BD64A02-29CD-FB88-8D37-B6B958200AF7}"/>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588D68B2-85A5-9397-4391-381CCF22EE8E}"/>
              </a:ext>
            </a:extLst>
          </p:cNvPr>
          <p:cNvSpPr txBox="1"/>
          <p:nvPr/>
        </p:nvSpPr>
        <p:spPr>
          <a:xfrm>
            <a:off x="610351" y="1532067"/>
            <a:ext cx="10955866" cy="984885"/>
          </a:xfrm>
          <a:prstGeom prst="rect">
            <a:avLst/>
          </a:prstGeom>
          <a:noFill/>
        </p:spPr>
        <p:txBody>
          <a:bodyPr wrap="square">
            <a:spAutoFit/>
          </a:bodyPr>
          <a:lstStyle/>
          <a:p>
            <a:r>
              <a:rPr lang="en-US" sz="4000" dirty="0"/>
              <a:t>What are some key ideas from the paper?</a:t>
            </a:r>
            <a:br>
              <a:rPr lang="en-US" sz="3200" dirty="0"/>
            </a:br>
            <a:endParaRPr lang="en-US" dirty="0"/>
          </a:p>
        </p:txBody>
      </p:sp>
      <p:sp>
        <p:nvSpPr>
          <p:cNvPr id="7" name="TextBox 6">
            <a:extLst>
              <a:ext uri="{FF2B5EF4-FFF2-40B4-BE49-F238E27FC236}">
                <a16:creationId xmlns:a16="http://schemas.microsoft.com/office/drawing/2014/main" id="{8D1E481A-CF6C-9160-1C0A-DF499E616216}"/>
              </a:ext>
            </a:extLst>
          </p:cNvPr>
          <p:cNvSpPr txBox="1"/>
          <p:nvPr/>
        </p:nvSpPr>
        <p:spPr>
          <a:xfrm>
            <a:off x="1085105" y="2855124"/>
            <a:ext cx="10021790" cy="2677656"/>
          </a:xfrm>
          <a:prstGeom prst="rect">
            <a:avLst/>
          </a:prstGeom>
          <a:noFill/>
        </p:spPr>
        <p:txBody>
          <a:bodyPr wrap="square">
            <a:spAutoFit/>
          </a:bodyPr>
          <a:lstStyle/>
          <a:p>
            <a:pPr lvl="0" algn="l"/>
            <a:r>
              <a:rPr lang="en-US" sz="2400" b="1" i="0" dirty="0">
                <a:solidFill>
                  <a:schemeClr val="tx1"/>
                </a:solidFill>
                <a:effectLst/>
                <a:latin typeface="+mn-lt"/>
              </a:rPr>
              <a:t>Core Ideas</a:t>
            </a:r>
          </a:p>
          <a:p>
            <a:pPr marL="342900" lvl="0" indent="-342900" algn="l">
              <a:buFont typeface="Arial" panose="020B0604020202020204" pitchFamily="34" charset="0"/>
              <a:buChar char="•"/>
            </a:pPr>
            <a:r>
              <a:rPr lang="en-US" sz="2400" i="0" dirty="0">
                <a:solidFill>
                  <a:schemeClr val="tx1"/>
                </a:solidFill>
                <a:effectLst/>
                <a:latin typeface="+mn-lt"/>
              </a:rPr>
              <a:t>Collections Enable Independent Evaluation</a:t>
            </a:r>
          </a:p>
          <a:p>
            <a:pPr marL="342900" lvl="0" indent="-342900" algn="l">
              <a:buFont typeface="Arial" panose="020B0604020202020204" pitchFamily="34" charset="0"/>
              <a:buChar char="•"/>
            </a:pPr>
            <a:r>
              <a:rPr lang="en-US" sz="2400" i="0" dirty="0">
                <a:solidFill>
                  <a:schemeClr val="tx1"/>
                </a:solidFill>
                <a:effectLst/>
                <a:latin typeface="+mn-lt"/>
              </a:rPr>
              <a:t>Design Determines What Can Be Claimed</a:t>
            </a:r>
          </a:p>
          <a:p>
            <a:pPr marL="342900" lvl="0" indent="-342900" algn="l">
              <a:buFont typeface="Arial" panose="020B0604020202020204" pitchFamily="34" charset="0"/>
              <a:buChar char="•"/>
            </a:pPr>
            <a:r>
              <a:rPr lang="en-US" sz="2400" i="0" dirty="0">
                <a:solidFill>
                  <a:schemeClr val="tx1"/>
                </a:solidFill>
                <a:effectLst/>
                <a:latin typeface="+mn-lt"/>
              </a:rPr>
              <a:t>Population, Protocol, and Metadata Are Experimental Variables</a:t>
            </a:r>
          </a:p>
          <a:p>
            <a:pPr marL="342900" lvl="0" indent="-342900" algn="l">
              <a:buFont typeface="Arial" panose="020B0604020202020204" pitchFamily="34" charset="0"/>
              <a:buChar char="•"/>
            </a:pPr>
            <a:r>
              <a:rPr lang="en-US" sz="2400" i="0" dirty="0">
                <a:solidFill>
                  <a:schemeClr val="tx1"/>
                </a:solidFill>
                <a:effectLst/>
                <a:latin typeface="+mn-lt"/>
              </a:rPr>
              <a:t>Scale Requires Scientific and Operational Infrastructure</a:t>
            </a:r>
          </a:p>
          <a:p>
            <a:pPr marL="342900" lvl="0" indent="-342900" algn="l">
              <a:buFont typeface="Arial" panose="020B0604020202020204" pitchFamily="34" charset="0"/>
              <a:buChar char="•"/>
            </a:pPr>
            <a:r>
              <a:rPr lang="en-US" sz="2400" i="0" dirty="0">
                <a:solidFill>
                  <a:schemeClr val="tx1"/>
                </a:solidFill>
                <a:effectLst/>
                <a:latin typeface="+mn-lt"/>
              </a:rPr>
              <a:t>Structure and Metadata Enable Diagnosis</a:t>
            </a:r>
          </a:p>
          <a:p>
            <a:pPr marL="342900" lvl="0" indent="-342900" algn="l">
              <a:buFont typeface="Arial" panose="020B0604020202020204" pitchFamily="34" charset="0"/>
              <a:buChar char="•"/>
            </a:pPr>
            <a:r>
              <a:rPr lang="en-US" sz="2400" dirty="0"/>
              <a:t>Lesson: </a:t>
            </a:r>
            <a:r>
              <a:rPr lang="en-US" sz="2400" b="1" i="0" dirty="0">
                <a:solidFill>
                  <a:schemeClr val="tx1"/>
                </a:solidFill>
                <a:effectLst/>
                <a:latin typeface="+mn-lt"/>
              </a:rPr>
              <a:t>Experimental Capability</a:t>
            </a:r>
            <a:r>
              <a:rPr lang="en-US" sz="2400" i="0" dirty="0">
                <a:solidFill>
                  <a:schemeClr val="tx1"/>
                </a:solidFill>
                <a:effectLst/>
                <a:latin typeface="+mn-lt"/>
              </a:rPr>
              <a:t> Matters More Than File Count</a:t>
            </a:r>
            <a:endParaRPr lang="en-US" sz="2400" i="0" dirty="0">
              <a:solidFill>
                <a:srgbClr val="161C24"/>
              </a:solidFill>
              <a:effectLst/>
              <a:latin typeface="-apple-system"/>
            </a:endParaRPr>
          </a:p>
        </p:txBody>
      </p:sp>
    </p:spTree>
    <p:extLst>
      <p:ext uri="{BB962C8B-B14F-4D97-AF65-F5344CB8AC3E}">
        <p14:creationId xmlns:p14="http://schemas.microsoft.com/office/powerpoint/2010/main" val="954452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CD5BB-AF18-420F-6DD4-8E15CB9E705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91BDC4-1CDB-6E03-27F2-DF632E6CB961}"/>
              </a:ext>
            </a:extLst>
          </p:cNvPr>
          <p:cNvSpPr>
            <a:spLocks noGrp="1"/>
          </p:cNvSpPr>
          <p:nvPr>
            <p:ph type="sldNum" sz="quarter" idx="12"/>
          </p:nvPr>
        </p:nvSpPr>
        <p:spPr/>
        <p:txBody>
          <a:bodyPr/>
          <a:lstStyle/>
          <a:p>
            <a:fld id="{659B2F21-D912-7541-8ED2-FD6ABD90B685}" type="slidenum">
              <a:rPr lang="en-US" smtClean="0"/>
              <a:t>24</a:t>
            </a:fld>
            <a:endParaRPr lang="en-US"/>
          </a:p>
        </p:txBody>
      </p:sp>
      <p:sp>
        <p:nvSpPr>
          <p:cNvPr id="5" name="TextBox 4">
            <a:extLst>
              <a:ext uri="{FF2B5EF4-FFF2-40B4-BE49-F238E27FC236}">
                <a16:creationId xmlns:a16="http://schemas.microsoft.com/office/drawing/2014/main" id="{926C7C3C-294F-ABFF-6249-61AFF0CEC91F}"/>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03EF414F-0C74-5212-1A8D-C40D1468B1C8}"/>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BD1E65ED-FDAB-DD4B-2288-97FC6D8A0BEE}"/>
                  </a:ext>
                </a:extLst>
              </p:cNvPr>
              <p:cNvSpPr txBox="1"/>
              <p:nvPr/>
            </p:nvSpPr>
            <p:spPr>
              <a:xfrm>
                <a:off x="658284" y="2169323"/>
                <a:ext cx="11282704" cy="4343625"/>
              </a:xfrm>
              <a:prstGeom prst="rect">
                <a:avLst/>
              </a:prstGeom>
              <a:noFill/>
            </p:spPr>
            <p:txBody>
              <a:bodyPr wrap="square">
                <a:spAutoFit/>
              </a:bodyPr>
              <a:lstStyle/>
              <a:p>
                <a:r>
                  <a:rPr lang="en-US" sz="2400" b="1" dirty="0"/>
                  <a:t>Concept 1 — Sampling Units, Dependence, and What </a:t>
                </a:r>
                <a14:m>
                  <m:oMath xmlns:m="http://schemas.openxmlformats.org/officeDocument/2006/math">
                    <m:r>
                      <a:rPr lang="en-US" sz="2400" b="1" i="1" smtClean="0">
                        <a:latin typeface="Cambria Math" panose="02040503050406030204" pitchFamily="18" charset="0"/>
                      </a:rPr>
                      <m:t>“</m:t>
                    </m:r>
                    <m:r>
                      <a:rPr lang="en-US" sz="2400" b="1" i="1" smtClean="0">
                        <a:latin typeface="Cambria Math" panose="02040503050406030204" pitchFamily="18" charset="0"/>
                      </a:rPr>
                      <m:t>𝑵</m:t>
                    </m:r>
                    <m:r>
                      <a:rPr lang="en-US" sz="2400" b="1" i="1" smtClean="0">
                        <a:latin typeface="Cambria Math" panose="02040503050406030204" pitchFamily="18" charset="0"/>
                      </a:rPr>
                      <m:t>”</m:t>
                    </m:r>
                  </m:oMath>
                </a14:m>
                <a:r>
                  <a:rPr lang="en-US" sz="2400" b="1" dirty="0"/>
                  <a:t> means</a:t>
                </a:r>
                <a:br>
                  <a:rPr lang="en-US" sz="2400" b="1" dirty="0"/>
                </a:br>
                <a:endParaRPr lang="en-US" sz="2400" b="1" dirty="0"/>
              </a:p>
              <a:p>
                <a:r>
                  <a:rPr lang="en-US" sz="2400" dirty="0"/>
                  <a:t>Hierarchical Structure</a:t>
                </a:r>
                <a:br>
                  <a:rPr lang="en-US" sz="2400" dirty="0"/>
                </a:br>
                <a14:m>
                  <m:oMathPara xmlns:m="http://schemas.openxmlformats.org/officeDocument/2006/math">
                    <m:oMath>
                      <m:r>
                        <a:rPr lang="en-US" sz="2400" i="1" dirty="0" smtClean="0">
                          <a:latin typeface="Cambria Math" panose="02040503050406030204" pitchFamily="18" charset="0"/>
                        </a:rPr>
                        <m:t>𝑡𝑎𝑟𝑔𝑒𝑡</m:t>
                      </m:r>
                      <m:r>
                        <a:rPr lang="en-US" sz="2400" i="1" dirty="0">
                          <a:latin typeface="Cambria Math" panose="02040503050406030204" pitchFamily="18" charset="0"/>
                        </a:rPr>
                        <m:t> </m:t>
                      </m:r>
                      <m:r>
                        <a:rPr lang="en-US" sz="2400" i="1" dirty="0" smtClean="0">
                          <a:latin typeface="Cambria Math" panose="02040503050406030204" pitchFamily="18" charset="0"/>
                        </a:rPr>
                        <m:t>𝑝𝑜𝑝𝑢𝑙𝑎𝑡𝑖𝑜</m:t>
                      </m:r>
                      <m:r>
                        <a:rPr lang="en-US" sz="2400" i="1" dirty="0">
                          <a:latin typeface="Cambria Math" panose="02040503050406030204" pitchFamily="18" charset="0"/>
                        </a:rPr>
                        <m:t>𝑛</m:t>
                      </m:r>
                      <m:r>
                        <a:rPr lang="en-US" sz="2400" b="0" i="1" dirty="0" smtClean="0">
                          <a:latin typeface="Cambria Math" panose="02040503050406030204" pitchFamily="18" charset="0"/>
                        </a:rPr>
                        <m:t>⊃</m:t>
                      </m:r>
                      <m:r>
                        <a:rPr lang="en-US" sz="2400" b="0" i="1" dirty="0" smtClean="0">
                          <a:latin typeface="Cambria Math" panose="02040503050406030204" pitchFamily="18" charset="0"/>
                        </a:rPr>
                        <m:t>𝑠𝑢𝑏𝑗𝑒𝑐𝑡𝑠</m:t>
                      </m:r>
                      <m:r>
                        <a:rPr lang="en-US" sz="2400" b="0" i="1" dirty="0" smtClean="0">
                          <a:latin typeface="Cambria Math" panose="02040503050406030204" pitchFamily="18" charset="0"/>
                        </a:rPr>
                        <m:t>⊃</m:t>
                      </m:r>
                      <m:r>
                        <a:rPr lang="en-US" sz="2400" b="0" i="1" dirty="0" smtClean="0">
                          <a:latin typeface="Cambria Math" panose="02040503050406030204" pitchFamily="18" charset="0"/>
                        </a:rPr>
                        <m:t>𝑠𝑒𝑠𝑠𝑖𝑜𝑛𝑠</m:t>
                      </m:r>
                      <m:r>
                        <a:rPr lang="en-US" sz="2400" b="0" i="1" dirty="0" smtClean="0">
                          <a:latin typeface="Cambria Math" panose="02040503050406030204" pitchFamily="18" charset="0"/>
                        </a:rPr>
                        <m:t>⊃</m:t>
                      </m:r>
                      <m:r>
                        <a:rPr lang="en-US" sz="2400" b="0" i="1" dirty="0" smtClean="0">
                          <a:latin typeface="Cambria Math" panose="02040503050406030204" pitchFamily="18" charset="0"/>
                        </a:rPr>
                        <m:t>𝑐𝑎𝑝𝑡𝑢𝑟𝑒𝑠</m:t>
                      </m:r>
                      <m:r>
                        <a:rPr lang="en-US" sz="2400" b="0" i="1" dirty="0" smtClean="0">
                          <a:latin typeface="Cambria Math" panose="02040503050406030204" pitchFamily="18" charset="0"/>
                        </a:rPr>
                        <m:t>⊃</m:t>
                      </m:r>
                      <m:r>
                        <a:rPr lang="en-US" sz="2400" b="0" i="1" dirty="0" smtClean="0">
                          <a:latin typeface="Cambria Math" panose="02040503050406030204" pitchFamily="18" charset="0"/>
                        </a:rPr>
                        <m:t>𝑠𝑎𝑚𝑝𝑙𝑒𝑠</m:t>
                      </m:r>
                      <m:r>
                        <a:rPr lang="en-US" sz="2400" b="0" i="1" dirty="0" smtClean="0">
                          <a:latin typeface="Cambria Math" panose="02040503050406030204" pitchFamily="18" charset="0"/>
                        </a:rPr>
                        <m:t>/</m:t>
                      </m:r>
                      <m:r>
                        <a:rPr lang="en-US" sz="2400" b="0" i="1" dirty="0" smtClean="0">
                          <a:latin typeface="Cambria Math" panose="02040503050406030204" pitchFamily="18" charset="0"/>
                        </a:rPr>
                        <m:t>𝑐𝑜𝑚𝑝𝑎𝑟𝑖𝑠𝑜𝑛𝑠</m:t>
                      </m:r>
                    </m:oMath>
                  </m:oMathPara>
                </a14:m>
                <a:endParaRPr lang="en-US" sz="2400" b="0" i="1" dirty="0">
                  <a:latin typeface="Cambria Math" panose="02040503050406030204" pitchFamily="18" charset="0"/>
                </a:endParaRPr>
              </a:p>
              <a:p>
                <a:endParaRPr lang="en-US" sz="2400" dirty="0"/>
              </a:p>
              <a:p>
                <a:pPr marL="285750" lvl="0" indent="-285750">
                  <a:buFont typeface="Wingdings"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m:rPr>
                            <m:nor/>
                          </m:rPr>
                          <a:rPr lang="en-US" sz="2400"/>
                          <m:t>subjects</m:t>
                        </m:r>
                      </m:sub>
                    </m:sSub>
                  </m:oMath>
                </a14:m>
                <a:r>
                  <a:rPr lang="en-US" sz="2400" dirty="0"/>
                  <a:t>—breadth over people,</a:t>
                </a:r>
              </a:p>
              <a:p>
                <a:pPr marL="285750" lvl="0" indent="-285750">
                  <a:buFont typeface="Wingdings"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m:rPr>
                            <m:nor/>
                          </m:rPr>
                          <a:rPr lang="en-US" sz="2400"/>
                          <m:t>sessions</m:t>
                        </m:r>
                      </m:sub>
                    </m:sSub>
                    <m:r>
                      <a:rPr lang="en-US" sz="2400">
                        <a:latin typeface="Cambria Math" panose="02040503050406030204" pitchFamily="18" charset="0"/>
                      </a:rPr>
                      <m:t>—</m:t>
                    </m:r>
                  </m:oMath>
                </a14:m>
                <a:r>
                  <a:rPr lang="en-US" sz="2400" dirty="0"/>
                  <a:t>evidence about time and repeat acquisition,</a:t>
                </a:r>
              </a:p>
              <a:p>
                <a:pPr marL="285750" lvl="0" indent="-285750">
                  <a:buFont typeface="Wingdings"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m:rPr>
                            <m:nor/>
                          </m:rPr>
                          <a:rPr lang="en-US" sz="2400"/>
                          <m:t>captures</m:t>
                        </m:r>
                      </m:sub>
                    </m:sSub>
                    <m:r>
                      <a:rPr lang="en-US" sz="2400">
                        <a:latin typeface="Cambria Math" panose="02040503050406030204" pitchFamily="18" charset="0"/>
                      </a:rPr>
                      <m:t>—</m:t>
                    </m:r>
                  </m:oMath>
                </a14:m>
                <a:r>
                  <a:rPr lang="en-US" sz="2400" dirty="0"/>
                  <a:t>within-session/image variation,</a:t>
                </a:r>
              </a:p>
              <a:p>
                <a:pPr marL="285750" lvl="0" indent="-285750">
                  <a:buFont typeface="Wingdings"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m:rPr>
                            <m:nor/>
                          </m:rPr>
                          <a:rPr lang="en-US" sz="2400"/>
                          <m:t>comparisons</m:t>
                        </m:r>
                      </m:sub>
                    </m:sSub>
                    <m:r>
                      <a:rPr lang="en-US" sz="2400">
                        <a:latin typeface="Cambria Math" panose="02040503050406030204" pitchFamily="18" charset="0"/>
                      </a:rPr>
                      <m:t>—</m:t>
                    </m:r>
                  </m:oMath>
                </a14:m>
                <a:r>
                  <a:rPr lang="en-US" sz="2400" dirty="0"/>
                  <a:t>computational score trials, usually highly dependent.</a:t>
                </a:r>
              </a:p>
              <a:p>
                <a:endParaRPr lang="en-US" sz="2400" i="1" dirty="0">
                  <a:latin typeface="Cambria Math" panose="02040503050406030204" pitchFamily="18" charset="0"/>
                </a:endParaRPr>
              </a:p>
              <a:p>
                <a14:m/>
              </a:p>
            </p:txBody>
          </p:sp>
        </mc:Choice>
        <mc:Fallback>
          <p:sp>
            <p:nvSpPr>
              <p:cNvPr id="10" name="TextBox 9">
                <a:extLst>
                  <a:ext uri="{FF2B5EF4-FFF2-40B4-BE49-F238E27FC236}">
                    <a16:creationId xmlns:a16="http://schemas.microsoft.com/office/drawing/2014/main" id="{BD1E65ED-FDAB-DD4B-2288-97FC6D8A0BEE}"/>
                  </a:ext>
                </a:extLst>
              </p:cNvPr>
              <p:cNvSpPr txBox="1">
                <a:spLocks noRot="1" noChangeAspect="1" noMove="1" noResize="1" noEditPoints="1" noAdjustHandles="1" noChangeArrowheads="1" noChangeShapeType="1" noTextEdit="1"/>
              </p:cNvSpPr>
              <p:nvPr/>
            </p:nvSpPr>
            <p:spPr>
              <a:xfrm>
                <a:off x="658284" y="2169323"/>
                <a:ext cx="11282704" cy="4343625"/>
              </a:xfrm>
              <a:prstGeom prst="rect">
                <a:avLst/>
              </a:prstGeom>
              <a:blipFill>
                <a:blip r:embed="rId3"/>
                <a:stretch>
                  <a:fillRect l="-787" t="-875" b="-2332"/>
                </a:stretch>
              </a:blipFill>
            </p:spPr>
            <p:txBody>
              <a:bodyPr/>
              <a:lstStyle/>
              <a:p>
                <a:r>
                  <a:rPr lang="en-US">
                    <a:noFill/>
                  </a:rPr>
                  <a:t> </a:t>
                </a:r>
              </a:p>
            </p:txBody>
          </p:sp>
        </mc:Fallback>
      </mc:AlternateContent>
    </p:spTree>
    <p:extLst>
      <p:ext uri="{BB962C8B-B14F-4D97-AF65-F5344CB8AC3E}">
        <p14:creationId xmlns:p14="http://schemas.microsoft.com/office/powerpoint/2010/main" val="4165591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5C926-2AD2-38F1-DFA3-D407624218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0030DD-D8DF-54A2-E95F-7033A1F416F7}"/>
              </a:ext>
            </a:extLst>
          </p:cNvPr>
          <p:cNvSpPr>
            <a:spLocks noGrp="1"/>
          </p:cNvSpPr>
          <p:nvPr>
            <p:ph type="sldNum" sz="quarter" idx="12"/>
          </p:nvPr>
        </p:nvSpPr>
        <p:spPr/>
        <p:txBody>
          <a:bodyPr/>
          <a:lstStyle/>
          <a:p>
            <a:fld id="{659B2F21-D912-7541-8ED2-FD6ABD90B685}" type="slidenum">
              <a:rPr lang="en-US" smtClean="0"/>
              <a:t>25</a:t>
            </a:fld>
            <a:endParaRPr lang="en-US"/>
          </a:p>
        </p:txBody>
      </p:sp>
      <p:sp>
        <p:nvSpPr>
          <p:cNvPr id="5" name="TextBox 4">
            <a:extLst>
              <a:ext uri="{FF2B5EF4-FFF2-40B4-BE49-F238E27FC236}">
                <a16:creationId xmlns:a16="http://schemas.microsoft.com/office/drawing/2014/main" id="{3CB94DA1-0785-CB39-2B45-C61BC2F8170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10" name="TextBox 9">
            <a:extLst>
              <a:ext uri="{FF2B5EF4-FFF2-40B4-BE49-F238E27FC236}">
                <a16:creationId xmlns:a16="http://schemas.microsoft.com/office/drawing/2014/main" id="{82B29044-6F3B-9DBF-D026-A9855922F7A6}"/>
              </a:ext>
            </a:extLst>
          </p:cNvPr>
          <p:cNvSpPr txBox="1"/>
          <p:nvPr/>
        </p:nvSpPr>
        <p:spPr>
          <a:xfrm>
            <a:off x="590310" y="1458496"/>
            <a:ext cx="11282704" cy="5262979"/>
          </a:xfrm>
          <a:prstGeom prst="rect">
            <a:avLst/>
          </a:prstGeom>
          <a:noFill/>
        </p:spPr>
        <p:txBody>
          <a:bodyPr wrap="square">
            <a:spAutoFit/>
          </a:bodyPr>
          <a:lstStyle/>
          <a:p>
            <a:r>
              <a:rPr lang="en-US" sz="2400" b="1" dirty="0">
                <a:latin typeface="Cambria Math" panose="02040503050406030204" pitchFamily="18" charset="0"/>
              </a:rPr>
              <a:t>Example</a:t>
            </a:r>
            <a:r>
              <a:rPr lang="en-US" sz="2400" i="1" dirty="0">
                <a:latin typeface="Cambria Math" panose="02040503050406030204" pitchFamily="18" charset="0"/>
              </a:rPr>
              <a:t> </a:t>
            </a:r>
            <a:br>
              <a:rPr lang="en-US" sz="2400" i="1" dirty="0">
                <a:latin typeface="Cambria Math" panose="02040503050406030204" pitchFamily="18" charset="0"/>
              </a:rPr>
            </a:br>
            <a:r>
              <a:rPr lang="en-US" sz="2400" dirty="0"/>
              <a:t>Two collections each contain </a:t>
            </a:r>
            <a:r>
              <a:rPr lang="en-US" sz="2400" i="1" dirty="0"/>
              <a:t>100,000</a:t>
            </a:r>
            <a:r>
              <a:rPr lang="en-US" sz="2400" dirty="0"/>
              <a:t> face images. </a:t>
            </a:r>
            <a:br>
              <a:rPr lang="en-US" sz="2400" dirty="0"/>
            </a:br>
            <a:br>
              <a:rPr lang="en-US" sz="2400" dirty="0"/>
            </a:br>
            <a:r>
              <a:rPr lang="en-US" sz="2400" dirty="0"/>
              <a:t>Collection A contains 10 images each from 10,000 subjects in one session. Collection B contains 1,000 images each from 100 subjects over ten sessions. </a:t>
            </a:r>
            <a:br>
              <a:rPr lang="en-US" sz="2400" dirty="0"/>
            </a:br>
            <a:br>
              <a:rPr lang="en-US" sz="2400" dirty="0"/>
            </a:br>
            <a:r>
              <a:rPr lang="en-US" sz="2400" dirty="0"/>
              <a:t>Which collection better supports:</a:t>
            </a:r>
          </a:p>
          <a:p>
            <a:pPr marL="457200" indent="-457200">
              <a:buFont typeface="+mj-lt"/>
              <a:buAutoNum type="alphaLcParenR"/>
            </a:pPr>
            <a:r>
              <a:rPr lang="en-US" sz="2400" dirty="0"/>
              <a:t>recognition of unseen people,</a:t>
            </a:r>
          </a:p>
          <a:p>
            <a:pPr marL="457200" indent="-457200">
              <a:buFont typeface="+mj-lt"/>
              <a:buAutoNum type="alphaLcParenR"/>
            </a:pPr>
            <a:r>
              <a:rPr lang="en-US" sz="2400" dirty="0"/>
              <a:t>longitudinal robustness, </a:t>
            </a:r>
          </a:p>
          <a:p>
            <a:pPr marL="457200" indent="-457200">
              <a:buFont typeface="+mj-lt"/>
              <a:buAutoNum type="alphaLcParenR"/>
            </a:pPr>
            <a:r>
              <a:rPr lang="en-US" sz="2400" dirty="0"/>
              <a:t>precision at a stringent false-match operating point? </a:t>
            </a:r>
          </a:p>
          <a:p>
            <a:endParaRPr lang="en-US" sz="2400" dirty="0"/>
          </a:p>
          <a:p>
            <a:r>
              <a:rPr lang="en-US" sz="2400" dirty="0"/>
              <a:t>What additional protocol details do you need before deciding?</a:t>
            </a:r>
            <a:endParaRPr lang="en-US" sz="2400" i="1" dirty="0">
              <a:latin typeface="Cambria Math" panose="02040503050406030204" pitchFamily="18" charset="0"/>
            </a:endParaRPr>
          </a:p>
          <a:p>
            <a:endParaRPr lang="en-US" sz="2400" i="1" dirty="0">
              <a:latin typeface="Cambria Math" panose="02040503050406030204" pitchFamily="18" charset="0"/>
            </a:endParaRPr>
          </a:p>
          <a:p>
            <a:endParaRPr lang="en-US" sz="2400" i="1" dirty="0">
              <a:latin typeface="Cambria Math" panose="02040503050406030204" pitchFamily="18" charset="0"/>
            </a:endParaRPr>
          </a:p>
        </p:txBody>
      </p:sp>
    </p:spTree>
    <p:extLst>
      <p:ext uri="{BB962C8B-B14F-4D97-AF65-F5344CB8AC3E}">
        <p14:creationId xmlns:p14="http://schemas.microsoft.com/office/powerpoint/2010/main" val="793843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04133-A379-84C2-38D3-48071E9FC8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EF6C0A-3E4F-1801-DDE6-935E0B415E66}"/>
              </a:ext>
            </a:extLst>
          </p:cNvPr>
          <p:cNvSpPr>
            <a:spLocks noGrp="1"/>
          </p:cNvSpPr>
          <p:nvPr>
            <p:ph type="sldNum" sz="quarter" idx="12"/>
          </p:nvPr>
        </p:nvSpPr>
        <p:spPr/>
        <p:txBody>
          <a:bodyPr/>
          <a:lstStyle/>
          <a:p>
            <a:fld id="{659B2F21-D912-7541-8ED2-FD6ABD90B685}" type="slidenum">
              <a:rPr lang="en-US" smtClean="0"/>
              <a:t>26</a:t>
            </a:fld>
            <a:endParaRPr lang="en-US"/>
          </a:p>
        </p:txBody>
      </p:sp>
      <p:sp>
        <p:nvSpPr>
          <p:cNvPr id="5" name="TextBox 4">
            <a:extLst>
              <a:ext uri="{FF2B5EF4-FFF2-40B4-BE49-F238E27FC236}">
                <a16:creationId xmlns:a16="http://schemas.microsoft.com/office/drawing/2014/main" id="{3708FABA-4937-291E-67D3-CE4690C2D80B}"/>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DB6BE04B-FC58-3274-D938-EF31D75129B7}"/>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p:sp>
        <p:nvSpPr>
          <p:cNvPr id="10" name="TextBox 9">
            <a:extLst>
              <a:ext uri="{FF2B5EF4-FFF2-40B4-BE49-F238E27FC236}">
                <a16:creationId xmlns:a16="http://schemas.microsoft.com/office/drawing/2014/main" id="{EEE21AAF-A09A-DD42-E795-A68BFB80618A}"/>
              </a:ext>
            </a:extLst>
          </p:cNvPr>
          <p:cNvSpPr txBox="1"/>
          <p:nvPr/>
        </p:nvSpPr>
        <p:spPr>
          <a:xfrm>
            <a:off x="658284" y="2169323"/>
            <a:ext cx="5437716" cy="4416594"/>
          </a:xfrm>
          <a:prstGeom prst="rect">
            <a:avLst/>
          </a:prstGeom>
          <a:noFill/>
        </p:spPr>
        <p:txBody>
          <a:bodyPr wrap="square">
            <a:spAutoFit/>
          </a:bodyPr>
          <a:lstStyle/>
          <a:p>
            <a:pPr>
              <a:spcAft>
                <a:spcPts val="600"/>
              </a:spcAft>
            </a:pPr>
            <a:r>
              <a:rPr lang="en-US" sz="2400" b="1" dirty="0"/>
              <a:t>Concept 2 — Acquisition protocol turns nuisance variation into measurable variables</a:t>
            </a:r>
            <a:endParaRPr lang="en-US" sz="2400" dirty="0"/>
          </a:p>
          <a:p>
            <a:r>
              <a:rPr lang="en-US" sz="2000" b="1" dirty="0"/>
              <a:t>Core Distinction</a:t>
            </a:r>
          </a:p>
          <a:p>
            <a:r>
              <a:rPr lang="en-US" sz="2000" dirty="0"/>
              <a:t>A collection protocol can either:</a:t>
            </a:r>
          </a:p>
          <a:p>
            <a:pPr marL="285750" lvl="0" indent="-285750">
              <a:buFont typeface="Arial" panose="020B0604020202020204" pitchFamily="34" charset="0"/>
              <a:buChar char="•"/>
            </a:pPr>
            <a:r>
              <a:rPr lang="en-US" sz="2000" b="1" dirty="0"/>
              <a:t>control</a:t>
            </a:r>
            <a:r>
              <a:rPr lang="en-US" sz="2000" dirty="0"/>
              <a:t> a factor to isolate a causal/algorithmic question, or</a:t>
            </a:r>
          </a:p>
          <a:p>
            <a:pPr marL="285750" lvl="0" indent="-285750">
              <a:buFont typeface="Arial" panose="020B0604020202020204" pitchFamily="34" charset="0"/>
              <a:buChar char="•"/>
            </a:pPr>
            <a:r>
              <a:rPr lang="en-US" sz="2000" b="1" dirty="0"/>
              <a:t>vary and record</a:t>
            </a:r>
            <a:r>
              <a:rPr lang="en-US" sz="2000" dirty="0"/>
              <a:t> a factor to measure robustness under realistic conditions.</a:t>
            </a:r>
          </a:p>
          <a:p>
            <a:endParaRPr lang="en-US" sz="2000" dirty="0"/>
          </a:p>
          <a:p>
            <a:r>
              <a:rPr lang="en-US" sz="2000" i="1" dirty="0">
                <a:solidFill>
                  <a:srgbClr val="0070C0"/>
                </a:solidFill>
              </a:rPr>
              <a:t>Neither is universally better. </a:t>
            </a:r>
            <a:r>
              <a:rPr lang="en-US" sz="2000" dirty="0"/>
              <a:t>The decision must follow the research question.</a:t>
            </a:r>
          </a:p>
          <a:p>
            <a:endParaRPr lang="en-US" sz="2400"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0D0165F-2168-0133-2C6E-FCF3C4F35104}"/>
                  </a:ext>
                </a:extLst>
              </p:cNvPr>
              <p:cNvSpPr txBox="1"/>
              <p:nvPr/>
            </p:nvSpPr>
            <p:spPr>
              <a:xfrm>
                <a:off x="6290983" y="1193895"/>
                <a:ext cx="6098240" cy="5262979"/>
              </a:xfrm>
              <a:prstGeom prst="rect">
                <a:avLst/>
              </a:prstGeom>
              <a:noFill/>
            </p:spPr>
            <p:txBody>
              <a:bodyPr wrap="square">
                <a:spAutoFit/>
              </a:bodyPr>
              <a:lstStyle/>
              <a:p>
                <a:pPr indent="0" algn="l">
                  <a:buNone/>
                </a:pPr>
                <a:r>
                  <a:rPr lang="en-US" sz="2000" b="1" i="0" dirty="0">
                    <a:solidFill>
                      <a:schemeClr val="tx1"/>
                    </a:solidFill>
                    <a:effectLst/>
                    <a:latin typeface="+mn-lt"/>
                  </a:rPr>
                  <a:t>Conceptual Model</a:t>
                </a:r>
              </a:p>
              <a:p>
                <a:pPr indent="0" algn="l">
                  <a:buNone/>
                </a:pPr>
                <a:endParaRPr lang="en-US" sz="2000" b="1" i="0" dirty="0">
                  <a:solidFill>
                    <a:schemeClr val="tx1"/>
                  </a:solidFill>
                  <a:effectLst/>
                  <a:latin typeface="+mn-lt"/>
                </a:endParaRPr>
              </a:p>
              <a:p>
                <a:pPr indent="0" algn="l">
                  <a:buNone/>
                </a:pPr>
                <a14:m>
                  <m:oMathPara xmlns:m="http://schemas.openxmlformats.org/officeDocument/2006/math">
                    <m:oMath>
                      <m:r>
                        <a:rPr lang="en-US" sz="2400" i="1"/>
                        <m:t>𝑥</m:t>
                      </m:r>
                      <m:r>
                        <a:rPr lang="en-US" sz="2400" i="0"/>
                        <m:t>=</m:t>
                      </m:r>
                      <m:r>
                        <a:rPr lang="en-US" sz="2400" b="0" i="1" smtClean="0">
                          <a:latin typeface="Cambria Math" panose="02040503050406030204" pitchFamily="18" charset="0"/>
                        </a:rPr>
                        <m:t>𝑓</m:t>
                      </m:r>
                      <m:d>
                        <m:dPr>
                          <m:sepChr m:val=","/>
                          <m:ctrlPr>
                            <a:rPr lang="en-US" sz="2400" i="1"/>
                          </m:ctrlPr>
                        </m:dPr>
                        <m:e>
                          <m:r>
                            <a:rPr lang="en-US" sz="2400" i="1"/>
                            <m:t>𝑖</m:t>
                          </m:r>
                        </m:e>
                        <m:e>
                          <m:r>
                            <a:rPr lang="en-US" sz="2400" i="1"/>
                            <m:t>𝑎</m:t>
                          </m:r>
                        </m:e>
                        <m:e>
                          <m:r>
                            <a:rPr lang="en-US" sz="2400" i="1"/>
                            <m:t>𝑠</m:t>
                          </m:r>
                        </m:e>
                        <m:e>
                          <m:r>
                            <a:rPr lang="en-US" sz="2400" i="1"/>
                            <m:t>𝑒</m:t>
                          </m:r>
                        </m:e>
                        <m:e>
                          <m:r>
                            <a:rPr lang="en-US" sz="2400" i="1"/>
                            <m:t>𝑡</m:t>
                          </m:r>
                        </m:e>
                        <m:e>
                          <m:r>
                            <a:rPr lang="en-US" sz="2400" i="1"/>
                            <m:t>𝑜</m:t>
                          </m:r>
                        </m:e>
                        <m:e>
                          <m:r>
                            <a:rPr lang="en-US" sz="2400" i="1"/>
                            <m:t>𝜀</m:t>
                          </m:r>
                        </m:e>
                      </m:d>
                    </m:oMath>
                  </m:oMathPara>
                </a14:m>
                <a:endParaRPr lang="en-US" sz="2400" b="0" i="0" dirty="0">
                  <a:solidFill>
                    <a:schemeClr val="tx1"/>
                  </a:solidFill>
                  <a:effectLst/>
                </a:endParaRPr>
              </a:p>
              <a:p>
                <a:pPr indent="0" algn="l">
                  <a:buNone/>
                </a:pPr>
                <a:endParaRPr lang="en-US" sz="2400" b="0" i="0" dirty="0">
                  <a:solidFill>
                    <a:schemeClr val="tx1"/>
                  </a:solidFill>
                  <a:effectLst/>
                </a:endParaRPr>
              </a:p>
              <a:p>
                <a:pPr indent="0" algn="l">
                  <a:buNone/>
                </a:pPr>
                <a:r>
                  <a:rPr lang="en-US" sz="2000" b="0" i="0" dirty="0">
                    <a:solidFill>
                      <a:schemeClr val="tx1"/>
                    </a:solidFill>
                    <a:effectLst/>
                    <a:latin typeface="+mn-lt"/>
                  </a:rPr>
                  <a:t> </a:t>
                </a:r>
                <a14:m>
                  <m:oMath xmlns:m="http://schemas.openxmlformats.org/officeDocument/2006/math">
                    <m:r>
                      <a:rPr lang="en-US" sz="2000" i="1">
                        <a:latin typeface="+mn-lt"/>
                      </a:rPr>
                      <m:t>𝑖</m:t>
                    </m:r>
                  </m:oMath>
                </a14:m>
                <a:r>
                  <a:rPr lang="en-US" sz="2000" b="0" i="0" dirty="0">
                    <a:solidFill>
                      <a:schemeClr val="tx1"/>
                    </a:solidFill>
                    <a:effectLst/>
                    <a:latin typeface="+mn-lt"/>
                  </a:rPr>
                  <a:t> — identity, </a:t>
                </a:r>
                <a:br>
                  <a:rPr lang="en-US" sz="2000" b="0" i="0" dirty="0">
                    <a:solidFill>
                      <a:schemeClr val="tx1"/>
                    </a:solidFill>
                    <a:effectLst/>
                    <a:latin typeface="+mn-lt"/>
                  </a:rPr>
                </a:br>
                <a14:m>
                  <m:oMath xmlns:m="http://schemas.openxmlformats.org/officeDocument/2006/math">
                    <m:r>
                      <a:rPr lang="en-US" sz="2000" i="1">
                        <a:latin typeface="+mn-lt"/>
                      </a:rPr>
                      <m:t>𝑎</m:t>
                    </m:r>
                  </m:oMath>
                </a14:m>
                <a:r>
                  <a:rPr lang="en-US" sz="2000" b="0" i="0" dirty="0">
                    <a:solidFill>
                      <a:schemeClr val="tx1"/>
                    </a:solidFill>
                    <a:effectLst/>
                    <a:latin typeface="+mn-lt"/>
                  </a:rPr>
                  <a:t> — appearance/physiology, </a:t>
                </a:r>
                <a:br>
                  <a:rPr lang="en-US" sz="2000" b="0" i="0" dirty="0">
                    <a:solidFill>
                      <a:schemeClr val="tx1"/>
                    </a:solidFill>
                    <a:effectLst/>
                    <a:latin typeface="+mn-lt"/>
                  </a:rPr>
                </a:br>
                <a14:m>
                  <m:oMath xmlns:m="http://schemas.openxmlformats.org/officeDocument/2006/math">
                    <m:r>
                      <a:rPr lang="en-US" sz="2000" i="1">
                        <a:latin typeface="+mn-lt"/>
                      </a:rPr>
                      <m:t>𝑠</m:t>
                    </m:r>
                  </m:oMath>
                </a14:m>
                <a:r>
                  <a:rPr lang="en-US" sz="2000" b="0" i="0" dirty="0">
                    <a:solidFill>
                      <a:schemeClr val="tx1"/>
                    </a:solidFill>
                    <a:effectLst/>
                    <a:latin typeface="+mn-lt"/>
                  </a:rPr>
                  <a:t> — sensor, </a:t>
                </a:r>
                <a:br>
                  <a:rPr lang="en-US" sz="2000" b="0" i="0" dirty="0">
                    <a:solidFill>
                      <a:schemeClr val="tx1"/>
                    </a:solidFill>
                    <a:effectLst/>
                    <a:latin typeface="+mn-lt"/>
                  </a:rPr>
                </a:br>
                <a14:m>
                  <m:oMath xmlns:m="http://schemas.openxmlformats.org/officeDocument/2006/math">
                    <m:r>
                      <a:rPr lang="en-US" sz="2000" i="1">
                        <a:latin typeface="+mn-lt"/>
                      </a:rPr>
                      <m:t>𝑒</m:t>
                    </m:r>
                  </m:oMath>
                </a14:m>
                <a:r>
                  <a:rPr lang="en-US" sz="2000" b="0" i="0" dirty="0">
                    <a:solidFill>
                      <a:schemeClr val="tx1"/>
                    </a:solidFill>
                    <a:effectLst/>
                    <a:latin typeface="+mn-lt"/>
                  </a:rPr>
                  <a:t> — environment, </a:t>
                </a:r>
                <a:br>
                  <a:rPr lang="en-US" sz="2000" b="0" i="0" dirty="0">
                    <a:solidFill>
                      <a:schemeClr val="tx1"/>
                    </a:solidFill>
                    <a:effectLst/>
                    <a:latin typeface="+mn-lt"/>
                  </a:rPr>
                </a:br>
                <a14:m>
                  <m:oMath xmlns:m="http://schemas.openxmlformats.org/officeDocument/2006/math">
                    <m:r>
                      <a:rPr lang="en-US" sz="2000" i="1">
                        <a:latin typeface="+mn-lt"/>
                      </a:rPr>
                      <m:t>𝑡</m:t>
                    </m:r>
                  </m:oMath>
                </a14:m>
                <a:r>
                  <a:rPr lang="en-US" sz="2000" b="0" i="0" dirty="0">
                    <a:solidFill>
                      <a:schemeClr val="tx1"/>
                    </a:solidFill>
                    <a:effectLst/>
                    <a:latin typeface="+mn-lt"/>
                  </a:rPr>
                  <a:t> — time, </a:t>
                </a:r>
                <a:br>
                  <a:rPr lang="en-US" sz="2000" i="1" dirty="0">
                    <a:latin typeface="+mn-lt"/>
                  </a:rPr>
                </a:br>
                <a14:m>
                  <m:oMath xmlns:m="http://schemas.openxmlformats.org/officeDocument/2006/math">
                    <m:r>
                      <a:rPr lang="en-US" sz="2000" i="1">
                        <a:latin typeface="+mn-lt"/>
                      </a:rPr>
                      <m:t>𝑜</m:t>
                    </m:r>
                  </m:oMath>
                </a14:m>
                <a:r>
                  <a:rPr lang="en-US" sz="2000" b="0" i="0" dirty="0">
                    <a:solidFill>
                      <a:schemeClr val="tx1"/>
                    </a:solidFill>
                    <a:effectLst/>
                    <a:latin typeface="+mn-lt"/>
                  </a:rPr>
                  <a:t> — operator/protocol behavior, </a:t>
                </a:r>
                <a:br>
                  <a:rPr lang="en-US" sz="2000" i="1" dirty="0">
                    <a:latin typeface="+mn-lt"/>
                  </a:rPr>
                </a:br>
                <a14:m>
                  <m:oMath xmlns:m="http://schemas.openxmlformats.org/officeDocument/2006/math">
                    <m:r>
                      <a:rPr lang="en-US" sz="2000" i="1">
                        <a:latin typeface="+mn-lt"/>
                      </a:rPr>
                      <m:t>𝜀</m:t>
                    </m:r>
                  </m:oMath>
                </a14:m>
                <a:r>
                  <a:rPr lang="en-US" sz="2000" b="0" i="0" dirty="0">
                    <a:solidFill>
                      <a:schemeClr val="tx1"/>
                    </a:solidFill>
                    <a:effectLst/>
                    <a:latin typeface="+mn-lt"/>
                  </a:rPr>
                  <a:t> — residual noise.</a:t>
                </a:r>
                <a:endParaRPr lang="en-US" sz="1800" b="0" i="0" dirty="0">
                  <a:solidFill>
                    <a:schemeClr val="tx1"/>
                  </a:solidFill>
                  <a:effectLst/>
                  <a:latin typeface="+mn-lt"/>
                </a:endParaRPr>
              </a:p>
              <a:p>
                <a:pPr indent="0" algn="l">
                  <a:buNone/>
                </a:pPr>
                <a:endParaRPr lang="en-US" dirty="0"/>
              </a:p>
              <a:p>
                <a:pPr marL="285750" indent="-285750" algn="l">
                  <a:buFont typeface="Arial" panose="020B0604020202020204" pitchFamily="34" charset="0"/>
                  <a:buChar char="•"/>
                </a:pPr>
                <a:r>
                  <a:rPr lang="en-US" sz="1800" b="0" i="0" dirty="0">
                    <a:solidFill>
                      <a:schemeClr val="tx1"/>
                    </a:solidFill>
                    <a:effectLst/>
                    <a:latin typeface="+mn-lt"/>
                  </a:rPr>
                  <a:t>Recognition seeks identity-sensitive information while controlling, modeling, or being robust to other factors.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sz="1800" b="0" i="0" dirty="0">
                    <a:solidFill>
                      <a:schemeClr val="tx1"/>
                    </a:solidFill>
                    <a:effectLst/>
                    <a:latin typeface="+mn-lt"/>
                  </a:rPr>
                  <a:t>A collection cannot assess robustness to factors it neither varies nor measures.</a:t>
                </a:r>
                <a:endParaRPr lang="en-US" sz="1200" b="0" i="0" dirty="0">
                  <a:solidFill>
                    <a:srgbClr val="161C24"/>
                  </a:solidFill>
                  <a:effectLst/>
                  <a:latin typeface="-apple-system"/>
                </a:endParaRPr>
              </a:p>
            </p:txBody>
          </p:sp>
        </mc:Choice>
        <mc:Fallback>
          <p:sp>
            <p:nvSpPr>
              <p:cNvPr id="6" name="TextBox 5">
                <a:extLst>
                  <a:ext uri="{FF2B5EF4-FFF2-40B4-BE49-F238E27FC236}">
                    <a16:creationId xmlns:a16="http://schemas.microsoft.com/office/drawing/2014/main" id="{10D0165F-2168-0133-2C6E-FCF3C4F35104}"/>
                  </a:ext>
                </a:extLst>
              </p:cNvPr>
              <p:cNvSpPr txBox="1">
                <a:spLocks noRot="1" noChangeAspect="1" noMove="1" noResize="1" noEditPoints="1" noAdjustHandles="1" noChangeArrowheads="1" noChangeShapeType="1" noTextEdit="1"/>
              </p:cNvSpPr>
              <p:nvPr/>
            </p:nvSpPr>
            <p:spPr>
              <a:xfrm>
                <a:off x="6290983" y="1193895"/>
                <a:ext cx="6098240" cy="5262979"/>
              </a:xfrm>
              <a:prstGeom prst="rect">
                <a:avLst/>
              </a:prstGeom>
              <a:blipFill>
                <a:blip r:embed="rId3"/>
                <a:stretch>
                  <a:fillRect l="-1040" t="-723" b="-723"/>
                </a:stretch>
              </a:blipFill>
            </p:spPr>
            <p:txBody>
              <a:bodyPr/>
              <a:lstStyle/>
              <a:p>
                <a:r>
                  <a:rPr lang="en-US">
                    <a:noFill/>
                  </a:rPr>
                  <a:t> </a:t>
                </a:r>
              </a:p>
            </p:txBody>
          </p:sp>
        </mc:Fallback>
      </mc:AlternateContent>
    </p:spTree>
    <p:extLst>
      <p:ext uri="{BB962C8B-B14F-4D97-AF65-F5344CB8AC3E}">
        <p14:creationId xmlns:p14="http://schemas.microsoft.com/office/powerpoint/2010/main" val="32354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1EDF0-1CEF-87E2-DD61-A4A7410068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6AA6CC-CED5-665D-8080-79BAE0F78113}"/>
              </a:ext>
            </a:extLst>
          </p:cNvPr>
          <p:cNvSpPr>
            <a:spLocks noGrp="1"/>
          </p:cNvSpPr>
          <p:nvPr>
            <p:ph type="sldNum" sz="quarter" idx="12"/>
          </p:nvPr>
        </p:nvSpPr>
        <p:spPr/>
        <p:txBody>
          <a:bodyPr/>
          <a:lstStyle/>
          <a:p>
            <a:fld id="{659B2F21-D912-7541-8ED2-FD6ABD90B685}" type="slidenum">
              <a:rPr lang="en-US" smtClean="0"/>
              <a:t>27</a:t>
            </a:fld>
            <a:endParaRPr lang="en-US"/>
          </a:p>
        </p:txBody>
      </p:sp>
      <p:sp>
        <p:nvSpPr>
          <p:cNvPr id="5" name="TextBox 4">
            <a:extLst>
              <a:ext uri="{FF2B5EF4-FFF2-40B4-BE49-F238E27FC236}">
                <a16:creationId xmlns:a16="http://schemas.microsoft.com/office/drawing/2014/main" id="{86AC9D95-1F70-0902-18CA-4DAE57BDA7D9}"/>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282ED918-E990-33EF-261B-36592379157F}"/>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0D9448E-0F1C-5D6A-4532-EB8CA949B509}"/>
                  </a:ext>
                </a:extLst>
              </p:cNvPr>
              <p:cNvSpPr txBox="1"/>
              <p:nvPr/>
            </p:nvSpPr>
            <p:spPr>
              <a:xfrm>
                <a:off x="658284" y="2024509"/>
                <a:ext cx="11107892" cy="4742709"/>
              </a:xfrm>
              <a:prstGeom prst="rect">
                <a:avLst/>
              </a:prstGeom>
              <a:noFill/>
            </p:spPr>
            <p:txBody>
              <a:bodyPr wrap="square">
                <a:spAutoFit/>
              </a:bodyPr>
              <a:lstStyle/>
              <a:p>
                <a:pPr>
                  <a:spcAft>
                    <a:spcPts val="600"/>
                  </a:spcAft>
                </a:pPr>
                <a:r>
                  <a:rPr lang="en-US" sz="2400" b="1" dirty="0"/>
                  <a:t>Concept 3 — Evaluation capacity: rare errors, score construction, and metadata diagnostics</a:t>
                </a:r>
                <a:endParaRPr lang="en-US" sz="2400" dirty="0"/>
              </a:p>
              <a:p>
                <a:r>
                  <a:rPr lang="en-US" sz="2000" b="1" dirty="0"/>
                  <a:t>How to design number of comparisons/trials?</a:t>
                </a:r>
                <a:br>
                  <a:rPr lang="en-US" sz="2000" b="1" dirty="0"/>
                </a:br>
                <a:endParaRPr lang="en-US" sz="2000" b="1" dirty="0"/>
              </a:p>
              <a:p>
                <a:pPr marL="342900" indent="-34290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𝑡𝑟𝑖𝑎𝑙𝑠</m:t>
                        </m:r>
                      </m:sub>
                    </m:sSub>
                  </m:oMath>
                </a14:m>
                <a:r>
                  <a:rPr lang="en-US" sz="2000" dirty="0"/>
                  <a:t> is dominated by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𝑖𝑚𝑝𝑜𝑠𝑡𝑒𝑟</m:t>
                        </m:r>
                        <m:r>
                          <a:rPr lang="en-US" sz="2000" b="0" i="1" smtClean="0">
                            <a:latin typeface="Cambria Math" panose="02040503050406030204" pitchFamily="18" charset="0"/>
                          </a:rPr>
                          <m:t> </m:t>
                        </m:r>
                        <m:r>
                          <a:rPr lang="en-US" sz="2000" b="0" i="1" smtClean="0">
                            <a:latin typeface="Cambria Math" panose="02040503050406030204" pitchFamily="18" charset="0"/>
                          </a:rPr>
                          <m:t>𝑡𝑟𝑖𝑎𝑙𝑠</m:t>
                        </m:r>
                      </m:sub>
                    </m:sSub>
                    <m:r>
                      <a:rPr lang="en-US" sz="2000" i="1">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𝑁</m:t>
                        </m:r>
                      </m:e>
                      <m:sub>
                        <m:r>
                          <a:rPr lang="en-US" sz="2000" b="0" i="1" smtClean="0">
                            <a:latin typeface="Cambria Math" panose="02040503050406030204" pitchFamily="18" charset="0"/>
                            <a:ea typeface="Cambria Math" panose="02040503050406030204" pitchFamily="18" charset="0"/>
                          </a:rPr>
                          <m:t>𝑖𝑚𝑝𝑜𝑠𝑡𝑒𝑟</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𝑡𝑟𝑖𝑎𝑙𝑠</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𝑁</m:t>
                        </m:r>
                      </m:e>
                      <m:sub>
                        <m:r>
                          <a:rPr lang="en-US" sz="2000" b="0" i="1" smtClean="0">
                            <a:latin typeface="Cambria Math" panose="02040503050406030204" pitchFamily="18" charset="0"/>
                            <a:ea typeface="Cambria Math" panose="02040503050406030204" pitchFamily="18" charset="0"/>
                          </a:rPr>
                          <m:t>𝑔𝑒𝑛𝑢𝑖𝑛𝑒</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𝑡𝑟𝑖𝑎𝑙𝑠</m:t>
                        </m:r>
                      </m:sub>
                    </m:sSub>
                  </m:oMath>
                </a14:m>
                <a:endParaRPr lang="en-US" sz="2000" b="0" dirty="0"/>
              </a:p>
              <a:p>
                <a:pPr marL="342900" indent="-342900">
                  <a:buFont typeface="Arial" panose="020B0604020202020204" pitchFamily="34" charset="0"/>
                  <a:buChar char="•"/>
                </a:pPr>
                <a:r>
                  <a:rPr lang="en-US" dirty="0"/>
                  <a:t>Therefore, to </a:t>
                </a:r>
                <a:r>
                  <a:rPr lang="en-US" i="1" dirty="0"/>
                  <a:t>expect</a:t>
                </a:r>
                <a:r>
                  <a:rPr lang="en-US" dirty="0"/>
                  <a:t> approximately </a:t>
                </a:r>
                <a14:m>
                  <m:oMath xmlns:m="http://schemas.openxmlformats.org/officeDocument/2006/math">
                    <m:r>
                      <a:rPr lang="en-US" i="1"/>
                      <m:t>𝑘</m:t>
                    </m:r>
                  </m:oMath>
                </a14:m>
                <a:r>
                  <a:rPr lang="en-US" dirty="0"/>
                  <a:t> false matches while estimating an operating region </a:t>
                </a:r>
                <a14:m>
                  <m:oMath xmlns:m="http://schemas.openxmlformats.org/officeDocument/2006/math">
                    <m:r>
                      <a:rPr lang="en-US" i="1"/>
                      <m:t>𝑝</m:t>
                    </m:r>
                  </m:oMath>
                </a14:m>
                <a:r>
                  <a:rPr lang="en-US" dirty="0"/>
                  <a:t>, a protocol needs roughly:</a:t>
                </a:r>
              </a:p>
              <a:p>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𝑖𝑚𝑝𝑜𝑠𝑡𝑒𝑟</m:t>
                          </m:r>
                          <m:r>
                            <a:rPr lang="en-US" sz="2000" b="0" i="1" smtClean="0">
                              <a:latin typeface="Cambria Math" panose="02040503050406030204" pitchFamily="18" charset="0"/>
                            </a:rPr>
                            <m:t> </m:t>
                          </m:r>
                          <m:r>
                            <a:rPr lang="en-US" sz="2000" b="0" i="1" smtClean="0">
                              <a:latin typeface="Cambria Math" panose="02040503050406030204" pitchFamily="18" charset="0"/>
                            </a:rPr>
                            <m:t>𝑡𝑟𝑖𝑎𝑙𝑠</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𝑘</m:t>
                          </m:r>
                        </m:num>
                        <m:den>
                          <m:r>
                            <a:rPr lang="en-US" sz="2000" b="0" i="1" smtClean="0">
                              <a:latin typeface="Cambria Math" panose="02040503050406030204" pitchFamily="18" charset="0"/>
                            </a:rPr>
                            <m:t>𝑝</m:t>
                          </m:r>
                        </m:den>
                      </m:f>
                    </m:oMath>
                  </m:oMathPara>
                </a14:m>
                <a:endParaRPr lang="en-US" sz="2000" b="0" dirty="0"/>
              </a:p>
              <a:p>
                <a:endParaRPr lang="en-US" sz="2000" dirty="0"/>
              </a:p>
              <a:p>
                <a:pPr>
                  <a:spcAft>
                    <a:spcPts val="600"/>
                  </a:spcAft>
                </a:pPr>
                <a:r>
                  <a:rPr lang="en-US" sz="2000" b="1" dirty="0"/>
                  <a:t>Example</a:t>
                </a:r>
                <a:r>
                  <a:rPr lang="en-US" sz="2000" dirty="0"/>
                  <a:t>: At </a:t>
                </a: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−5</m:t>
                        </m:r>
                      </m:sup>
                    </m:sSup>
                    <m:r>
                      <a:rPr lang="en-US" sz="2000" b="0" i="1" smtClean="0">
                        <a:latin typeface="Cambria Math" panose="02040503050406030204" pitchFamily="18" charset="0"/>
                      </a:rPr>
                      <m:t> (</m:t>
                    </m:r>
                    <m:r>
                      <a:rPr lang="en-US" sz="2000" b="0" i="1" smtClean="0">
                        <a:latin typeface="Cambria Math" panose="02040503050406030204" pitchFamily="18" charset="0"/>
                      </a:rPr>
                      <m:t>𝐹𝑀𝑅</m:t>
                    </m:r>
                    <m:r>
                      <a:rPr lang="en-US" sz="2000" b="0" i="1" smtClean="0">
                        <a:latin typeface="Cambria Math" panose="02040503050406030204" pitchFamily="18" charset="0"/>
                      </a:rPr>
                      <m:t>)</m:t>
                    </m:r>
                  </m:oMath>
                </a14:m>
                <a:r>
                  <a:rPr lang="en-US" sz="2000" dirty="0"/>
                  <a:t>, observing around 100 false matches requires </a:t>
                </a:r>
                <a14:m>
                  <m:oMath xmlns:m="http://schemas.openxmlformats.org/officeDocument/2006/math">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7</m:t>
                        </m:r>
                      </m:sup>
                    </m:sSup>
                  </m:oMath>
                </a14:m>
                <a:r>
                  <a:rPr lang="en-US" sz="2000" dirty="0"/>
                  <a:t> imposter trials.</a:t>
                </a:r>
              </a:p>
              <a:p>
                <a:pPr>
                  <a:spcAft>
                    <a:spcPts val="600"/>
                  </a:spcAft>
                </a:pPr>
                <a:r>
                  <a:rPr lang="en-US" sz="2000" i="1" dirty="0">
                    <a:solidFill>
                      <a:srgbClr val="0070C0"/>
                    </a:solidFill>
                  </a:rPr>
                  <a:t>Trial count alone is not enough: </a:t>
                </a:r>
              </a:p>
              <a:p>
                <a:pPr marL="800100" lvl="1" indent="-342900">
                  <a:buFont typeface="Wingdings" pitchFamily="2" charset="2"/>
                  <a:buChar char="Ø"/>
                </a:pPr>
                <a:r>
                  <a:rPr lang="en-US" sz="2000" dirty="0"/>
                  <a:t>Comparisons must be appropriate</a:t>
                </a:r>
              </a:p>
              <a:p>
                <a:pPr marL="800100" lvl="1" indent="-342900">
                  <a:buFont typeface="Wingdings" pitchFamily="2" charset="2"/>
                  <a:buChar char="Ø"/>
                </a:pPr>
                <a:r>
                  <a:rPr lang="en-US" sz="2000" dirty="0"/>
                  <a:t>Dependencies must be identified</a:t>
                </a:r>
              </a:p>
            </p:txBody>
          </p:sp>
        </mc:Choice>
        <mc:Fallback>
          <p:sp>
            <p:nvSpPr>
              <p:cNvPr id="10" name="TextBox 9">
                <a:extLst>
                  <a:ext uri="{FF2B5EF4-FFF2-40B4-BE49-F238E27FC236}">
                    <a16:creationId xmlns:a16="http://schemas.microsoft.com/office/drawing/2014/main" id="{30D9448E-0F1C-5D6A-4532-EB8CA949B509}"/>
                  </a:ext>
                </a:extLst>
              </p:cNvPr>
              <p:cNvSpPr txBox="1">
                <a:spLocks noRot="1" noChangeAspect="1" noMove="1" noResize="1" noEditPoints="1" noAdjustHandles="1" noChangeArrowheads="1" noChangeShapeType="1" noTextEdit="1"/>
              </p:cNvSpPr>
              <p:nvPr/>
            </p:nvSpPr>
            <p:spPr>
              <a:xfrm>
                <a:off x="658284" y="2024509"/>
                <a:ext cx="11107892" cy="4742709"/>
              </a:xfrm>
              <a:prstGeom prst="rect">
                <a:avLst/>
              </a:prstGeom>
              <a:blipFill>
                <a:blip r:embed="rId3"/>
                <a:stretch>
                  <a:fillRect l="-799" t="-1070" r="-342" b="-1604"/>
                </a:stretch>
              </a:blipFill>
            </p:spPr>
            <p:txBody>
              <a:bodyPr/>
              <a:lstStyle/>
              <a:p>
                <a:r>
                  <a:rPr lang="en-US">
                    <a:noFill/>
                  </a:rPr>
                  <a:t> </a:t>
                </a:r>
              </a:p>
            </p:txBody>
          </p:sp>
        </mc:Fallback>
      </mc:AlternateContent>
    </p:spTree>
    <p:extLst>
      <p:ext uri="{BB962C8B-B14F-4D97-AF65-F5344CB8AC3E}">
        <p14:creationId xmlns:p14="http://schemas.microsoft.com/office/powerpoint/2010/main" val="1871989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FC4B9-DC2E-28B5-8937-E6C3CE3BB8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CA8733-736D-8A40-10B4-780E511622FE}"/>
              </a:ext>
            </a:extLst>
          </p:cNvPr>
          <p:cNvSpPr>
            <a:spLocks noGrp="1"/>
          </p:cNvSpPr>
          <p:nvPr>
            <p:ph type="sldNum" sz="quarter" idx="12"/>
          </p:nvPr>
        </p:nvSpPr>
        <p:spPr/>
        <p:txBody>
          <a:bodyPr/>
          <a:lstStyle/>
          <a:p>
            <a:fld id="{659B2F21-D912-7541-8ED2-FD6ABD90B685}" type="slidenum">
              <a:rPr lang="en-US" smtClean="0"/>
              <a:t>28</a:t>
            </a:fld>
            <a:endParaRPr lang="en-US"/>
          </a:p>
        </p:txBody>
      </p:sp>
      <p:sp>
        <p:nvSpPr>
          <p:cNvPr id="5" name="TextBox 4">
            <a:extLst>
              <a:ext uri="{FF2B5EF4-FFF2-40B4-BE49-F238E27FC236}">
                <a16:creationId xmlns:a16="http://schemas.microsoft.com/office/drawing/2014/main" id="{65380BAF-AB82-47AD-65FE-701CF6E9EF6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DF25A997-68FA-AF9A-E3FB-C1E93111F1A5}"/>
              </a:ext>
            </a:extLst>
          </p:cNvPr>
          <p:cNvSpPr txBox="1"/>
          <p:nvPr/>
        </p:nvSpPr>
        <p:spPr>
          <a:xfrm>
            <a:off x="590310" y="1193895"/>
            <a:ext cx="10955866" cy="984885"/>
          </a:xfrm>
          <a:prstGeom prst="rect">
            <a:avLst/>
          </a:prstGeom>
          <a:noFill/>
        </p:spPr>
        <p:txBody>
          <a:bodyPr wrap="square">
            <a:spAutoFit/>
          </a:bodyPr>
          <a:lstStyle/>
          <a:p>
            <a:r>
              <a:rPr lang="en-US" sz="4000" dirty="0"/>
              <a:t>Where does the paper fall short?</a:t>
            </a:r>
            <a:br>
              <a:rPr lang="en-US" sz="3200" dirty="0"/>
            </a:br>
            <a:endParaRPr lang="en-US" dirty="0"/>
          </a:p>
        </p:txBody>
      </p:sp>
      <p:graphicFrame>
        <p:nvGraphicFramePr>
          <p:cNvPr id="6" name="Table 5">
            <a:extLst>
              <a:ext uri="{FF2B5EF4-FFF2-40B4-BE49-F238E27FC236}">
                <a16:creationId xmlns:a16="http://schemas.microsoft.com/office/drawing/2014/main" id="{CC60BA5E-F844-5206-234F-9356E28B50BA}"/>
              </a:ext>
            </a:extLst>
          </p:cNvPr>
          <p:cNvGraphicFramePr>
            <a:graphicFrameLocks noGrp="1"/>
          </p:cNvGraphicFramePr>
          <p:nvPr>
            <p:extLst>
              <p:ext uri="{D42A27DB-BD31-4B8C-83A1-F6EECF244321}">
                <p14:modId xmlns:p14="http://schemas.microsoft.com/office/powerpoint/2010/main" val="685821347"/>
              </p:ext>
            </p:extLst>
          </p:nvPr>
        </p:nvGraphicFramePr>
        <p:xfrm>
          <a:off x="812052" y="2009714"/>
          <a:ext cx="10734124" cy="3845560"/>
        </p:xfrm>
        <a:graphic>
          <a:graphicData uri="http://schemas.openxmlformats.org/drawingml/2006/table">
            <a:tbl>
              <a:tblPr firstRow="1" bandRow="1">
                <a:tableStyleId>{5C22544A-7EE6-4342-B048-85BDC9FD1C3A}</a:tableStyleId>
              </a:tblPr>
              <a:tblGrid>
                <a:gridCol w="5367062">
                  <a:extLst>
                    <a:ext uri="{9D8B030D-6E8A-4147-A177-3AD203B41FA5}">
                      <a16:colId xmlns:a16="http://schemas.microsoft.com/office/drawing/2014/main" val="3190834375"/>
                    </a:ext>
                  </a:extLst>
                </a:gridCol>
                <a:gridCol w="5367062">
                  <a:extLst>
                    <a:ext uri="{9D8B030D-6E8A-4147-A177-3AD203B41FA5}">
                      <a16:colId xmlns:a16="http://schemas.microsoft.com/office/drawing/2014/main" val="3184804242"/>
                    </a:ext>
                  </a:extLst>
                </a:gridCol>
              </a:tblGrid>
              <a:tr h="370840">
                <a:tc>
                  <a:txBody>
                    <a:bodyPr/>
                    <a:lstStyle/>
                    <a:p>
                      <a:r>
                        <a:rPr lang="en-US" dirty="0"/>
                        <a:t>Area</a:t>
                      </a:r>
                    </a:p>
                  </a:txBody>
                  <a:tcPr/>
                </a:tc>
                <a:tc>
                  <a:txBody>
                    <a:bodyPr/>
                    <a:lstStyle/>
                    <a:p>
                      <a:r>
                        <a:rPr lang="en-US" dirty="0"/>
                        <a:t>Why this is a limitation?</a:t>
                      </a:r>
                    </a:p>
                  </a:txBody>
                  <a:tcPr/>
                </a:tc>
                <a:extLst>
                  <a:ext uri="{0D108BD9-81ED-4DB2-BD59-A6C34878D82A}">
                    <a16:rowId xmlns:a16="http://schemas.microsoft.com/office/drawing/2014/main" val="2701576717"/>
                  </a:ext>
                </a:extLst>
              </a:tr>
              <a:tr h="370840">
                <a:tc>
                  <a:txBody>
                    <a:bodyPr/>
                    <a:lstStyle/>
                    <a:p>
                      <a:r>
                        <a:rPr lang="en-US" sz="1800" b="1" i="0" kern="1200" dirty="0">
                          <a:solidFill>
                            <a:schemeClr val="dk1"/>
                          </a:solidFill>
                          <a:effectLst/>
                          <a:latin typeface="+mn-lt"/>
                          <a:ea typeface="+mn-ea"/>
                          <a:cs typeface="+mn-cs"/>
                        </a:rPr>
                        <a:t>Demographic / Fairness</a:t>
                      </a:r>
                      <a:endParaRPr lang="en-US" dirty="0"/>
                    </a:p>
                  </a:txBody>
                  <a:tcPr/>
                </a:tc>
                <a:tc>
                  <a:txBody>
                    <a:bodyPr/>
                    <a:lstStyle/>
                    <a:p>
                      <a:r>
                        <a:rPr lang="en-US" sz="1800" b="0" i="0" kern="1200" dirty="0">
                          <a:solidFill>
                            <a:schemeClr val="dk1"/>
                          </a:solidFill>
                          <a:effectLst/>
                          <a:latin typeface="+mn-lt"/>
                          <a:ea typeface="+mn-ea"/>
                          <a:cs typeface="+mn-cs"/>
                        </a:rPr>
                        <a:t>The paper values metadata that enable inferences about dataset attributes, but it does not provide a modern fairness framework for defining demographic coverage, assessing subgroup error disparities, handling uncertain demographic labels, or reporting uncertainty for small subgroups</a:t>
                      </a:r>
                      <a:endParaRPr lang="en-US" dirty="0"/>
                    </a:p>
                  </a:txBody>
                  <a:tcPr/>
                </a:tc>
                <a:extLst>
                  <a:ext uri="{0D108BD9-81ED-4DB2-BD59-A6C34878D82A}">
                    <a16:rowId xmlns:a16="http://schemas.microsoft.com/office/drawing/2014/main" val="3519869970"/>
                  </a:ext>
                </a:extLst>
              </a:tr>
              <a:tr h="370840">
                <a:tc>
                  <a:txBody>
                    <a:bodyPr/>
                    <a:lstStyle/>
                    <a:p>
                      <a:r>
                        <a:rPr lang="en-US" sz="1800" b="1" i="0" kern="1200" dirty="0">
                          <a:solidFill>
                            <a:schemeClr val="dk1"/>
                          </a:solidFill>
                          <a:effectLst/>
                          <a:latin typeface="+mn-lt"/>
                          <a:ea typeface="+mn-ea"/>
                          <a:cs typeface="+mn-cs"/>
                        </a:rPr>
                        <a:t>Privacy, consent, or data-governance</a:t>
                      </a:r>
                      <a:endParaRPr lang="en-US" dirty="0"/>
                    </a:p>
                  </a:txBody>
                  <a:tcPr/>
                </a:tc>
                <a:tc>
                  <a:txBody>
                    <a:bodyPr/>
                    <a:lstStyle/>
                    <a:p>
                      <a:r>
                        <a:rPr lang="en-US" sz="1800" b="0" i="0" kern="1200" dirty="0">
                          <a:solidFill>
                            <a:schemeClr val="dk1"/>
                          </a:solidFill>
                          <a:effectLst/>
                          <a:latin typeface="+mn-lt"/>
                          <a:ea typeface="+mn-ea"/>
                          <a:cs typeface="+mn-cs"/>
                        </a:rPr>
                        <a:t>The discussion focuses on the scientific and operational value of curated collections, while contemporary biometric collection also requires explicit attention to informed consent, purpose limitation, retention, access controls, secondary use, withdrawal, and re-identification risk.</a:t>
                      </a:r>
                      <a:endParaRPr lang="en-US" dirty="0"/>
                    </a:p>
                  </a:txBody>
                  <a:tcPr/>
                </a:tc>
                <a:extLst>
                  <a:ext uri="{0D108BD9-81ED-4DB2-BD59-A6C34878D82A}">
                    <a16:rowId xmlns:a16="http://schemas.microsoft.com/office/drawing/2014/main" val="2222410852"/>
                  </a:ext>
                </a:extLst>
              </a:tr>
            </a:tbl>
          </a:graphicData>
        </a:graphic>
      </p:graphicFrame>
    </p:spTree>
    <p:extLst>
      <p:ext uri="{BB962C8B-B14F-4D97-AF65-F5344CB8AC3E}">
        <p14:creationId xmlns:p14="http://schemas.microsoft.com/office/powerpoint/2010/main" val="19685919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C8395-C3B0-551C-A452-0F400904A51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EF4B32-990A-B04B-3356-E6B6128F36D5}"/>
              </a:ext>
            </a:extLst>
          </p:cNvPr>
          <p:cNvSpPr>
            <a:spLocks noGrp="1"/>
          </p:cNvSpPr>
          <p:nvPr>
            <p:ph type="sldNum" sz="quarter" idx="12"/>
          </p:nvPr>
        </p:nvSpPr>
        <p:spPr/>
        <p:txBody>
          <a:bodyPr/>
          <a:lstStyle/>
          <a:p>
            <a:fld id="{659B2F21-D912-7541-8ED2-FD6ABD90B685}" type="slidenum">
              <a:rPr lang="en-US" smtClean="0"/>
              <a:t>29</a:t>
            </a:fld>
            <a:endParaRPr lang="en-US"/>
          </a:p>
        </p:txBody>
      </p:sp>
      <p:sp>
        <p:nvSpPr>
          <p:cNvPr id="5" name="TextBox 4">
            <a:extLst>
              <a:ext uri="{FF2B5EF4-FFF2-40B4-BE49-F238E27FC236}">
                <a16:creationId xmlns:a16="http://schemas.microsoft.com/office/drawing/2014/main" id="{1C32876F-7867-C94D-0660-264AFD3A53BB}"/>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C1DEFBD2-2381-85A6-6873-2FD5DDD50678}"/>
              </a:ext>
            </a:extLst>
          </p:cNvPr>
          <p:cNvSpPr txBox="1"/>
          <p:nvPr/>
        </p:nvSpPr>
        <p:spPr>
          <a:xfrm>
            <a:off x="645824" y="1193895"/>
            <a:ext cx="10955866" cy="984885"/>
          </a:xfrm>
          <a:prstGeom prst="rect">
            <a:avLst/>
          </a:prstGeom>
          <a:noFill/>
        </p:spPr>
        <p:txBody>
          <a:bodyPr wrap="square">
            <a:spAutoFit/>
          </a:bodyPr>
          <a:lstStyle/>
          <a:p>
            <a:r>
              <a:rPr lang="en-US" sz="4000" dirty="0"/>
              <a:t>Where does the paper fall short?</a:t>
            </a:r>
            <a:br>
              <a:rPr lang="en-US" sz="3200" dirty="0"/>
            </a:br>
            <a:endParaRPr lang="en-US" dirty="0"/>
          </a:p>
        </p:txBody>
      </p:sp>
      <p:graphicFrame>
        <p:nvGraphicFramePr>
          <p:cNvPr id="2" name="Table 1">
            <a:extLst>
              <a:ext uri="{FF2B5EF4-FFF2-40B4-BE49-F238E27FC236}">
                <a16:creationId xmlns:a16="http://schemas.microsoft.com/office/drawing/2014/main" id="{9C1B9D54-8F21-79FD-7DB7-1EF26C1F2004}"/>
              </a:ext>
            </a:extLst>
          </p:cNvPr>
          <p:cNvGraphicFramePr>
            <a:graphicFrameLocks noGrp="1"/>
          </p:cNvGraphicFramePr>
          <p:nvPr>
            <p:extLst>
              <p:ext uri="{D42A27DB-BD31-4B8C-83A1-F6EECF244321}">
                <p14:modId xmlns:p14="http://schemas.microsoft.com/office/powerpoint/2010/main" val="3022666475"/>
              </p:ext>
            </p:extLst>
          </p:nvPr>
        </p:nvGraphicFramePr>
        <p:xfrm>
          <a:off x="812052" y="2178780"/>
          <a:ext cx="10734124" cy="3474720"/>
        </p:xfrm>
        <a:graphic>
          <a:graphicData uri="http://schemas.openxmlformats.org/drawingml/2006/table">
            <a:tbl>
              <a:tblPr firstRow="1" bandRow="1">
                <a:tableStyleId>{69CF1AB2-1976-4502-BF36-3FF5EA218861}</a:tableStyleId>
              </a:tblPr>
              <a:tblGrid>
                <a:gridCol w="5367062">
                  <a:extLst>
                    <a:ext uri="{9D8B030D-6E8A-4147-A177-3AD203B41FA5}">
                      <a16:colId xmlns:a16="http://schemas.microsoft.com/office/drawing/2014/main" val="2335243627"/>
                    </a:ext>
                  </a:extLst>
                </a:gridCol>
                <a:gridCol w="5367062">
                  <a:extLst>
                    <a:ext uri="{9D8B030D-6E8A-4147-A177-3AD203B41FA5}">
                      <a16:colId xmlns:a16="http://schemas.microsoft.com/office/drawing/2014/main" val="338114916"/>
                    </a:ext>
                  </a:extLst>
                </a:gridCol>
              </a:tblGrid>
              <a:tr h="370840">
                <a:tc>
                  <a:txBody>
                    <a:bodyPr/>
                    <a:lstStyle/>
                    <a:p>
                      <a:r>
                        <a:rPr lang="en-US" dirty="0"/>
                        <a:t>Metadata advocated more than specified</a:t>
                      </a:r>
                    </a:p>
                  </a:txBody>
                  <a:tcPr/>
                </a:tc>
                <a:tc>
                  <a:txBody>
                    <a:bodyPr/>
                    <a:lstStyle/>
                    <a:p>
                      <a:r>
                        <a:rPr lang="en-US" sz="1800" b="0" kern="1200" dirty="0">
                          <a:solidFill>
                            <a:schemeClr val="dk1"/>
                          </a:solidFill>
                          <a:effectLst/>
                        </a:rPr>
                        <a:t>Comprehensive metadata is identified as important, but the paper does not prescribe a standardized schema, label-provenance procedure, versioning policy, or audit trail that would make metadata consistently interoperable and independently auditable.</a:t>
                      </a:r>
                      <a:endParaRPr lang="en-US" dirty="0"/>
                    </a:p>
                  </a:txBody>
                  <a:tcPr/>
                </a:tc>
                <a:extLst>
                  <a:ext uri="{0D108BD9-81ED-4DB2-BD59-A6C34878D82A}">
                    <a16:rowId xmlns:a16="http://schemas.microsoft.com/office/drawing/2014/main" val="2731966192"/>
                  </a:ext>
                </a:extLst>
              </a:tr>
              <a:tr h="370840">
                <a:tc>
                  <a:txBody>
                    <a:bodyPr/>
                    <a:lstStyle/>
                    <a:p>
                      <a:r>
                        <a:rPr lang="en-US" dirty="0"/>
                        <a:t>Dependence and </a:t>
                      </a:r>
                      <a:r>
                        <a:rPr lang="en-US" dirty="0" err="1"/>
                        <a:t>Uncertainy</a:t>
                      </a:r>
                      <a:r>
                        <a:rPr lang="en-US" dirty="0"/>
                        <a:t> need statistical treatment</a:t>
                      </a:r>
                    </a:p>
                  </a:txBody>
                  <a:tcPr/>
                </a:tc>
                <a:tc>
                  <a:txBody>
                    <a:bodyPr/>
                    <a:lstStyle/>
                    <a:p>
                      <a:r>
                        <a:rPr lang="en-US" sz="1800" b="0" kern="1200" dirty="0">
                          <a:solidFill>
                            <a:schemeClr val="dk1"/>
                          </a:solidFill>
                          <a:effectLst/>
                        </a:rPr>
                        <a:t>The paper calls for datasets large enough for statistically rigorous characterization, but a modern treatment should explicitly distinguish subjects, sessions, captures, and derived comparisons, then align confidence intervals and resampling with the deployment claim.</a:t>
                      </a:r>
                      <a:endParaRPr lang="en-US" dirty="0"/>
                    </a:p>
                  </a:txBody>
                  <a:tcPr/>
                </a:tc>
                <a:extLst>
                  <a:ext uri="{0D108BD9-81ED-4DB2-BD59-A6C34878D82A}">
                    <a16:rowId xmlns:a16="http://schemas.microsoft.com/office/drawing/2014/main" val="754219691"/>
                  </a:ext>
                </a:extLst>
              </a:tr>
            </a:tbl>
          </a:graphicData>
        </a:graphic>
      </p:graphicFrame>
    </p:spTree>
    <p:extLst>
      <p:ext uri="{BB962C8B-B14F-4D97-AF65-F5344CB8AC3E}">
        <p14:creationId xmlns:p14="http://schemas.microsoft.com/office/powerpoint/2010/main" val="2241811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6E4BE-1E48-2E18-1DE5-E49C460724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5492D9-1B06-48A3-54EF-A32F58B06CFC}"/>
              </a:ext>
            </a:extLst>
          </p:cNvPr>
          <p:cNvSpPr>
            <a:spLocks noGrp="1"/>
          </p:cNvSpPr>
          <p:nvPr>
            <p:ph type="sldNum" sz="quarter" idx="12"/>
          </p:nvPr>
        </p:nvSpPr>
        <p:spPr/>
        <p:txBody>
          <a:bodyPr/>
          <a:lstStyle/>
          <a:p>
            <a:fld id="{659B2F21-D912-7541-8ED2-FD6ABD90B685}" type="slidenum">
              <a:rPr lang="en-US" smtClean="0"/>
              <a:t>30</a:t>
            </a:fld>
            <a:endParaRPr lang="en-US"/>
          </a:p>
        </p:txBody>
      </p:sp>
      <p:sp>
        <p:nvSpPr>
          <p:cNvPr id="5" name="TextBox 4">
            <a:extLst>
              <a:ext uri="{FF2B5EF4-FFF2-40B4-BE49-F238E27FC236}">
                <a16:creationId xmlns:a16="http://schemas.microsoft.com/office/drawing/2014/main" id="{D16489A6-A769-A97C-A377-3AFCE936CC02}"/>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935F848E-8F03-29D3-7A7F-15A74D20B188}"/>
              </a:ext>
            </a:extLst>
          </p:cNvPr>
          <p:cNvSpPr txBox="1"/>
          <p:nvPr/>
        </p:nvSpPr>
        <p:spPr>
          <a:xfrm>
            <a:off x="645824" y="1193895"/>
            <a:ext cx="10955866" cy="984885"/>
          </a:xfrm>
          <a:prstGeom prst="rect">
            <a:avLst/>
          </a:prstGeom>
          <a:noFill/>
        </p:spPr>
        <p:txBody>
          <a:bodyPr wrap="square">
            <a:spAutoFit/>
          </a:bodyPr>
          <a:lstStyle/>
          <a:p>
            <a:r>
              <a:rPr lang="en-US" sz="4000" dirty="0"/>
              <a:t>Where does the paper fall short?</a:t>
            </a:r>
            <a:br>
              <a:rPr lang="en-US" sz="3200" dirty="0"/>
            </a:br>
            <a:endParaRPr lang="en-US" dirty="0"/>
          </a:p>
        </p:txBody>
      </p:sp>
      <p:graphicFrame>
        <p:nvGraphicFramePr>
          <p:cNvPr id="6" name="Table 5">
            <a:extLst>
              <a:ext uri="{FF2B5EF4-FFF2-40B4-BE49-F238E27FC236}">
                <a16:creationId xmlns:a16="http://schemas.microsoft.com/office/drawing/2014/main" id="{E438FD45-AF95-E98A-F842-B9B79C1B304C}"/>
              </a:ext>
            </a:extLst>
          </p:cNvPr>
          <p:cNvGraphicFramePr>
            <a:graphicFrameLocks noGrp="1"/>
          </p:cNvGraphicFramePr>
          <p:nvPr>
            <p:extLst>
              <p:ext uri="{D42A27DB-BD31-4B8C-83A1-F6EECF244321}">
                <p14:modId xmlns:p14="http://schemas.microsoft.com/office/powerpoint/2010/main" val="686104434"/>
              </p:ext>
            </p:extLst>
          </p:nvPr>
        </p:nvGraphicFramePr>
        <p:xfrm>
          <a:off x="756695" y="2363507"/>
          <a:ext cx="10734124" cy="3474720"/>
        </p:xfrm>
        <a:graphic>
          <a:graphicData uri="http://schemas.openxmlformats.org/drawingml/2006/table">
            <a:tbl>
              <a:tblPr firstRow="1" bandRow="1">
                <a:tableStyleId>{69CF1AB2-1976-4502-BF36-3FF5EA218861}</a:tableStyleId>
              </a:tblPr>
              <a:tblGrid>
                <a:gridCol w="5367062">
                  <a:extLst>
                    <a:ext uri="{9D8B030D-6E8A-4147-A177-3AD203B41FA5}">
                      <a16:colId xmlns:a16="http://schemas.microsoft.com/office/drawing/2014/main" val="1927712801"/>
                    </a:ext>
                  </a:extLst>
                </a:gridCol>
                <a:gridCol w="5367062">
                  <a:extLst>
                    <a:ext uri="{9D8B030D-6E8A-4147-A177-3AD203B41FA5}">
                      <a16:colId xmlns:a16="http://schemas.microsoft.com/office/drawing/2014/main" val="153654577"/>
                    </a:ext>
                  </a:extLst>
                </a:gridCol>
              </a:tblGrid>
              <a:tr h="370840">
                <a:tc>
                  <a:txBody>
                    <a:bodyPr/>
                    <a:lstStyle/>
                    <a:p>
                      <a:r>
                        <a:rPr lang="en-US" sz="1800" b="1" kern="1200" dirty="0">
                          <a:solidFill>
                            <a:schemeClr val="dk1"/>
                          </a:solidFill>
                          <a:effectLst/>
                        </a:rPr>
                        <a:t>Representativeness is not fully formalized</a:t>
                      </a:r>
                      <a:endParaRPr lang="en-US" dirty="0"/>
                    </a:p>
                  </a:txBody>
                  <a:tcPr/>
                </a:tc>
                <a:tc>
                  <a:txBody>
                    <a:bodyPr/>
                    <a:lstStyle/>
                    <a:p>
                      <a:r>
                        <a:rPr lang="en-US" sz="1800" b="0" kern="1200" dirty="0">
                          <a:solidFill>
                            <a:schemeClr val="dk1"/>
                          </a:solidFill>
                          <a:effectLst/>
                        </a:rPr>
                        <a:t>Fitness for an experimental design is central to the paper, but the work does not offer a detailed method for defining a target population, sampling frame, selection mechanism, coverage gaps, or the limits of transportability from the collected sample to deployment.</a:t>
                      </a:r>
                      <a:endParaRPr lang="en-US" dirty="0"/>
                    </a:p>
                  </a:txBody>
                  <a:tcPr/>
                </a:tc>
                <a:extLst>
                  <a:ext uri="{0D108BD9-81ED-4DB2-BD59-A6C34878D82A}">
                    <a16:rowId xmlns:a16="http://schemas.microsoft.com/office/drawing/2014/main" val="1039718497"/>
                  </a:ext>
                </a:extLst>
              </a:tr>
              <a:tr h="370840">
                <a:tc>
                  <a:txBody>
                    <a:bodyPr/>
                    <a:lstStyle/>
                    <a:p>
                      <a:r>
                        <a:rPr lang="en-US" dirty="0"/>
                        <a:t>Distribution Shifts are limited</a:t>
                      </a:r>
                    </a:p>
                  </a:txBody>
                  <a:tcPr/>
                </a:tc>
                <a:tc>
                  <a:txBody>
                    <a:bodyPr/>
                    <a:lstStyle/>
                    <a:p>
                      <a:r>
                        <a:rPr lang="en-US" sz="1800" b="0" kern="1200" dirty="0">
                          <a:solidFill>
                            <a:schemeClr val="dk1"/>
                          </a:solidFill>
                          <a:effectLst/>
                        </a:rPr>
                        <a:t>The retrospective collection lessons predate many current deployment concerns involving rapid sensor evolution, foundation-model pretraining, synthetic or manipulated imagery, changing social-media image distributions, and cross-domain transfer at scale. The paper was published in 2017.</a:t>
                      </a:r>
                      <a:endParaRPr lang="en-US" dirty="0"/>
                    </a:p>
                  </a:txBody>
                  <a:tcPr/>
                </a:tc>
                <a:extLst>
                  <a:ext uri="{0D108BD9-81ED-4DB2-BD59-A6C34878D82A}">
                    <a16:rowId xmlns:a16="http://schemas.microsoft.com/office/drawing/2014/main" val="3127712388"/>
                  </a:ext>
                </a:extLst>
              </a:tr>
            </a:tbl>
          </a:graphicData>
        </a:graphic>
      </p:graphicFrame>
    </p:spTree>
    <p:extLst>
      <p:ext uri="{BB962C8B-B14F-4D97-AF65-F5344CB8AC3E}">
        <p14:creationId xmlns:p14="http://schemas.microsoft.com/office/powerpoint/2010/main" val="1791556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F58B0-6019-1F57-4427-99C3AE91D93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46CA7-4648-09DF-24CA-1DCF5381F73F}"/>
              </a:ext>
            </a:extLst>
          </p:cNvPr>
          <p:cNvSpPr>
            <a:spLocks noGrp="1"/>
          </p:cNvSpPr>
          <p:nvPr>
            <p:ph type="sldNum" sz="quarter" idx="12"/>
          </p:nvPr>
        </p:nvSpPr>
        <p:spPr/>
        <p:txBody>
          <a:bodyPr/>
          <a:lstStyle/>
          <a:p>
            <a:fld id="{659B2F21-D912-7541-8ED2-FD6ABD90B685}" type="slidenum">
              <a:rPr lang="en-US" smtClean="0"/>
              <a:t>31</a:t>
            </a:fld>
            <a:endParaRPr lang="en-US"/>
          </a:p>
        </p:txBody>
      </p:sp>
      <p:sp>
        <p:nvSpPr>
          <p:cNvPr id="5" name="TextBox 4">
            <a:extLst>
              <a:ext uri="{FF2B5EF4-FFF2-40B4-BE49-F238E27FC236}">
                <a16:creationId xmlns:a16="http://schemas.microsoft.com/office/drawing/2014/main" id="{F6E30F42-6A2C-C5C2-F948-AB5F1CFEEE2E}"/>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403BD9E3-0EB1-232B-D01C-CDD80ADFB9FD}"/>
              </a:ext>
            </a:extLst>
          </p:cNvPr>
          <p:cNvSpPr txBox="1"/>
          <p:nvPr/>
        </p:nvSpPr>
        <p:spPr>
          <a:xfrm>
            <a:off x="645824" y="1193895"/>
            <a:ext cx="10955866" cy="984885"/>
          </a:xfrm>
          <a:prstGeom prst="rect">
            <a:avLst/>
          </a:prstGeom>
          <a:noFill/>
        </p:spPr>
        <p:txBody>
          <a:bodyPr wrap="square">
            <a:spAutoFit/>
          </a:bodyPr>
          <a:lstStyle/>
          <a:p>
            <a:r>
              <a:rPr lang="en-US" sz="4000" dirty="0"/>
              <a:t>Where does the paper fall short?</a:t>
            </a:r>
            <a:br>
              <a:rPr lang="en-US" sz="3200" dirty="0"/>
            </a:br>
            <a:endParaRPr lang="en-US" dirty="0"/>
          </a:p>
        </p:txBody>
      </p:sp>
      <p:graphicFrame>
        <p:nvGraphicFramePr>
          <p:cNvPr id="2" name="Table 1">
            <a:extLst>
              <a:ext uri="{FF2B5EF4-FFF2-40B4-BE49-F238E27FC236}">
                <a16:creationId xmlns:a16="http://schemas.microsoft.com/office/drawing/2014/main" id="{03647E91-043E-395F-CB06-A6345435D716}"/>
              </a:ext>
            </a:extLst>
          </p:cNvPr>
          <p:cNvGraphicFramePr>
            <a:graphicFrameLocks noGrp="1"/>
          </p:cNvGraphicFramePr>
          <p:nvPr>
            <p:extLst>
              <p:ext uri="{D42A27DB-BD31-4B8C-83A1-F6EECF244321}">
                <p14:modId xmlns:p14="http://schemas.microsoft.com/office/powerpoint/2010/main" val="2672448203"/>
              </p:ext>
            </p:extLst>
          </p:nvPr>
        </p:nvGraphicFramePr>
        <p:xfrm>
          <a:off x="756695" y="2323166"/>
          <a:ext cx="10734124" cy="3474720"/>
        </p:xfrm>
        <a:graphic>
          <a:graphicData uri="http://schemas.openxmlformats.org/drawingml/2006/table">
            <a:tbl>
              <a:tblPr firstRow="1" bandRow="1">
                <a:tableStyleId>{69CF1AB2-1976-4502-BF36-3FF5EA218861}</a:tableStyleId>
              </a:tblPr>
              <a:tblGrid>
                <a:gridCol w="5367062">
                  <a:extLst>
                    <a:ext uri="{9D8B030D-6E8A-4147-A177-3AD203B41FA5}">
                      <a16:colId xmlns:a16="http://schemas.microsoft.com/office/drawing/2014/main" val="4240003752"/>
                    </a:ext>
                  </a:extLst>
                </a:gridCol>
                <a:gridCol w="5367062">
                  <a:extLst>
                    <a:ext uri="{9D8B030D-6E8A-4147-A177-3AD203B41FA5}">
                      <a16:colId xmlns:a16="http://schemas.microsoft.com/office/drawing/2014/main" val="2478001561"/>
                    </a:ext>
                  </a:extLst>
                </a:gridCol>
              </a:tblGrid>
              <a:tr h="370840">
                <a:tc>
                  <a:txBody>
                    <a:bodyPr/>
                    <a:lstStyle/>
                    <a:p>
                      <a:r>
                        <a:rPr lang="en-US" dirty="0"/>
                        <a:t>Test set overfitting underdeveloped</a:t>
                      </a:r>
                    </a:p>
                  </a:txBody>
                  <a:tcPr/>
                </a:tc>
                <a:tc>
                  <a:txBody>
                    <a:bodyPr/>
                    <a:lstStyle/>
                    <a:p>
                      <a:r>
                        <a:rPr lang="en-US" sz="1800" b="0" kern="1200" dirty="0">
                          <a:solidFill>
                            <a:schemeClr val="dk1"/>
                          </a:solidFill>
                          <a:effectLst/>
                        </a:rPr>
                        <a:t>Independent evaluation is a core motivation, but the paper does not deeply address how a public benchmark’s repeated use can turn its nominal test set into an implicit development set through leaderboard optimization and model-selection feedback.</a:t>
                      </a:r>
                      <a:endParaRPr lang="en-US" dirty="0"/>
                    </a:p>
                  </a:txBody>
                  <a:tcPr/>
                </a:tc>
                <a:extLst>
                  <a:ext uri="{0D108BD9-81ED-4DB2-BD59-A6C34878D82A}">
                    <a16:rowId xmlns:a16="http://schemas.microsoft.com/office/drawing/2014/main" val="3868690361"/>
                  </a:ext>
                </a:extLst>
              </a:tr>
              <a:tr h="370840">
                <a:tc>
                  <a:txBody>
                    <a:bodyPr/>
                    <a:lstStyle/>
                    <a:p>
                      <a:r>
                        <a:rPr lang="en-US" dirty="0"/>
                        <a:t>Failure-to-Acquire and Operations Exclusions need more emphasis</a:t>
                      </a:r>
                    </a:p>
                  </a:txBody>
                  <a:tcPr/>
                </a:tc>
                <a:tc>
                  <a:txBody>
                    <a:bodyPr/>
                    <a:lstStyle/>
                    <a:p>
                      <a:r>
                        <a:rPr lang="en-US" sz="1800" b="0" kern="1200" dirty="0">
                          <a:solidFill>
                            <a:schemeClr val="dk1"/>
                          </a:solidFill>
                          <a:effectLst/>
                        </a:rPr>
                        <a:t>Large-scale collection requires quality control, yet an evaluation can become biased if it reports recognition only for successfully captured or enrolled samples without separately measuring who was excluded and why. This distinction is not foregrounded in the paper’s high-level account.</a:t>
                      </a:r>
                      <a:endParaRPr lang="en-US" dirty="0"/>
                    </a:p>
                  </a:txBody>
                  <a:tcPr/>
                </a:tc>
                <a:extLst>
                  <a:ext uri="{0D108BD9-81ED-4DB2-BD59-A6C34878D82A}">
                    <a16:rowId xmlns:a16="http://schemas.microsoft.com/office/drawing/2014/main" val="1865957143"/>
                  </a:ext>
                </a:extLst>
              </a:tr>
            </a:tbl>
          </a:graphicData>
        </a:graphic>
      </p:graphicFrame>
    </p:spTree>
    <p:extLst>
      <p:ext uri="{BB962C8B-B14F-4D97-AF65-F5344CB8AC3E}">
        <p14:creationId xmlns:p14="http://schemas.microsoft.com/office/powerpoint/2010/main" val="3284875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24B8F-CBC2-C0AF-D512-FDDE8BF30F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C43F9A-1DAF-7119-2115-5E4C351BEEA3}"/>
              </a:ext>
            </a:extLst>
          </p:cNvPr>
          <p:cNvSpPr>
            <a:spLocks noGrp="1"/>
          </p:cNvSpPr>
          <p:nvPr>
            <p:ph type="sldNum" sz="quarter" idx="12"/>
          </p:nvPr>
        </p:nvSpPr>
        <p:spPr/>
        <p:txBody>
          <a:bodyPr/>
          <a:lstStyle/>
          <a:p>
            <a:fld id="{659B2F21-D912-7541-8ED2-FD6ABD90B685}" type="slidenum">
              <a:rPr lang="en-US" smtClean="0"/>
              <a:t>32</a:t>
            </a:fld>
            <a:endParaRPr lang="en-US"/>
          </a:p>
        </p:txBody>
      </p:sp>
      <p:sp>
        <p:nvSpPr>
          <p:cNvPr id="5" name="TextBox 4">
            <a:extLst>
              <a:ext uri="{FF2B5EF4-FFF2-40B4-BE49-F238E27FC236}">
                <a16:creationId xmlns:a16="http://schemas.microsoft.com/office/drawing/2014/main" id="{2AFBAEFB-285A-BEB1-2A5E-DAE56B6D6D5C}"/>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18A68859-793E-25C7-4849-BD88F704B9E0}"/>
              </a:ext>
            </a:extLst>
          </p:cNvPr>
          <p:cNvSpPr txBox="1"/>
          <p:nvPr/>
        </p:nvSpPr>
        <p:spPr>
          <a:xfrm>
            <a:off x="645824" y="1193895"/>
            <a:ext cx="10955866" cy="984885"/>
          </a:xfrm>
          <a:prstGeom prst="rect">
            <a:avLst/>
          </a:prstGeom>
          <a:noFill/>
        </p:spPr>
        <p:txBody>
          <a:bodyPr wrap="square">
            <a:spAutoFit/>
          </a:bodyPr>
          <a:lstStyle/>
          <a:p>
            <a:r>
              <a:rPr lang="en-US" sz="4000" dirty="0"/>
              <a:t>Where does the paper fall short?</a:t>
            </a:r>
            <a:br>
              <a:rPr lang="en-US" sz="3200" dirty="0"/>
            </a:br>
            <a:endParaRPr lang="en-US" dirty="0"/>
          </a:p>
        </p:txBody>
      </p:sp>
      <p:graphicFrame>
        <p:nvGraphicFramePr>
          <p:cNvPr id="6" name="Table 5">
            <a:extLst>
              <a:ext uri="{FF2B5EF4-FFF2-40B4-BE49-F238E27FC236}">
                <a16:creationId xmlns:a16="http://schemas.microsoft.com/office/drawing/2014/main" id="{E227F78E-4CDA-C3F6-D937-042DEBC5A789}"/>
              </a:ext>
            </a:extLst>
          </p:cNvPr>
          <p:cNvGraphicFramePr>
            <a:graphicFrameLocks noGrp="1"/>
          </p:cNvGraphicFramePr>
          <p:nvPr>
            <p:extLst>
              <p:ext uri="{D42A27DB-BD31-4B8C-83A1-F6EECF244321}">
                <p14:modId xmlns:p14="http://schemas.microsoft.com/office/powerpoint/2010/main" val="3858942566"/>
              </p:ext>
            </p:extLst>
          </p:nvPr>
        </p:nvGraphicFramePr>
        <p:xfrm>
          <a:off x="812052" y="2178780"/>
          <a:ext cx="10734124" cy="1737360"/>
        </p:xfrm>
        <a:graphic>
          <a:graphicData uri="http://schemas.openxmlformats.org/drawingml/2006/table">
            <a:tbl>
              <a:tblPr firstRow="1" bandRow="1">
                <a:tableStyleId>{69CF1AB2-1976-4502-BF36-3FF5EA218861}</a:tableStyleId>
              </a:tblPr>
              <a:tblGrid>
                <a:gridCol w="5367062">
                  <a:extLst>
                    <a:ext uri="{9D8B030D-6E8A-4147-A177-3AD203B41FA5}">
                      <a16:colId xmlns:a16="http://schemas.microsoft.com/office/drawing/2014/main" val="2265430564"/>
                    </a:ext>
                  </a:extLst>
                </a:gridCol>
                <a:gridCol w="5367062">
                  <a:extLst>
                    <a:ext uri="{9D8B030D-6E8A-4147-A177-3AD203B41FA5}">
                      <a16:colId xmlns:a16="http://schemas.microsoft.com/office/drawing/2014/main" val="1548533366"/>
                    </a:ext>
                  </a:extLst>
                </a:gridCol>
              </a:tblGrid>
              <a:tr h="370840">
                <a:tc>
                  <a:txBody>
                    <a:bodyPr/>
                    <a:lstStyle/>
                    <a:p>
                      <a:r>
                        <a:rPr lang="en-US" dirty="0"/>
                        <a:t>Retrospective / Position Paper (Reproducible?)</a:t>
                      </a:r>
                    </a:p>
                  </a:txBody>
                  <a:tcPr/>
                </a:tc>
                <a:tc>
                  <a:txBody>
                    <a:bodyPr/>
                    <a:lstStyle/>
                    <a:p>
                      <a:r>
                        <a:rPr lang="en-US" sz="1800" b="0" kern="1200" dirty="0">
                          <a:solidFill>
                            <a:schemeClr val="dk1"/>
                          </a:solidFill>
                          <a:effectLst/>
                        </a:rPr>
                        <a:t>Stated purpose is to summarize the design, execution, challenges, and lessons from a ten-year sampling effort; it is therefore not intended to function as a full, prescriptive protocol for reproducing every collection decision in a new corpus.</a:t>
                      </a:r>
                      <a:endParaRPr lang="en-US" dirty="0"/>
                    </a:p>
                  </a:txBody>
                  <a:tcPr/>
                </a:tc>
                <a:extLst>
                  <a:ext uri="{0D108BD9-81ED-4DB2-BD59-A6C34878D82A}">
                    <a16:rowId xmlns:a16="http://schemas.microsoft.com/office/drawing/2014/main" val="2989538940"/>
                  </a:ext>
                </a:extLst>
              </a:tr>
            </a:tbl>
          </a:graphicData>
        </a:graphic>
      </p:graphicFrame>
    </p:spTree>
    <p:extLst>
      <p:ext uri="{BB962C8B-B14F-4D97-AF65-F5344CB8AC3E}">
        <p14:creationId xmlns:p14="http://schemas.microsoft.com/office/powerpoint/2010/main" val="1611613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E0E70-4B02-C809-EFDB-23B95BEAFE62}"/>
              </a:ext>
            </a:extLst>
          </p:cNvPr>
          <p:cNvSpPr>
            <a:spLocks noGrp="1"/>
          </p:cNvSpPr>
          <p:nvPr>
            <p:ph type="sldNum" sz="quarter" idx="12"/>
          </p:nvPr>
        </p:nvSpPr>
        <p:spPr/>
        <p:txBody>
          <a:bodyPr/>
          <a:lstStyle/>
          <a:p>
            <a:fld id="{659B2F21-D912-7541-8ED2-FD6ABD90B685}" type="slidenum">
              <a:rPr lang="en-US" smtClean="0"/>
              <a:t>33</a:t>
            </a:fld>
            <a:endParaRPr lang="en-US"/>
          </a:p>
        </p:txBody>
      </p:sp>
      <p:sp>
        <p:nvSpPr>
          <p:cNvPr id="5" name="TextBox 4">
            <a:extLst>
              <a:ext uri="{FF2B5EF4-FFF2-40B4-BE49-F238E27FC236}">
                <a16:creationId xmlns:a16="http://schemas.microsoft.com/office/drawing/2014/main" id="{A8ACD655-8594-A2CE-0479-E2D4BE969C2A}"/>
              </a:ext>
            </a:extLst>
          </p:cNvPr>
          <p:cNvSpPr txBox="1"/>
          <p:nvPr/>
        </p:nvSpPr>
        <p:spPr>
          <a:xfrm>
            <a:off x="590309" y="486009"/>
            <a:ext cx="11337231" cy="707886"/>
          </a:xfrm>
          <a:prstGeom prst="rect">
            <a:avLst/>
          </a:prstGeom>
          <a:noFill/>
        </p:spPr>
        <p:txBody>
          <a:bodyPr wrap="square" rtlCol="0">
            <a:spAutoFit/>
          </a:bodyPr>
          <a:lstStyle/>
          <a:p>
            <a:r>
              <a:rPr lang="en-US" sz="4000" b="1" dirty="0">
                <a:solidFill>
                  <a:srgbClr val="0070C0"/>
                </a:solidFill>
              </a:rPr>
              <a:t>Project 2 (Reproduce + Investigate)  due Oct. 23</a:t>
            </a:r>
          </a:p>
        </p:txBody>
      </p:sp>
      <p:sp>
        <p:nvSpPr>
          <p:cNvPr id="6" name="TextBox 5">
            <a:extLst>
              <a:ext uri="{FF2B5EF4-FFF2-40B4-BE49-F238E27FC236}">
                <a16:creationId xmlns:a16="http://schemas.microsoft.com/office/drawing/2014/main" id="{B9273892-25DA-DE16-BEE8-180DA302D69B}"/>
              </a:ext>
            </a:extLst>
          </p:cNvPr>
          <p:cNvSpPr txBox="1"/>
          <p:nvPr/>
        </p:nvSpPr>
        <p:spPr>
          <a:xfrm>
            <a:off x="590309" y="1839002"/>
            <a:ext cx="11135526" cy="4401205"/>
          </a:xfrm>
          <a:prstGeom prst="rect">
            <a:avLst/>
          </a:prstGeom>
          <a:noFill/>
        </p:spPr>
        <p:txBody>
          <a:bodyPr wrap="square">
            <a:spAutoFit/>
          </a:bodyPr>
          <a:lstStyle/>
          <a:p>
            <a:pPr marR="0" lvl="0"/>
            <a:r>
              <a:rPr lang="en-US" sz="3200" b="1" dirty="0"/>
              <a:t>Objective: </a:t>
            </a:r>
            <a:r>
              <a:rPr lang="en-US" sz="3200" dirty="0"/>
              <a:t>to </a:t>
            </a:r>
            <a:r>
              <a:rPr lang="en-US" sz="3200" dirty="0">
                <a:solidFill>
                  <a:srgbClr val="0070C0"/>
                </a:solidFill>
                <a:effectLst/>
                <a:latin typeface="+mn-lt"/>
              </a:rPr>
              <a:t>reproduce</a:t>
            </a:r>
            <a:r>
              <a:rPr lang="en-US" sz="3200" dirty="0">
                <a:effectLst/>
                <a:latin typeface="+mn-lt"/>
              </a:rPr>
              <a:t> a method from a </a:t>
            </a:r>
            <a:r>
              <a:rPr lang="en-US" sz="3200" u="sng" dirty="0">
                <a:effectLst/>
                <a:latin typeface="+mn-lt"/>
              </a:rPr>
              <a:t>modern</a:t>
            </a:r>
            <a:r>
              <a:rPr lang="en-US" sz="3200" dirty="0">
                <a:effectLst/>
                <a:latin typeface="+mn-lt"/>
              </a:rPr>
              <a:t> biometric journal or conference paper and </a:t>
            </a:r>
            <a:r>
              <a:rPr lang="en-US" sz="3200" dirty="0">
                <a:solidFill>
                  <a:srgbClr val="0070C0"/>
                </a:solidFill>
                <a:effectLst/>
                <a:latin typeface="+mn-lt"/>
              </a:rPr>
              <a:t>investigate</a:t>
            </a:r>
            <a:endParaRPr lang="en-US" sz="3200" dirty="0">
              <a:solidFill>
                <a:srgbClr val="0070C0"/>
              </a:solidFill>
            </a:endParaRPr>
          </a:p>
          <a:p>
            <a:pPr marR="0" lvl="0"/>
            <a:endParaRPr lang="en-US" sz="3200" dirty="0">
              <a:solidFill>
                <a:srgbClr val="0070C0"/>
              </a:solidFill>
              <a:effectLst/>
              <a:latin typeface="Times New Roman" panose="02020603050405020304" pitchFamily="18" charset="0"/>
            </a:endParaRPr>
          </a:p>
          <a:p>
            <a:pPr marL="457200" marR="0" lvl="0" indent="-457200">
              <a:buFont typeface="Arial" panose="020B0604020202020204" pitchFamily="34" charset="0"/>
              <a:buChar char="•"/>
            </a:pPr>
            <a:r>
              <a:rPr lang="en-US" sz="3200" dirty="0">
                <a:effectLst/>
                <a:latin typeface="Times New Roman" panose="02020603050405020304" pitchFamily="18" charset="0"/>
              </a:rPr>
              <a:t>Same problem as Project 1</a:t>
            </a:r>
            <a:endParaRPr lang="en-US" sz="3200" dirty="0">
              <a:latin typeface="Times New Roman" panose="02020603050405020304" pitchFamily="18" charset="0"/>
            </a:endParaRPr>
          </a:p>
          <a:p>
            <a:pPr marL="457200" indent="-457200">
              <a:buFont typeface="Arial" panose="020B0604020202020204" pitchFamily="34" charset="0"/>
              <a:buChar char="•"/>
            </a:pPr>
            <a:r>
              <a:rPr lang="en-US" sz="3200" dirty="0">
                <a:effectLst/>
                <a:latin typeface="Times New Roman" panose="02020603050405020304" pitchFamily="18" charset="0"/>
              </a:rPr>
              <a:t>Consider sources like:</a:t>
            </a:r>
          </a:p>
          <a:p>
            <a:pPr marL="914400" lvl="1" indent="-457200">
              <a:buFont typeface="Courier New" panose="02070309020205020404" pitchFamily="49" charset="0"/>
              <a:buChar char="o"/>
            </a:pPr>
            <a:r>
              <a:rPr lang="en-US" sz="2400" dirty="0">
                <a:solidFill>
                  <a:srgbClr val="0070C0"/>
                </a:solidFill>
                <a:effectLst/>
                <a:latin typeface="Times New Roman" panose="02020603050405020304" pitchFamily="18" charset="0"/>
              </a:rPr>
              <a:t>IEEE Transactions on Biometrics, Behavior, and Identity Science (T-BIOM)</a:t>
            </a:r>
          </a:p>
          <a:p>
            <a:pPr marL="914400" lvl="1" indent="-457200">
              <a:buFont typeface="Courier New" panose="02070309020205020404" pitchFamily="49" charset="0"/>
              <a:buChar char="o"/>
            </a:pPr>
            <a:r>
              <a:rPr lang="en-US" sz="2400" dirty="0">
                <a:solidFill>
                  <a:srgbClr val="0070C0"/>
                </a:solidFill>
                <a:latin typeface="Times New Roman" panose="02020603050405020304" pitchFamily="18" charset="0"/>
              </a:rPr>
              <a:t>IEEE/IAPR Internation Joint Conference on Biometrics</a:t>
            </a:r>
          </a:p>
          <a:p>
            <a:pPr marL="914400" lvl="1" indent="-457200">
              <a:buFont typeface="Courier New" panose="02070309020205020404" pitchFamily="49" charset="0"/>
              <a:buChar char="o"/>
            </a:pPr>
            <a:r>
              <a:rPr lang="en-US" sz="2400" dirty="0">
                <a:effectLst/>
                <a:latin typeface="Times New Roman" panose="02020603050405020304" pitchFamily="18" charset="0"/>
              </a:rPr>
              <a:t>IEEE/CVF Winter Conference on Application of Computer Vision</a:t>
            </a:r>
          </a:p>
          <a:p>
            <a:pPr marL="914400" lvl="1" indent="-457200">
              <a:buFont typeface="Courier New" panose="02070309020205020404" pitchFamily="49" charset="0"/>
              <a:buChar char="o"/>
            </a:pPr>
            <a:r>
              <a:rPr lang="en-US" sz="2400" dirty="0">
                <a:effectLst/>
                <a:latin typeface="Times New Roman" panose="02020603050405020304" pitchFamily="18" charset="0"/>
              </a:rPr>
              <a:t>IEEE/CVF Conference on Computer Vision and Pattern Recognition</a:t>
            </a:r>
          </a:p>
          <a:p>
            <a:pPr lvl="1"/>
            <a:r>
              <a:rPr lang="en-US" sz="2400" i="1" dirty="0">
                <a:latin typeface="Times New Roman" panose="02020603050405020304" pitchFamily="18" charset="0"/>
              </a:rPr>
              <a:t>Not limited to these venues</a:t>
            </a:r>
            <a:endParaRPr lang="en-US" sz="2400" i="1" dirty="0">
              <a:effectLst/>
              <a:latin typeface="Times New Roman" panose="02020603050405020304" pitchFamily="18" charset="0"/>
            </a:endParaRPr>
          </a:p>
        </p:txBody>
      </p:sp>
      <p:sp>
        <p:nvSpPr>
          <p:cNvPr id="7" name="Rounded Rectangle 6">
            <a:extLst>
              <a:ext uri="{FF2B5EF4-FFF2-40B4-BE49-F238E27FC236}">
                <a16:creationId xmlns:a16="http://schemas.microsoft.com/office/drawing/2014/main" id="{070AFA91-F8BD-18EF-518F-5CF82F80F1A7}"/>
              </a:ext>
            </a:extLst>
          </p:cNvPr>
          <p:cNvSpPr/>
          <p:nvPr/>
        </p:nvSpPr>
        <p:spPr>
          <a:xfrm>
            <a:off x="376517" y="1839002"/>
            <a:ext cx="11337231" cy="1079010"/>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5825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15985</TotalTime>
  <Words>4860</Words>
  <Application>Microsoft Macintosh PowerPoint</Application>
  <PresentationFormat>Widescreen</PresentationFormat>
  <Paragraphs>461</Paragraphs>
  <Slides>33</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-apple-system</vt:lpstr>
      <vt:lpstr>Aptos</vt:lpstr>
      <vt:lpstr>Aptos Display</vt:lpstr>
      <vt:lpstr>Arial</vt:lpstr>
      <vt:lpstr>Cambria Math</vt:lpstr>
      <vt:lpstr>Courier New</vt:lpstr>
      <vt:lpstr>Times New Roman</vt:lpstr>
      <vt:lpstr>Wingdings</vt:lpstr>
      <vt:lpstr>Office Theme</vt:lpstr>
      <vt:lpstr>Week 5  How Should Biometric Experiments Be Designed?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Riggan</dc:creator>
  <cp:lastModifiedBy>Benjamin Riggan</cp:lastModifiedBy>
  <cp:revision>20</cp:revision>
  <cp:lastPrinted>2026-08-18T04:07:25Z</cp:lastPrinted>
  <dcterms:created xsi:type="dcterms:W3CDTF">2026-08-14T10:03:12Z</dcterms:created>
  <dcterms:modified xsi:type="dcterms:W3CDTF">2026-09-17T19:57:18Z</dcterms:modified>
</cp:coreProperties>
</file>
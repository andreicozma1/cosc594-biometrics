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handoutMasterIdLst>
    <p:handoutMasterId r:id="rId40"/>
  </p:handoutMasterIdLst>
  <p:sldIdLst>
    <p:sldId id="256" r:id="rId2"/>
    <p:sldId id="350" r:id="rId3"/>
    <p:sldId id="258" r:id="rId4"/>
    <p:sldId id="259" r:id="rId5"/>
    <p:sldId id="387" r:id="rId6"/>
    <p:sldId id="388" r:id="rId7"/>
    <p:sldId id="352" r:id="rId8"/>
    <p:sldId id="389" r:id="rId9"/>
    <p:sldId id="390" r:id="rId10"/>
    <p:sldId id="391" r:id="rId11"/>
    <p:sldId id="392" r:id="rId12"/>
    <p:sldId id="393" r:id="rId13"/>
    <p:sldId id="394" r:id="rId14"/>
    <p:sldId id="395" r:id="rId15"/>
    <p:sldId id="396" r:id="rId16"/>
    <p:sldId id="397" r:id="rId17"/>
    <p:sldId id="398" r:id="rId18"/>
    <p:sldId id="375" r:id="rId19"/>
    <p:sldId id="399" r:id="rId20"/>
    <p:sldId id="400" r:id="rId21"/>
    <p:sldId id="378" r:id="rId22"/>
    <p:sldId id="401" r:id="rId23"/>
    <p:sldId id="290" r:id="rId24"/>
    <p:sldId id="293" r:id="rId25"/>
    <p:sldId id="402" r:id="rId26"/>
    <p:sldId id="403" r:id="rId27"/>
    <p:sldId id="367" r:id="rId28"/>
    <p:sldId id="404" r:id="rId29"/>
    <p:sldId id="405" r:id="rId30"/>
    <p:sldId id="406" r:id="rId31"/>
    <p:sldId id="407" r:id="rId32"/>
    <p:sldId id="408" r:id="rId33"/>
    <p:sldId id="409" r:id="rId34"/>
    <p:sldId id="295" r:id="rId35"/>
    <p:sldId id="410" r:id="rId36"/>
    <p:sldId id="411" r:id="rId37"/>
    <p:sldId id="349"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45B263A-3634-4746-B7F1-E27656F98C03}">
          <p14:sldIdLst>
            <p14:sldId id="256"/>
          </p14:sldIdLst>
        </p14:section>
        <p14:section name="Intro" id="{0AB5F8BD-592F-7E48-832C-9830A19D6645}">
          <p14:sldIdLst>
            <p14:sldId id="350"/>
            <p14:sldId id="258"/>
            <p14:sldId id="259"/>
            <p14:sldId id="387"/>
          </p14:sldIdLst>
        </p14:section>
        <p14:section name="Concept" id="{DA9AA48A-BF94-1445-B381-729A6E7D522F}">
          <p14:sldIdLst>
            <p14:sldId id="388"/>
            <p14:sldId id="352"/>
            <p14:sldId id="389"/>
            <p14:sldId id="390"/>
            <p14:sldId id="391"/>
            <p14:sldId id="392"/>
            <p14:sldId id="393"/>
            <p14:sldId id="394"/>
            <p14:sldId id="395"/>
            <p14:sldId id="396"/>
            <p14:sldId id="397"/>
            <p14:sldId id="398"/>
            <p14:sldId id="375"/>
            <p14:sldId id="399"/>
            <p14:sldId id="400"/>
            <p14:sldId id="378"/>
            <p14:sldId id="401"/>
          </p14:sldIdLst>
        </p14:section>
        <p14:section name="Discussion" id="{3D959E87-38A9-B348-A864-94621CFDF8CE}">
          <p14:sldIdLst>
            <p14:sldId id="290"/>
            <p14:sldId id="293"/>
            <p14:sldId id="402"/>
            <p14:sldId id="403"/>
            <p14:sldId id="367"/>
            <p14:sldId id="404"/>
            <p14:sldId id="405"/>
            <p14:sldId id="406"/>
            <p14:sldId id="407"/>
            <p14:sldId id="408"/>
            <p14:sldId id="409"/>
            <p14:sldId id="295"/>
            <p14:sldId id="410"/>
            <p14:sldId id="411"/>
            <p14:sldId id="349"/>
          </p14:sldIdLst>
        </p14:section>
        <p14:section name="backup" id="{43E3BE12-2119-1E47-BA96-189CE7CD79B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0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1459"/>
    <p:restoredTop sz="79387"/>
  </p:normalViewPr>
  <p:slideViewPr>
    <p:cSldViewPr snapToGrid="0">
      <p:cViewPr varScale="1">
        <p:scale>
          <a:sx n="76" d="100"/>
          <a:sy n="76" d="100"/>
        </p:scale>
        <p:origin x="200" y="872"/>
      </p:cViewPr>
      <p:guideLst/>
    </p:cSldViewPr>
  </p:slideViewPr>
  <p:notesTextViewPr>
    <p:cViewPr>
      <p:scale>
        <a:sx n="1" d="1"/>
        <a:sy n="1" d="1"/>
      </p:scale>
      <p:origin x="0" y="0"/>
    </p:cViewPr>
  </p:notesTextViewPr>
  <p:notesViewPr>
    <p:cSldViewPr snapToGrid="0">
      <p:cViewPr varScale="1">
        <p:scale>
          <a:sx n="92" d="100"/>
          <a:sy n="92" d="100"/>
        </p:scale>
        <p:origin x="4072" y="1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15C88B7-C264-7647-9589-53AD6A0F63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DA1F27B-3FF1-705C-8E2C-5B60BF9E41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589F5D9-08F9-8545-A07A-A0C0A16AC233}" type="datetimeFigureOut">
              <a:rPr lang="en-US" smtClean="0"/>
              <a:t>10/1/26</a:t>
            </a:fld>
            <a:endParaRPr lang="en-US"/>
          </a:p>
        </p:txBody>
      </p:sp>
      <p:sp>
        <p:nvSpPr>
          <p:cNvPr id="4" name="Footer Placeholder 3">
            <a:extLst>
              <a:ext uri="{FF2B5EF4-FFF2-40B4-BE49-F238E27FC236}">
                <a16:creationId xmlns:a16="http://schemas.microsoft.com/office/drawing/2014/main" id="{0D98AE4A-4862-0E87-E51C-2246BB65C7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A82A21-79EB-226D-516C-CABEFDC2602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EEDDF4-667D-1547-9AF8-514A0169605C}" type="slidenum">
              <a:rPr lang="en-US" smtClean="0"/>
              <a:t>‹#›</a:t>
            </a:fld>
            <a:endParaRPr lang="en-US"/>
          </a:p>
        </p:txBody>
      </p:sp>
    </p:spTree>
    <p:extLst>
      <p:ext uri="{BB962C8B-B14F-4D97-AF65-F5344CB8AC3E}">
        <p14:creationId xmlns:p14="http://schemas.microsoft.com/office/powerpoint/2010/main" val="36750574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4269A-2CD6-4441-B83F-9F4344585B8B}" type="datetimeFigureOut">
              <a:rPr lang="en-US" smtClean="0"/>
              <a:t>10/1/26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E7BD1F-0023-244E-A8FD-1ADCC0FAE1A1}" type="slidenum">
              <a:rPr lang="en-US" smtClean="0"/>
              <a:t>‹#›</a:t>
            </a:fld>
            <a:endParaRPr lang="en-US"/>
          </a:p>
        </p:txBody>
      </p:sp>
    </p:spTree>
    <p:extLst>
      <p:ext uri="{BB962C8B-B14F-4D97-AF65-F5344CB8AC3E}">
        <p14:creationId xmlns:p14="http://schemas.microsoft.com/office/powerpoint/2010/main" val="3468264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0" i="0" kern="1200" dirty="0">
                <a:solidFill>
                  <a:schemeClr val="tx1"/>
                </a:solidFill>
                <a:effectLst/>
                <a:latin typeface="+mn-lt"/>
                <a:ea typeface="+mn-ea"/>
                <a:cs typeface="+mn-cs"/>
              </a:rPr>
              <a:t>- Briefly acknowledge that this is a combined session because the previous meeting was cancelled unexpectedly.</a:t>
            </a:r>
          </a:p>
          <a:p>
            <a:pPr lvl="0"/>
            <a:endParaRPr lang="en-US" sz="1200" b="0" i="0" kern="1200" dirty="0">
              <a:solidFill>
                <a:schemeClr val="tx1"/>
              </a:solidFill>
              <a:effectLst/>
              <a:latin typeface="+mn-lt"/>
              <a:ea typeface="+mn-ea"/>
              <a:cs typeface="+mn-cs"/>
            </a:endParaRPr>
          </a:p>
          <a:p>
            <a:pPr lvl="0"/>
            <a:r>
              <a:rPr lang="en-US" sz="1200" b="1" i="0" kern="1200" dirty="0">
                <a:solidFill>
                  <a:schemeClr val="tx1"/>
                </a:solidFill>
                <a:effectLst/>
                <a:latin typeface="+mn-lt"/>
                <a:ea typeface="+mn-ea"/>
                <a:cs typeface="+mn-cs"/>
              </a:rPr>
              <a:t>Main  Idea</a:t>
            </a:r>
            <a:r>
              <a:rPr lang="en-US" sz="1200" b="0" i="0" kern="1200" dirty="0">
                <a:solidFill>
                  <a:schemeClr val="tx1"/>
                </a:solidFill>
                <a:effectLst/>
                <a:latin typeface="+mn-lt"/>
                <a:ea typeface="+mn-ea"/>
                <a:cs typeface="+mn-cs"/>
              </a:rPr>
              <a:t>: “Trust is not a binary label that belongs to a paper. We ask whether a particular body of evidence supports a particular claim for a particular use.”</a:t>
            </a:r>
          </a:p>
          <a:p>
            <a:endParaRPr lang="en-US" dirty="0"/>
          </a:p>
        </p:txBody>
      </p:sp>
      <p:sp>
        <p:nvSpPr>
          <p:cNvPr id="4" name="Slide Number Placeholder 3"/>
          <p:cNvSpPr>
            <a:spLocks noGrp="1"/>
          </p:cNvSpPr>
          <p:nvPr>
            <p:ph type="sldNum" sz="quarter" idx="5"/>
          </p:nvPr>
        </p:nvSpPr>
        <p:spPr/>
        <p:txBody>
          <a:bodyPr/>
          <a:lstStyle/>
          <a:p>
            <a:fld id="{29E7BD1F-0023-244E-A8FD-1ADCC0FAE1A1}" type="slidenum">
              <a:rPr lang="en-US" smtClean="0"/>
              <a:t>1</a:t>
            </a:fld>
            <a:endParaRPr lang="en-US"/>
          </a:p>
        </p:txBody>
      </p:sp>
    </p:spTree>
    <p:extLst>
      <p:ext uri="{BB962C8B-B14F-4D97-AF65-F5344CB8AC3E}">
        <p14:creationId xmlns:p14="http://schemas.microsoft.com/office/powerpoint/2010/main" val="2233510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4945B-08DE-35AF-1A88-C48E825A0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1F5E9F-D90A-25EC-D305-8C0A25DAF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4F93DC-8A10-5A56-4870-D875CD702DC4}"/>
              </a:ext>
            </a:extLst>
          </p:cNvPr>
          <p:cNvSpPr>
            <a:spLocks noGrp="1"/>
          </p:cNvSpPr>
          <p:nvPr>
            <p:ph type="body" idx="1"/>
          </p:nvPr>
        </p:nvSpPr>
        <p:spPr/>
        <p:txBody>
          <a:bodyPr/>
          <a:lstStyle/>
          <a:p>
            <a:r>
              <a:rPr lang="en-US" b="1" dirty="0"/>
              <a:t>Question: </a:t>
            </a:r>
            <a:r>
              <a:rPr lang="en-US" b="0" dirty="0"/>
              <a:t>what failed?</a:t>
            </a:r>
            <a:br>
              <a:rPr lang="en-US" dirty="0"/>
            </a:br>
            <a:br>
              <a:rPr lang="en-US" dirty="0"/>
            </a:br>
            <a:r>
              <a:rPr lang="en-US" dirty="0"/>
              <a:t>Example answers may include: lighting, pose, distance, demographics, camera differences, spoofing, etc.</a:t>
            </a:r>
          </a:p>
          <a:p>
            <a:pPr marL="0" lvl="0" indent="0">
              <a:buFont typeface="Arial" panose="020B0604020202020204" pitchFamily="34" charset="0"/>
              <a:buNone/>
            </a:pPr>
            <a:br>
              <a:rPr lang="en-US" b="1" dirty="0"/>
            </a:br>
            <a:r>
              <a:rPr lang="en-US" b="1" dirty="0"/>
              <a:t>Response:</a:t>
            </a:r>
            <a:br>
              <a:rPr lang="en-US" b="1" dirty="0"/>
            </a:br>
            <a:r>
              <a:rPr lang="en-US" dirty="0"/>
              <a:t>The benchmark tells us something about the system's performance </a:t>
            </a:r>
            <a:r>
              <a:rPr lang="en-US" b="1" dirty="0"/>
              <a:t>under the benchmark's data-generating conditions</a:t>
            </a:r>
            <a:r>
              <a:rPr lang="en-US" dirty="0"/>
              <a:t>. It does not tell us how the system will behave under the facility's illumination, camera geometry, subject distance, population, enrollment process, operational workflow, spoofing attempts, etc.</a:t>
            </a:r>
            <a:br>
              <a:rPr lang="en-US" dirty="0"/>
            </a:br>
            <a:br>
              <a:rPr lang="en-US" dirty="0"/>
            </a:br>
            <a:r>
              <a:rPr lang="en-US" b="1" dirty="0"/>
              <a:t>Follow-up:</a:t>
            </a:r>
          </a:p>
          <a:p>
            <a:pPr marL="0" lvl="0" indent="0">
              <a:buFont typeface="Arial" panose="020B0604020202020204" pitchFamily="34" charset="0"/>
              <a:buNone/>
            </a:pPr>
            <a:br>
              <a:rPr lang="en-US" b="1" dirty="0"/>
            </a:br>
            <a:r>
              <a:rPr lang="en-US" b="0" dirty="0"/>
              <a:t>The alerting problem may be several steps downstream of recognition.</a:t>
            </a:r>
            <a:br>
              <a:rPr lang="en-US" b="0" dirty="0"/>
            </a:br>
            <a:br>
              <a:rPr lang="en-US" b="0" dirty="0"/>
            </a:br>
            <a:r>
              <a:rPr lang="en-US" b="0" dirty="0"/>
              <a:t>World -&gt; Acquisition -&gt; Detection / Quality Assessment -&gt; Representation -&gt; Matching -&gt; Verification -&gt; Operational Rule / Alerting -&gt; Security Responds</a:t>
            </a:r>
            <a:br>
              <a:rPr lang="en-US" b="0" dirty="0"/>
            </a:br>
            <a:br>
              <a:rPr lang="en-US" b="0" dirty="0"/>
            </a:br>
            <a:r>
              <a:rPr lang="en-US" b="0" dirty="0"/>
              <a:t>The benchmark TAR/FAR primarily reveals the verification performance under the benchmark conditions. However, it does not directly tell us:</a:t>
            </a:r>
            <a:br>
              <a:rPr lang="en-US" b="0" dirty="0"/>
            </a:br>
            <a:r>
              <a:rPr lang="en-US" b="0" dirty="0"/>
              <a:t>- how often the camera will successfully acquire a face?</a:t>
            </a:r>
            <a:br>
              <a:rPr lang="en-US" b="0" dirty="0"/>
            </a:br>
            <a:r>
              <a:rPr lang="en-US" b="0" dirty="0"/>
              <a:t>- how the score distributions will change at the facility?</a:t>
            </a:r>
            <a:br>
              <a:rPr lang="en-US" b="0" dirty="0"/>
            </a:br>
            <a:r>
              <a:rPr lang="en-US" b="0" dirty="0"/>
              <a:t>- how many people will be rejected?</a:t>
            </a:r>
            <a:br>
              <a:rPr lang="en-US" b="0" dirty="0"/>
            </a:br>
            <a:r>
              <a:rPr lang="en-US" b="0" dirty="0"/>
              <a:t>- how many alerts will be generated?</a:t>
            </a:r>
            <a:br>
              <a:rPr lang="en-US" b="0" dirty="0"/>
            </a:br>
            <a:r>
              <a:rPr lang="en-US" b="0" dirty="0"/>
              <a:t>- what fraction of alerts will be actionable?</a:t>
            </a:r>
            <a:br>
              <a:rPr lang="en-US" b="0" dirty="0"/>
            </a:br>
            <a:r>
              <a:rPr lang="en-US" b="0" dirty="0"/>
              <a:t>- Or whether operators will respond appropriately?</a:t>
            </a:r>
            <a:br>
              <a:rPr lang="en-US" b="0" dirty="0"/>
            </a:br>
            <a:br>
              <a:rPr lang="en-US" b="0" dirty="0"/>
            </a:br>
            <a:r>
              <a:rPr lang="en-US" b="1" dirty="0"/>
              <a:t>Synthesis: </a:t>
            </a:r>
            <a:br>
              <a:rPr lang="en-US" b="1" dirty="0"/>
            </a:br>
            <a:r>
              <a:rPr lang="en-US" dirty="0"/>
              <a:t>the deployment isn't simply “the same model in a new place.” </a:t>
            </a:r>
            <a:br>
              <a:rPr lang="en-US" dirty="0"/>
            </a:br>
            <a:r>
              <a:rPr lang="en-US" dirty="0"/>
              <a:t>The entire </a:t>
            </a:r>
            <a:r>
              <a:rPr lang="en-US" b="1" dirty="0"/>
              <a:t>data-generating and decision-making pipeline</a:t>
            </a:r>
            <a:r>
              <a:rPr lang="en-US" dirty="0"/>
              <a:t> can change.</a:t>
            </a:r>
            <a:endParaRPr lang="en-US" b="1" dirty="0"/>
          </a:p>
        </p:txBody>
      </p:sp>
      <p:sp>
        <p:nvSpPr>
          <p:cNvPr id="4" name="Slide Number Placeholder 3">
            <a:extLst>
              <a:ext uri="{FF2B5EF4-FFF2-40B4-BE49-F238E27FC236}">
                <a16:creationId xmlns:a16="http://schemas.microsoft.com/office/drawing/2014/main" id="{D1CA0195-F725-87E2-0452-10FE0E195086}"/>
              </a:ext>
            </a:extLst>
          </p:cNvPr>
          <p:cNvSpPr>
            <a:spLocks noGrp="1"/>
          </p:cNvSpPr>
          <p:nvPr>
            <p:ph type="sldNum" sz="quarter" idx="5"/>
          </p:nvPr>
        </p:nvSpPr>
        <p:spPr/>
        <p:txBody>
          <a:bodyPr/>
          <a:lstStyle/>
          <a:p>
            <a:fld id="{29E7BD1F-0023-244E-A8FD-1ADCC0FAE1A1}" type="slidenum">
              <a:rPr lang="en-US" smtClean="0"/>
              <a:t>2</a:t>
            </a:fld>
            <a:endParaRPr lang="en-US"/>
          </a:p>
        </p:txBody>
      </p:sp>
    </p:spTree>
    <p:extLst>
      <p:ext uri="{BB962C8B-B14F-4D97-AF65-F5344CB8AC3E}">
        <p14:creationId xmlns:p14="http://schemas.microsoft.com/office/powerpoint/2010/main" val="32253398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lvl="0" indent="0">
                  <a:buFont typeface="Arial" panose="020B0604020202020204" pitchFamily="34" charset="0"/>
                  <a:buNone/>
                </a:pPr>
                <a:r>
                  <a:rPr lang="en-US" b="1" dirty="0"/>
                  <a:t>Progression:</a:t>
                </a:r>
                <a:br>
                  <a:rPr lang="en-US" b="1" dirty="0"/>
                </a:br>
                <a:br>
                  <a:rPr lang="en-US" b="1" dirty="0"/>
                </a:br>
                <a:r>
                  <a:rPr lang="en-US" b="1" dirty="0"/>
                  <a:t>Benchmark </a:t>
                </a:r>
                <a14:m>
                  <m:oMath xmlns:m="http://schemas.openxmlformats.org/officeDocument/2006/math">
                    <m:r>
                      <a:rPr lang="en-US" b="1" i="1" smtClean="0">
                        <a:latin typeface="Cambria Math" panose="02040503050406030204" pitchFamily="18" charset="0"/>
                      </a:rPr>
                      <m:t>≠</m:t>
                    </m:r>
                  </m:oMath>
                </a14:m>
                <a:r>
                  <a:rPr lang="en-US" b="1" dirty="0"/>
                  <a:t> Deployment</a:t>
                </a:r>
                <a:br>
                  <a:rPr lang="en-US" b="0" dirty="0"/>
                </a:br>
                <a:r>
                  <a:rPr lang="en-US" b="0" dirty="0"/>
                  <a:t>	</a:t>
                </a:r>
                <a14:m>
                  <m:oMath xmlns:m="http://schemas.openxmlformats.org/officeDocument/2006/math">
                    <m:r>
                      <a:rPr lang="en-US" b="0" i="1" smtClean="0">
                        <a:latin typeface="Cambria Math" panose="02040503050406030204" pitchFamily="18" charset="0"/>
                      </a:rPr>
                      <m:t>↓</m:t>
                    </m:r>
                  </m:oMath>
                </a14:m>
                <a:endParaRPr lang="en-US" b="0" dirty="0"/>
              </a:p>
              <a:p>
                <a:pPr marL="0" lvl="0" indent="0">
                  <a:buFont typeface="Arial" panose="020B0604020202020204" pitchFamily="34" charset="0"/>
                  <a:buNone/>
                </a:pPr>
                <a:r>
                  <a:rPr lang="en-US" b="1" dirty="0"/>
                  <a:t>What makes two recognition problems different? </a:t>
                </a:r>
                <a:r>
                  <a:rPr lang="en-US" b="0" dirty="0"/>
                  <a:t>(</a:t>
                </a:r>
                <a:r>
                  <a:rPr lang="en-US" b="1" dirty="0"/>
                  <a:t>Answer</a:t>
                </a:r>
                <a:r>
                  <a:rPr lang="en-US" b="0" dirty="0"/>
                  <a:t>:</a:t>
                </a:r>
                <a:r>
                  <a:rPr lang="en-US" b="0" baseline="0" dirty="0"/>
                  <a:t> score distributions)</a:t>
                </a:r>
                <a:br>
                  <a:rPr lang="en-US" b="0" dirty="0"/>
                </a:br>
                <a:r>
                  <a:rPr lang="en-US" b="0" dirty="0"/>
                  <a:t>	</a:t>
                </a:r>
                <a14:m>
                  <m:oMath xmlns:m="http://schemas.openxmlformats.org/officeDocument/2006/math">
                    <m:r>
                      <a:rPr lang="en-US" b="0" i="1" smtClean="0">
                        <a:latin typeface="Cambria Math" panose="02040503050406030204" pitchFamily="18" charset="0"/>
                      </a:rPr>
                      <m:t>↓</m:t>
                    </m:r>
                  </m:oMath>
                </a14:m>
                <a:endParaRPr lang="en-US" b="1" dirty="0"/>
              </a:p>
              <a:p>
                <a:pPr marL="0" lvl="0" indent="0">
                  <a:buFont typeface="Arial" panose="020B0604020202020204" pitchFamily="34" charset="0"/>
                  <a:buNone/>
                </a:pPr>
                <a:r>
                  <a:rPr lang="en-US" b="1" dirty="0"/>
                  <a:t>Where can distributions</a:t>
                </a:r>
                <a:r>
                  <a:rPr lang="en-US" b="1" baseline="0" dirty="0"/>
                  <a:t> differ? </a:t>
                </a:r>
                <a:r>
                  <a:rPr lang="en-US" b="0" baseline="0" dirty="0"/>
                  <a:t>(</a:t>
                </a:r>
                <a:r>
                  <a:rPr lang="en-US" b="1" baseline="0" dirty="0"/>
                  <a:t>Answer</a:t>
                </a:r>
                <a:r>
                  <a:rPr lang="en-US" b="0" baseline="0" dirty="0"/>
                  <a:t>: environment, probe/gallery composition, population)</a:t>
                </a:r>
                <a:br>
                  <a:rPr lang="en-US" b="0" dirty="0"/>
                </a:br>
                <a:r>
                  <a:rPr lang="en-US" b="0" dirty="0"/>
                  <a:t>	</a:t>
                </a:r>
                <a14:m>
                  <m:oMath xmlns:m="http://schemas.openxmlformats.org/officeDocument/2006/math">
                    <m:r>
                      <a:rPr lang="en-US" b="0" i="1" smtClean="0">
                        <a:latin typeface="Cambria Math" panose="02040503050406030204" pitchFamily="18" charset="0"/>
                      </a:rPr>
                      <m:t>↓</m:t>
                    </m:r>
                  </m:oMath>
                </a14:m>
                <a:endParaRPr lang="en-US" b="1" dirty="0"/>
              </a:p>
              <a:p>
                <a:pPr marL="0" lvl="0" indent="0">
                  <a:buFont typeface="Arial" panose="020B0604020202020204" pitchFamily="34" charset="0"/>
                  <a:buNone/>
                </a:pPr>
                <a:r>
                  <a:rPr lang="en-US" b="1" dirty="0"/>
                  <a:t>How</a:t>
                </a:r>
                <a:r>
                  <a:rPr lang="en-US" b="1" baseline="0" dirty="0"/>
                  <a:t> varying distributions affect measurements, representations, and imaging? </a:t>
                </a:r>
                <a:r>
                  <a:rPr lang="en-US" b="0" baseline="0" dirty="0"/>
                  <a:t>(</a:t>
                </a:r>
                <a:r>
                  <a:rPr lang="en-US" b="1" baseline="0" dirty="0"/>
                  <a:t>Answer</a:t>
                </a:r>
                <a:r>
                  <a:rPr lang="en-US" b="0" baseline="0" dirty="0"/>
                  <a:t>: suppose performance accuracy depends on condition </a:t>
                </a:r>
                <a14:m>
                  <m:oMath xmlns:m="http://schemas.openxmlformats.org/officeDocument/2006/math">
                    <m:r>
                      <a:rPr lang="en-US" b="0" i="1" baseline="0" dirty="0" smtClean="0">
                        <a:latin typeface="Cambria Math" panose="02040503050406030204" pitchFamily="18" charset="0"/>
                      </a:rPr>
                      <m:t>𝑐</m:t>
                    </m:r>
                    <m:r>
                      <a:rPr lang="en-US" b="0" i="1" baseline="0" dirty="0" smtClean="0">
                        <a:latin typeface="Cambria Math" panose="02040503050406030204" pitchFamily="18" charset="0"/>
                      </a:rPr>
                      <m:t>:</m:t>
                    </m:r>
                    <m:sSub>
                      <m:sSubPr>
                        <m:ctrlPr>
                          <a:rPr lang="en-US" b="0" i="1" baseline="0" dirty="0" smtClean="0">
                            <a:latin typeface="Cambria Math" panose="02040503050406030204" pitchFamily="18" charset="0"/>
                          </a:rPr>
                        </m:ctrlPr>
                      </m:sSubPr>
                      <m:e>
                        <m:r>
                          <a:rPr lang="en-US" b="0" i="1" baseline="0" dirty="0" smtClean="0">
                            <a:latin typeface="Cambria Math" panose="02040503050406030204" pitchFamily="18" charset="0"/>
                          </a:rPr>
                          <m:t> </m:t>
                        </m:r>
                        <m:r>
                          <a:rPr lang="en-US" b="0" i="1" baseline="0" dirty="0" smtClean="0">
                            <a:latin typeface="Cambria Math" panose="02040503050406030204" pitchFamily="18" charset="0"/>
                          </a:rPr>
                          <m:t>𝐴</m:t>
                        </m:r>
                      </m:e>
                      <m:sub>
                        <m:r>
                          <a:rPr lang="en-US" b="0" i="1" baseline="0" dirty="0" smtClean="0">
                            <a:latin typeface="Cambria Math" panose="02040503050406030204" pitchFamily="18" charset="0"/>
                          </a:rPr>
                          <m:t>𝑐</m:t>
                        </m:r>
                      </m:sub>
                    </m:sSub>
                    <m:r>
                      <a:rPr lang="en-US" b="0" i="1" baseline="0" dirty="0" smtClean="0">
                        <a:latin typeface="Cambria Math" panose="02040503050406030204" pitchFamily="18" charset="0"/>
                      </a:rPr>
                      <m:t>=</m:t>
                    </m:r>
                    <m:r>
                      <a:rPr lang="en-US" b="0" i="1" baseline="0" dirty="0" smtClean="0">
                        <a:latin typeface="Cambria Math" panose="02040503050406030204" pitchFamily="18" charset="0"/>
                      </a:rPr>
                      <m:t>𝑃</m:t>
                    </m:r>
                    <m:d>
                      <m:dPr>
                        <m:endChr m:val="|"/>
                        <m:ctrlPr>
                          <a:rPr lang="en-US" b="0" i="1" baseline="0" dirty="0" smtClean="0">
                            <a:latin typeface="Cambria Math" panose="02040503050406030204" pitchFamily="18" charset="0"/>
                          </a:rPr>
                        </m:ctrlPr>
                      </m:dPr>
                      <m:e>
                        <m:r>
                          <a:rPr lang="en-US" b="0" i="1" baseline="0" dirty="0" smtClean="0">
                            <a:latin typeface="Cambria Math" panose="02040503050406030204" pitchFamily="18" charset="0"/>
                          </a:rPr>
                          <m:t>𝑐𝑜𝑟𝑟𝑒𝑐𝑡</m:t>
                        </m:r>
                        <m:r>
                          <a:rPr lang="en-US" b="0" i="1" baseline="0" dirty="0" smtClean="0">
                            <a:latin typeface="Cambria Math" panose="02040503050406030204" pitchFamily="18" charset="0"/>
                          </a:rPr>
                          <m:t> </m:t>
                        </m:r>
                      </m:e>
                    </m:d>
                    <m:r>
                      <a:rPr lang="en-US" b="0" i="1" baseline="0" dirty="0" smtClean="0">
                        <a:latin typeface="Cambria Math" panose="02040503050406030204" pitchFamily="18" charset="0"/>
                      </a:rPr>
                      <m:t> </m:t>
                    </m:r>
                    <m:r>
                      <a:rPr lang="en-US" b="0" i="1" baseline="0" dirty="0" smtClean="0">
                        <a:latin typeface="Cambria Math" panose="02040503050406030204" pitchFamily="18" charset="0"/>
                      </a:rPr>
                      <m:t>𝑐</m:t>
                    </m:r>
                    <m:r>
                      <a:rPr lang="en-US" b="0" i="1" baseline="0" dirty="0" smtClean="0">
                        <a:latin typeface="Cambria Math" panose="02040503050406030204" pitchFamily="18" charset="0"/>
                      </a:rPr>
                      <m:t>)</m:t>
                    </m:r>
                  </m:oMath>
                </a14:m>
                <a:r>
                  <a:rPr lang="en-US" b="0" dirty="0"/>
                  <a:t>. Then,</a:t>
                </a:r>
                <a:r>
                  <a:rPr lang="en-US" b="0" baseline="0" dirty="0"/>
                  <a:t> aggregate accuracy is effectively a mixture: </a:t>
                </a:r>
                <a14:m>
                  <m:oMath xmlns:m="http://schemas.openxmlformats.org/officeDocument/2006/math">
                    <m:r>
                      <a:rPr lang="en-US" b="0" i="1" baseline="0" smtClean="0">
                        <a:latin typeface="Cambria Math" panose="02040503050406030204" pitchFamily="18" charset="0"/>
                      </a:rPr>
                      <m:t>𝐴</m:t>
                    </m:r>
                    <m:r>
                      <a:rPr lang="en-US" b="0" i="1" baseline="0" smtClean="0">
                        <a:latin typeface="Cambria Math" panose="02040503050406030204" pitchFamily="18" charset="0"/>
                      </a:rPr>
                      <m:t>=∑</m:t>
                    </m:r>
                    <m:r>
                      <a:rPr lang="en-US" b="0" i="1" baseline="0" smtClean="0">
                        <a:latin typeface="Cambria Math" panose="02040503050406030204" pitchFamily="18" charset="0"/>
                      </a:rPr>
                      <m:t>𝑃</m:t>
                    </m:r>
                    <m:d>
                      <m:dPr>
                        <m:ctrlPr>
                          <a:rPr lang="en-US" b="0" i="1" baseline="0" smtClean="0">
                            <a:latin typeface="Cambria Math" panose="02040503050406030204" pitchFamily="18" charset="0"/>
                          </a:rPr>
                        </m:ctrlPr>
                      </m:dPr>
                      <m:e>
                        <m:r>
                          <a:rPr lang="en-US" b="0" i="1" baseline="0" smtClean="0">
                            <a:latin typeface="Cambria Math" panose="02040503050406030204" pitchFamily="18" charset="0"/>
                          </a:rPr>
                          <m:t>𝑐</m:t>
                        </m:r>
                      </m:e>
                    </m:d>
                    <m:sSub>
                      <m:sSubPr>
                        <m:ctrlPr>
                          <a:rPr lang="en-US" b="0" i="1" baseline="0" smtClean="0">
                            <a:latin typeface="Cambria Math" panose="02040503050406030204" pitchFamily="18" charset="0"/>
                          </a:rPr>
                        </m:ctrlPr>
                      </m:sSubPr>
                      <m:e>
                        <m:r>
                          <a:rPr lang="en-US" b="0" i="1" baseline="0" smtClean="0">
                            <a:latin typeface="Cambria Math" panose="02040503050406030204" pitchFamily="18" charset="0"/>
                          </a:rPr>
                          <m:t>𝐴</m:t>
                        </m:r>
                      </m:e>
                      <m:sub>
                        <m:r>
                          <a:rPr lang="en-US" b="0" i="1" baseline="0" smtClean="0">
                            <a:latin typeface="Cambria Math" panose="02040503050406030204" pitchFamily="18" charset="0"/>
                          </a:rPr>
                          <m:t>𝑐</m:t>
                        </m:r>
                      </m:sub>
                    </m:sSub>
                  </m:oMath>
                </a14:m>
                <a:r>
                  <a:rPr lang="en-US" b="0" dirty="0"/>
                  <a:t>.  Therefore, the benchmark accuracy depends</a:t>
                </a:r>
                <a:r>
                  <a:rPr lang="en-US" b="0" baseline="0" dirty="0"/>
                  <a:t> on how well the system performs under each condition and how frequently each condition occurs.  </a:t>
                </a:r>
                <a:r>
                  <a:rPr lang="en-US" b="0" i="1" baseline="0" dirty="0"/>
                  <a:t>If the mixture of conditions changes and the model remains the same, can the aggregate performance change?</a:t>
                </a:r>
                <a:r>
                  <a:rPr lang="en-US" b="0" baseline="0" dirty="0"/>
                  <a:t> YES!)</a:t>
                </a:r>
                <a:br>
                  <a:rPr lang="en-US" b="0" dirty="0"/>
                </a:br>
                <a:r>
                  <a:rPr lang="en-US" b="0" dirty="0"/>
                  <a:t>	</a:t>
                </a:r>
                <a14:m>
                  <m:oMath xmlns:m="http://schemas.openxmlformats.org/officeDocument/2006/math">
                    <m:r>
                      <a:rPr lang="en-US" b="0" i="1" smtClean="0">
                        <a:latin typeface="Cambria Math" panose="02040503050406030204" pitchFamily="18" charset="0"/>
                      </a:rPr>
                      <m:t>↓</m:t>
                    </m:r>
                  </m:oMath>
                </a14:m>
                <a:endParaRPr lang="en-US" b="0" dirty="0"/>
              </a:p>
              <a:p>
                <a:pPr marL="0" lvl="0" indent="0">
                  <a:buFont typeface="Arial" panose="020B0604020202020204" pitchFamily="34" charset="0"/>
                  <a:buNone/>
                </a:pPr>
                <a:r>
                  <a:rPr lang="en-US" b="1" dirty="0"/>
                  <a:t>Which differences actually matter?</a:t>
                </a:r>
              </a:p>
            </p:txBody>
          </p:sp>
        </mc:Choice>
        <mc:Fallback xmlns="">
          <p:sp>
            <p:nvSpPr>
              <p:cNvPr id="3" name="Notes Placeholder 2"/>
              <p:cNvSpPr>
                <a:spLocks noGrp="1"/>
              </p:cNvSpPr>
              <p:nvPr>
                <p:ph type="body" idx="1"/>
              </p:nvPr>
            </p:nvSpPr>
            <p:spPr/>
            <p:txBody>
              <a:bodyPr/>
              <a:lstStyle/>
              <a:p>
                <a:pPr marL="0" lvl="0" indent="0">
                  <a:buFont typeface="Arial" panose="020B0604020202020204" pitchFamily="34" charset="0"/>
                  <a:buNone/>
                </a:pPr>
                <a:r>
                  <a:rPr lang="en-US" b="1" dirty="0"/>
                  <a:t>Progression:</a:t>
                </a:r>
                <a:br>
                  <a:rPr lang="en-US" b="1" dirty="0"/>
                </a:br>
                <a:br>
                  <a:rPr lang="en-US" b="1" dirty="0"/>
                </a:br>
                <a:r>
                  <a:rPr lang="en-US" b="1" dirty="0"/>
                  <a:t>Benchmark </a:t>
                </a:r>
                <a:r>
                  <a:rPr lang="en-US" b="1" i="0">
                    <a:latin typeface="Cambria Math" panose="02040503050406030204" pitchFamily="18" charset="0"/>
                  </a:rPr>
                  <a:t>≠</a:t>
                </a:r>
                <a:r>
                  <a:rPr lang="en-US" b="1" dirty="0"/>
                  <a:t> Deployment</a:t>
                </a:r>
                <a:br>
                  <a:rPr lang="en-US" b="0" dirty="0"/>
                </a:br>
                <a:r>
                  <a:rPr lang="en-US" b="0" dirty="0"/>
                  <a:t>	</a:t>
                </a:r>
                <a:r>
                  <a:rPr lang="en-US" b="0" i="0">
                    <a:latin typeface="Cambria Math" panose="02040503050406030204" pitchFamily="18" charset="0"/>
                  </a:rPr>
                  <a:t>↓</a:t>
                </a:r>
                <a:endParaRPr lang="en-US" b="0" dirty="0"/>
              </a:p>
              <a:p>
                <a:pPr marL="0" lvl="0" indent="0">
                  <a:buFont typeface="Arial" panose="020B0604020202020204" pitchFamily="34" charset="0"/>
                  <a:buNone/>
                </a:pPr>
                <a:r>
                  <a:rPr lang="en-US" b="1" dirty="0"/>
                  <a:t>What makes two recognition problems different? </a:t>
                </a:r>
                <a:r>
                  <a:rPr lang="en-US" b="0" dirty="0"/>
                  <a:t>(</a:t>
                </a:r>
                <a:r>
                  <a:rPr lang="en-US" b="1" dirty="0"/>
                  <a:t>Answer</a:t>
                </a:r>
                <a:r>
                  <a:rPr lang="en-US" b="0" dirty="0"/>
                  <a:t>:</a:t>
                </a:r>
                <a:r>
                  <a:rPr lang="en-US" b="0" baseline="0" dirty="0"/>
                  <a:t> score distributions)</a:t>
                </a:r>
                <a:br>
                  <a:rPr lang="en-US" b="0" dirty="0"/>
                </a:br>
                <a:r>
                  <a:rPr lang="en-US" b="0" dirty="0"/>
                  <a:t>	</a:t>
                </a:r>
                <a:r>
                  <a:rPr lang="en-US" b="0" i="0">
                    <a:latin typeface="Cambria Math" panose="02040503050406030204" pitchFamily="18" charset="0"/>
                  </a:rPr>
                  <a:t>↓</a:t>
                </a:r>
                <a:endParaRPr lang="en-US" b="1" dirty="0"/>
              </a:p>
              <a:p>
                <a:pPr marL="0" lvl="0" indent="0">
                  <a:buFont typeface="Arial" panose="020B0604020202020204" pitchFamily="34" charset="0"/>
                  <a:buNone/>
                </a:pPr>
                <a:r>
                  <a:rPr lang="en-US" b="1" dirty="0"/>
                  <a:t>Where can distributions</a:t>
                </a:r>
                <a:r>
                  <a:rPr lang="en-US" b="1" baseline="0" dirty="0"/>
                  <a:t> differ? </a:t>
                </a:r>
                <a:r>
                  <a:rPr lang="en-US" b="0" baseline="0" dirty="0"/>
                  <a:t>(</a:t>
                </a:r>
                <a:r>
                  <a:rPr lang="en-US" b="1" baseline="0" dirty="0"/>
                  <a:t>Answer</a:t>
                </a:r>
                <a:r>
                  <a:rPr lang="en-US" b="0" baseline="0" dirty="0"/>
                  <a:t>: environment, probe/gallery composition, population)</a:t>
                </a:r>
                <a:br>
                  <a:rPr lang="en-US" b="0" dirty="0"/>
                </a:br>
                <a:r>
                  <a:rPr lang="en-US" b="0" dirty="0"/>
                  <a:t>	</a:t>
                </a:r>
                <a:r>
                  <a:rPr lang="en-US" b="0" i="0">
                    <a:latin typeface="Cambria Math" panose="02040503050406030204" pitchFamily="18" charset="0"/>
                  </a:rPr>
                  <a:t>↓</a:t>
                </a:r>
                <a:endParaRPr lang="en-US" b="1" dirty="0"/>
              </a:p>
              <a:p>
                <a:pPr marL="0" lvl="0" indent="0">
                  <a:buFont typeface="Arial" panose="020B0604020202020204" pitchFamily="34" charset="0"/>
                  <a:buNone/>
                </a:pPr>
                <a:r>
                  <a:rPr lang="en-US" b="1" dirty="0"/>
                  <a:t>How</a:t>
                </a:r>
                <a:r>
                  <a:rPr lang="en-US" b="1" baseline="0" dirty="0"/>
                  <a:t> varying distributions affect measurements, representations, and imaging? </a:t>
                </a:r>
                <a:r>
                  <a:rPr lang="en-US" b="0" baseline="0" dirty="0"/>
                  <a:t>(</a:t>
                </a:r>
                <a:r>
                  <a:rPr lang="en-US" b="1" baseline="0" dirty="0"/>
                  <a:t>Answer</a:t>
                </a:r>
                <a:r>
                  <a:rPr lang="en-US" b="0" baseline="0" dirty="0"/>
                  <a:t>: suppose performance accuracy depends on condition </a:t>
                </a:r>
                <a:r>
                  <a:rPr lang="en-US" b="0" i="0" baseline="0" dirty="0">
                    <a:latin typeface="Cambria Math" panose="02040503050406030204" pitchFamily="18" charset="0"/>
                  </a:rPr>
                  <a:t>𝑐:〖 𝐴〗_𝑐=𝑃(𝑐𝑜𝑟𝑟𝑒𝑐𝑡 ┤|  𝑐)</a:t>
                </a:r>
                <a:r>
                  <a:rPr lang="en-US" b="0" dirty="0"/>
                  <a:t>. Then,</a:t>
                </a:r>
                <a:r>
                  <a:rPr lang="en-US" b="0" baseline="0" dirty="0"/>
                  <a:t> aggregate accuracy is effectively a mixture: </a:t>
                </a:r>
                <a:r>
                  <a:rPr lang="en-US" b="0" i="0" baseline="0">
                    <a:latin typeface="Cambria Math" panose="02040503050406030204" pitchFamily="18" charset="0"/>
                  </a:rPr>
                  <a:t>𝐴=∑𝑃(𝑐) 𝐴_𝑐</a:t>
                </a:r>
                <a:r>
                  <a:rPr lang="en-US" b="0" dirty="0"/>
                  <a:t>.  Therefore, the benchmark accuracy depends</a:t>
                </a:r>
                <a:r>
                  <a:rPr lang="en-US" b="0" baseline="0" dirty="0"/>
                  <a:t> on how well the system performs under each condition and how frequently each condition occurs.  </a:t>
                </a:r>
                <a:r>
                  <a:rPr lang="en-US" b="0" i="1" baseline="0" dirty="0"/>
                  <a:t>If the mixture of conditions changes and the model remains the same, can the aggregate performance change?</a:t>
                </a:r>
                <a:r>
                  <a:rPr lang="en-US" b="0" baseline="0" dirty="0"/>
                  <a:t> YES!)</a:t>
                </a:r>
                <a:br>
                  <a:rPr lang="en-US" b="0" dirty="0"/>
                </a:br>
                <a:r>
                  <a:rPr lang="en-US" b="0" dirty="0"/>
                  <a:t>	</a:t>
                </a:r>
                <a:r>
                  <a:rPr lang="en-US" b="0" i="0">
                    <a:latin typeface="Cambria Math" panose="02040503050406030204" pitchFamily="18" charset="0"/>
                  </a:rPr>
                  <a:t>↓</a:t>
                </a:r>
                <a:endParaRPr lang="en-US" b="0" dirty="0"/>
              </a:p>
              <a:p>
                <a:pPr marL="0" lvl="0" indent="0">
                  <a:buFont typeface="Arial" panose="020B0604020202020204" pitchFamily="34" charset="0"/>
                  <a:buNone/>
                </a:pPr>
                <a:r>
                  <a:rPr lang="en-US" b="1" dirty="0"/>
                  <a:t>Which differences actually matter?</a:t>
                </a:r>
              </a:p>
            </p:txBody>
          </p:sp>
        </mc:Fallback>
      </mc:AlternateContent>
      <p:sp>
        <p:nvSpPr>
          <p:cNvPr id="4" name="Slide Number Placeholder 3"/>
          <p:cNvSpPr>
            <a:spLocks noGrp="1"/>
          </p:cNvSpPr>
          <p:nvPr>
            <p:ph type="sldNum" sz="quarter" idx="5"/>
          </p:nvPr>
        </p:nvSpPr>
        <p:spPr/>
        <p:txBody>
          <a:bodyPr/>
          <a:lstStyle/>
          <a:p>
            <a:fld id="{29E7BD1F-0023-244E-A8FD-1ADCC0FAE1A1}" type="slidenum">
              <a:rPr lang="en-US" smtClean="0"/>
              <a:t>3</a:t>
            </a:fld>
            <a:endParaRPr lang="en-US"/>
          </a:p>
        </p:txBody>
      </p:sp>
    </p:spTree>
    <p:extLst>
      <p:ext uri="{BB962C8B-B14F-4D97-AF65-F5344CB8AC3E}">
        <p14:creationId xmlns:p14="http://schemas.microsoft.com/office/powerpoint/2010/main" val="3747804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E7BD1F-0023-244E-A8FD-1ADCC0FAE1A1}" type="slidenum">
              <a:rPr lang="en-US" smtClean="0"/>
              <a:t>4</a:t>
            </a:fld>
            <a:endParaRPr lang="en-US"/>
          </a:p>
        </p:txBody>
      </p:sp>
    </p:spTree>
    <p:extLst>
      <p:ext uri="{BB962C8B-B14F-4D97-AF65-F5344CB8AC3E}">
        <p14:creationId xmlns:p14="http://schemas.microsoft.com/office/powerpoint/2010/main" val="2398572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B1167-81FD-F584-8866-4EED66F3B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04B637-C780-3BDB-8122-4D1A1B41DC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AE5F58-174C-BD58-6603-DA47DF3D1858}"/>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Sampling error</a:t>
            </a:r>
            <a:r>
              <a:rPr lang="en-US" sz="1200" b="0" i="0" kern="1200" dirty="0">
                <a:solidFill>
                  <a:schemeClr val="tx1"/>
                </a:solidFill>
                <a:effectLst/>
                <a:latin typeface="+mn-lt"/>
                <a:ea typeface="+mn-ea"/>
                <a:cs typeface="+mn-cs"/>
              </a:rPr>
              <a:t> — too few subjects/pairs</a:t>
            </a:r>
          </a:p>
          <a:p>
            <a:r>
              <a:rPr lang="en-US" sz="1200" b="1" i="0" kern="1200" dirty="0">
                <a:solidFill>
                  <a:schemeClr val="tx1"/>
                </a:solidFill>
                <a:effectLst/>
                <a:latin typeface="+mn-lt"/>
                <a:ea typeface="+mn-ea"/>
                <a:cs typeface="+mn-cs"/>
              </a:rPr>
              <a:t>Distribution mismatch</a:t>
            </a:r>
            <a:r>
              <a:rPr lang="en-US" sz="1200" b="0" i="0" kern="1200" dirty="0">
                <a:solidFill>
                  <a:schemeClr val="tx1"/>
                </a:solidFill>
                <a:effectLst/>
                <a:latin typeface="+mn-lt"/>
                <a:ea typeface="+mn-ea"/>
                <a:cs typeface="+mn-cs"/>
              </a:rPr>
              <a:t> — wrong conditions</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Test set differences in apparent representation — differences in color, shape, texture, contrast,</a:t>
            </a:r>
          </a:p>
          <a:p>
            <a:endParaRPr lang="en-US" dirty="0"/>
          </a:p>
          <a:p>
            <a:r>
              <a:rPr lang="en-US" sz="1200" b="0" i="1" kern="1200" dirty="0">
                <a:solidFill>
                  <a:schemeClr val="tx1"/>
                </a:solidFill>
                <a:effectLst/>
                <a:latin typeface="+mn-lt"/>
                <a:ea typeface="+mn-ea"/>
                <a:cs typeface="+mn-cs"/>
              </a:rPr>
              <a:t>Week 6 said your error bars are too narrow. </a:t>
            </a:r>
            <a:br>
              <a:rPr lang="en-US" sz="1200" b="0" i="1" kern="1200" dirty="0">
                <a:solidFill>
                  <a:schemeClr val="tx1"/>
                </a:solidFill>
                <a:effectLst/>
                <a:latin typeface="+mn-lt"/>
                <a:ea typeface="+mn-ea"/>
                <a:cs typeface="+mn-cs"/>
              </a:rPr>
            </a:br>
            <a:r>
              <a:rPr lang="en-US" sz="1200" b="0" i="1" kern="1200" dirty="0">
                <a:solidFill>
                  <a:schemeClr val="tx1"/>
                </a:solidFill>
                <a:effectLst/>
                <a:latin typeface="+mn-lt"/>
                <a:ea typeface="+mn-ea"/>
                <a:cs typeface="+mn-cs"/>
              </a:rPr>
              <a:t>Week 7 says your point estimate is answering a question nobody asked.</a:t>
            </a:r>
            <a:endParaRPr lang="en-US" dirty="0"/>
          </a:p>
        </p:txBody>
      </p:sp>
      <p:sp>
        <p:nvSpPr>
          <p:cNvPr id="4" name="Slide Number Placeholder 3">
            <a:extLst>
              <a:ext uri="{FF2B5EF4-FFF2-40B4-BE49-F238E27FC236}">
                <a16:creationId xmlns:a16="http://schemas.microsoft.com/office/drawing/2014/main" id="{094900C9-CAA7-5DD1-FA53-17EBD061C674}"/>
              </a:ext>
            </a:extLst>
          </p:cNvPr>
          <p:cNvSpPr>
            <a:spLocks noGrp="1"/>
          </p:cNvSpPr>
          <p:nvPr>
            <p:ph type="sldNum" sz="quarter" idx="5"/>
          </p:nvPr>
        </p:nvSpPr>
        <p:spPr/>
        <p:txBody>
          <a:bodyPr/>
          <a:lstStyle/>
          <a:p>
            <a:fld id="{29E7BD1F-0023-244E-A8FD-1ADCC0FAE1A1}" type="slidenum">
              <a:rPr lang="en-US" smtClean="0"/>
              <a:t>5</a:t>
            </a:fld>
            <a:endParaRPr lang="en-US"/>
          </a:p>
        </p:txBody>
      </p:sp>
    </p:spTree>
    <p:extLst>
      <p:ext uri="{BB962C8B-B14F-4D97-AF65-F5344CB8AC3E}">
        <p14:creationId xmlns:p14="http://schemas.microsoft.com/office/powerpoint/2010/main" val="3851949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72718-F20A-4318-A743-65722FE5F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31F97A-C5E2-23E3-F179-45F089EC1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4A754C-6475-F495-4E63-C9FCFFF98EB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Questions</a:t>
            </a:r>
            <a:r>
              <a:rPr lang="en-US" sz="1200" b="0" i="0" kern="1200" dirty="0">
                <a:solidFill>
                  <a:schemeClr val="tx1"/>
                </a:solidFill>
                <a:effectLst/>
                <a:latin typeface="+mn-lt"/>
                <a:ea typeface="+mn-ea"/>
                <a:cs typeface="+mn-cs"/>
              </a:rPr>
              <a:t>: “Which layer is directly observed? Which layers are interpretations?”</a:t>
            </a:r>
          </a:p>
          <a:p>
            <a:pPr lvl="0"/>
            <a:endParaRPr lang="en-US" sz="1200" b="0" i="0" kern="1200" dirty="0">
              <a:solidFill>
                <a:schemeClr val="tx1"/>
              </a:solidFill>
              <a:effectLst/>
              <a:latin typeface="+mn-lt"/>
              <a:ea typeface="+mn-ea"/>
              <a:cs typeface="+mn-cs"/>
            </a:endParaRPr>
          </a:p>
          <a:p>
            <a:pPr lvl="0"/>
            <a:endParaRPr lang="en-US" sz="1200" b="0" i="0" kern="1200" dirty="0">
              <a:solidFill>
                <a:schemeClr val="tx1"/>
              </a:solidFill>
              <a:effectLst/>
              <a:latin typeface="+mn-lt"/>
              <a:ea typeface="+mn-ea"/>
              <a:cs typeface="+mn-cs"/>
            </a:endParaRPr>
          </a:p>
          <a:p>
            <a:pPr lvl="0"/>
            <a:r>
              <a:rPr lang="en-US" sz="1200" b="0" i="0" kern="1200" dirty="0">
                <a:solidFill>
                  <a:schemeClr val="tx1"/>
                </a:solidFill>
                <a:effectLst/>
                <a:latin typeface="+mn-lt"/>
                <a:ea typeface="+mn-ea"/>
                <a:cs typeface="+mn-cs"/>
              </a:rPr>
              <a:t>An </a:t>
            </a:r>
            <a:r>
              <a:rPr lang="en-US" sz="1200" b="1" i="0" kern="1200" dirty="0">
                <a:solidFill>
                  <a:schemeClr val="tx1"/>
                </a:solidFill>
                <a:effectLst/>
                <a:latin typeface="+mn-lt"/>
                <a:ea typeface="+mn-ea"/>
                <a:cs typeface="+mn-cs"/>
              </a:rPr>
              <a:t>observation</a:t>
            </a:r>
            <a:r>
              <a:rPr lang="en-US" sz="1200" b="0" i="0" kern="1200" dirty="0">
                <a:solidFill>
                  <a:schemeClr val="tx1"/>
                </a:solidFill>
                <a:effectLst/>
                <a:latin typeface="+mn-lt"/>
                <a:ea typeface="+mn-ea"/>
                <a:cs typeface="+mn-cs"/>
              </a:rPr>
              <a:t> is what was measured: similarity scores and accept/reject outcomes.</a:t>
            </a:r>
          </a:p>
          <a:p>
            <a:pPr lvl="0"/>
            <a:r>
              <a:rPr lang="en-US" sz="1200" b="0" i="0" kern="1200" dirty="0">
                <a:solidFill>
                  <a:schemeClr val="tx1"/>
                </a:solidFill>
                <a:effectLst/>
                <a:latin typeface="+mn-lt"/>
                <a:ea typeface="+mn-ea"/>
                <a:cs typeface="+mn-cs"/>
              </a:rPr>
              <a:t>Turning that into a </a:t>
            </a:r>
            <a:r>
              <a:rPr lang="en-US" sz="1200" b="1" i="0" kern="1200" dirty="0">
                <a:solidFill>
                  <a:schemeClr val="tx1"/>
                </a:solidFill>
                <a:effectLst/>
                <a:latin typeface="+mn-lt"/>
                <a:ea typeface="+mn-ea"/>
                <a:cs typeface="+mn-cs"/>
              </a:rPr>
              <a:t>reported result</a:t>
            </a:r>
            <a:r>
              <a:rPr lang="en-US" sz="1200" b="0" i="0" kern="1200" dirty="0">
                <a:solidFill>
                  <a:schemeClr val="tx1"/>
                </a:solidFill>
                <a:effectLst/>
                <a:latin typeface="+mn-lt"/>
                <a:ea typeface="+mn-ea"/>
                <a:cs typeface="+mn-cs"/>
              </a:rPr>
              <a:t> requires an analysis choice: for example, how to compute FNMR and at which operating point.</a:t>
            </a:r>
          </a:p>
          <a:p>
            <a:pPr lvl="0"/>
            <a:r>
              <a:rPr lang="en-US" sz="1200" b="0" i="0" kern="1200" dirty="0">
                <a:solidFill>
                  <a:schemeClr val="tx1"/>
                </a:solidFill>
                <a:effectLst/>
                <a:latin typeface="+mn-lt"/>
                <a:ea typeface="+mn-ea"/>
                <a:cs typeface="+mn-cs"/>
              </a:rPr>
              <a:t>Turning the result into a </a:t>
            </a:r>
            <a:r>
              <a:rPr lang="en-US" sz="1200" b="1" i="0" kern="1200" dirty="0">
                <a:solidFill>
                  <a:schemeClr val="tx1"/>
                </a:solidFill>
                <a:effectLst/>
                <a:latin typeface="+mn-lt"/>
                <a:ea typeface="+mn-ea"/>
                <a:cs typeface="+mn-cs"/>
              </a:rPr>
              <a:t>claim</a:t>
            </a:r>
            <a:r>
              <a:rPr lang="en-US" sz="1200" b="0" i="0" kern="1200" dirty="0">
                <a:solidFill>
                  <a:schemeClr val="tx1"/>
                </a:solidFill>
                <a:effectLst/>
                <a:latin typeface="+mn-lt"/>
                <a:ea typeface="+mn-ea"/>
                <a:cs typeface="+mn-cs"/>
              </a:rPr>
              <a:t> requires interpretation: “X improved verification performance over Y.”</a:t>
            </a:r>
          </a:p>
          <a:p>
            <a:pPr lvl="0"/>
            <a:r>
              <a:rPr lang="en-US" sz="1200" b="0" i="0" kern="1200" dirty="0">
                <a:solidFill>
                  <a:schemeClr val="tx1"/>
                </a:solidFill>
                <a:effectLst/>
                <a:latin typeface="+mn-lt"/>
                <a:ea typeface="+mn-ea"/>
                <a:cs typeface="+mn-cs"/>
              </a:rPr>
              <a:t>Turning the claim into a </a:t>
            </a:r>
            <a:r>
              <a:rPr lang="en-US" sz="1200" b="1" i="0" kern="1200" dirty="0">
                <a:solidFill>
                  <a:schemeClr val="tx1"/>
                </a:solidFill>
                <a:effectLst/>
                <a:latin typeface="+mn-lt"/>
                <a:ea typeface="+mn-ea"/>
                <a:cs typeface="+mn-cs"/>
              </a:rPr>
              <a:t>decision</a:t>
            </a:r>
            <a:r>
              <a:rPr lang="en-US" sz="1200" b="0" i="0" kern="1200" dirty="0">
                <a:solidFill>
                  <a:schemeClr val="tx1"/>
                </a:solidFill>
                <a:effectLst/>
                <a:latin typeface="+mn-lt"/>
                <a:ea typeface="+mn-ea"/>
                <a:cs typeface="+mn-cs"/>
              </a:rPr>
              <a:t> requires a further judgment: “we should deploy X.”</a:t>
            </a:r>
          </a:p>
          <a:p>
            <a:br>
              <a:rPr lang="en-US" dirty="0"/>
            </a:br>
            <a:r>
              <a:rPr lang="en-US" sz="1200" b="0" i="0" kern="1200" dirty="0">
                <a:solidFill>
                  <a:schemeClr val="tx1"/>
                </a:solidFill>
                <a:effectLst/>
                <a:latin typeface="+mn-lt"/>
                <a:ea typeface="+mn-ea"/>
                <a:cs typeface="+mn-cs"/>
              </a:rPr>
              <a:t>Each transition adds something that was not directly observed. Therefore, each needs its own justification.</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Final point</a:t>
            </a:r>
            <a:r>
              <a:rPr lang="en-US" sz="1200" b="0" i="0" kern="1200" dirty="0">
                <a:solidFill>
                  <a:schemeClr val="tx1"/>
                </a:solidFill>
                <a:effectLst/>
                <a:latin typeface="+mn-lt"/>
                <a:ea typeface="+mn-ea"/>
                <a:cs typeface="+mn-cs"/>
              </a:rPr>
              <a:t>: Emphasize that critical reading does not mean refusing all inference; it means making each inference visible and proportional to the evidence.</a:t>
            </a:r>
          </a:p>
          <a:p>
            <a:endParaRPr lang="en-US" sz="1200" b="1" i="0" kern="1200" dirty="0">
              <a:solidFill>
                <a:schemeClr val="tx1"/>
              </a:solidFill>
              <a:effectLst/>
              <a:latin typeface="+mn-lt"/>
              <a:ea typeface="+mn-ea"/>
              <a:cs typeface="+mn-cs"/>
            </a:endParaRPr>
          </a:p>
          <a:p>
            <a:br>
              <a:rPr lang="en-US" dirty="0"/>
            </a:br>
            <a:endParaRPr lang="en-US" dirty="0"/>
          </a:p>
        </p:txBody>
      </p:sp>
      <p:sp>
        <p:nvSpPr>
          <p:cNvPr id="4" name="Slide Number Placeholder 3">
            <a:extLst>
              <a:ext uri="{FF2B5EF4-FFF2-40B4-BE49-F238E27FC236}">
                <a16:creationId xmlns:a16="http://schemas.microsoft.com/office/drawing/2014/main" id="{512581CA-4B71-1A32-AA66-5F3DCBF3ED96}"/>
              </a:ext>
            </a:extLst>
          </p:cNvPr>
          <p:cNvSpPr>
            <a:spLocks noGrp="1"/>
          </p:cNvSpPr>
          <p:nvPr>
            <p:ph type="sldNum" sz="quarter" idx="5"/>
          </p:nvPr>
        </p:nvSpPr>
        <p:spPr/>
        <p:txBody>
          <a:bodyPr/>
          <a:lstStyle/>
          <a:p>
            <a:fld id="{29E7BD1F-0023-244E-A8FD-1ADCC0FAE1A1}" type="slidenum">
              <a:rPr lang="en-US" smtClean="0"/>
              <a:t>6</a:t>
            </a:fld>
            <a:endParaRPr lang="en-US"/>
          </a:p>
        </p:txBody>
      </p:sp>
    </p:spTree>
    <p:extLst>
      <p:ext uri="{BB962C8B-B14F-4D97-AF65-F5344CB8AC3E}">
        <p14:creationId xmlns:p14="http://schemas.microsoft.com/office/powerpoint/2010/main" val="433059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202B3-2FC2-0813-1013-5750F67C0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F6752F-C568-7E86-B108-59107145490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AFA6ABA-994C-F88B-A164-E202E4F0FE6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Shift 1 – representation gap</a:t>
                </a:r>
                <a:br>
                  <a:rPr lang="en-US" b="1" dirty="0"/>
                </a:br>
                <a:br>
                  <a:rPr lang="en-US" b="1" dirty="0"/>
                </a:br>
                <a:r>
                  <a:rPr lang="en-US" sz="1200" b="0" i="0" kern="1200" dirty="0">
                    <a:solidFill>
                      <a:schemeClr val="tx1"/>
                    </a:solidFill>
                    <a:effectLst/>
                    <a:latin typeface="+mn-lt"/>
                    <a:ea typeface="+mn-ea"/>
                    <a:cs typeface="+mn-cs"/>
                  </a:rPr>
                  <a:t>The physics didn't change; the </a:t>
                </a:r>
                <a:r>
                  <a:rPr lang="en-US" sz="1200" b="0" i="1" kern="1200" dirty="0">
                    <a:solidFill>
                      <a:schemeClr val="tx1"/>
                    </a:solidFill>
                    <a:effectLst/>
                    <a:latin typeface="+mn-lt"/>
                    <a:ea typeface="+mn-ea"/>
                    <a:cs typeface="+mn-cs"/>
                  </a:rPr>
                  <a:t>coverage</a:t>
                </a:r>
                <a:r>
                  <a:rPr lang="en-US" sz="1200" b="0" i="0" kern="1200" dirty="0">
                    <a:solidFill>
                      <a:schemeClr val="tx1"/>
                    </a:solidFill>
                    <a:effectLst/>
                    <a:latin typeface="+mn-lt"/>
                    <a:ea typeface="+mn-ea"/>
                    <a:cs typeface="+mn-cs"/>
                  </a:rPr>
                  <a:t> did. </a:t>
                </a:r>
                <a14:m>
                  <m:oMath xmlns:m="http://schemas.openxmlformats.org/officeDocument/2006/math">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𝑓</m:t>
                        </m:r>
                      </m:e>
                      <m:sub>
                        <m:r>
                          <a:rPr lang="en-US" sz="1200" i="1" kern="1200">
                            <a:solidFill>
                              <a:schemeClr val="tx1"/>
                            </a:solidFill>
                            <a:latin typeface="Cambria Math" panose="02040503050406030204" pitchFamily="18" charset="0"/>
                            <a:ea typeface="+mn-ea"/>
                            <a:cs typeface="+mn-cs"/>
                          </a:rPr>
                          <m:t>𝜃</m:t>
                        </m:r>
                      </m:sub>
                    </m:sSub>
                  </m:oMath>
                </a14:m>
                <a:r>
                  <a:rPr lang="en-US" sz="1200" b="0" i="0" kern="1200" dirty="0">
                    <a:solidFill>
                      <a:schemeClr val="tx1"/>
                    </a:solidFill>
                    <a:effectLst/>
                    <a:latin typeface="+mn-lt"/>
                    <a:ea typeface="+mn-ea"/>
                    <a:cs typeface="+mn-cs"/>
                  </a:rPr>
                  <a:t> was never asked to be invariant to conditions it never saw, so its nuisance dependence </a:t>
                </a:r>
                <a14:m>
                  <m:oMath xmlns:m="http://schemas.openxmlformats.org/officeDocument/2006/math">
                    <m:r>
                      <a:rPr lang="en-US" sz="1200" i="1" kern="1200">
                        <a:solidFill>
                          <a:schemeClr val="tx1"/>
                        </a:solidFill>
                        <a:latin typeface="Cambria Math" panose="02040503050406030204" pitchFamily="18" charset="0"/>
                        <a:ea typeface="+mn-ea"/>
                        <a:cs typeface="+mn-cs"/>
                      </a:rPr>
                      <m:t>𝑔</m:t>
                    </m:r>
                    <m:d>
                      <m:dPr>
                        <m:sepChr m:val=","/>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𝑦</m:t>
                        </m:r>
                      </m:e>
                      <m:e>
                        <m:r>
                          <a:rPr lang="en-US" sz="1200" i="1" kern="1200">
                            <a:solidFill>
                              <a:schemeClr val="tx1"/>
                            </a:solidFill>
                            <a:latin typeface="Cambria Math" panose="02040503050406030204" pitchFamily="18" charset="0"/>
                            <a:ea typeface="+mn-ea"/>
                            <a:cs typeface="+mn-cs"/>
                          </a:rPr>
                          <m:t>𝑛</m:t>
                        </m:r>
                      </m:e>
                    </m:d>
                  </m:oMath>
                </a14:m>
                <a:r>
                  <a:rPr lang="en-US" sz="1200" b="0" i="0" kern="1200" dirty="0">
                    <a:solidFill>
                      <a:schemeClr val="tx1"/>
                    </a:solidFill>
                    <a:effectLst/>
                    <a:latin typeface="+mn-lt"/>
                    <a:ea typeface="+mn-ea"/>
                    <a:cs typeface="+mn-cs"/>
                  </a:rPr>
                  <a:t> is unconstrained there. </a:t>
                </a:r>
                <a:r>
                  <a:rPr lang="en-US" sz="1200" b="1" i="0" kern="1200" dirty="0">
                    <a:solidFill>
                      <a:schemeClr val="tx1"/>
                    </a:solidFill>
                    <a:effectLst/>
                    <a:latin typeface="+mn-lt"/>
                    <a:ea typeface="+mn-ea"/>
                    <a:cs typeface="+mn-cs"/>
                  </a:rPr>
                  <a:t>This is a property of </a:t>
                </a:r>
                <a14:m>
                  <m:oMath xmlns:m="http://schemas.openxmlformats.org/officeDocument/2006/math">
                    <m:r>
                      <a:rPr lang="en-US" sz="1200" i="1" kern="1200">
                        <a:solidFill>
                          <a:schemeClr val="tx1"/>
                        </a:solidFill>
                        <a:latin typeface="Cambria Math" panose="02040503050406030204" pitchFamily="18" charset="0"/>
                        <a:ea typeface="+mn-ea"/>
                        <a:cs typeface="+mn-cs"/>
                      </a:rPr>
                      <m:t>𝜃</m:t>
                    </m:r>
                  </m:oMath>
                </a14:m>
                <a:r>
                  <a:rPr lang="en-US" sz="1200" b="1" i="0" kern="1200" dirty="0">
                    <a:solidFill>
                      <a:schemeClr val="tx1"/>
                    </a:solidFill>
                    <a:effectLst/>
                    <a:latin typeface="+mn-lt"/>
                    <a:ea typeface="+mn-ea"/>
                    <a:cs typeface="+mn-cs"/>
                  </a:rPr>
                  <a:t>.</a:t>
                </a:r>
                <a:endParaRPr lang="en-US" b="1" dirty="0"/>
              </a:p>
            </p:txBody>
          </p:sp>
        </mc:Choice>
        <mc:Fallback xmlns="">
          <p:sp>
            <p:nvSpPr>
              <p:cNvPr id="3" name="Notes Placeholder 2">
                <a:extLst>
                  <a:ext uri="{FF2B5EF4-FFF2-40B4-BE49-F238E27FC236}">
                    <a16:creationId xmlns:a16="http://schemas.microsoft.com/office/drawing/2014/main" id="{DAFA6ABA-994C-F88B-A164-E202E4F0FE6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Shift 1 – representation gap</a:t>
                </a:r>
                <a:br>
                  <a:rPr lang="en-US" b="1" dirty="0"/>
                </a:br>
                <a:br>
                  <a:rPr lang="en-US" b="1" dirty="0"/>
                </a:br>
                <a:r>
                  <a:rPr lang="en-US" sz="1200" b="0" i="0" kern="1200" dirty="0">
                    <a:solidFill>
                      <a:schemeClr val="tx1"/>
                    </a:solidFill>
                    <a:effectLst/>
                    <a:latin typeface="+mn-lt"/>
                    <a:ea typeface="+mn-ea"/>
                    <a:cs typeface="+mn-cs"/>
                  </a:rPr>
                  <a:t>The physics didn't change; the </a:t>
                </a:r>
                <a:r>
                  <a:rPr lang="en-US" sz="1200" b="0" i="1" kern="1200" dirty="0">
                    <a:solidFill>
                      <a:schemeClr val="tx1"/>
                    </a:solidFill>
                    <a:effectLst/>
                    <a:latin typeface="+mn-lt"/>
                    <a:ea typeface="+mn-ea"/>
                    <a:cs typeface="+mn-cs"/>
                  </a:rPr>
                  <a:t>coverage</a:t>
                </a:r>
                <a:r>
                  <a:rPr lang="en-US" sz="1200" b="0" i="0" kern="1200" dirty="0">
                    <a:solidFill>
                      <a:schemeClr val="tx1"/>
                    </a:solidFill>
                    <a:effectLst/>
                    <a:latin typeface="+mn-lt"/>
                    <a:ea typeface="+mn-ea"/>
                    <a:cs typeface="+mn-cs"/>
                  </a:rPr>
                  <a:t> did. </a:t>
                </a:r>
                <a:r>
                  <a:rPr lang="en-US" sz="1200" i="0" kern="1200">
                    <a:solidFill>
                      <a:schemeClr val="tx1"/>
                    </a:solidFill>
                    <a:latin typeface="+mn-lt"/>
                    <a:ea typeface="+mn-ea"/>
                    <a:cs typeface="+mn-cs"/>
                  </a:rPr>
                  <a:t>𝑓_𝜃</a:t>
                </a:r>
                <a:r>
                  <a:rPr lang="en-US" sz="1200" b="0" i="0" kern="1200" dirty="0">
                    <a:solidFill>
                      <a:schemeClr val="tx1"/>
                    </a:solidFill>
                    <a:effectLst/>
                    <a:latin typeface="+mn-lt"/>
                    <a:ea typeface="+mn-ea"/>
                    <a:cs typeface="+mn-cs"/>
                  </a:rPr>
                  <a:t> was never asked to be invariant to conditions it never saw, so its nuisance dependence </a:t>
                </a:r>
                <a:r>
                  <a:rPr lang="en-US" sz="1200" i="0" kern="1200">
                    <a:solidFill>
                      <a:schemeClr val="tx1"/>
                    </a:solidFill>
                    <a:latin typeface="+mn-lt"/>
                    <a:ea typeface="+mn-ea"/>
                    <a:cs typeface="+mn-cs"/>
                  </a:rPr>
                  <a:t>𝑔(𝑦ⓜ,𝑛)</a:t>
                </a:r>
                <a:r>
                  <a:rPr lang="en-US" sz="1200" b="0" i="0" kern="1200" dirty="0">
                    <a:solidFill>
                      <a:schemeClr val="tx1"/>
                    </a:solidFill>
                    <a:effectLst/>
                    <a:latin typeface="+mn-lt"/>
                    <a:ea typeface="+mn-ea"/>
                    <a:cs typeface="+mn-cs"/>
                  </a:rPr>
                  <a:t> is unconstrained there. </a:t>
                </a:r>
                <a:r>
                  <a:rPr lang="en-US" sz="1200" b="1" i="0" kern="1200" dirty="0">
                    <a:solidFill>
                      <a:schemeClr val="tx1"/>
                    </a:solidFill>
                    <a:effectLst/>
                    <a:latin typeface="+mn-lt"/>
                    <a:ea typeface="+mn-ea"/>
                    <a:cs typeface="+mn-cs"/>
                  </a:rPr>
                  <a:t>This is a property of </a:t>
                </a:r>
                <a:r>
                  <a:rPr lang="en-US" sz="1200" i="0" kern="1200">
                    <a:solidFill>
                      <a:schemeClr val="tx1"/>
                    </a:solidFill>
                    <a:latin typeface="+mn-lt"/>
                    <a:ea typeface="+mn-ea"/>
                    <a:cs typeface="+mn-cs"/>
                  </a:rPr>
                  <a:t>𝜃</a:t>
                </a:r>
                <a:r>
                  <a:rPr lang="en-US" sz="1200" b="1" i="0" kern="1200" dirty="0">
                    <a:solidFill>
                      <a:schemeClr val="tx1"/>
                    </a:solidFill>
                    <a:effectLst/>
                    <a:latin typeface="+mn-lt"/>
                    <a:ea typeface="+mn-ea"/>
                    <a:cs typeface="+mn-cs"/>
                  </a:rPr>
                  <a:t>.</a:t>
                </a:r>
                <a:endParaRPr lang="en-US" b="1" dirty="0"/>
              </a:p>
            </p:txBody>
          </p:sp>
        </mc:Fallback>
      </mc:AlternateContent>
      <p:sp>
        <p:nvSpPr>
          <p:cNvPr id="4" name="Slide Number Placeholder 3">
            <a:extLst>
              <a:ext uri="{FF2B5EF4-FFF2-40B4-BE49-F238E27FC236}">
                <a16:creationId xmlns:a16="http://schemas.microsoft.com/office/drawing/2014/main" id="{DF890AAF-AD12-271B-DDB7-9A9E12A081C3}"/>
              </a:ext>
            </a:extLst>
          </p:cNvPr>
          <p:cNvSpPr>
            <a:spLocks noGrp="1"/>
          </p:cNvSpPr>
          <p:nvPr>
            <p:ph type="sldNum" sz="quarter" idx="5"/>
          </p:nvPr>
        </p:nvSpPr>
        <p:spPr/>
        <p:txBody>
          <a:bodyPr/>
          <a:lstStyle/>
          <a:p>
            <a:fld id="{29E7BD1F-0023-244E-A8FD-1ADCC0FAE1A1}" type="slidenum">
              <a:rPr lang="en-US" smtClean="0"/>
              <a:t>7</a:t>
            </a:fld>
            <a:endParaRPr lang="en-US"/>
          </a:p>
        </p:txBody>
      </p:sp>
    </p:spTree>
    <p:extLst>
      <p:ext uri="{BB962C8B-B14F-4D97-AF65-F5344CB8AC3E}">
        <p14:creationId xmlns:p14="http://schemas.microsoft.com/office/powerpoint/2010/main" val="3489732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995E6-7506-5962-D404-ECCED749F7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8C9B41-E5FA-AEA9-FC4F-A0FA0069712C}"/>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3A95F96-EFB9-C15A-C939-C4399BA7EFA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Shift 2 – Enrollment Asymmetry</a:t>
                </a:r>
                <a:br>
                  <a:rPr lang="en-US" b="1" dirty="0"/>
                </a:br>
                <a:br>
                  <a:rPr lang="en-US" b="1" dirty="0"/>
                </a:br>
                <a:r>
                  <a:rPr lang="en-US" sz="1200" b="1" i="0" kern="1200" dirty="0">
                    <a:solidFill>
                      <a:schemeClr val="tx1"/>
                    </a:solidFill>
                    <a:effectLst/>
                    <a:latin typeface="+mn-lt"/>
                    <a:ea typeface="+mn-ea"/>
                    <a:cs typeface="+mn-cs"/>
                  </a:rPr>
                  <a:t>This is a property of the protocol, not of </a:t>
                </a:r>
                <a14:m>
                  <m:oMath xmlns:m="http://schemas.openxmlformats.org/officeDocument/2006/math">
                    <m:r>
                      <a:rPr lang="en-US" sz="1200" i="1" kern="1200">
                        <a:solidFill>
                          <a:schemeClr val="tx1"/>
                        </a:solidFill>
                        <a:latin typeface="Cambria Math" panose="02040503050406030204" pitchFamily="18" charset="0"/>
                        <a:ea typeface="+mn-ea"/>
                        <a:cs typeface="+mn-cs"/>
                      </a:rPr>
                      <m:t>𝜃</m:t>
                    </m:r>
                  </m:oMath>
                </a14:m>
                <a:r>
                  <a:rPr lang="en-US" sz="1200" b="0" i="0" kern="1200" dirty="0">
                    <a:solidFill>
                      <a:schemeClr val="tx1"/>
                    </a:solidFill>
                    <a:effectLst/>
                    <a:latin typeface="+mn-lt"/>
                    <a:ea typeface="+mn-ea"/>
                    <a:cs typeface="+mn-cs"/>
                  </a:rPr>
                  <a:t> — and that's the punchline. Shift 1 is fixable by collecting more diverse training data. Shift 2 survives perfect training coverage, because the asymmetry is structural: controlled enrollment against uncontrolled probes is what an operational system </a:t>
                </a:r>
                <a:r>
                  <a:rPr lang="en-US" sz="1200" b="0" i="1" kern="1200" dirty="0">
                    <a:solidFill>
                      <a:schemeClr val="tx1"/>
                    </a:solidFill>
                    <a:effectLst/>
                    <a:latin typeface="+mn-lt"/>
                    <a:ea typeface="+mn-ea"/>
                    <a:cs typeface="+mn-cs"/>
                  </a:rPr>
                  <a:t>is</a:t>
                </a:r>
                <a:r>
                  <a:rPr lang="en-US" sz="1200" b="0" i="0" kern="1200" dirty="0">
                    <a:solidFill>
                      <a:schemeClr val="tx1"/>
                    </a:solidFill>
                    <a:effectLst/>
                    <a:latin typeface="+mn-lt"/>
                    <a:ea typeface="+mn-ea"/>
                    <a:cs typeface="+mn-cs"/>
                  </a:rPr>
                  <a:t>. Even an encoder that is individually excellent on both domains can place them in regions where the dominant axis of variation is </a:t>
                </a:r>
                <a14:m>
                  <m:oMath xmlns:m="http://schemas.openxmlformats.org/officeDocument/2006/math">
                    <m:r>
                      <a:rPr lang="en-US" sz="1200" i="1" kern="1200">
                        <a:solidFill>
                          <a:schemeClr val="tx1"/>
                        </a:solidFill>
                        <a:latin typeface="Cambria Math" panose="02040503050406030204" pitchFamily="18" charset="0"/>
                        <a:ea typeface="+mn-ea"/>
                        <a:cs typeface="+mn-cs"/>
                      </a:rPr>
                      <m:t>𝑐</m:t>
                    </m:r>
                  </m:oMath>
                </a14:m>
                <a:r>
                  <a:rPr lang="en-US" sz="1200" b="0" i="0" kern="1200" dirty="0">
                    <a:solidFill>
                      <a:schemeClr val="tx1"/>
                    </a:solidFill>
                    <a:effectLst/>
                    <a:latin typeface="+mn-lt"/>
                    <a:ea typeface="+mn-ea"/>
                    <a:cs typeface="+mn-cs"/>
                  </a:rPr>
                  <a:t>, not </a:t>
                </a:r>
                <a14:m>
                  <m:oMath xmlns:m="http://schemas.openxmlformats.org/officeDocument/2006/math">
                    <m:r>
                      <a:rPr lang="en-US" sz="1200" i="1" kern="1200">
                        <a:solidFill>
                          <a:schemeClr val="tx1"/>
                        </a:solidFill>
                        <a:latin typeface="Cambria Math" panose="02040503050406030204" pitchFamily="18" charset="0"/>
                        <a:ea typeface="+mn-ea"/>
                        <a:cs typeface="+mn-cs"/>
                      </a:rPr>
                      <m:t>𝑦</m:t>
                    </m:r>
                  </m:oMath>
                </a14:m>
                <a:r>
                  <a:rPr lang="en-US" sz="1200" b="0" i="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This one is specific to biometrics and has no clean analogue in classification.</a:t>
                </a:r>
                <a:r>
                  <a:rPr lang="en-US" sz="1200" b="0" i="0" kern="1200" dirty="0">
                    <a:solidFill>
                      <a:schemeClr val="tx1"/>
                    </a:solidFill>
                    <a:effectLst/>
                    <a:latin typeface="+mn-lt"/>
                    <a:ea typeface="+mn-ea"/>
                    <a:cs typeface="+mn-cs"/>
                  </a:rPr>
                  <a:t> Every comparison is a </a:t>
                </a:r>
                <a:r>
                  <a:rPr lang="en-US" sz="1200" b="0" i="1" kern="1200" dirty="0">
                    <a:solidFill>
                      <a:schemeClr val="tx1"/>
                    </a:solidFill>
                    <a:effectLst/>
                    <a:latin typeface="+mn-lt"/>
                    <a:ea typeface="+mn-ea"/>
                    <a:cs typeface="+mn-cs"/>
                  </a:rPr>
                  <a:t>cross-domain</a:t>
                </a:r>
                <a:r>
                  <a:rPr lang="en-US" sz="1200" b="0" i="0" kern="1200" dirty="0">
                    <a:solidFill>
                      <a:schemeClr val="tx1"/>
                    </a:solidFill>
                    <a:effectLst/>
                    <a:latin typeface="+mn-lt"/>
                    <a:ea typeface="+mn-ea"/>
                    <a:cs typeface="+mn-cs"/>
                  </a:rPr>
                  <a:t> comparison: a clean, cooperative, indoor enrollment against a degraded, uncooperative, outdoor probe. The two halves of the pair do not come from the same distribution.</a:t>
                </a:r>
                <a:endParaRPr lang="en-US" b="1" dirty="0"/>
              </a:p>
            </p:txBody>
          </p:sp>
        </mc:Choice>
        <mc:Fallback xmlns="">
          <p:sp>
            <p:nvSpPr>
              <p:cNvPr id="3" name="Notes Placeholder 2">
                <a:extLst>
                  <a:ext uri="{FF2B5EF4-FFF2-40B4-BE49-F238E27FC236}">
                    <a16:creationId xmlns:a16="http://schemas.microsoft.com/office/drawing/2014/main" id="{E3A95F96-EFB9-C15A-C939-C4399BA7EFA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Shift 2 – Enrollment Asymmetry</a:t>
                </a:r>
                <a:br>
                  <a:rPr lang="en-US" b="1" dirty="0"/>
                </a:br>
                <a:br>
                  <a:rPr lang="en-US" b="1" dirty="0"/>
                </a:br>
                <a:r>
                  <a:rPr lang="en-US" sz="1200" b="1" i="0" kern="1200" dirty="0">
                    <a:solidFill>
                      <a:schemeClr val="tx1"/>
                    </a:solidFill>
                    <a:effectLst/>
                    <a:latin typeface="+mn-lt"/>
                    <a:ea typeface="+mn-ea"/>
                    <a:cs typeface="+mn-cs"/>
                  </a:rPr>
                  <a:t>This is a property of the protocol, not of </a:t>
                </a:r>
                <a:r>
                  <a:rPr lang="en-US" sz="1200" i="0" kern="1200">
                    <a:solidFill>
                      <a:schemeClr val="tx1"/>
                    </a:solidFill>
                    <a:latin typeface="+mn-lt"/>
                    <a:ea typeface="+mn-ea"/>
                    <a:cs typeface="+mn-cs"/>
                  </a:rPr>
                  <a:t>𝜃</a:t>
                </a:r>
                <a:r>
                  <a:rPr lang="en-US" sz="1200" b="0" i="0" kern="1200" dirty="0">
                    <a:solidFill>
                      <a:schemeClr val="tx1"/>
                    </a:solidFill>
                    <a:effectLst/>
                    <a:latin typeface="+mn-lt"/>
                    <a:ea typeface="+mn-ea"/>
                    <a:cs typeface="+mn-cs"/>
                  </a:rPr>
                  <a:t> — and that's the punchline. Shift 1 is fixable by collecting more diverse training data. Shift 2 survives perfect training coverage, because the asymmetry is structural: controlled enrollment against uncontrolled probes is what an operational system </a:t>
                </a:r>
                <a:r>
                  <a:rPr lang="en-US" sz="1200" b="0" i="1" kern="1200" dirty="0">
                    <a:solidFill>
                      <a:schemeClr val="tx1"/>
                    </a:solidFill>
                    <a:effectLst/>
                    <a:latin typeface="+mn-lt"/>
                    <a:ea typeface="+mn-ea"/>
                    <a:cs typeface="+mn-cs"/>
                  </a:rPr>
                  <a:t>is</a:t>
                </a:r>
                <a:r>
                  <a:rPr lang="en-US" sz="1200" b="0" i="0" kern="1200" dirty="0">
                    <a:solidFill>
                      <a:schemeClr val="tx1"/>
                    </a:solidFill>
                    <a:effectLst/>
                    <a:latin typeface="+mn-lt"/>
                    <a:ea typeface="+mn-ea"/>
                    <a:cs typeface="+mn-cs"/>
                  </a:rPr>
                  <a:t>. Even an encoder that is individually excellent on both domains can place them in regions where the dominant axis of variation is </a:t>
                </a:r>
                <a:r>
                  <a:rPr lang="en-US" sz="1200" i="0" kern="1200">
                    <a:solidFill>
                      <a:schemeClr val="tx1"/>
                    </a:solidFill>
                    <a:latin typeface="+mn-lt"/>
                    <a:ea typeface="+mn-ea"/>
                    <a:cs typeface="+mn-cs"/>
                  </a:rPr>
                  <a:t>𝑐</a:t>
                </a:r>
                <a:r>
                  <a:rPr lang="en-US" sz="1200" b="0" i="0" kern="1200" dirty="0">
                    <a:solidFill>
                      <a:schemeClr val="tx1"/>
                    </a:solidFill>
                    <a:effectLst/>
                    <a:latin typeface="+mn-lt"/>
                    <a:ea typeface="+mn-ea"/>
                    <a:cs typeface="+mn-cs"/>
                  </a:rPr>
                  <a:t>, not </a:t>
                </a:r>
                <a:r>
                  <a:rPr lang="en-US" sz="1200" i="0" kern="1200">
                    <a:solidFill>
                      <a:schemeClr val="tx1"/>
                    </a:solidFill>
                    <a:latin typeface="+mn-lt"/>
                    <a:ea typeface="+mn-ea"/>
                    <a:cs typeface="+mn-cs"/>
                  </a:rPr>
                  <a:t>𝑦</a:t>
                </a:r>
                <a:r>
                  <a:rPr lang="en-US" sz="1200" b="0" i="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This one is specific to biometrics and has no clean analogue in classification.</a:t>
                </a:r>
                <a:r>
                  <a:rPr lang="en-US" sz="1200" b="0" i="0" kern="1200" dirty="0">
                    <a:solidFill>
                      <a:schemeClr val="tx1"/>
                    </a:solidFill>
                    <a:effectLst/>
                    <a:latin typeface="+mn-lt"/>
                    <a:ea typeface="+mn-ea"/>
                    <a:cs typeface="+mn-cs"/>
                  </a:rPr>
                  <a:t> Every comparison is a </a:t>
                </a:r>
                <a:r>
                  <a:rPr lang="en-US" sz="1200" b="0" i="1" kern="1200" dirty="0">
                    <a:solidFill>
                      <a:schemeClr val="tx1"/>
                    </a:solidFill>
                    <a:effectLst/>
                    <a:latin typeface="+mn-lt"/>
                    <a:ea typeface="+mn-ea"/>
                    <a:cs typeface="+mn-cs"/>
                  </a:rPr>
                  <a:t>cross-domain</a:t>
                </a:r>
                <a:r>
                  <a:rPr lang="en-US" sz="1200" b="0" i="0" kern="1200" dirty="0">
                    <a:solidFill>
                      <a:schemeClr val="tx1"/>
                    </a:solidFill>
                    <a:effectLst/>
                    <a:latin typeface="+mn-lt"/>
                    <a:ea typeface="+mn-ea"/>
                    <a:cs typeface="+mn-cs"/>
                  </a:rPr>
                  <a:t> comparison: a clean, cooperative, indoor enrollment against a degraded, uncooperative, outdoor probe. The two halves of the pair do not come from the same distribution.</a:t>
                </a:r>
                <a:endParaRPr lang="en-US" b="1" dirty="0"/>
              </a:p>
            </p:txBody>
          </p:sp>
        </mc:Fallback>
      </mc:AlternateContent>
      <p:sp>
        <p:nvSpPr>
          <p:cNvPr id="4" name="Slide Number Placeholder 3">
            <a:extLst>
              <a:ext uri="{FF2B5EF4-FFF2-40B4-BE49-F238E27FC236}">
                <a16:creationId xmlns:a16="http://schemas.microsoft.com/office/drawing/2014/main" id="{760EB631-0A17-71D4-413A-E7DDE1167969}"/>
              </a:ext>
            </a:extLst>
          </p:cNvPr>
          <p:cNvSpPr>
            <a:spLocks noGrp="1"/>
          </p:cNvSpPr>
          <p:nvPr>
            <p:ph type="sldNum" sz="quarter" idx="5"/>
          </p:nvPr>
        </p:nvSpPr>
        <p:spPr/>
        <p:txBody>
          <a:bodyPr/>
          <a:lstStyle/>
          <a:p>
            <a:fld id="{29E7BD1F-0023-244E-A8FD-1ADCC0FAE1A1}" type="slidenum">
              <a:rPr lang="en-US" smtClean="0"/>
              <a:t>8</a:t>
            </a:fld>
            <a:endParaRPr lang="en-US"/>
          </a:p>
        </p:txBody>
      </p:sp>
    </p:spTree>
    <p:extLst>
      <p:ext uri="{BB962C8B-B14F-4D97-AF65-F5344CB8AC3E}">
        <p14:creationId xmlns:p14="http://schemas.microsoft.com/office/powerpoint/2010/main" val="3759394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947E2-194C-0CA0-99A6-5529DE1D18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52BC56-82EA-CDB0-D783-C42FB3BCF1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BF525D-0737-252D-89A6-B3A3467E7C9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Shift 3 – Population Shift</a:t>
            </a:r>
            <a:br>
              <a:rPr lang="en-US" b="1" dirty="0"/>
            </a:br>
            <a:br>
              <a:rPr lang="en-US" b="1" dirty="0"/>
            </a:br>
            <a:endParaRPr lang="en-US" b="1" dirty="0"/>
          </a:p>
        </p:txBody>
      </p:sp>
      <p:sp>
        <p:nvSpPr>
          <p:cNvPr id="4" name="Slide Number Placeholder 3">
            <a:extLst>
              <a:ext uri="{FF2B5EF4-FFF2-40B4-BE49-F238E27FC236}">
                <a16:creationId xmlns:a16="http://schemas.microsoft.com/office/drawing/2014/main" id="{EA89439A-9ADF-6071-E512-5016EBD228AB}"/>
              </a:ext>
            </a:extLst>
          </p:cNvPr>
          <p:cNvSpPr>
            <a:spLocks noGrp="1"/>
          </p:cNvSpPr>
          <p:nvPr>
            <p:ph type="sldNum" sz="quarter" idx="5"/>
          </p:nvPr>
        </p:nvSpPr>
        <p:spPr/>
        <p:txBody>
          <a:bodyPr/>
          <a:lstStyle/>
          <a:p>
            <a:fld id="{29E7BD1F-0023-244E-A8FD-1ADCC0FAE1A1}" type="slidenum">
              <a:rPr lang="en-US" smtClean="0"/>
              <a:t>9</a:t>
            </a:fld>
            <a:endParaRPr lang="en-US"/>
          </a:p>
        </p:txBody>
      </p:sp>
    </p:spTree>
    <p:extLst>
      <p:ext uri="{BB962C8B-B14F-4D97-AF65-F5344CB8AC3E}">
        <p14:creationId xmlns:p14="http://schemas.microsoft.com/office/powerpoint/2010/main" val="1665009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03D3F-3B4B-5118-F978-D5BD720D1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D656FA-DD38-2751-423B-B1033A42D8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15AC7A-446E-B563-0AAC-D5088B5F67A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Shift 3 – Population Shift</a:t>
            </a:r>
            <a:br>
              <a:rPr lang="en-US" b="1" dirty="0"/>
            </a:br>
            <a:br>
              <a:rPr lang="en-US" b="1" dirty="0"/>
            </a:br>
            <a:endParaRPr lang="en-US" b="1" dirty="0"/>
          </a:p>
        </p:txBody>
      </p:sp>
      <p:sp>
        <p:nvSpPr>
          <p:cNvPr id="4" name="Slide Number Placeholder 3">
            <a:extLst>
              <a:ext uri="{FF2B5EF4-FFF2-40B4-BE49-F238E27FC236}">
                <a16:creationId xmlns:a16="http://schemas.microsoft.com/office/drawing/2014/main" id="{9F7E2D81-4CA0-F3F2-2E5B-D9B3993F4996}"/>
              </a:ext>
            </a:extLst>
          </p:cNvPr>
          <p:cNvSpPr>
            <a:spLocks noGrp="1"/>
          </p:cNvSpPr>
          <p:nvPr>
            <p:ph type="sldNum" sz="quarter" idx="5"/>
          </p:nvPr>
        </p:nvSpPr>
        <p:spPr/>
        <p:txBody>
          <a:bodyPr/>
          <a:lstStyle/>
          <a:p>
            <a:fld id="{29E7BD1F-0023-244E-A8FD-1ADCC0FAE1A1}" type="slidenum">
              <a:rPr lang="en-US" smtClean="0"/>
              <a:t>10</a:t>
            </a:fld>
            <a:endParaRPr lang="en-US"/>
          </a:p>
        </p:txBody>
      </p:sp>
    </p:spTree>
    <p:extLst>
      <p:ext uri="{BB962C8B-B14F-4D97-AF65-F5344CB8AC3E}">
        <p14:creationId xmlns:p14="http://schemas.microsoft.com/office/powerpoint/2010/main" val="6079655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40032-57B3-B93E-0F6E-0375F605D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695F57-588E-97A0-FA4E-F04DB607EC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06AAB6-BD44-8BA1-F6C3-A769E939EF5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Shift 3 – Population Shift</a:t>
            </a:r>
            <a:br>
              <a:rPr lang="en-US" b="1" dirty="0"/>
            </a:br>
            <a:br>
              <a:rPr lang="en-US" b="1" dirty="0"/>
            </a:br>
            <a:endParaRPr lang="en-US" b="1" dirty="0"/>
          </a:p>
        </p:txBody>
      </p:sp>
      <p:sp>
        <p:nvSpPr>
          <p:cNvPr id="4" name="Slide Number Placeholder 3">
            <a:extLst>
              <a:ext uri="{FF2B5EF4-FFF2-40B4-BE49-F238E27FC236}">
                <a16:creationId xmlns:a16="http://schemas.microsoft.com/office/drawing/2014/main" id="{B448B683-90CE-BFA7-F80C-EA2DB957060A}"/>
              </a:ext>
            </a:extLst>
          </p:cNvPr>
          <p:cNvSpPr>
            <a:spLocks noGrp="1"/>
          </p:cNvSpPr>
          <p:nvPr>
            <p:ph type="sldNum" sz="quarter" idx="5"/>
          </p:nvPr>
        </p:nvSpPr>
        <p:spPr/>
        <p:txBody>
          <a:bodyPr/>
          <a:lstStyle/>
          <a:p>
            <a:fld id="{29E7BD1F-0023-244E-A8FD-1ADCC0FAE1A1}" type="slidenum">
              <a:rPr lang="en-US" smtClean="0"/>
              <a:t>11</a:t>
            </a:fld>
            <a:endParaRPr lang="en-US"/>
          </a:p>
        </p:txBody>
      </p:sp>
    </p:spTree>
    <p:extLst>
      <p:ext uri="{BB962C8B-B14F-4D97-AF65-F5344CB8AC3E}">
        <p14:creationId xmlns:p14="http://schemas.microsoft.com/office/powerpoint/2010/main" val="520481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2222D-6327-FF3C-C0F3-E939A8628F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8E2E57-FF7F-21E1-B219-B696EF762E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5A087A-4649-FD4E-9BF1-F32B2487D1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i="0" kern="1200" dirty="0">
                <a:solidFill>
                  <a:schemeClr val="tx1"/>
                </a:solidFill>
                <a:effectLst/>
                <a:latin typeface="+mn-lt"/>
                <a:ea typeface="+mn-ea"/>
                <a:cs typeface="+mn-cs"/>
              </a:rPr>
              <a:t>The system does not know this ahead of time when calibrating the threshold.</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It emits scores in the same numeric range,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crosses the same threshold, and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produces alerts with the same nominal confidence.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i="0" kern="1200" dirty="0">
                <a:solidFill>
                  <a:schemeClr val="tx1"/>
                </a:solidFill>
                <a:effectLst/>
                <a:latin typeface="+mn-lt"/>
                <a:ea typeface="+mn-ea"/>
                <a:cs typeface="+mn-cs"/>
              </a:rPr>
              <a:t>The failure is </a:t>
            </a:r>
            <a:r>
              <a:rPr lang="en-US" sz="1200" b="0" i="1" kern="1200" dirty="0">
                <a:solidFill>
                  <a:schemeClr val="tx1"/>
                </a:solidFill>
                <a:effectLst/>
                <a:latin typeface="+mn-lt"/>
                <a:ea typeface="+mn-ea"/>
                <a:cs typeface="+mn-cs"/>
              </a:rPr>
              <a:t>invisible at the interface</a:t>
            </a:r>
            <a:r>
              <a:rPr lang="en-US" sz="1200" b="0" i="0" kern="1200" dirty="0">
                <a:solidFill>
                  <a:schemeClr val="tx1"/>
                </a:solidFill>
                <a:effectLst/>
                <a:latin typeface="+mn-lt"/>
                <a:ea typeface="+mn-ea"/>
                <a:cs typeface="+mn-cs"/>
              </a:rPr>
              <a:t>. Operators lose trust before anyone can explain why.</a:t>
            </a:r>
            <a:br>
              <a:rPr lang="en-US" b="1" dirty="0"/>
            </a:br>
            <a:br>
              <a:rPr lang="en-US" b="1" dirty="0"/>
            </a:br>
            <a:endParaRPr lang="en-US" b="1" dirty="0"/>
          </a:p>
        </p:txBody>
      </p:sp>
      <p:sp>
        <p:nvSpPr>
          <p:cNvPr id="4" name="Slide Number Placeholder 3">
            <a:extLst>
              <a:ext uri="{FF2B5EF4-FFF2-40B4-BE49-F238E27FC236}">
                <a16:creationId xmlns:a16="http://schemas.microsoft.com/office/drawing/2014/main" id="{2E1A8103-C86C-FC64-0663-96653F236731}"/>
              </a:ext>
            </a:extLst>
          </p:cNvPr>
          <p:cNvSpPr>
            <a:spLocks noGrp="1"/>
          </p:cNvSpPr>
          <p:nvPr>
            <p:ph type="sldNum" sz="quarter" idx="5"/>
          </p:nvPr>
        </p:nvSpPr>
        <p:spPr/>
        <p:txBody>
          <a:bodyPr/>
          <a:lstStyle/>
          <a:p>
            <a:fld id="{29E7BD1F-0023-244E-A8FD-1ADCC0FAE1A1}" type="slidenum">
              <a:rPr lang="en-US" smtClean="0"/>
              <a:t>12</a:t>
            </a:fld>
            <a:endParaRPr lang="en-US"/>
          </a:p>
        </p:txBody>
      </p:sp>
    </p:spTree>
    <p:extLst>
      <p:ext uri="{BB962C8B-B14F-4D97-AF65-F5344CB8AC3E}">
        <p14:creationId xmlns:p14="http://schemas.microsoft.com/office/powerpoint/2010/main" val="1906661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8BF1A-3E09-713F-0588-3AD32CAB46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4FFA55-161B-48DB-1417-3353CDA65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F4C43E-9D68-D236-8B31-2432AE719BB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i="0" kern="1200" dirty="0">
                <a:solidFill>
                  <a:schemeClr val="tx1"/>
                </a:solidFill>
                <a:effectLst/>
                <a:latin typeface="+mn-lt"/>
                <a:ea typeface="+mn-ea"/>
                <a:cs typeface="+mn-cs"/>
              </a:rPr>
              <a:t>The system does not know this ahead of time when calibrating the threshold.</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It emits scores in the same numeric range,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crosses the same threshold, and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dirty="0">
                <a:solidFill>
                  <a:schemeClr val="tx1"/>
                </a:solidFill>
                <a:effectLst/>
                <a:latin typeface="+mn-lt"/>
                <a:ea typeface="+mn-ea"/>
                <a:cs typeface="+mn-cs"/>
              </a:rPr>
              <a:t>produces alerts with the same nominal confidence.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i="0" kern="1200" dirty="0">
                <a:solidFill>
                  <a:schemeClr val="tx1"/>
                </a:solidFill>
                <a:effectLst/>
                <a:latin typeface="+mn-lt"/>
                <a:ea typeface="+mn-ea"/>
                <a:cs typeface="+mn-cs"/>
              </a:rPr>
              <a:t>The failure is </a:t>
            </a:r>
            <a:r>
              <a:rPr lang="en-US" sz="1200" b="0" i="1" kern="1200" dirty="0">
                <a:solidFill>
                  <a:schemeClr val="tx1"/>
                </a:solidFill>
                <a:effectLst/>
                <a:latin typeface="+mn-lt"/>
                <a:ea typeface="+mn-ea"/>
                <a:cs typeface="+mn-cs"/>
              </a:rPr>
              <a:t>invisible at the interface</a:t>
            </a:r>
            <a:r>
              <a:rPr lang="en-US" sz="1200" b="0" i="0" kern="1200" dirty="0">
                <a:solidFill>
                  <a:schemeClr val="tx1"/>
                </a:solidFill>
                <a:effectLst/>
                <a:latin typeface="+mn-lt"/>
                <a:ea typeface="+mn-ea"/>
                <a:cs typeface="+mn-cs"/>
              </a:rPr>
              <a:t>. Operators lose trust before anyone can explain why.</a:t>
            </a:r>
            <a:br>
              <a:rPr lang="en-US" b="1" dirty="0"/>
            </a:br>
            <a:br>
              <a:rPr lang="en-US" b="1" dirty="0"/>
            </a:br>
            <a:endParaRPr lang="en-US" b="1" dirty="0"/>
          </a:p>
        </p:txBody>
      </p:sp>
      <p:sp>
        <p:nvSpPr>
          <p:cNvPr id="4" name="Slide Number Placeholder 3">
            <a:extLst>
              <a:ext uri="{FF2B5EF4-FFF2-40B4-BE49-F238E27FC236}">
                <a16:creationId xmlns:a16="http://schemas.microsoft.com/office/drawing/2014/main" id="{7B1CE701-DF71-5CEB-6F06-5071DF7F9C3C}"/>
              </a:ext>
            </a:extLst>
          </p:cNvPr>
          <p:cNvSpPr>
            <a:spLocks noGrp="1"/>
          </p:cNvSpPr>
          <p:nvPr>
            <p:ph type="sldNum" sz="quarter" idx="5"/>
          </p:nvPr>
        </p:nvSpPr>
        <p:spPr/>
        <p:txBody>
          <a:bodyPr/>
          <a:lstStyle/>
          <a:p>
            <a:fld id="{29E7BD1F-0023-244E-A8FD-1ADCC0FAE1A1}" type="slidenum">
              <a:rPr lang="en-US" smtClean="0"/>
              <a:t>13</a:t>
            </a:fld>
            <a:endParaRPr lang="en-US"/>
          </a:p>
        </p:txBody>
      </p:sp>
    </p:spTree>
    <p:extLst>
      <p:ext uri="{BB962C8B-B14F-4D97-AF65-F5344CB8AC3E}">
        <p14:creationId xmlns:p14="http://schemas.microsoft.com/office/powerpoint/2010/main" val="19177153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2FE4F-A4FD-D51C-5FDD-183F0572F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D1BC37-C6F5-C15D-1C3B-84F119025E99}"/>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94AD7E80-48D1-D8DC-D6F2-E4005900057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r>
                      <a:rPr lang="en-US" b="0" i="1" smtClean="0">
                        <a:latin typeface="Cambria Math" panose="02040503050406030204" pitchFamily="18" charset="0"/>
                      </a:rPr>
                      <m:t>𝜃</m:t>
                    </m:r>
                  </m:oMath>
                </a14:m>
                <a:r>
                  <a:rPr lang="en-US" b="0" dirty="0"/>
                  <a:t> — smallest resolvable angle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r>
                      <a:rPr lang="en-US" b="0" i="1" smtClean="0">
                        <a:latin typeface="Cambria Math" panose="02040503050406030204" pitchFamily="18" charset="0"/>
                      </a:rPr>
                      <m:t>𝜆</m:t>
                    </m:r>
                  </m:oMath>
                </a14:m>
                <a:r>
                  <a:rPr lang="en-US" b="0" dirty="0"/>
                  <a:t> — wavelength</a:t>
                </a:r>
              </a:p>
              <a:p>
                <a:r>
                  <a:rPr lang="en-US" b="0" dirty="0"/>
                  <a:t>D — </a:t>
                </a:r>
                <a:r>
                  <a:rPr lang="en-US" b="0" dirty="0" err="1"/>
                  <a:t>aperature</a:t>
                </a:r>
                <a:r>
                  <a:rPr lang="en-US" b="0" dirty="0"/>
                  <a:t> diameter</a:t>
                </a:r>
                <a:br>
                  <a:rPr lang="en-US" b="0" dirty="0"/>
                </a:br>
                <a:br>
                  <a:rPr lang="en-US" b="0" dirty="0"/>
                </a:br>
                <a:r>
                  <a:rPr lang="en-US" sz="1200" b="0" i="0" kern="1200" dirty="0">
                    <a:solidFill>
                      <a:schemeClr val="tx1"/>
                    </a:solidFill>
                    <a:effectLst/>
                    <a:latin typeface="+mn-lt"/>
                    <a:ea typeface="+mn-ea"/>
                    <a:cs typeface="+mn-cs"/>
                  </a:rPr>
                  <a:t>A point source imaged through a finite aperture doesn't form a point — it forms an Airy disk, because the aperture truncates the incoming wavefront. Two points closer than </a:t>
                </a:r>
                <a14:m>
                  <m:oMath xmlns:m="http://schemas.openxmlformats.org/officeDocument/2006/math">
                    <m:r>
                      <a:rPr lang="en-US" sz="1200" i="1" kern="1200">
                        <a:solidFill>
                          <a:schemeClr val="tx1"/>
                        </a:solidFill>
                        <a:latin typeface="Cambria Math" panose="02040503050406030204" pitchFamily="18" charset="0"/>
                        <a:ea typeface="+mn-ea"/>
                        <a:cs typeface="+mn-cs"/>
                      </a:rPr>
                      <m:t>𝜃</m:t>
                    </m:r>
                  </m:oMath>
                </a14:m>
                <a:r>
                  <a:rPr lang="en-US" sz="1200" b="0" i="0" kern="1200" dirty="0">
                    <a:solidFill>
                      <a:schemeClr val="tx1"/>
                    </a:solidFill>
                    <a:effectLst/>
                    <a:latin typeface="+mn-lt"/>
                    <a:ea typeface="+mn-ea"/>
                    <a:cs typeface="+mn-cs"/>
                  </a:rPr>
                  <a:t> produce overlapping disks that merge into one blob. </a:t>
                </a:r>
                <a:r>
                  <a:rPr lang="en-US" sz="1200" b="1" i="0" kern="1200" dirty="0">
                    <a:solidFill>
                      <a:schemeClr val="tx1"/>
                    </a:solidFill>
                    <a:effectLst/>
                    <a:latin typeface="+mn-lt"/>
                    <a:ea typeface="+mn-ea"/>
                    <a:cs typeface="+mn-cs"/>
                  </a:rPr>
                  <a:t>Aperture is the only term you control</a:t>
                </a:r>
                <a:r>
                  <a:rPr lang="en-US" sz="1200" b="0" i="0" kern="1200" dirty="0">
                    <a:solidFill>
                      <a:schemeClr val="tx1"/>
                    </a:solidFill>
                    <a:effectLst/>
                    <a:latin typeface="+mn-lt"/>
                    <a:ea typeface="+mn-ea"/>
                    <a:cs typeface="+mn-cs"/>
                  </a:rPr>
                  <a:t>, and resolution improves linearly with it.</a:t>
                </a:r>
                <a:r>
                  <a:rPr lang="en-US" b="0" dirty="0"/>
                  <a:t> </a:t>
                </a:r>
                <a:br>
                  <a:rPr lang="en-US" b="0" dirty="0"/>
                </a:br>
                <a:endParaRPr lang="en-US" b="0" dirty="0"/>
              </a:p>
              <a:p>
                <a:r>
                  <a:rPr lang="en-US" b="1" dirty="0"/>
                  <a:t>Atmosphere — the channel between subject and sensor (face and surveillance style biometrics at a distance)</a:t>
                </a:r>
                <a:br>
                  <a:rPr lang="en-US" b="1" dirty="0"/>
                </a:br>
                <a:br>
                  <a:rPr lang="en-US" b="1" dirty="0"/>
                </a:br>
                <a:r>
                  <a:rPr lang="en-US" b="0" dirty="0"/>
                  <a:t>R</a:t>
                </a:r>
                <a:r>
                  <a:rPr lang="en-US" sz="1200" b="0" i="0" kern="1200" dirty="0">
                    <a:solidFill>
                      <a:schemeClr val="tx1"/>
                    </a:solidFill>
                    <a:effectLst/>
                    <a:latin typeface="+mn-lt"/>
                    <a:ea typeface="+mn-ea"/>
                    <a:cs typeface="+mn-cs"/>
                  </a:rPr>
                  <a:t>efractive-index structure parameter </a:t>
                </a:r>
                <a14:m>
                  <m:oMath xmlns:m="http://schemas.openxmlformats.org/officeDocument/2006/math">
                    <m:sSubSup>
                      <m:sSubSupPr>
                        <m:ctrlPr>
                          <a:rPr lang="en-US" sz="1200" i="1" kern="1200">
                            <a:solidFill>
                              <a:schemeClr val="tx1"/>
                            </a:solidFill>
                            <a:latin typeface="Cambria Math" panose="02040503050406030204" pitchFamily="18" charset="0"/>
                            <a:ea typeface="+mn-ea"/>
                            <a:cs typeface="+mn-cs"/>
                          </a:rPr>
                        </m:ctrlPr>
                      </m:sSubSupPr>
                      <m:e>
                        <m:r>
                          <a:rPr lang="en-US" sz="1200" i="1" kern="1200">
                            <a:solidFill>
                              <a:schemeClr val="tx1"/>
                            </a:solidFill>
                            <a:latin typeface="Cambria Math" panose="02040503050406030204" pitchFamily="18" charset="0"/>
                            <a:ea typeface="+mn-ea"/>
                            <a:cs typeface="+mn-cs"/>
                          </a:rPr>
                          <m:t>𝐶</m:t>
                        </m:r>
                      </m:e>
                      <m:sub>
                        <m:r>
                          <a:rPr lang="en-US" sz="1200" i="1" kern="1200">
                            <a:solidFill>
                              <a:schemeClr val="tx1"/>
                            </a:solidFill>
                            <a:latin typeface="Cambria Math" panose="02040503050406030204" pitchFamily="18" charset="0"/>
                            <a:ea typeface="+mn-ea"/>
                            <a:cs typeface="+mn-cs"/>
                          </a:rPr>
                          <m:t>𝑛</m:t>
                        </m:r>
                      </m:sub>
                      <m:sup>
                        <m:r>
                          <a:rPr lang="en-US" sz="1200" i="0" kern="1200">
                            <a:solidFill>
                              <a:schemeClr val="tx1"/>
                            </a:solidFill>
                            <a:latin typeface="Cambria Math" panose="02040503050406030204" pitchFamily="18" charset="0"/>
                            <a:ea typeface="+mn-ea"/>
                            <a:cs typeface="+mn-cs"/>
                          </a:rPr>
                          <m:t>2</m:t>
                        </m:r>
                      </m:sup>
                    </m:sSubSup>
                  </m:oMath>
                </a14:m>
                <a:r>
                  <a:rPr lang="en-US" sz="1200" b="0" i="0" kern="1200" dirty="0">
                    <a:solidFill>
                      <a:schemeClr val="tx1"/>
                    </a:solidFill>
                    <a:effectLst/>
                    <a:latin typeface="+mn-lt"/>
                    <a:ea typeface="+mn-ea"/>
                    <a:cs typeface="+mn-cs"/>
                  </a:rPr>
                  <a:t>; Fried parameter</a:t>
                </a:r>
              </a:p>
              <a:p>
                <a:pPr/>
                <a14:m>
                  <m:oMathPara xmlns:m="http://schemas.openxmlformats.org/officeDocument/2006/math">
                    <m:oMath>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𝑟</m:t>
                          </m:r>
                        </m:e>
                        <m:sub>
                          <m:r>
                            <a:rPr lang="en-US" sz="1200" i="0" kern="1200">
                              <a:solidFill>
                                <a:schemeClr val="tx1"/>
                              </a:solidFill>
                              <a:latin typeface="Cambria Math" panose="02040503050406030204" pitchFamily="18" charset="0"/>
                              <a:ea typeface="+mn-ea"/>
                              <a:cs typeface="+mn-cs"/>
                            </a:rPr>
                            <m:t>0</m:t>
                          </m:r>
                        </m:sub>
                      </m:sSub>
                      <m:r>
                        <a:rPr lang="en-US" sz="1200" i="0" kern="1200">
                          <a:solidFill>
                            <a:schemeClr val="tx1"/>
                          </a:solidFill>
                          <a:latin typeface="Cambria Math" panose="02040503050406030204" pitchFamily="18" charset="0"/>
                          <a:ea typeface="+mn-ea"/>
                          <a:cs typeface="+mn-cs"/>
                        </a:rPr>
                        <m:t>=</m:t>
                      </m:r>
                      <m:sSup>
                        <m:sSupPr>
                          <m:ctrlPr>
                            <a:rPr lang="en-US" sz="1200" i="1" kern="1200">
                              <a:solidFill>
                                <a:schemeClr val="tx1"/>
                              </a:solidFill>
                              <a:latin typeface="Cambria Math" panose="02040503050406030204" pitchFamily="18" charset="0"/>
                              <a:ea typeface="+mn-ea"/>
                              <a:cs typeface="+mn-cs"/>
                            </a:rPr>
                          </m:ctrlPr>
                        </m:sSupPr>
                        <m:e>
                          <m:d>
                            <m:dPr>
                              <m:begChr m:val="["/>
                              <m:endChr m:val="]"/>
                              <m:ctrlPr>
                                <a:rPr lang="en-US" sz="1200" i="0" kern="1200">
                                  <a:solidFill>
                                    <a:schemeClr val="tx1"/>
                                  </a:solidFill>
                                  <a:latin typeface="Cambria Math" panose="02040503050406030204" pitchFamily="18" charset="0"/>
                                  <a:ea typeface="+mn-ea"/>
                                  <a:cs typeface="+mn-cs"/>
                                </a:rPr>
                              </m:ctrlPr>
                            </m:dPr>
                            <m:e>
                              <m:r>
                                <a:rPr lang="en-US" sz="1200" i="0" kern="1200">
                                  <a:solidFill>
                                    <a:schemeClr val="tx1"/>
                                  </a:solidFill>
                                  <a:latin typeface="Cambria Math" panose="02040503050406030204" pitchFamily="18" charset="0"/>
                                  <a:ea typeface="+mn-ea"/>
                                  <a:cs typeface="+mn-cs"/>
                                </a:rPr>
                                <m:t>0.423</m:t>
                              </m:r>
                              <m:r>
                                <m:rPr>
                                  <m:nor/>
                                </m:rPr>
                                <a:rPr lang="en-US" sz="1200" b="0" i="0" kern="1200">
                                  <a:solidFill>
                                    <a:schemeClr val="tx1"/>
                                  </a:solidFill>
                                  <a:latin typeface="+mn-lt"/>
                                  <a:ea typeface="+mn-ea"/>
                                  <a:cs typeface="+mn-cs"/>
                                </a:rPr>
                                <m:t> </m:t>
                              </m:r>
                              <m:sSup>
                                <m:sSupPr>
                                  <m:ctrlPr>
                                    <a:rPr lang="en-US" sz="1200" b="0" i="1" kern="1200">
                                      <a:solidFill>
                                        <a:schemeClr val="tx1"/>
                                      </a:solidFill>
                                      <a:latin typeface="Cambria Math" panose="02040503050406030204" pitchFamily="18" charset="0"/>
                                      <a:ea typeface="+mn-ea"/>
                                      <a:cs typeface="+mn-cs"/>
                                    </a:rPr>
                                  </m:ctrlPr>
                                </m:sSupPr>
                                <m:e>
                                  <m:r>
                                    <a:rPr lang="en-US" sz="1200" b="0" i="1" kern="1200">
                                      <a:solidFill>
                                        <a:schemeClr val="tx1"/>
                                      </a:solidFill>
                                      <a:latin typeface="Cambria Math" panose="02040503050406030204" pitchFamily="18" charset="0"/>
                                      <a:ea typeface="+mn-ea"/>
                                      <a:cs typeface="+mn-cs"/>
                                    </a:rPr>
                                    <m:t>𝑘</m:t>
                                  </m:r>
                                </m:e>
                                <m:sup>
                                  <m:r>
                                    <a:rPr lang="en-US" sz="1200" b="0" i="0" kern="1200">
                                      <a:solidFill>
                                        <a:schemeClr val="tx1"/>
                                      </a:solidFill>
                                      <a:latin typeface="Cambria Math" panose="02040503050406030204" pitchFamily="18" charset="0"/>
                                      <a:ea typeface="+mn-ea"/>
                                      <a:cs typeface="+mn-cs"/>
                                    </a:rPr>
                                    <m:t>2</m:t>
                                  </m:r>
                                </m:sup>
                              </m:sSup>
                              <m:nary>
                                <m:naryPr>
                                  <m:grow m:val="on"/>
                                  <m:subHide m:val="on"/>
                                  <m:supHide m:val="on"/>
                                  <m:ctrlPr>
                                    <a:rPr lang="en-US" sz="1200" b="0" i="1" kern="1200">
                                      <a:solidFill>
                                        <a:schemeClr val="tx1"/>
                                      </a:solidFill>
                                      <a:latin typeface="Cambria Math" panose="02040503050406030204" pitchFamily="18" charset="0"/>
                                      <a:ea typeface="+mn-ea"/>
                                      <a:cs typeface="+mn-cs"/>
                                    </a:rPr>
                                  </m:ctrlPr>
                                </m:naryPr>
                                <m:sub/>
                                <m:sup/>
                                <m:e>
                                  <m:sSubSup>
                                    <m:sSubSupPr>
                                      <m:ctrlPr>
                                        <a:rPr lang="en-US" sz="1200" b="0" i="1" kern="1200">
                                          <a:solidFill>
                                            <a:schemeClr val="tx1"/>
                                          </a:solidFill>
                                          <a:latin typeface="Cambria Math" panose="02040503050406030204" pitchFamily="18" charset="0"/>
                                          <a:ea typeface="+mn-ea"/>
                                          <a:cs typeface="+mn-cs"/>
                                        </a:rPr>
                                      </m:ctrlPr>
                                    </m:sSubSupPr>
                                    <m:e>
                                      <m:r>
                                        <a:rPr lang="en-US" sz="1200" b="0" i="1" kern="1200">
                                          <a:solidFill>
                                            <a:schemeClr val="tx1"/>
                                          </a:solidFill>
                                          <a:latin typeface="Cambria Math" panose="02040503050406030204" pitchFamily="18" charset="0"/>
                                          <a:ea typeface="+mn-ea"/>
                                          <a:cs typeface="+mn-cs"/>
                                        </a:rPr>
                                        <m:t>𝐶</m:t>
                                      </m:r>
                                    </m:e>
                                    <m:sub>
                                      <m:r>
                                        <a:rPr lang="en-US" sz="1200" b="0" i="1" kern="1200">
                                          <a:solidFill>
                                            <a:schemeClr val="tx1"/>
                                          </a:solidFill>
                                          <a:latin typeface="Cambria Math" panose="02040503050406030204" pitchFamily="18" charset="0"/>
                                          <a:ea typeface="+mn-ea"/>
                                          <a:cs typeface="+mn-cs"/>
                                        </a:rPr>
                                        <m:t>𝑛</m:t>
                                      </m:r>
                                    </m:sub>
                                    <m:sup>
                                      <m:r>
                                        <a:rPr lang="en-US" sz="1200" b="0" i="0" kern="1200">
                                          <a:solidFill>
                                            <a:schemeClr val="tx1"/>
                                          </a:solidFill>
                                          <a:latin typeface="Cambria Math" panose="02040503050406030204" pitchFamily="18" charset="0"/>
                                          <a:ea typeface="+mn-ea"/>
                                          <a:cs typeface="+mn-cs"/>
                                        </a:rPr>
                                        <m:t>2</m:t>
                                      </m:r>
                                    </m:sup>
                                  </m:sSubSup>
                                </m:e>
                              </m:nary>
                              <m:d>
                                <m:dPr>
                                  <m:ctrlPr>
                                    <a:rPr lang="en-US" sz="1200" b="0" i="1" kern="1200">
                                      <a:solidFill>
                                        <a:schemeClr val="tx1"/>
                                      </a:solidFill>
                                      <a:latin typeface="Cambria Math" panose="02040503050406030204" pitchFamily="18" charset="0"/>
                                      <a:ea typeface="+mn-ea"/>
                                      <a:cs typeface="+mn-cs"/>
                                    </a:rPr>
                                  </m:ctrlPr>
                                </m:dPr>
                                <m:e>
                                  <m:r>
                                    <a:rPr lang="en-US" sz="1200" b="0" i="1" kern="1200">
                                      <a:solidFill>
                                        <a:schemeClr val="tx1"/>
                                      </a:solidFill>
                                      <a:latin typeface="Cambria Math" panose="02040503050406030204" pitchFamily="18" charset="0"/>
                                      <a:ea typeface="+mn-ea"/>
                                      <a:cs typeface="+mn-cs"/>
                                    </a:rPr>
                                    <m:t>𝑧</m:t>
                                  </m:r>
                                </m:e>
                              </m:d>
                              <m:r>
                                <m:rPr>
                                  <m:nor/>
                                </m:rPr>
                                <a:rPr lang="en-US" sz="1200" b="0" i="0" kern="1200">
                                  <a:solidFill>
                                    <a:schemeClr val="tx1"/>
                                  </a:solidFill>
                                  <a:latin typeface="+mn-lt"/>
                                  <a:ea typeface="+mn-ea"/>
                                  <a:cs typeface="+mn-cs"/>
                                </a:rPr>
                                <m:t> </m:t>
                              </m:r>
                              <m:r>
                                <a:rPr lang="en-US" sz="1200" b="0" i="1" kern="1200">
                                  <a:solidFill>
                                    <a:schemeClr val="tx1"/>
                                  </a:solidFill>
                                  <a:latin typeface="Cambria Math" panose="02040503050406030204" pitchFamily="18" charset="0"/>
                                  <a:ea typeface="+mn-ea"/>
                                  <a:cs typeface="+mn-cs"/>
                                </a:rPr>
                                <m:t>𝑑𝑧</m:t>
                              </m:r>
                            </m:e>
                          </m:d>
                        </m:e>
                        <m:sup>
                          <m:r>
                            <a:rPr lang="en-US" sz="1200" b="0" i="0" kern="1200">
                              <a:solidFill>
                                <a:schemeClr val="tx1"/>
                              </a:solidFill>
                              <a:latin typeface="Cambria Math" panose="02040503050406030204" pitchFamily="18" charset="0"/>
                              <a:ea typeface="+mn-ea"/>
                              <a:cs typeface="+mn-cs"/>
                            </a:rPr>
                            <m:t>−3/5</m:t>
                          </m:r>
                        </m:sup>
                      </m:sSup>
                    </m:oMath>
                  </m:oMathPara>
                </a14:m>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When </a:t>
                </a:r>
                <a14:m>
                  <m:oMath xmlns:m="http://schemas.openxmlformats.org/officeDocument/2006/math">
                    <m:r>
                      <a:rPr lang="en-US" sz="1200" i="1" kern="1200">
                        <a:solidFill>
                          <a:schemeClr val="tx1"/>
                        </a:solidFill>
                        <a:latin typeface="Cambria Math" panose="02040503050406030204" pitchFamily="18" charset="0"/>
                        <a:ea typeface="+mn-ea"/>
                        <a:cs typeface="+mn-cs"/>
                      </a:rPr>
                      <m:t>𝐷</m:t>
                    </m:r>
                    <m:r>
                      <a:rPr lang="en-US" sz="1200" i="0" kern="1200">
                        <a:solidFill>
                          <a:schemeClr val="tx1"/>
                        </a:solidFill>
                        <a:latin typeface="Cambria Math" panose="02040503050406030204" pitchFamily="18" charset="0"/>
                        <a:ea typeface="+mn-ea"/>
                        <a:cs typeface="+mn-cs"/>
                      </a:rPr>
                      <m:t>&gt;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𝑟</m:t>
                        </m:r>
                      </m:e>
                      <m:sub>
                        <m:r>
                          <a:rPr lang="en-US" sz="1200" i="0" kern="1200">
                            <a:solidFill>
                              <a:schemeClr val="tx1"/>
                            </a:solidFill>
                            <a:latin typeface="Cambria Math" panose="02040503050406030204" pitchFamily="18" charset="0"/>
                            <a:ea typeface="+mn-ea"/>
                            <a:cs typeface="+mn-cs"/>
                          </a:rPr>
                          <m:t>0</m:t>
                        </m:r>
                      </m:sub>
                    </m:sSub>
                  </m:oMath>
                </a14:m>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the atmosphere — not your lens — determines resolution.</a:t>
                </a:r>
                <a:r>
                  <a:rPr lang="en-US" sz="1200" b="0" i="0" kern="1200" dirty="0">
                    <a:solidFill>
                      <a:schemeClr val="tx1"/>
                    </a:solidFill>
                    <a:effectLst/>
                    <a:latin typeface="+mn-lt"/>
                    <a:ea typeface="+mn-ea"/>
                    <a:cs typeface="+mn-cs"/>
                  </a:rPr>
                  <a:t> A better camera buys nothing.</a:t>
                </a:r>
              </a:p>
              <a:p>
                <a:br>
                  <a:rPr lang="en-US" b="1" dirty="0"/>
                </a:br>
                <a:br>
                  <a:rPr lang="en-US" b="0" dirty="0"/>
                </a:br>
                <a:r>
                  <a:rPr lang="en-US" sz="1200" b="0" i="0" kern="1200" dirty="0">
                    <a:solidFill>
                      <a:schemeClr val="tx1"/>
                    </a:solidFill>
                    <a:effectLst/>
                    <a:latin typeface="+mn-lt"/>
                    <a:ea typeface="+mn-ea"/>
                    <a:cs typeface="+mn-cs"/>
                  </a:rPr>
                  <a:t>Three distinct distortion regimes, often conflated:</a:t>
                </a:r>
              </a:p>
              <a:p>
                <a:pPr lvl="0"/>
                <a:r>
                  <a:rPr lang="en-US" sz="1200" b="1" i="0" kern="1200" dirty="0">
                    <a:solidFill>
                      <a:schemeClr val="tx1"/>
                    </a:solidFill>
                    <a:effectLst/>
                    <a:latin typeface="+mn-lt"/>
                    <a:ea typeface="+mn-ea"/>
                    <a:cs typeface="+mn-cs"/>
                  </a:rPr>
                  <a:t>Tilt</a:t>
                </a:r>
                <a:r>
                  <a:rPr lang="en-US" sz="1200" b="0" i="0" kern="1200" dirty="0">
                    <a:solidFill>
                      <a:schemeClr val="tx1"/>
                    </a:solidFill>
                    <a:effectLst/>
                    <a:latin typeface="+mn-lt"/>
                    <a:ea typeface="+mn-ea"/>
                    <a:cs typeface="+mn-cs"/>
                  </a:rPr>
                  <a:t> — whole-frame wander (partially correctable by registration)</a:t>
                </a:r>
              </a:p>
              <a:p>
                <a:pPr lvl="0"/>
                <a:r>
                  <a:rPr lang="en-US" sz="1200" b="1" i="0" kern="1200" dirty="0">
                    <a:solidFill>
                      <a:schemeClr val="tx1"/>
                    </a:solidFill>
                    <a:effectLst/>
                    <a:latin typeface="+mn-lt"/>
                    <a:ea typeface="+mn-ea"/>
                    <a:cs typeface="+mn-cs"/>
                  </a:rPr>
                  <a:t>Blur</a:t>
                </a:r>
                <a:r>
                  <a:rPr lang="en-US" sz="1200" b="0" i="0" kern="1200" dirty="0">
                    <a:solidFill>
                      <a:schemeClr val="tx1"/>
                    </a:solidFill>
                    <a:effectLst/>
                    <a:latin typeface="+mn-lt"/>
                    <a:ea typeface="+mn-ea"/>
                    <a:cs typeface="+mn-cs"/>
                  </a:rPr>
                  <a:t> — higher-order wavefront error (hard)</a:t>
                </a:r>
              </a:p>
              <a:p>
                <a:pPr lvl="0"/>
                <a:r>
                  <a:rPr lang="en-US" sz="1200" b="1" i="0" kern="1200" dirty="0" err="1">
                    <a:solidFill>
                      <a:schemeClr val="tx1"/>
                    </a:solidFill>
                    <a:effectLst/>
                    <a:latin typeface="+mn-lt"/>
                    <a:ea typeface="+mn-ea"/>
                    <a:cs typeface="+mn-cs"/>
                  </a:rPr>
                  <a:t>Anisoplanatism</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spatially varying</a:t>
                </a:r>
                <a:r>
                  <a:rPr lang="en-US" sz="1200" b="0" i="0" kern="1200" dirty="0">
                    <a:solidFill>
                      <a:schemeClr val="tx1"/>
                    </a:solidFill>
                    <a:effectLst/>
                    <a:latin typeface="+mn-lt"/>
                    <a:ea typeface="+mn-ea"/>
                    <a:cs typeface="+mn-cs"/>
                  </a:rPr>
                  <a:t> distortion across a single frame; different parts of the body are warped differently, which breaks geometric alignment assumptions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0" dirty="0"/>
              </a:p>
            </p:txBody>
          </p:sp>
        </mc:Choice>
        <mc:Fallback xmlns="">
          <p:sp>
            <p:nvSpPr>
              <p:cNvPr id="3" name="Notes Placeholder 2">
                <a:extLst>
                  <a:ext uri="{FF2B5EF4-FFF2-40B4-BE49-F238E27FC236}">
                    <a16:creationId xmlns:a16="http://schemas.microsoft.com/office/drawing/2014/main" id="{94AD7E80-48D1-D8DC-D6F2-E4005900057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i="0">
                    <a:latin typeface="Cambria Math" panose="02040503050406030204" pitchFamily="18" charset="0"/>
                  </a:rPr>
                  <a:t>𝜃</a:t>
                </a:r>
                <a:r>
                  <a:rPr lang="en-US" b="0" dirty="0"/>
                  <a:t> — smallest resolvable angle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i="0">
                    <a:latin typeface="Cambria Math" panose="02040503050406030204" pitchFamily="18" charset="0"/>
                  </a:rPr>
                  <a:t>𝜆</a:t>
                </a:r>
                <a:r>
                  <a:rPr lang="en-US" b="0" dirty="0"/>
                  <a:t> — wavelength</a:t>
                </a:r>
              </a:p>
              <a:p>
                <a:r>
                  <a:rPr lang="en-US" b="0" dirty="0"/>
                  <a:t>D — </a:t>
                </a:r>
                <a:r>
                  <a:rPr lang="en-US" b="0" dirty="0" err="1"/>
                  <a:t>aperature</a:t>
                </a:r>
                <a:r>
                  <a:rPr lang="en-US" b="0" dirty="0"/>
                  <a:t> diameter</a:t>
                </a:r>
                <a:br>
                  <a:rPr lang="en-US" b="0" dirty="0"/>
                </a:br>
                <a:br>
                  <a:rPr lang="en-US" b="0" dirty="0"/>
                </a:br>
                <a:r>
                  <a:rPr lang="en-US" sz="1200" b="0" i="0" kern="1200" dirty="0">
                    <a:solidFill>
                      <a:schemeClr val="tx1"/>
                    </a:solidFill>
                    <a:effectLst/>
                    <a:latin typeface="+mn-lt"/>
                    <a:ea typeface="+mn-ea"/>
                    <a:cs typeface="+mn-cs"/>
                  </a:rPr>
                  <a:t>A point source imaged through a finite aperture doesn't form a point — it forms an Airy disk, because the aperture truncates the incoming wavefront. Two points closer than </a:t>
                </a:r>
                <a:r>
                  <a:rPr lang="en-US" sz="1200" i="0" kern="1200">
                    <a:solidFill>
                      <a:schemeClr val="tx1"/>
                    </a:solidFill>
                    <a:latin typeface="+mn-lt"/>
                    <a:ea typeface="+mn-ea"/>
                    <a:cs typeface="+mn-cs"/>
                  </a:rPr>
                  <a:t>𝜃</a:t>
                </a:r>
                <a:r>
                  <a:rPr lang="en-US" sz="1200" b="0" i="0" kern="1200" dirty="0">
                    <a:solidFill>
                      <a:schemeClr val="tx1"/>
                    </a:solidFill>
                    <a:effectLst/>
                    <a:latin typeface="+mn-lt"/>
                    <a:ea typeface="+mn-ea"/>
                    <a:cs typeface="+mn-cs"/>
                  </a:rPr>
                  <a:t> produce overlapping disks that merge into one blob. </a:t>
                </a:r>
                <a:r>
                  <a:rPr lang="en-US" sz="1200" b="1" i="0" kern="1200" dirty="0">
                    <a:solidFill>
                      <a:schemeClr val="tx1"/>
                    </a:solidFill>
                    <a:effectLst/>
                    <a:latin typeface="+mn-lt"/>
                    <a:ea typeface="+mn-ea"/>
                    <a:cs typeface="+mn-cs"/>
                  </a:rPr>
                  <a:t>Aperture is the only term you control</a:t>
                </a:r>
                <a:r>
                  <a:rPr lang="en-US" sz="1200" b="0" i="0" kern="1200" dirty="0">
                    <a:solidFill>
                      <a:schemeClr val="tx1"/>
                    </a:solidFill>
                    <a:effectLst/>
                    <a:latin typeface="+mn-lt"/>
                    <a:ea typeface="+mn-ea"/>
                    <a:cs typeface="+mn-cs"/>
                  </a:rPr>
                  <a:t>, and resolution improves linearly with it.</a:t>
                </a:r>
                <a:r>
                  <a:rPr lang="en-US" b="0" dirty="0"/>
                  <a:t> </a:t>
                </a:r>
                <a:br>
                  <a:rPr lang="en-US" b="0" dirty="0"/>
                </a:br>
                <a:endParaRPr lang="en-US" b="0" dirty="0"/>
              </a:p>
              <a:p>
                <a:r>
                  <a:rPr lang="en-US" b="1" dirty="0"/>
                  <a:t>Atmosphere — the channel between subject and sensor (face and surveillance style biometrics at a distance)</a:t>
                </a:r>
                <a:br>
                  <a:rPr lang="en-US" b="1" dirty="0"/>
                </a:br>
                <a:br>
                  <a:rPr lang="en-US" b="1" dirty="0"/>
                </a:br>
                <a:r>
                  <a:rPr lang="en-US" b="0" dirty="0"/>
                  <a:t>R</a:t>
                </a:r>
                <a:r>
                  <a:rPr lang="en-US" sz="1200" b="0" i="0" kern="1200" dirty="0">
                    <a:solidFill>
                      <a:schemeClr val="tx1"/>
                    </a:solidFill>
                    <a:effectLst/>
                    <a:latin typeface="+mn-lt"/>
                    <a:ea typeface="+mn-ea"/>
                    <a:cs typeface="+mn-cs"/>
                  </a:rPr>
                  <a:t>efractive-index structure parameter </a:t>
                </a:r>
                <a:r>
                  <a:rPr lang="en-US" sz="1200" i="0" kern="1200">
                    <a:solidFill>
                      <a:schemeClr val="tx1"/>
                    </a:solidFill>
                    <a:latin typeface="+mn-lt"/>
                    <a:ea typeface="+mn-ea"/>
                    <a:cs typeface="+mn-cs"/>
                  </a:rPr>
                  <a:t>𝐶_𝑛^2</a:t>
                </a:r>
                <a:r>
                  <a:rPr lang="en-US" sz="1200" b="0" i="0" kern="1200" dirty="0">
                    <a:solidFill>
                      <a:schemeClr val="tx1"/>
                    </a:solidFill>
                    <a:effectLst/>
                    <a:latin typeface="+mn-lt"/>
                    <a:ea typeface="+mn-ea"/>
                    <a:cs typeface="+mn-cs"/>
                  </a:rPr>
                  <a:t>; Fried parameter</a:t>
                </a:r>
              </a:p>
              <a:p>
                <a:r>
                  <a:rPr lang="en-US" sz="1200" i="0" kern="1200">
                    <a:solidFill>
                      <a:schemeClr val="tx1"/>
                    </a:solidFill>
                    <a:latin typeface="+mn-lt"/>
                    <a:ea typeface="+mn-ea"/>
                    <a:cs typeface="+mn-cs"/>
                  </a:rPr>
                  <a:t>𝑟_0=[0.423</a:t>
                </a:r>
                <a:r>
                  <a:rPr lang="en-US" sz="1200" b="0" i="0" kern="1200">
                    <a:solidFill>
                      <a:schemeClr val="tx1"/>
                    </a:solidFill>
                    <a:latin typeface="+mn-lt"/>
                    <a:ea typeface="+mn-ea"/>
                    <a:cs typeface="+mn-cs"/>
                  </a:rPr>
                  <a:t>" " 𝑘^2 ∫128▒𝐶_𝑛^2  (𝑧)" " 𝑑𝑧]^(−3/5)</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When </a:t>
                </a:r>
                <a:r>
                  <a:rPr lang="en-US" sz="1200" i="0" kern="1200">
                    <a:solidFill>
                      <a:schemeClr val="tx1"/>
                    </a:solidFill>
                    <a:latin typeface="+mn-lt"/>
                    <a:ea typeface="+mn-ea"/>
                    <a:cs typeface="+mn-cs"/>
                  </a:rPr>
                  <a:t>𝐷&gt;𝑟_0</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the atmosphere — not your lens — determines resolution.</a:t>
                </a:r>
                <a:r>
                  <a:rPr lang="en-US" sz="1200" b="0" i="0" kern="1200" dirty="0">
                    <a:solidFill>
                      <a:schemeClr val="tx1"/>
                    </a:solidFill>
                    <a:effectLst/>
                    <a:latin typeface="+mn-lt"/>
                    <a:ea typeface="+mn-ea"/>
                    <a:cs typeface="+mn-cs"/>
                  </a:rPr>
                  <a:t> A better camera buys nothing.</a:t>
                </a:r>
              </a:p>
              <a:p>
                <a:br>
                  <a:rPr lang="en-US" b="1" dirty="0"/>
                </a:br>
                <a:br>
                  <a:rPr lang="en-US" b="0" dirty="0"/>
                </a:br>
                <a:r>
                  <a:rPr lang="en-US" sz="1200" b="0" i="0" kern="1200" dirty="0">
                    <a:solidFill>
                      <a:schemeClr val="tx1"/>
                    </a:solidFill>
                    <a:effectLst/>
                    <a:latin typeface="+mn-lt"/>
                    <a:ea typeface="+mn-ea"/>
                    <a:cs typeface="+mn-cs"/>
                  </a:rPr>
                  <a:t>Three distinct distortion regimes, often conflated:</a:t>
                </a:r>
              </a:p>
              <a:p>
                <a:pPr lvl="0"/>
                <a:r>
                  <a:rPr lang="en-US" sz="1200" b="1" i="0" kern="1200" dirty="0">
                    <a:solidFill>
                      <a:schemeClr val="tx1"/>
                    </a:solidFill>
                    <a:effectLst/>
                    <a:latin typeface="+mn-lt"/>
                    <a:ea typeface="+mn-ea"/>
                    <a:cs typeface="+mn-cs"/>
                  </a:rPr>
                  <a:t>Tilt</a:t>
                </a:r>
                <a:r>
                  <a:rPr lang="en-US" sz="1200" b="0" i="0" kern="1200" dirty="0">
                    <a:solidFill>
                      <a:schemeClr val="tx1"/>
                    </a:solidFill>
                    <a:effectLst/>
                    <a:latin typeface="+mn-lt"/>
                    <a:ea typeface="+mn-ea"/>
                    <a:cs typeface="+mn-cs"/>
                  </a:rPr>
                  <a:t> — whole-frame wander (partially correctable by registration)</a:t>
                </a:r>
              </a:p>
              <a:p>
                <a:pPr lvl="0"/>
                <a:r>
                  <a:rPr lang="en-US" sz="1200" b="1" i="0" kern="1200" dirty="0">
                    <a:solidFill>
                      <a:schemeClr val="tx1"/>
                    </a:solidFill>
                    <a:effectLst/>
                    <a:latin typeface="+mn-lt"/>
                    <a:ea typeface="+mn-ea"/>
                    <a:cs typeface="+mn-cs"/>
                  </a:rPr>
                  <a:t>Blur</a:t>
                </a:r>
                <a:r>
                  <a:rPr lang="en-US" sz="1200" b="0" i="0" kern="1200" dirty="0">
                    <a:solidFill>
                      <a:schemeClr val="tx1"/>
                    </a:solidFill>
                    <a:effectLst/>
                    <a:latin typeface="+mn-lt"/>
                    <a:ea typeface="+mn-ea"/>
                    <a:cs typeface="+mn-cs"/>
                  </a:rPr>
                  <a:t> — higher-order wavefront error (hard)</a:t>
                </a:r>
              </a:p>
              <a:p>
                <a:pPr lvl="0"/>
                <a:r>
                  <a:rPr lang="en-US" sz="1200" b="1" i="0" kern="1200" dirty="0" err="1">
                    <a:solidFill>
                      <a:schemeClr val="tx1"/>
                    </a:solidFill>
                    <a:effectLst/>
                    <a:latin typeface="+mn-lt"/>
                    <a:ea typeface="+mn-ea"/>
                    <a:cs typeface="+mn-cs"/>
                  </a:rPr>
                  <a:t>Anisoplanatism</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spatially varying</a:t>
                </a:r>
                <a:r>
                  <a:rPr lang="en-US" sz="1200" b="0" i="0" kern="1200" dirty="0">
                    <a:solidFill>
                      <a:schemeClr val="tx1"/>
                    </a:solidFill>
                    <a:effectLst/>
                    <a:latin typeface="+mn-lt"/>
                    <a:ea typeface="+mn-ea"/>
                    <a:cs typeface="+mn-cs"/>
                  </a:rPr>
                  <a:t> distortion across a single frame; different parts of the body are warped differently, which breaks geometric alignment assumptions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0" dirty="0"/>
              </a:p>
            </p:txBody>
          </p:sp>
        </mc:Fallback>
      </mc:AlternateContent>
      <p:sp>
        <p:nvSpPr>
          <p:cNvPr id="4" name="Slide Number Placeholder 3">
            <a:extLst>
              <a:ext uri="{FF2B5EF4-FFF2-40B4-BE49-F238E27FC236}">
                <a16:creationId xmlns:a16="http://schemas.microsoft.com/office/drawing/2014/main" id="{51F0C824-E4CD-A085-0E7F-0A410446A0FD}"/>
              </a:ext>
            </a:extLst>
          </p:cNvPr>
          <p:cNvSpPr>
            <a:spLocks noGrp="1"/>
          </p:cNvSpPr>
          <p:nvPr>
            <p:ph type="sldNum" sz="quarter" idx="5"/>
          </p:nvPr>
        </p:nvSpPr>
        <p:spPr/>
        <p:txBody>
          <a:bodyPr/>
          <a:lstStyle/>
          <a:p>
            <a:fld id="{29E7BD1F-0023-244E-A8FD-1ADCC0FAE1A1}" type="slidenum">
              <a:rPr lang="en-US" smtClean="0"/>
              <a:t>14</a:t>
            </a:fld>
            <a:endParaRPr lang="en-US"/>
          </a:p>
        </p:txBody>
      </p:sp>
    </p:spTree>
    <p:extLst>
      <p:ext uri="{BB962C8B-B14F-4D97-AF65-F5344CB8AC3E}">
        <p14:creationId xmlns:p14="http://schemas.microsoft.com/office/powerpoint/2010/main" val="37806629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8B3A6-8B7E-DE9F-A6A4-FD2DAB731C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409269-30D3-3E90-B2B1-A4AF0C3057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FFF1A4-7BB6-1018-1D69-682CDDC3802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Questions</a:t>
            </a:r>
            <a:r>
              <a:rPr lang="en-US" sz="1200" b="0" i="0" kern="1200" dirty="0">
                <a:solidFill>
                  <a:schemeClr val="tx1"/>
                </a:solidFill>
                <a:effectLst/>
                <a:latin typeface="+mn-lt"/>
                <a:ea typeface="+mn-ea"/>
                <a:cs typeface="+mn-cs"/>
              </a:rPr>
              <a:t>: “Which layer is directly observed? Which layers are interpretations?”</a:t>
            </a:r>
          </a:p>
          <a:p>
            <a:pPr lvl="0"/>
            <a:endParaRPr lang="en-US" sz="1200" b="0" i="0" kern="1200" dirty="0">
              <a:solidFill>
                <a:schemeClr val="tx1"/>
              </a:solidFill>
              <a:effectLst/>
              <a:latin typeface="+mn-lt"/>
              <a:ea typeface="+mn-ea"/>
              <a:cs typeface="+mn-cs"/>
            </a:endParaRPr>
          </a:p>
          <a:p>
            <a:pPr lvl="0"/>
            <a:endParaRPr lang="en-US" sz="1200" b="0" i="0" kern="1200" dirty="0">
              <a:solidFill>
                <a:schemeClr val="tx1"/>
              </a:solidFill>
              <a:effectLst/>
              <a:latin typeface="+mn-lt"/>
              <a:ea typeface="+mn-ea"/>
              <a:cs typeface="+mn-cs"/>
            </a:endParaRPr>
          </a:p>
          <a:p>
            <a:pPr lvl="0"/>
            <a:r>
              <a:rPr lang="en-US" sz="1200" b="0" i="0" kern="1200" dirty="0">
                <a:solidFill>
                  <a:schemeClr val="tx1"/>
                </a:solidFill>
                <a:effectLst/>
                <a:latin typeface="+mn-lt"/>
                <a:ea typeface="+mn-ea"/>
                <a:cs typeface="+mn-cs"/>
              </a:rPr>
              <a:t>An </a:t>
            </a:r>
            <a:r>
              <a:rPr lang="en-US" sz="1200" b="1" i="0" kern="1200" dirty="0">
                <a:solidFill>
                  <a:schemeClr val="tx1"/>
                </a:solidFill>
                <a:effectLst/>
                <a:latin typeface="+mn-lt"/>
                <a:ea typeface="+mn-ea"/>
                <a:cs typeface="+mn-cs"/>
              </a:rPr>
              <a:t>observation</a:t>
            </a:r>
            <a:r>
              <a:rPr lang="en-US" sz="1200" b="0" i="0" kern="1200" dirty="0">
                <a:solidFill>
                  <a:schemeClr val="tx1"/>
                </a:solidFill>
                <a:effectLst/>
                <a:latin typeface="+mn-lt"/>
                <a:ea typeface="+mn-ea"/>
                <a:cs typeface="+mn-cs"/>
              </a:rPr>
              <a:t> is what was measured: similarity scores and accept/reject outcomes.</a:t>
            </a:r>
          </a:p>
          <a:p>
            <a:pPr lvl="0"/>
            <a:r>
              <a:rPr lang="en-US" sz="1200" b="0" i="0" kern="1200" dirty="0">
                <a:solidFill>
                  <a:schemeClr val="tx1"/>
                </a:solidFill>
                <a:effectLst/>
                <a:latin typeface="+mn-lt"/>
                <a:ea typeface="+mn-ea"/>
                <a:cs typeface="+mn-cs"/>
              </a:rPr>
              <a:t>Turning that into a </a:t>
            </a:r>
            <a:r>
              <a:rPr lang="en-US" sz="1200" b="1" i="0" kern="1200" dirty="0">
                <a:solidFill>
                  <a:schemeClr val="tx1"/>
                </a:solidFill>
                <a:effectLst/>
                <a:latin typeface="+mn-lt"/>
                <a:ea typeface="+mn-ea"/>
                <a:cs typeface="+mn-cs"/>
              </a:rPr>
              <a:t>reported result</a:t>
            </a:r>
            <a:r>
              <a:rPr lang="en-US" sz="1200" b="0" i="0" kern="1200" dirty="0">
                <a:solidFill>
                  <a:schemeClr val="tx1"/>
                </a:solidFill>
                <a:effectLst/>
                <a:latin typeface="+mn-lt"/>
                <a:ea typeface="+mn-ea"/>
                <a:cs typeface="+mn-cs"/>
              </a:rPr>
              <a:t> requires an analysis choice: for example, how to compute FNMR and at which operating point.</a:t>
            </a:r>
          </a:p>
          <a:p>
            <a:pPr lvl="0"/>
            <a:r>
              <a:rPr lang="en-US" sz="1200" b="0" i="0" kern="1200" dirty="0">
                <a:solidFill>
                  <a:schemeClr val="tx1"/>
                </a:solidFill>
                <a:effectLst/>
                <a:latin typeface="+mn-lt"/>
                <a:ea typeface="+mn-ea"/>
                <a:cs typeface="+mn-cs"/>
              </a:rPr>
              <a:t>Turning the result into a </a:t>
            </a:r>
            <a:r>
              <a:rPr lang="en-US" sz="1200" b="1" i="0" kern="1200" dirty="0">
                <a:solidFill>
                  <a:schemeClr val="tx1"/>
                </a:solidFill>
                <a:effectLst/>
                <a:latin typeface="+mn-lt"/>
                <a:ea typeface="+mn-ea"/>
                <a:cs typeface="+mn-cs"/>
              </a:rPr>
              <a:t>claim</a:t>
            </a:r>
            <a:r>
              <a:rPr lang="en-US" sz="1200" b="0" i="0" kern="1200" dirty="0">
                <a:solidFill>
                  <a:schemeClr val="tx1"/>
                </a:solidFill>
                <a:effectLst/>
                <a:latin typeface="+mn-lt"/>
                <a:ea typeface="+mn-ea"/>
                <a:cs typeface="+mn-cs"/>
              </a:rPr>
              <a:t> requires interpretation: “X improved verification performance over Y.”</a:t>
            </a:r>
          </a:p>
          <a:p>
            <a:pPr lvl="0"/>
            <a:r>
              <a:rPr lang="en-US" sz="1200" b="0" i="0" kern="1200" dirty="0">
                <a:solidFill>
                  <a:schemeClr val="tx1"/>
                </a:solidFill>
                <a:effectLst/>
                <a:latin typeface="+mn-lt"/>
                <a:ea typeface="+mn-ea"/>
                <a:cs typeface="+mn-cs"/>
              </a:rPr>
              <a:t>Turning the claim into a </a:t>
            </a:r>
            <a:r>
              <a:rPr lang="en-US" sz="1200" b="1" i="0" kern="1200" dirty="0">
                <a:solidFill>
                  <a:schemeClr val="tx1"/>
                </a:solidFill>
                <a:effectLst/>
                <a:latin typeface="+mn-lt"/>
                <a:ea typeface="+mn-ea"/>
                <a:cs typeface="+mn-cs"/>
              </a:rPr>
              <a:t>decision</a:t>
            </a:r>
            <a:r>
              <a:rPr lang="en-US" sz="1200" b="0" i="0" kern="1200" dirty="0">
                <a:solidFill>
                  <a:schemeClr val="tx1"/>
                </a:solidFill>
                <a:effectLst/>
                <a:latin typeface="+mn-lt"/>
                <a:ea typeface="+mn-ea"/>
                <a:cs typeface="+mn-cs"/>
              </a:rPr>
              <a:t> requires a further judgment: “we should deploy X.”</a:t>
            </a:r>
          </a:p>
          <a:p>
            <a:br>
              <a:rPr lang="en-US" dirty="0"/>
            </a:br>
            <a:r>
              <a:rPr lang="en-US" sz="1200" b="0" i="0" kern="1200" dirty="0">
                <a:solidFill>
                  <a:schemeClr val="tx1"/>
                </a:solidFill>
                <a:effectLst/>
                <a:latin typeface="+mn-lt"/>
                <a:ea typeface="+mn-ea"/>
                <a:cs typeface="+mn-cs"/>
              </a:rPr>
              <a:t>Each transition adds something that was not directly observed. Therefore, each needs its own justification.</a:t>
            </a:r>
          </a:p>
          <a:p>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Final point</a:t>
            </a:r>
            <a:r>
              <a:rPr lang="en-US" sz="1200" b="0" i="0" kern="1200" dirty="0">
                <a:solidFill>
                  <a:schemeClr val="tx1"/>
                </a:solidFill>
                <a:effectLst/>
                <a:latin typeface="+mn-lt"/>
                <a:ea typeface="+mn-ea"/>
                <a:cs typeface="+mn-cs"/>
              </a:rPr>
              <a:t>: Emphasize that critical reading does not mean refusing all inference; it means making each inference visible and proportional to the evidence.</a:t>
            </a:r>
          </a:p>
          <a:p>
            <a:endParaRPr lang="en-US" sz="1200" b="1" i="0" kern="1200" dirty="0">
              <a:solidFill>
                <a:schemeClr val="tx1"/>
              </a:solidFill>
              <a:effectLst/>
              <a:latin typeface="+mn-lt"/>
              <a:ea typeface="+mn-ea"/>
              <a:cs typeface="+mn-cs"/>
            </a:endParaRPr>
          </a:p>
          <a:p>
            <a:br>
              <a:rPr lang="en-US" dirty="0"/>
            </a:br>
            <a:endParaRPr lang="en-US" dirty="0"/>
          </a:p>
        </p:txBody>
      </p:sp>
      <p:sp>
        <p:nvSpPr>
          <p:cNvPr id="4" name="Slide Number Placeholder 3">
            <a:extLst>
              <a:ext uri="{FF2B5EF4-FFF2-40B4-BE49-F238E27FC236}">
                <a16:creationId xmlns:a16="http://schemas.microsoft.com/office/drawing/2014/main" id="{48D995E0-E6E0-681B-2381-AD6338765995}"/>
              </a:ext>
            </a:extLst>
          </p:cNvPr>
          <p:cNvSpPr>
            <a:spLocks noGrp="1"/>
          </p:cNvSpPr>
          <p:nvPr>
            <p:ph type="sldNum" sz="quarter" idx="5"/>
          </p:nvPr>
        </p:nvSpPr>
        <p:spPr/>
        <p:txBody>
          <a:bodyPr/>
          <a:lstStyle/>
          <a:p>
            <a:fld id="{29E7BD1F-0023-244E-A8FD-1ADCC0FAE1A1}" type="slidenum">
              <a:rPr lang="en-US" smtClean="0"/>
              <a:t>15</a:t>
            </a:fld>
            <a:endParaRPr lang="en-US"/>
          </a:p>
        </p:txBody>
      </p:sp>
    </p:spTree>
    <p:extLst>
      <p:ext uri="{BB962C8B-B14F-4D97-AF65-F5344CB8AC3E}">
        <p14:creationId xmlns:p14="http://schemas.microsoft.com/office/powerpoint/2010/main" val="34086653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3CEE8-C73A-224D-4E8D-42FD0DA205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F5E66C-36FB-35E3-0600-E31BADA9E10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55D42A4-DE10-88CF-75AC-3E072FB15B6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r>
                      <a:rPr lang="en-US" b="0" i="1" smtClean="0">
                        <a:latin typeface="Cambria Math" panose="02040503050406030204" pitchFamily="18" charset="0"/>
                      </a:rPr>
                      <m:t>𝜃</m:t>
                    </m:r>
                  </m:oMath>
                </a14:m>
                <a:r>
                  <a:rPr lang="en-US" b="0" dirty="0"/>
                  <a:t> — smallest resolvable angle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r>
                      <a:rPr lang="en-US" b="0" i="1" smtClean="0">
                        <a:latin typeface="Cambria Math" panose="02040503050406030204" pitchFamily="18" charset="0"/>
                      </a:rPr>
                      <m:t>𝜆</m:t>
                    </m:r>
                  </m:oMath>
                </a14:m>
                <a:r>
                  <a:rPr lang="en-US" b="0" dirty="0"/>
                  <a:t> — wavelength</a:t>
                </a:r>
              </a:p>
              <a:p>
                <a:r>
                  <a:rPr lang="en-US" b="0" dirty="0"/>
                  <a:t>D — </a:t>
                </a:r>
                <a:r>
                  <a:rPr lang="en-US" b="0" dirty="0" err="1"/>
                  <a:t>aperature</a:t>
                </a:r>
                <a:r>
                  <a:rPr lang="en-US" b="0" dirty="0"/>
                  <a:t> diameter</a:t>
                </a:r>
                <a:br>
                  <a:rPr lang="en-US" b="0" dirty="0"/>
                </a:br>
                <a:br>
                  <a:rPr lang="en-US" b="0" dirty="0"/>
                </a:br>
                <a:r>
                  <a:rPr lang="en-US" sz="1200" b="0" i="0" kern="1200" dirty="0">
                    <a:solidFill>
                      <a:schemeClr val="tx1"/>
                    </a:solidFill>
                    <a:effectLst/>
                    <a:latin typeface="+mn-lt"/>
                    <a:ea typeface="+mn-ea"/>
                    <a:cs typeface="+mn-cs"/>
                  </a:rPr>
                  <a:t>A point source imaged through a finite aperture doesn't form a point — it forms an Airy disk, because the aperture truncates the incoming wavefront. Two points closer than </a:t>
                </a:r>
                <a14:m>
                  <m:oMath xmlns:m="http://schemas.openxmlformats.org/officeDocument/2006/math">
                    <m:r>
                      <a:rPr lang="en-US" sz="1200" i="1" kern="1200">
                        <a:solidFill>
                          <a:schemeClr val="tx1"/>
                        </a:solidFill>
                        <a:latin typeface="Cambria Math" panose="02040503050406030204" pitchFamily="18" charset="0"/>
                        <a:ea typeface="+mn-ea"/>
                        <a:cs typeface="+mn-cs"/>
                      </a:rPr>
                      <m:t>𝜃</m:t>
                    </m:r>
                  </m:oMath>
                </a14:m>
                <a:r>
                  <a:rPr lang="en-US" sz="1200" b="0" i="0" kern="1200" dirty="0">
                    <a:solidFill>
                      <a:schemeClr val="tx1"/>
                    </a:solidFill>
                    <a:effectLst/>
                    <a:latin typeface="+mn-lt"/>
                    <a:ea typeface="+mn-ea"/>
                    <a:cs typeface="+mn-cs"/>
                  </a:rPr>
                  <a:t> produce overlapping disks that merge into one blob. </a:t>
                </a:r>
                <a:r>
                  <a:rPr lang="en-US" sz="1200" b="1" i="0" kern="1200" dirty="0">
                    <a:solidFill>
                      <a:schemeClr val="tx1"/>
                    </a:solidFill>
                    <a:effectLst/>
                    <a:latin typeface="+mn-lt"/>
                    <a:ea typeface="+mn-ea"/>
                    <a:cs typeface="+mn-cs"/>
                  </a:rPr>
                  <a:t>Aperture is the only term you control</a:t>
                </a:r>
                <a:r>
                  <a:rPr lang="en-US" sz="1200" b="0" i="0" kern="1200" dirty="0">
                    <a:solidFill>
                      <a:schemeClr val="tx1"/>
                    </a:solidFill>
                    <a:effectLst/>
                    <a:latin typeface="+mn-lt"/>
                    <a:ea typeface="+mn-ea"/>
                    <a:cs typeface="+mn-cs"/>
                  </a:rPr>
                  <a:t>, and resolution improves linearly with it.</a:t>
                </a:r>
                <a:r>
                  <a:rPr lang="en-US" b="0" dirty="0"/>
                  <a:t> </a:t>
                </a:r>
                <a:br>
                  <a:rPr lang="en-US" b="0" dirty="0"/>
                </a:br>
                <a:endParaRPr lang="en-US" b="0" dirty="0"/>
              </a:p>
              <a:p>
                <a:r>
                  <a:rPr lang="en-US" b="1" dirty="0"/>
                  <a:t>Atmosphere — the channel between subject and sensor (face and surveillance style biometrics at a distance)</a:t>
                </a:r>
                <a:br>
                  <a:rPr lang="en-US" b="1" dirty="0"/>
                </a:br>
                <a:br>
                  <a:rPr lang="en-US" b="1" dirty="0"/>
                </a:br>
                <a:r>
                  <a:rPr lang="en-US" b="0" dirty="0"/>
                  <a:t>R</a:t>
                </a:r>
                <a:r>
                  <a:rPr lang="en-US" sz="1200" b="0" i="0" kern="1200" dirty="0">
                    <a:solidFill>
                      <a:schemeClr val="tx1"/>
                    </a:solidFill>
                    <a:effectLst/>
                    <a:latin typeface="+mn-lt"/>
                    <a:ea typeface="+mn-ea"/>
                    <a:cs typeface="+mn-cs"/>
                  </a:rPr>
                  <a:t>efractive-index structure parameter </a:t>
                </a:r>
                <a14:m>
                  <m:oMath xmlns:m="http://schemas.openxmlformats.org/officeDocument/2006/math">
                    <m:sSubSup>
                      <m:sSubSupPr>
                        <m:ctrlPr>
                          <a:rPr lang="en-US" sz="1200" i="1" kern="1200">
                            <a:solidFill>
                              <a:schemeClr val="tx1"/>
                            </a:solidFill>
                            <a:latin typeface="Cambria Math" panose="02040503050406030204" pitchFamily="18" charset="0"/>
                            <a:ea typeface="+mn-ea"/>
                            <a:cs typeface="+mn-cs"/>
                          </a:rPr>
                        </m:ctrlPr>
                      </m:sSubSupPr>
                      <m:e>
                        <m:r>
                          <a:rPr lang="en-US" sz="1200" i="1" kern="1200">
                            <a:solidFill>
                              <a:schemeClr val="tx1"/>
                            </a:solidFill>
                            <a:latin typeface="Cambria Math" panose="02040503050406030204" pitchFamily="18" charset="0"/>
                            <a:ea typeface="+mn-ea"/>
                            <a:cs typeface="+mn-cs"/>
                          </a:rPr>
                          <m:t>𝐶</m:t>
                        </m:r>
                      </m:e>
                      <m:sub>
                        <m:r>
                          <a:rPr lang="en-US" sz="1200" i="1" kern="1200">
                            <a:solidFill>
                              <a:schemeClr val="tx1"/>
                            </a:solidFill>
                            <a:latin typeface="Cambria Math" panose="02040503050406030204" pitchFamily="18" charset="0"/>
                            <a:ea typeface="+mn-ea"/>
                            <a:cs typeface="+mn-cs"/>
                          </a:rPr>
                          <m:t>𝑛</m:t>
                        </m:r>
                      </m:sub>
                      <m:sup>
                        <m:r>
                          <a:rPr lang="en-US" sz="1200" i="0" kern="1200">
                            <a:solidFill>
                              <a:schemeClr val="tx1"/>
                            </a:solidFill>
                            <a:latin typeface="Cambria Math" panose="02040503050406030204" pitchFamily="18" charset="0"/>
                            <a:ea typeface="+mn-ea"/>
                            <a:cs typeface="+mn-cs"/>
                          </a:rPr>
                          <m:t>2</m:t>
                        </m:r>
                      </m:sup>
                    </m:sSubSup>
                  </m:oMath>
                </a14:m>
                <a:r>
                  <a:rPr lang="en-US" sz="1200" b="0" i="0" kern="1200" dirty="0">
                    <a:solidFill>
                      <a:schemeClr val="tx1"/>
                    </a:solidFill>
                    <a:effectLst/>
                    <a:latin typeface="+mn-lt"/>
                    <a:ea typeface="+mn-ea"/>
                    <a:cs typeface="+mn-cs"/>
                  </a:rPr>
                  <a:t>; Fried parameter</a:t>
                </a:r>
              </a:p>
              <a:p>
                <a:pPr/>
                <a14:m>
                  <m:oMathPara xmlns:m="http://schemas.openxmlformats.org/officeDocument/2006/math">
                    <m:oMath>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𝑟</m:t>
                          </m:r>
                        </m:e>
                        <m:sub>
                          <m:r>
                            <a:rPr lang="en-US" sz="1200" i="0" kern="1200">
                              <a:solidFill>
                                <a:schemeClr val="tx1"/>
                              </a:solidFill>
                              <a:latin typeface="Cambria Math" panose="02040503050406030204" pitchFamily="18" charset="0"/>
                              <a:ea typeface="+mn-ea"/>
                              <a:cs typeface="+mn-cs"/>
                            </a:rPr>
                            <m:t>0</m:t>
                          </m:r>
                        </m:sub>
                      </m:sSub>
                      <m:r>
                        <a:rPr lang="en-US" sz="1200" i="0" kern="1200">
                          <a:solidFill>
                            <a:schemeClr val="tx1"/>
                          </a:solidFill>
                          <a:latin typeface="Cambria Math" panose="02040503050406030204" pitchFamily="18" charset="0"/>
                          <a:ea typeface="+mn-ea"/>
                          <a:cs typeface="+mn-cs"/>
                        </a:rPr>
                        <m:t>=</m:t>
                      </m:r>
                      <m:sSup>
                        <m:sSupPr>
                          <m:ctrlPr>
                            <a:rPr lang="en-US" sz="1200" i="1" kern="1200">
                              <a:solidFill>
                                <a:schemeClr val="tx1"/>
                              </a:solidFill>
                              <a:latin typeface="Cambria Math" panose="02040503050406030204" pitchFamily="18" charset="0"/>
                              <a:ea typeface="+mn-ea"/>
                              <a:cs typeface="+mn-cs"/>
                            </a:rPr>
                          </m:ctrlPr>
                        </m:sSupPr>
                        <m:e>
                          <m:d>
                            <m:dPr>
                              <m:begChr m:val="["/>
                              <m:endChr m:val="]"/>
                              <m:ctrlPr>
                                <a:rPr lang="en-US" sz="1200" i="0" kern="1200">
                                  <a:solidFill>
                                    <a:schemeClr val="tx1"/>
                                  </a:solidFill>
                                  <a:latin typeface="Cambria Math" panose="02040503050406030204" pitchFamily="18" charset="0"/>
                                  <a:ea typeface="+mn-ea"/>
                                  <a:cs typeface="+mn-cs"/>
                                </a:rPr>
                              </m:ctrlPr>
                            </m:dPr>
                            <m:e>
                              <m:r>
                                <a:rPr lang="en-US" sz="1200" i="0" kern="1200">
                                  <a:solidFill>
                                    <a:schemeClr val="tx1"/>
                                  </a:solidFill>
                                  <a:latin typeface="Cambria Math" panose="02040503050406030204" pitchFamily="18" charset="0"/>
                                  <a:ea typeface="+mn-ea"/>
                                  <a:cs typeface="+mn-cs"/>
                                </a:rPr>
                                <m:t>0.423</m:t>
                              </m:r>
                              <m:r>
                                <m:rPr>
                                  <m:nor/>
                                </m:rPr>
                                <a:rPr lang="en-US" sz="1200" b="0" i="0" kern="1200">
                                  <a:solidFill>
                                    <a:schemeClr val="tx1"/>
                                  </a:solidFill>
                                  <a:latin typeface="+mn-lt"/>
                                  <a:ea typeface="+mn-ea"/>
                                  <a:cs typeface="+mn-cs"/>
                                </a:rPr>
                                <m:t> </m:t>
                              </m:r>
                              <m:sSup>
                                <m:sSupPr>
                                  <m:ctrlPr>
                                    <a:rPr lang="en-US" sz="1200" b="0" i="1" kern="1200">
                                      <a:solidFill>
                                        <a:schemeClr val="tx1"/>
                                      </a:solidFill>
                                      <a:latin typeface="Cambria Math" panose="02040503050406030204" pitchFamily="18" charset="0"/>
                                      <a:ea typeface="+mn-ea"/>
                                      <a:cs typeface="+mn-cs"/>
                                    </a:rPr>
                                  </m:ctrlPr>
                                </m:sSupPr>
                                <m:e>
                                  <m:r>
                                    <a:rPr lang="en-US" sz="1200" b="0" i="1" kern="1200">
                                      <a:solidFill>
                                        <a:schemeClr val="tx1"/>
                                      </a:solidFill>
                                      <a:latin typeface="Cambria Math" panose="02040503050406030204" pitchFamily="18" charset="0"/>
                                      <a:ea typeface="+mn-ea"/>
                                      <a:cs typeface="+mn-cs"/>
                                    </a:rPr>
                                    <m:t>𝑘</m:t>
                                  </m:r>
                                </m:e>
                                <m:sup>
                                  <m:r>
                                    <a:rPr lang="en-US" sz="1200" b="0" i="0" kern="1200">
                                      <a:solidFill>
                                        <a:schemeClr val="tx1"/>
                                      </a:solidFill>
                                      <a:latin typeface="Cambria Math" panose="02040503050406030204" pitchFamily="18" charset="0"/>
                                      <a:ea typeface="+mn-ea"/>
                                      <a:cs typeface="+mn-cs"/>
                                    </a:rPr>
                                    <m:t>2</m:t>
                                  </m:r>
                                </m:sup>
                              </m:sSup>
                              <m:nary>
                                <m:naryPr>
                                  <m:grow m:val="on"/>
                                  <m:subHide m:val="on"/>
                                  <m:supHide m:val="on"/>
                                  <m:ctrlPr>
                                    <a:rPr lang="en-US" sz="1200" b="0" i="1" kern="1200">
                                      <a:solidFill>
                                        <a:schemeClr val="tx1"/>
                                      </a:solidFill>
                                      <a:latin typeface="Cambria Math" panose="02040503050406030204" pitchFamily="18" charset="0"/>
                                      <a:ea typeface="+mn-ea"/>
                                      <a:cs typeface="+mn-cs"/>
                                    </a:rPr>
                                  </m:ctrlPr>
                                </m:naryPr>
                                <m:sub/>
                                <m:sup/>
                                <m:e>
                                  <m:sSubSup>
                                    <m:sSubSupPr>
                                      <m:ctrlPr>
                                        <a:rPr lang="en-US" sz="1200" b="0" i="1" kern="1200">
                                          <a:solidFill>
                                            <a:schemeClr val="tx1"/>
                                          </a:solidFill>
                                          <a:latin typeface="Cambria Math" panose="02040503050406030204" pitchFamily="18" charset="0"/>
                                          <a:ea typeface="+mn-ea"/>
                                          <a:cs typeface="+mn-cs"/>
                                        </a:rPr>
                                      </m:ctrlPr>
                                    </m:sSubSupPr>
                                    <m:e>
                                      <m:r>
                                        <a:rPr lang="en-US" sz="1200" b="0" i="1" kern="1200">
                                          <a:solidFill>
                                            <a:schemeClr val="tx1"/>
                                          </a:solidFill>
                                          <a:latin typeface="Cambria Math" panose="02040503050406030204" pitchFamily="18" charset="0"/>
                                          <a:ea typeface="+mn-ea"/>
                                          <a:cs typeface="+mn-cs"/>
                                        </a:rPr>
                                        <m:t>𝐶</m:t>
                                      </m:r>
                                    </m:e>
                                    <m:sub>
                                      <m:r>
                                        <a:rPr lang="en-US" sz="1200" b="0" i="1" kern="1200">
                                          <a:solidFill>
                                            <a:schemeClr val="tx1"/>
                                          </a:solidFill>
                                          <a:latin typeface="Cambria Math" panose="02040503050406030204" pitchFamily="18" charset="0"/>
                                          <a:ea typeface="+mn-ea"/>
                                          <a:cs typeface="+mn-cs"/>
                                        </a:rPr>
                                        <m:t>𝑛</m:t>
                                      </m:r>
                                    </m:sub>
                                    <m:sup>
                                      <m:r>
                                        <a:rPr lang="en-US" sz="1200" b="0" i="0" kern="1200">
                                          <a:solidFill>
                                            <a:schemeClr val="tx1"/>
                                          </a:solidFill>
                                          <a:latin typeface="Cambria Math" panose="02040503050406030204" pitchFamily="18" charset="0"/>
                                          <a:ea typeface="+mn-ea"/>
                                          <a:cs typeface="+mn-cs"/>
                                        </a:rPr>
                                        <m:t>2</m:t>
                                      </m:r>
                                    </m:sup>
                                  </m:sSubSup>
                                </m:e>
                              </m:nary>
                              <m:d>
                                <m:dPr>
                                  <m:ctrlPr>
                                    <a:rPr lang="en-US" sz="1200" b="0" i="1" kern="1200">
                                      <a:solidFill>
                                        <a:schemeClr val="tx1"/>
                                      </a:solidFill>
                                      <a:latin typeface="Cambria Math" panose="02040503050406030204" pitchFamily="18" charset="0"/>
                                      <a:ea typeface="+mn-ea"/>
                                      <a:cs typeface="+mn-cs"/>
                                    </a:rPr>
                                  </m:ctrlPr>
                                </m:dPr>
                                <m:e>
                                  <m:r>
                                    <a:rPr lang="en-US" sz="1200" b="0" i="1" kern="1200">
                                      <a:solidFill>
                                        <a:schemeClr val="tx1"/>
                                      </a:solidFill>
                                      <a:latin typeface="Cambria Math" panose="02040503050406030204" pitchFamily="18" charset="0"/>
                                      <a:ea typeface="+mn-ea"/>
                                      <a:cs typeface="+mn-cs"/>
                                    </a:rPr>
                                    <m:t>𝑧</m:t>
                                  </m:r>
                                </m:e>
                              </m:d>
                              <m:r>
                                <m:rPr>
                                  <m:nor/>
                                </m:rPr>
                                <a:rPr lang="en-US" sz="1200" b="0" i="0" kern="1200">
                                  <a:solidFill>
                                    <a:schemeClr val="tx1"/>
                                  </a:solidFill>
                                  <a:latin typeface="+mn-lt"/>
                                  <a:ea typeface="+mn-ea"/>
                                  <a:cs typeface="+mn-cs"/>
                                </a:rPr>
                                <m:t> </m:t>
                              </m:r>
                              <m:r>
                                <a:rPr lang="en-US" sz="1200" b="0" i="1" kern="1200">
                                  <a:solidFill>
                                    <a:schemeClr val="tx1"/>
                                  </a:solidFill>
                                  <a:latin typeface="Cambria Math" panose="02040503050406030204" pitchFamily="18" charset="0"/>
                                  <a:ea typeface="+mn-ea"/>
                                  <a:cs typeface="+mn-cs"/>
                                </a:rPr>
                                <m:t>𝑑𝑧</m:t>
                              </m:r>
                            </m:e>
                          </m:d>
                        </m:e>
                        <m:sup>
                          <m:r>
                            <a:rPr lang="en-US" sz="1200" b="0" i="0" kern="1200">
                              <a:solidFill>
                                <a:schemeClr val="tx1"/>
                              </a:solidFill>
                              <a:latin typeface="Cambria Math" panose="02040503050406030204" pitchFamily="18" charset="0"/>
                              <a:ea typeface="+mn-ea"/>
                              <a:cs typeface="+mn-cs"/>
                            </a:rPr>
                            <m:t>−3/5</m:t>
                          </m:r>
                        </m:sup>
                      </m:sSup>
                    </m:oMath>
                  </m:oMathPara>
                </a14:m>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When </a:t>
                </a:r>
                <a14:m>
                  <m:oMath xmlns:m="http://schemas.openxmlformats.org/officeDocument/2006/math">
                    <m:r>
                      <a:rPr lang="en-US" sz="1200" i="1" kern="1200">
                        <a:solidFill>
                          <a:schemeClr val="tx1"/>
                        </a:solidFill>
                        <a:latin typeface="Cambria Math" panose="02040503050406030204" pitchFamily="18" charset="0"/>
                        <a:ea typeface="+mn-ea"/>
                        <a:cs typeface="+mn-cs"/>
                      </a:rPr>
                      <m:t>𝐷</m:t>
                    </m:r>
                    <m:r>
                      <a:rPr lang="en-US" sz="1200" i="0" kern="1200">
                        <a:solidFill>
                          <a:schemeClr val="tx1"/>
                        </a:solidFill>
                        <a:latin typeface="Cambria Math" panose="02040503050406030204" pitchFamily="18" charset="0"/>
                        <a:ea typeface="+mn-ea"/>
                        <a:cs typeface="+mn-cs"/>
                      </a:rPr>
                      <m:t>&gt;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𝑟</m:t>
                        </m:r>
                      </m:e>
                      <m:sub>
                        <m:r>
                          <a:rPr lang="en-US" sz="1200" i="0" kern="1200">
                            <a:solidFill>
                              <a:schemeClr val="tx1"/>
                            </a:solidFill>
                            <a:latin typeface="Cambria Math" panose="02040503050406030204" pitchFamily="18" charset="0"/>
                            <a:ea typeface="+mn-ea"/>
                            <a:cs typeface="+mn-cs"/>
                          </a:rPr>
                          <m:t>0</m:t>
                        </m:r>
                      </m:sub>
                    </m:sSub>
                  </m:oMath>
                </a14:m>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the atmosphere — not your lens — determines resolution.</a:t>
                </a:r>
                <a:r>
                  <a:rPr lang="en-US" sz="1200" b="0" i="0" kern="1200" dirty="0">
                    <a:solidFill>
                      <a:schemeClr val="tx1"/>
                    </a:solidFill>
                    <a:effectLst/>
                    <a:latin typeface="+mn-lt"/>
                    <a:ea typeface="+mn-ea"/>
                    <a:cs typeface="+mn-cs"/>
                  </a:rPr>
                  <a:t> A better camera buys nothing.</a:t>
                </a:r>
              </a:p>
              <a:p>
                <a:br>
                  <a:rPr lang="en-US" b="1" dirty="0"/>
                </a:br>
                <a:br>
                  <a:rPr lang="en-US" b="0" dirty="0"/>
                </a:br>
                <a:r>
                  <a:rPr lang="en-US" sz="1200" b="0" i="0" kern="1200" dirty="0">
                    <a:solidFill>
                      <a:schemeClr val="tx1"/>
                    </a:solidFill>
                    <a:effectLst/>
                    <a:latin typeface="+mn-lt"/>
                    <a:ea typeface="+mn-ea"/>
                    <a:cs typeface="+mn-cs"/>
                  </a:rPr>
                  <a:t>Three distinct distortion regimes, often conflated:</a:t>
                </a:r>
              </a:p>
              <a:p>
                <a:pPr lvl="0"/>
                <a:r>
                  <a:rPr lang="en-US" sz="1200" b="1" i="0" kern="1200" dirty="0">
                    <a:solidFill>
                      <a:schemeClr val="tx1"/>
                    </a:solidFill>
                    <a:effectLst/>
                    <a:latin typeface="+mn-lt"/>
                    <a:ea typeface="+mn-ea"/>
                    <a:cs typeface="+mn-cs"/>
                  </a:rPr>
                  <a:t>Tilt</a:t>
                </a:r>
                <a:r>
                  <a:rPr lang="en-US" sz="1200" b="0" i="0" kern="1200" dirty="0">
                    <a:solidFill>
                      <a:schemeClr val="tx1"/>
                    </a:solidFill>
                    <a:effectLst/>
                    <a:latin typeface="+mn-lt"/>
                    <a:ea typeface="+mn-ea"/>
                    <a:cs typeface="+mn-cs"/>
                  </a:rPr>
                  <a:t> — whole-frame wander (partially correctable by registration)</a:t>
                </a:r>
              </a:p>
              <a:p>
                <a:pPr lvl="0"/>
                <a:r>
                  <a:rPr lang="en-US" sz="1200" b="1" i="0" kern="1200" dirty="0">
                    <a:solidFill>
                      <a:schemeClr val="tx1"/>
                    </a:solidFill>
                    <a:effectLst/>
                    <a:latin typeface="+mn-lt"/>
                    <a:ea typeface="+mn-ea"/>
                    <a:cs typeface="+mn-cs"/>
                  </a:rPr>
                  <a:t>Blur</a:t>
                </a:r>
                <a:r>
                  <a:rPr lang="en-US" sz="1200" b="0" i="0" kern="1200" dirty="0">
                    <a:solidFill>
                      <a:schemeClr val="tx1"/>
                    </a:solidFill>
                    <a:effectLst/>
                    <a:latin typeface="+mn-lt"/>
                    <a:ea typeface="+mn-ea"/>
                    <a:cs typeface="+mn-cs"/>
                  </a:rPr>
                  <a:t> — higher-order wavefront error (hard)</a:t>
                </a:r>
              </a:p>
              <a:p>
                <a:pPr lvl="0"/>
                <a:r>
                  <a:rPr lang="en-US" sz="1200" b="1" i="0" kern="1200" dirty="0" err="1">
                    <a:solidFill>
                      <a:schemeClr val="tx1"/>
                    </a:solidFill>
                    <a:effectLst/>
                    <a:latin typeface="+mn-lt"/>
                    <a:ea typeface="+mn-ea"/>
                    <a:cs typeface="+mn-cs"/>
                  </a:rPr>
                  <a:t>Anisoplanatism</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spatially varying</a:t>
                </a:r>
                <a:r>
                  <a:rPr lang="en-US" sz="1200" b="0" i="0" kern="1200" dirty="0">
                    <a:solidFill>
                      <a:schemeClr val="tx1"/>
                    </a:solidFill>
                    <a:effectLst/>
                    <a:latin typeface="+mn-lt"/>
                    <a:ea typeface="+mn-ea"/>
                    <a:cs typeface="+mn-cs"/>
                  </a:rPr>
                  <a:t> distortion across a single frame; different parts of the body are warped differently, which breaks geometric alignment assumptions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0" dirty="0"/>
              </a:p>
            </p:txBody>
          </p:sp>
        </mc:Choice>
        <mc:Fallback xmlns="">
          <p:sp>
            <p:nvSpPr>
              <p:cNvPr id="3" name="Notes Placeholder 2">
                <a:extLst>
                  <a:ext uri="{FF2B5EF4-FFF2-40B4-BE49-F238E27FC236}">
                    <a16:creationId xmlns:a16="http://schemas.microsoft.com/office/drawing/2014/main" id="{D55D42A4-DE10-88CF-75AC-3E072FB15B6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i="0">
                    <a:latin typeface="Cambria Math" panose="02040503050406030204" pitchFamily="18" charset="0"/>
                  </a:rPr>
                  <a:t>𝜃</a:t>
                </a:r>
                <a:r>
                  <a:rPr lang="en-US" b="0" dirty="0"/>
                  <a:t> — smallest resolvable angle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i="0">
                    <a:latin typeface="Cambria Math" panose="02040503050406030204" pitchFamily="18" charset="0"/>
                  </a:rPr>
                  <a:t>𝜆</a:t>
                </a:r>
                <a:r>
                  <a:rPr lang="en-US" b="0" dirty="0"/>
                  <a:t> — wavelength</a:t>
                </a:r>
              </a:p>
              <a:p>
                <a:r>
                  <a:rPr lang="en-US" b="0" dirty="0"/>
                  <a:t>D — </a:t>
                </a:r>
                <a:r>
                  <a:rPr lang="en-US" b="0" dirty="0" err="1"/>
                  <a:t>aperature</a:t>
                </a:r>
                <a:r>
                  <a:rPr lang="en-US" b="0" dirty="0"/>
                  <a:t> diameter</a:t>
                </a:r>
                <a:br>
                  <a:rPr lang="en-US" b="0" dirty="0"/>
                </a:br>
                <a:br>
                  <a:rPr lang="en-US" b="0" dirty="0"/>
                </a:br>
                <a:r>
                  <a:rPr lang="en-US" sz="1200" b="0" i="0" kern="1200" dirty="0">
                    <a:solidFill>
                      <a:schemeClr val="tx1"/>
                    </a:solidFill>
                    <a:effectLst/>
                    <a:latin typeface="+mn-lt"/>
                    <a:ea typeface="+mn-ea"/>
                    <a:cs typeface="+mn-cs"/>
                  </a:rPr>
                  <a:t>A point source imaged through a finite aperture doesn't form a point — it forms an Airy disk, because the aperture truncates the incoming wavefront. Two points closer than </a:t>
                </a:r>
                <a:r>
                  <a:rPr lang="en-US" sz="1200" i="0" kern="1200">
                    <a:solidFill>
                      <a:schemeClr val="tx1"/>
                    </a:solidFill>
                    <a:latin typeface="+mn-lt"/>
                    <a:ea typeface="+mn-ea"/>
                    <a:cs typeface="+mn-cs"/>
                  </a:rPr>
                  <a:t>𝜃</a:t>
                </a:r>
                <a:r>
                  <a:rPr lang="en-US" sz="1200" b="0" i="0" kern="1200" dirty="0">
                    <a:solidFill>
                      <a:schemeClr val="tx1"/>
                    </a:solidFill>
                    <a:effectLst/>
                    <a:latin typeface="+mn-lt"/>
                    <a:ea typeface="+mn-ea"/>
                    <a:cs typeface="+mn-cs"/>
                  </a:rPr>
                  <a:t> produce overlapping disks that merge into one blob. </a:t>
                </a:r>
                <a:r>
                  <a:rPr lang="en-US" sz="1200" b="1" i="0" kern="1200" dirty="0">
                    <a:solidFill>
                      <a:schemeClr val="tx1"/>
                    </a:solidFill>
                    <a:effectLst/>
                    <a:latin typeface="+mn-lt"/>
                    <a:ea typeface="+mn-ea"/>
                    <a:cs typeface="+mn-cs"/>
                  </a:rPr>
                  <a:t>Aperture is the only term you control</a:t>
                </a:r>
                <a:r>
                  <a:rPr lang="en-US" sz="1200" b="0" i="0" kern="1200" dirty="0">
                    <a:solidFill>
                      <a:schemeClr val="tx1"/>
                    </a:solidFill>
                    <a:effectLst/>
                    <a:latin typeface="+mn-lt"/>
                    <a:ea typeface="+mn-ea"/>
                    <a:cs typeface="+mn-cs"/>
                  </a:rPr>
                  <a:t>, and resolution improves linearly with it.</a:t>
                </a:r>
                <a:r>
                  <a:rPr lang="en-US" b="0" dirty="0"/>
                  <a:t> </a:t>
                </a:r>
                <a:br>
                  <a:rPr lang="en-US" b="0" dirty="0"/>
                </a:br>
                <a:endParaRPr lang="en-US" b="0" dirty="0"/>
              </a:p>
              <a:p>
                <a:r>
                  <a:rPr lang="en-US" b="1" dirty="0"/>
                  <a:t>Atmosphere — the channel between subject and sensor (face and surveillance style biometrics at a distance)</a:t>
                </a:r>
                <a:br>
                  <a:rPr lang="en-US" b="1" dirty="0"/>
                </a:br>
                <a:br>
                  <a:rPr lang="en-US" b="1" dirty="0"/>
                </a:br>
                <a:r>
                  <a:rPr lang="en-US" b="0" dirty="0"/>
                  <a:t>R</a:t>
                </a:r>
                <a:r>
                  <a:rPr lang="en-US" sz="1200" b="0" i="0" kern="1200" dirty="0">
                    <a:solidFill>
                      <a:schemeClr val="tx1"/>
                    </a:solidFill>
                    <a:effectLst/>
                    <a:latin typeface="+mn-lt"/>
                    <a:ea typeface="+mn-ea"/>
                    <a:cs typeface="+mn-cs"/>
                  </a:rPr>
                  <a:t>efractive-index structure parameter </a:t>
                </a:r>
                <a:r>
                  <a:rPr lang="en-US" sz="1200" i="0" kern="1200">
                    <a:solidFill>
                      <a:schemeClr val="tx1"/>
                    </a:solidFill>
                    <a:latin typeface="+mn-lt"/>
                    <a:ea typeface="+mn-ea"/>
                    <a:cs typeface="+mn-cs"/>
                  </a:rPr>
                  <a:t>𝐶_𝑛^2</a:t>
                </a:r>
                <a:r>
                  <a:rPr lang="en-US" sz="1200" b="0" i="0" kern="1200" dirty="0">
                    <a:solidFill>
                      <a:schemeClr val="tx1"/>
                    </a:solidFill>
                    <a:effectLst/>
                    <a:latin typeface="+mn-lt"/>
                    <a:ea typeface="+mn-ea"/>
                    <a:cs typeface="+mn-cs"/>
                  </a:rPr>
                  <a:t>; Fried parameter</a:t>
                </a:r>
              </a:p>
              <a:p>
                <a:r>
                  <a:rPr lang="en-US" sz="1200" i="0" kern="1200">
                    <a:solidFill>
                      <a:schemeClr val="tx1"/>
                    </a:solidFill>
                    <a:latin typeface="+mn-lt"/>
                    <a:ea typeface="+mn-ea"/>
                    <a:cs typeface="+mn-cs"/>
                  </a:rPr>
                  <a:t>𝑟_0=[0.423</a:t>
                </a:r>
                <a:r>
                  <a:rPr lang="en-US" sz="1200" b="0" i="0" kern="1200">
                    <a:solidFill>
                      <a:schemeClr val="tx1"/>
                    </a:solidFill>
                    <a:latin typeface="+mn-lt"/>
                    <a:ea typeface="+mn-ea"/>
                    <a:cs typeface="+mn-cs"/>
                  </a:rPr>
                  <a:t>" " 𝑘^2 ∫128▒𝐶_𝑛^2  (𝑧)" " 𝑑𝑧]^(−3/5)</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When </a:t>
                </a:r>
                <a:r>
                  <a:rPr lang="en-US" sz="1200" i="0" kern="1200">
                    <a:solidFill>
                      <a:schemeClr val="tx1"/>
                    </a:solidFill>
                    <a:latin typeface="+mn-lt"/>
                    <a:ea typeface="+mn-ea"/>
                    <a:cs typeface="+mn-cs"/>
                  </a:rPr>
                  <a:t>𝐷&gt;𝑟_0</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the atmosphere — not your lens — determines resolution.</a:t>
                </a:r>
                <a:r>
                  <a:rPr lang="en-US" sz="1200" b="0" i="0" kern="1200" dirty="0">
                    <a:solidFill>
                      <a:schemeClr val="tx1"/>
                    </a:solidFill>
                    <a:effectLst/>
                    <a:latin typeface="+mn-lt"/>
                    <a:ea typeface="+mn-ea"/>
                    <a:cs typeface="+mn-cs"/>
                  </a:rPr>
                  <a:t> A better camera buys nothing.</a:t>
                </a:r>
              </a:p>
              <a:p>
                <a:br>
                  <a:rPr lang="en-US" b="1" dirty="0"/>
                </a:br>
                <a:br>
                  <a:rPr lang="en-US" b="0" dirty="0"/>
                </a:br>
                <a:r>
                  <a:rPr lang="en-US" sz="1200" b="0" i="0" kern="1200" dirty="0">
                    <a:solidFill>
                      <a:schemeClr val="tx1"/>
                    </a:solidFill>
                    <a:effectLst/>
                    <a:latin typeface="+mn-lt"/>
                    <a:ea typeface="+mn-ea"/>
                    <a:cs typeface="+mn-cs"/>
                  </a:rPr>
                  <a:t>Three distinct distortion regimes, often conflated:</a:t>
                </a:r>
              </a:p>
              <a:p>
                <a:pPr lvl="0"/>
                <a:r>
                  <a:rPr lang="en-US" sz="1200" b="1" i="0" kern="1200" dirty="0">
                    <a:solidFill>
                      <a:schemeClr val="tx1"/>
                    </a:solidFill>
                    <a:effectLst/>
                    <a:latin typeface="+mn-lt"/>
                    <a:ea typeface="+mn-ea"/>
                    <a:cs typeface="+mn-cs"/>
                  </a:rPr>
                  <a:t>Tilt</a:t>
                </a:r>
                <a:r>
                  <a:rPr lang="en-US" sz="1200" b="0" i="0" kern="1200" dirty="0">
                    <a:solidFill>
                      <a:schemeClr val="tx1"/>
                    </a:solidFill>
                    <a:effectLst/>
                    <a:latin typeface="+mn-lt"/>
                    <a:ea typeface="+mn-ea"/>
                    <a:cs typeface="+mn-cs"/>
                  </a:rPr>
                  <a:t> — whole-frame wander (partially correctable by registration)</a:t>
                </a:r>
              </a:p>
              <a:p>
                <a:pPr lvl="0"/>
                <a:r>
                  <a:rPr lang="en-US" sz="1200" b="1" i="0" kern="1200" dirty="0">
                    <a:solidFill>
                      <a:schemeClr val="tx1"/>
                    </a:solidFill>
                    <a:effectLst/>
                    <a:latin typeface="+mn-lt"/>
                    <a:ea typeface="+mn-ea"/>
                    <a:cs typeface="+mn-cs"/>
                  </a:rPr>
                  <a:t>Blur</a:t>
                </a:r>
                <a:r>
                  <a:rPr lang="en-US" sz="1200" b="0" i="0" kern="1200" dirty="0">
                    <a:solidFill>
                      <a:schemeClr val="tx1"/>
                    </a:solidFill>
                    <a:effectLst/>
                    <a:latin typeface="+mn-lt"/>
                    <a:ea typeface="+mn-ea"/>
                    <a:cs typeface="+mn-cs"/>
                  </a:rPr>
                  <a:t> — higher-order wavefront error (hard)</a:t>
                </a:r>
              </a:p>
              <a:p>
                <a:pPr lvl="0"/>
                <a:r>
                  <a:rPr lang="en-US" sz="1200" b="1" i="0" kern="1200" dirty="0" err="1">
                    <a:solidFill>
                      <a:schemeClr val="tx1"/>
                    </a:solidFill>
                    <a:effectLst/>
                    <a:latin typeface="+mn-lt"/>
                    <a:ea typeface="+mn-ea"/>
                    <a:cs typeface="+mn-cs"/>
                  </a:rPr>
                  <a:t>Anisoplanatism</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spatially varying</a:t>
                </a:r>
                <a:r>
                  <a:rPr lang="en-US" sz="1200" b="0" i="0" kern="1200" dirty="0">
                    <a:solidFill>
                      <a:schemeClr val="tx1"/>
                    </a:solidFill>
                    <a:effectLst/>
                    <a:latin typeface="+mn-lt"/>
                    <a:ea typeface="+mn-ea"/>
                    <a:cs typeface="+mn-cs"/>
                  </a:rPr>
                  <a:t> distortion across a single frame; different parts of the body are warped differently, which breaks geometric alignment assumptions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0" dirty="0"/>
              </a:p>
            </p:txBody>
          </p:sp>
        </mc:Fallback>
      </mc:AlternateContent>
      <p:sp>
        <p:nvSpPr>
          <p:cNvPr id="4" name="Slide Number Placeholder 3">
            <a:extLst>
              <a:ext uri="{FF2B5EF4-FFF2-40B4-BE49-F238E27FC236}">
                <a16:creationId xmlns:a16="http://schemas.microsoft.com/office/drawing/2014/main" id="{1ED9BAF0-BD3D-CD1E-66F5-A74F5D7618BB}"/>
              </a:ext>
            </a:extLst>
          </p:cNvPr>
          <p:cNvSpPr>
            <a:spLocks noGrp="1"/>
          </p:cNvSpPr>
          <p:nvPr>
            <p:ph type="sldNum" sz="quarter" idx="5"/>
          </p:nvPr>
        </p:nvSpPr>
        <p:spPr/>
        <p:txBody>
          <a:bodyPr/>
          <a:lstStyle/>
          <a:p>
            <a:fld id="{29E7BD1F-0023-244E-A8FD-1ADCC0FAE1A1}" type="slidenum">
              <a:rPr lang="en-US" smtClean="0"/>
              <a:t>16</a:t>
            </a:fld>
            <a:endParaRPr lang="en-US"/>
          </a:p>
        </p:txBody>
      </p:sp>
    </p:spTree>
    <p:extLst>
      <p:ext uri="{BB962C8B-B14F-4D97-AF65-F5344CB8AC3E}">
        <p14:creationId xmlns:p14="http://schemas.microsoft.com/office/powerpoint/2010/main" val="1559229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2A0CF-BDA0-B31D-7D3C-5D0B49560E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84E010-8235-E78C-BEE3-AFBF2D3D6B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197928-462A-4A7E-D04B-BF3D3CB6664B}"/>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The diagnostic question :</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Could a trained human examiner, given unlimited time and this exact imagery, make the identification?</a:t>
            </a:r>
            <a:endParaRPr lang="en-US" sz="1200" b="0" i="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No</a:t>
            </a:r>
            <a:r>
              <a:rPr lang="en-US" sz="1200" b="0" i="0" kern="1200" dirty="0">
                <a:solidFill>
                  <a:schemeClr val="tx1"/>
                </a:solidFill>
                <a:effectLst/>
                <a:latin typeface="+mn-lt"/>
                <a:ea typeface="+mn-ea"/>
                <a:cs typeface="+mn-cs"/>
              </a:rPr>
              <a:t> → signal loss. Stop tuning the network. Buy a better camera or move it closer.</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Yes</a:t>
            </a:r>
            <a:r>
              <a:rPr lang="en-US" sz="1200" b="0" i="0" kern="1200" dirty="0">
                <a:solidFill>
                  <a:schemeClr val="tx1"/>
                </a:solidFill>
                <a:effectLst/>
                <a:latin typeface="+mn-lt"/>
                <a:ea typeface="+mn-ea"/>
                <a:cs typeface="+mn-cs"/>
              </a:rPr>
              <a:t> → entanglement. This is your research problem.</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Why this matters for the course:</a:t>
            </a:r>
            <a:r>
              <a:rPr lang="en-US" sz="1200" b="0" i="0" kern="1200" dirty="0">
                <a:solidFill>
                  <a:schemeClr val="tx1"/>
                </a:solidFill>
                <a:effectLst/>
                <a:latin typeface="+mn-lt"/>
                <a:ea typeface="+mn-ea"/>
                <a:cs typeface="+mn-cs"/>
              </a:rPr>
              <a:t> Project 2 and Project 3 proposals routinely attack signal loss with representation learning. That is unwinnable by construction. Make students name which mode they're targeting before they write code.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0" dirty="0"/>
          </a:p>
        </p:txBody>
      </p:sp>
      <p:sp>
        <p:nvSpPr>
          <p:cNvPr id="4" name="Slide Number Placeholder 3">
            <a:extLst>
              <a:ext uri="{FF2B5EF4-FFF2-40B4-BE49-F238E27FC236}">
                <a16:creationId xmlns:a16="http://schemas.microsoft.com/office/drawing/2014/main" id="{777D4684-7B91-89CD-8E8A-55D81DF8A6FB}"/>
              </a:ext>
            </a:extLst>
          </p:cNvPr>
          <p:cNvSpPr>
            <a:spLocks noGrp="1"/>
          </p:cNvSpPr>
          <p:nvPr>
            <p:ph type="sldNum" sz="quarter" idx="5"/>
          </p:nvPr>
        </p:nvSpPr>
        <p:spPr/>
        <p:txBody>
          <a:bodyPr/>
          <a:lstStyle/>
          <a:p>
            <a:fld id="{29E7BD1F-0023-244E-A8FD-1ADCC0FAE1A1}" type="slidenum">
              <a:rPr lang="en-US" smtClean="0"/>
              <a:t>17</a:t>
            </a:fld>
            <a:endParaRPr lang="en-US"/>
          </a:p>
        </p:txBody>
      </p:sp>
    </p:spTree>
    <p:extLst>
      <p:ext uri="{BB962C8B-B14F-4D97-AF65-F5344CB8AC3E}">
        <p14:creationId xmlns:p14="http://schemas.microsoft.com/office/powerpoint/2010/main" val="14028847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5E85A-0FFB-7D84-7E42-FD70540D4A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317DC7-C63A-54A0-C91E-2CDE9FF6CA2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C9AB89F-4393-2A69-4C6F-F894397CB0BF}"/>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Consequences</a:t>
                </a:r>
                <a:r>
                  <a:rPr lang="en-US" sz="1200" b="0" i="0" kern="1200" dirty="0">
                    <a:solidFill>
                      <a:schemeClr val="tx1"/>
                    </a:solidFill>
                    <a:effectLst/>
                    <a:latin typeface="+mn-lt"/>
                    <a:ea typeface="+mn-ea"/>
                    <a:cs typeface="+mn-cs"/>
                  </a:rPr>
                  <a:t>:</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Genuine scores </a:t>
                </a:r>
                <a:r>
                  <a:rPr lang="en-US" sz="1200" b="1" i="0" kern="1200" dirty="0">
                    <a:solidFill>
                      <a:schemeClr val="tx1"/>
                    </a:solidFill>
                    <a:effectLst/>
                    <a:latin typeface="+mn-lt"/>
                    <a:ea typeface="+mn-ea"/>
                    <a:cs typeface="+mn-cs"/>
                  </a:rPr>
                  <a:t>decrease</a:t>
                </a:r>
                <a:r>
                  <a:rPr lang="en-US" sz="1200" b="0" i="0" kern="1200" dirty="0">
                    <a:solidFill>
                      <a:schemeClr val="tx1"/>
                    </a:solidFill>
                    <a:effectLst/>
                    <a:latin typeface="+mn-lt"/>
                    <a:ea typeface="+mn-ea"/>
                    <a:cs typeface="+mn-cs"/>
                  </a:rPr>
                  <a:t> (clean gallery vs. degraded probe straddles a domain boundary)</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Impostor scores </a:t>
                </a:r>
                <a:r>
                  <a:rPr lang="en-US" sz="1200" b="1" i="0" kern="1200" dirty="0">
                    <a:solidFill>
                      <a:schemeClr val="tx1"/>
                    </a:solidFill>
                    <a:effectLst/>
                    <a:latin typeface="+mn-lt"/>
                    <a:ea typeface="+mn-ea"/>
                    <a:cs typeface="+mn-cs"/>
                  </a:rPr>
                  <a:t>increase</a:t>
                </a:r>
                <a:r>
                  <a:rPr lang="en-US" sz="1200" b="0" i="0" kern="1200" dirty="0">
                    <a:solidFill>
                      <a:schemeClr val="tx1"/>
                    </a:solidFill>
                    <a:effectLst/>
                    <a:latin typeface="+mn-lt"/>
                    <a:ea typeface="+mn-ea"/>
                    <a:cs typeface="+mn-cs"/>
                  </a:rPr>
                  <a:t> (two degraded probes of different people look alike </a:t>
                </a:r>
                <a:r>
                  <a:rPr lang="en-US" sz="1200" b="0" i="1" kern="1200" dirty="0">
                    <a:solidFill>
                      <a:schemeClr val="tx1"/>
                    </a:solidFill>
                    <a:effectLst/>
                    <a:latin typeface="+mn-lt"/>
                    <a:ea typeface="+mn-ea"/>
                    <a:cs typeface="+mn-cs"/>
                  </a:rPr>
                  <a:t>because they are both degraded</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Both distributions move, and they move toward each other.</a:t>
                </a:r>
                <a:r>
                  <a:rPr lang="en-US" sz="1200" b="0" i="0" kern="1200" dirty="0">
                    <a:solidFill>
                      <a:schemeClr val="tx1"/>
                    </a:solidFill>
                    <a:effectLst/>
                    <a:latin typeface="+mn-lt"/>
                    <a:ea typeface="+mn-ea"/>
                    <a:cs typeface="+mn-cs"/>
                  </a:rPr>
                  <a:t> The ROC collapses from both directions.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sz="1200" b="0" i="0" kern="1200" dirty="0">
                    <a:solidFill>
                      <a:schemeClr val="tx1"/>
                    </a:solidFill>
                    <a:effectLst/>
                    <a:latin typeface="+mn-lt"/>
                    <a:ea typeface="+mn-ea"/>
                    <a:cs typeface="+mn-cs"/>
                  </a:rPr>
                  <a:t>Supporting evidence to mention: for unnormalized embeddings, feature norm </a:t>
                </a:r>
                <a14:m>
                  <m:oMath xmlns:m="http://schemas.openxmlformats.org/officeDocument/2006/math">
                    <m:r>
                      <a:rPr lang="en-US" sz="1200" kern="1200">
                        <a:solidFill>
                          <a:schemeClr val="tx1"/>
                        </a:solidFill>
                        <a:latin typeface="Cambria Math" panose="02040503050406030204" pitchFamily="18" charset="0"/>
                        <a:ea typeface="+mn-ea"/>
                        <a:cs typeface="+mn-cs"/>
                      </a:rPr>
                      <m:t>∥</m:t>
                    </m:r>
                    <m:sSub>
                      <m:sSubPr>
                        <m:ctrlPr>
                          <a:rPr lang="en-US" sz="1200" i="1" kern="1200">
                            <a:solidFill>
                              <a:schemeClr val="tx1"/>
                            </a:solidFill>
                            <a:latin typeface="Cambria Math" panose="02040503050406030204" pitchFamily="18" charset="0"/>
                            <a:ea typeface="+mn-ea"/>
                            <a:cs typeface="+mn-cs"/>
                          </a:rPr>
                        </m:ctrlPr>
                      </m:sSubPr>
                      <m:e>
                        <m:r>
                          <a:rPr lang="en-US" sz="1200" i="1" kern="1200">
                            <a:solidFill>
                              <a:schemeClr val="tx1"/>
                            </a:solidFill>
                            <a:latin typeface="Cambria Math" panose="02040503050406030204" pitchFamily="18" charset="0"/>
                            <a:ea typeface="+mn-ea"/>
                            <a:cs typeface="+mn-cs"/>
                          </a:rPr>
                          <m:t>𝑓</m:t>
                        </m:r>
                      </m:e>
                      <m:sub>
                        <m:r>
                          <a:rPr lang="en-US" sz="1200" i="1" kern="1200">
                            <a:solidFill>
                              <a:schemeClr val="tx1"/>
                            </a:solidFill>
                            <a:latin typeface="Cambria Math" panose="02040503050406030204" pitchFamily="18" charset="0"/>
                            <a:ea typeface="+mn-ea"/>
                            <a:cs typeface="+mn-cs"/>
                          </a:rPr>
                          <m:t>𝜃</m:t>
                        </m:r>
                      </m:sub>
                    </m:sSub>
                    <m:d>
                      <m:dPr>
                        <m:ctrlPr>
                          <a:rPr lang="en-US" sz="1200" i="1" kern="1200">
                            <a:solidFill>
                              <a:schemeClr val="tx1"/>
                            </a:solidFill>
                            <a:latin typeface="Cambria Math" panose="02040503050406030204" pitchFamily="18" charset="0"/>
                            <a:ea typeface="+mn-ea"/>
                            <a:cs typeface="+mn-cs"/>
                          </a:rPr>
                        </m:ctrlPr>
                      </m:dPr>
                      <m:e>
                        <m:r>
                          <a:rPr lang="en-US" sz="1200" i="1" kern="1200">
                            <a:solidFill>
                              <a:schemeClr val="tx1"/>
                            </a:solidFill>
                            <a:latin typeface="Cambria Math" panose="02040503050406030204" pitchFamily="18" charset="0"/>
                            <a:ea typeface="+mn-ea"/>
                            <a:cs typeface="+mn-cs"/>
                          </a:rPr>
                          <m:t>𝑥</m:t>
                        </m:r>
                      </m:e>
                    </m:d>
                    <m:r>
                      <a:rPr lang="en-US" sz="1200" i="0" kern="1200">
                        <a:solidFill>
                          <a:schemeClr val="tx1"/>
                        </a:solidFill>
                        <a:latin typeface="Cambria Math" panose="02040503050406030204" pitchFamily="18" charset="0"/>
                        <a:ea typeface="+mn-ea"/>
                        <a:cs typeface="+mn-cs"/>
                      </a:rPr>
                      <m:t>∥</m:t>
                    </m:r>
                  </m:oMath>
                </a14:m>
                <a:r>
                  <a:rPr lang="en-US" sz="1200" b="0" i="0" kern="1200" dirty="0">
                    <a:solidFill>
                      <a:schemeClr val="tx1"/>
                    </a:solidFill>
                    <a:effectLst/>
                    <a:latin typeface="+mn-lt"/>
                    <a:ea typeface="+mn-ea"/>
                    <a:cs typeface="+mn-cs"/>
                  </a:rPr>
                  <a:t> empirically tracks sample quality — the observation that motivates quality-adaptive margin losses (</a:t>
                </a:r>
                <a:r>
                  <a:rPr lang="en-US" sz="1200" b="0" i="0" kern="1200" dirty="0" err="1">
                    <a:solidFill>
                      <a:schemeClr val="tx1"/>
                    </a:solidFill>
                    <a:effectLst/>
                    <a:latin typeface="+mn-lt"/>
                    <a:ea typeface="+mn-ea"/>
                    <a:cs typeface="+mn-cs"/>
                  </a:rPr>
                  <a:t>MagFace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AdaFace</a:t>
                </a:r>
                <a:r>
                  <a:rPr lang="en-US" sz="1200" b="0" i="0" kern="1200" dirty="0">
                    <a:solidFill>
                      <a:schemeClr val="tx1"/>
                    </a:solidFill>
                    <a:effectLst/>
                    <a:latin typeface="+mn-lt"/>
                    <a:ea typeface="+mn-ea"/>
                    <a:cs typeface="+mn-cs"/>
                  </a:rPr>
                  <a:t>). Low-quality samples sit at low norm and low angular diversity.</a:t>
                </a: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br>
                  <a:rPr lang="en-US" dirty="0"/>
                </a:br>
                <a:endParaRPr lang="en-US" dirty="0"/>
              </a:p>
            </p:txBody>
          </p:sp>
        </mc:Choice>
        <mc:Fallback xmlns="">
          <p:sp>
            <p:nvSpPr>
              <p:cNvPr id="3" name="Notes Placeholder 2">
                <a:extLst>
                  <a:ext uri="{FF2B5EF4-FFF2-40B4-BE49-F238E27FC236}">
                    <a16:creationId xmlns:a16="http://schemas.microsoft.com/office/drawing/2014/main" id="{DC9AB89F-4393-2A69-4C6F-F894397CB0BF}"/>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Consequences</a:t>
                </a:r>
                <a:r>
                  <a:rPr lang="en-US" sz="1200" b="0" i="0" kern="1200" dirty="0">
                    <a:solidFill>
                      <a:schemeClr val="tx1"/>
                    </a:solidFill>
                    <a:effectLst/>
                    <a:latin typeface="+mn-lt"/>
                    <a:ea typeface="+mn-ea"/>
                    <a:cs typeface="+mn-cs"/>
                  </a:rPr>
                  <a:t>:</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Genuine scores </a:t>
                </a:r>
                <a:r>
                  <a:rPr lang="en-US" sz="1200" b="1" i="0" kern="1200" dirty="0">
                    <a:solidFill>
                      <a:schemeClr val="tx1"/>
                    </a:solidFill>
                    <a:effectLst/>
                    <a:latin typeface="+mn-lt"/>
                    <a:ea typeface="+mn-ea"/>
                    <a:cs typeface="+mn-cs"/>
                  </a:rPr>
                  <a:t>decrease</a:t>
                </a:r>
                <a:r>
                  <a:rPr lang="en-US" sz="1200" b="0" i="0" kern="1200" dirty="0">
                    <a:solidFill>
                      <a:schemeClr val="tx1"/>
                    </a:solidFill>
                    <a:effectLst/>
                    <a:latin typeface="+mn-lt"/>
                    <a:ea typeface="+mn-ea"/>
                    <a:cs typeface="+mn-cs"/>
                  </a:rPr>
                  <a:t> (clean gallery vs. degraded probe straddles a domain boundary)</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Impostor scores </a:t>
                </a:r>
                <a:r>
                  <a:rPr lang="en-US" sz="1200" b="1" i="0" kern="1200" dirty="0">
                    <a:solidFill>
                      <a:schemeClr val="tx1"/>
                    </a:solidFill>
                    <a:effectLst/>
                    <a:latin typeface="+mn-lt"/>
                    <a:ea typeface="+mn-ea"/>
                    <a:cs typeface="+mn-cs"/>
                  </a:rPr>
                  <a:t>increase</a:t>
                </a:r>
                <a:r>
                  <a:rPr lang="en-US" sz="1200" b="0" i="0" kern="1200" dirty="0">
                    <a:solidFill>
                      <a:schemeClr val="tx1"/>
                    </a:solidFill>
                    <a:effectLst/>
                    <a:latin typeface="+mn-lt"/>
                    <a:ea typeface="+mn-ea"/>
                    <a:cs typeface="+mn-cs"/>
                  </a:rPr>
                  <a:t> (two degraded probes of different people look alike </a:t>
                </a:r>
                <a:r>
                  <a:rPr lang="en-US" sz="1200" b="0" i="1" kern="1200" dirty="0">
                    <a:solidFill>
                      <a:schemeClr val="tx1"/>
                    </a:solidFill>
                    <a:effectLst/>
                    <a:latin typeface="+mn-lt"/>
                    <a:ea typeface="+mn-ea"/>
                    <a:cs typeface="+mn-cs"/>
                  </a:rPr>
                  <a:t>because they are both degraded</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Both distributions move, and they move toward each other.</a:t>
                </a:r>
                <a:r>
                  <a:rPr lang="en-US" sz="1200" b="0" i="0" kern="1200" dirty="0">
                    <a:solidFill>
                      <a:schemeClr val="tx1"/>
                    </a:solidFill>
                    <a:effectLst/>
                    <a:latin typeface="+mn-lt"/>
                    <a:ea typeface="+mn-ea"/>
                    <a:cs typeface="+mn-cs"/>
                  </a:rPr>
                  <a:t> The ROC collapses from both directions.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sz="1200" b="0" i="0" kern="1200" dirty="0">
                    <a:solidFill>
                      <a:schemeClr val="tx1"/>
                    </a:solidFill>
                    <a:effectLst/>
                    <a:latin typeface="+mn-lt"/>
                    <a:ea typeface="+mn-ea"/>
                    <a:cs typeface="+mn-cs"/>
                  </a:rPr>
                  <a:t>Supporting evidence to mention: for unnormalized embeddings, feature norm </a:t>
                </a:r>
                <a:r>
                  <a:rPr lang="en-US" sz="1200" i="0" kern="1200">
                    <a:solidFill>
                      <a:schemeClr val="tx1"/>
                    </a:solidFill>
                    <a:latin typeface="+mn-lt"/>
                    <a:ea typeface="+mn-ea"/>
                    <a:cs typeface="+mn-cs"/>
                  </a:rPr>
                  <a:t>∥𝑓_𝜃 (𝑥)∥</a:t>
                </a:r>
                <a:r>
                  <a:rPr lang="en-US" sz="1200" b="0" i="0" kern="1200" dirty="0">
                    <a:solidFill>
                      <a:schemeClr val="tx1"/>
                    </a:solidFill>
                    <a:effectLst/>
                    <a:latin typeface="+mn-lt"/>
                    <a:ea typeface="+mn-ea"/>
                    <a:cs typeface="+mn-cs"/>
                  </a:rPr>
                  <a:t> empirically tracks sample quality — the observation that motivates quality-adaptive margin losses (</a:t>
                </a:r>
                <a:r>
                  <a:rPr lang="en-US" sz="1200" b="0" i="0" kern="1200" dirty="0" err="1">
                    <a:solidFill>
                      <a:schemeClr val="tx1"/>
                    </a:solidFill>
                    <a:effectLst/>
                    <a:latin typeface="+mn-lt"/>
                    <a:ea typeface="+mn-ea"/>
                    <a:cs typeface="+mn-cs"/>
                  </a:rPr>
                  <a:t>MagFace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AdaFace</a:t>
                </a:r>
                <a:r>
                  <a:rPr lang="en-US" sz="1200" b="0" i="0" kern="1200" dirty="0">
                    <a:solidFill>
                      <a:schemeClr val="tx1"/>
                    </a:solidFill>
                    <a:effectLst/>
                    <a:latin typeface="+mn-lt"/>
                    <a:ea typeface="+mn-ea"/>
                    <a:cs typeface="+mn-cs"/>
                  </a:rPr>
                  <a:t>). Low-quality samples sit at low norm and low angular diversity.</a:t>
                </a: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br>
                  <a:rPr lang="en-US" dirty="0"/>
                </a:br>
                <a:endParaRPr lang="en-US" dirty="0"/>
              </a:p>
            </p:txBody>
          </p:sp>
        </mc:Fallback>
      </mc:AlternateContent>
      <p:sp>
        <p:nvSpPr>
          <p:cNvPr id="4" name="Slide Number Placeholder 3">
            <a:extLst>
              <a:ext uri="{FF2B5EF4-FFF2-40B4-BE49-F238E27FC236}">
                <a16:creationId xmlns:a16="http://schemas.microsoft.com/office/drawing/2014/main" id="{95164040-B0DB-7A8B-2654-02E6F63C51A7}"/>
              </a:ext>
            </a:extLst>
          </p:cNvPr>
          <p:cNvSpPr>
            <a:spLocks noGrp="1"/>
          </p:cNvSpPr>
          <p:nvPr>
            <p:ph type="sldNum" sz="quarter" idx="5"/>
          </p:nvPr>
        </p:nvSpPr>
        <p:spPr/>
        <p:txBody>
          <a:bodyPr/>
          <a:lstStyle/>
          <a:p>
            <a:fld id="{29E7BD1F-0023-244E-A8FD-1ADCC0FAE1A1}" type="slidenum">
              <a:rPr lang="en-US" smtClean="0"/>
              <a:t>18</a:t>
            </a:fld>
            <a:endParaRPr lang="en-US"/>
          </a:p>
        </p:txBody>
      </p:sp>
    </p:spTree>
    <p:extLst>
      <p:ext uri="{BB962C8B-B14F-4D97-AF65-F5344CB8AC3E}">
        <p14:creationId xmlns:p14="http://schemas.microsoft.com/office/powerpoint/2010/main" val="42280688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49626-E60E-EFC2-805D-D6F27B4716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22DC2F-CEC0-18C1-ED8B-29B4F31EAD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22ED57-CF30-280A-54C9-A0DA7D0AA410}"/>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If domain variation exceeds identity variation, the nearest neighbor of a degraded probe is whichever gallery entry happens to sit nearest the domain-shifted region — </a:t>
            </a:r>
            <a:r>
              <a:rPr lang="en-US" sz="1200" b="1" i="0" kern="1200" dirty="0">
                <a:solidFill>
                  <a:schemeClr val="tx1"/>
                </a:solidFill>
                <a:effectLst/>
                <a:latin typeface="+mn-lt"/>
                <a:ea typeface="+mn-ea"/>
                <a:cs typeface="+mn-cs"/>
              </a:rPr>
              <a:t>effectively at random with respect to identity.</a:t>
            </a:r>
            <a:br>
              <a:rPr lang="en-US" sz="1200" b="1" i="0" kern="1200" dirty="0">
                <a:solidFill>
                  <a:schemeClr val="tx1"/>
                </a:solidFill>
                <a:effectLst/>
                <a:latin typeface="+mn-lt"/>
                <a:ea typeface="+mn-ea"/>
                <a:cs typeface="+mn-cs"/>
              </a:rPr>
            </a:br>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Relate to eigenfaces…</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Cascading consequence — modality collapse.</a:t>
            </a:r>
            <a:r>
              <a:rPr lang="en-US" sz="1200" b="0" i="0" kern="1200" dirty="0">
                <a:solidFill>
                  <a:schemeClr val="tx1"/>
                </a:solidFill>
                <a:effectLst/>
                <a:latin typeface="+mn-lt"/>
                <a:ea typeface="+mn-ea"/>
                <a:cs typeface="+mn-cs"/>
              </a:rPr>
              <a:t> When the face becomes unusable (too few pixels, or subject not facing the camera), a whole-body system must fall back on body shape and gait. That is not graceful degradation within one representation; it is a </a:t>
            </a:r>
            <a:r>
              <a:rPr lang="en-US" sz="1200" b="1" i="0" kern="1200" dirty="0">
                <a:solidFill>
                  <a:schemeClr val="tx1"/>
                </a:solidFill>
                <a:effectLst/>
                <a:latin typeface="+mn-lt"/>
                <a:ea typeface="+mn-ea"/>
                <a:cs typeface="+mn-cs"/>
              </a:rPr>
              <a:t>switch to a different representation with a different and generally lower ceiling</a:t>
            </a:r>
            <a:r>
              <a:rPr lang="en-US" sz="1200" b="0" i="0" kern="1200" dirty="0">
                <a:solidFill>
                  <a:schemeClr val="tx1"/>
                </a:solidFill>
                <a:effectLst/>
                <a:latin typeface="+mn-lt"/>
                <a:ea typeface="+mn-ea"/>
                <a:cs typeface="+mn-cs"/>
              </a:rPr>
              <a:t>. Weeks 11 and 12 take this up directly.</a:t>
            </a:r>
          </a:p>
        </p:txBody>
      </p:sp>
      <p:sp>
        <p:nvSpPr>
          <p:cNvPr id="4" name="Slide Number Placeholder 3">
            <a:extLst>
              <a:ext uri="{FF2B5EF4-FFF2-40B4-BE49-F238E27FC236}">
                <a16:creationId xmlns:a16="http://schemas.microsoft.com/office/drawing/2014/main" id="{D1A7C6EC-D0A4-99DF-DBC9-A25158A9D6DE}"/>
              </a:ext>
            </a:extLst>
          </p:cNvPr>
          <p:cNvSpPr>
            <a:spLocks noGrp="1"/>
          </p:cNvSpPr>
          <p:nvPr>
            <p:ph type="sldNum" sz="quarter" idx="5"/>
          </p:nvPr>
        </p:nvSpPr>
        <p:spPr/>
        <p:txBody>
          <a:bodyPr/>
          <a:lstStyle/>
          <a:p>
            <a:fld id="{29E7BD1F-0023-244E-A8FD-1ADCC0FAE1A1}" type="slidenum">
              <a:rPr lang="en-US" smtClean="0"/>
              <a:t>19</a:t>
            </a:fld>
            <a:endParaRPr lang="en-US"/>
          </a:p>
        </p:txBody>
      </p:sp>
    </p:spTree>
    <p:extLst>
      <p:ext uri="{BB962C8B-B14F-4D97-AF65-F5344CB8AC3E}">
        <p14:creationId xmlns:p14="http://schemas.microsoft.com/office/powerpoint/2010/main" val="7380349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D1D39-0315-91C7-B754-F135C9EC9B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1EDD2-F8AB-A383-2F9D-CAD5C26C78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5C2B47-F0F3-0133-352D-0B925DA00433}"/>
              </a:ext>
            </a:extLst>
          </p:cNvPr>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92665CF-9538-D4D2-C962-7E3883372CA6}"/>
              </a:ext>
            </a:extLst>
          </p:cNvPr>
          <p:cNvSpPr>
            <a:spLocks noGrp="1"/>
          </p:cNvSpPr>
          <p:nvPr>
            <p:ph type="sldNum" sz="quarter" idx="5"/>
          </p:nvPr>
        </p:nvSpPr>
        <p:spPr/>
        <p:txBody>
          <a:bodyPr/>
          <a:lstStyle/>
          <a:p>
            <a:fld id="{29E7BD1F-0023-244E-A8FD-1ADCC0FAE1A1}" type="slidenum">
              <a:rPr lang="en-US" smtClean="0"/>
              <a:t>20</a:t>
            </a:fld>
            <a:endParaRPr lang="en-US"/>
          </a:p>
        </p:txBody>
      </p:sp>
    </p:spTree>
    <p:extLst>
      <p:ext uri="{BB962C8B-B14F-4D97-AF65-F5344CB8AC3E}">
        <p14:creationId xmlns:p14="http://schemas.microsoft.com/office/powerpoint/2010/main" val="42426872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A5999-F187-161A-2AAD-E2ECCA225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28852C-5040-FE4D-BBA1-72EA4E4E4F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BA89A0-AC9B-7E86-A2BC-12181F702A6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EA6F69CF-A6F7-A5E0-EF2D-CD90A68E4A2B}"/>
              </a:ext>
            </a:extLst>
          </p:cNvPr>
          <p:cNvSpPr>
            <a:spLocks noGrp="1"/>
          </p:cNvSpPr>
          <p:nvPr>
            <p:ph type="sldNum" sz="quarter" idx="5"/>
          </p:nvPr>
        </p:nvSpPr>
        <p:spPr/>
        <p:txBody>
          <a:bodyPr/>
          <a:lstStyle/>
          <a:p>
            <a:fld id="{29E7BD1F-0023-244E-A8FD-1ADCC0FAE1A1}" type="slidenum">
              <a:rPr lang="en-US" smtClean="0"/>
              <a:t>21</a:t>
            </a:fld>
            <a:endParaRPr lang="en-US"/>
          </a:p>
        </p:txBody>
      </p:sp>
    </p:spTree>
    <p:extLst>
      <p:ext uri="{BB962C8B-B14F-4D97-AF65-F5344CB8AC3E}">
        <p14:creationId xmlns:p14="http://schemas.microsoft.com/office/powerpoint/2010/main" val="8388178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2D3D7-19CB-7C09-F641-280CA7DCF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5F181A-0D80-05EA-0878-C14C27BFF5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A8EDCB-9E4A-B43A-5FCE-6F2709BC120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98CABDF-3367-A267-C6BB-C8CEE973C9ED}"/>
              </a:ext>
            </a:extLst>
          </p:cNvPr>
          <p:cNvSpPr>
            <a:spLocks noGrp="1"/>
          </p:cNvSpPr>
          <p:nvPr>
            <p:ph type="sldNum" sz="quarter" idx="5"/>
          </p:nvPr>
        </p:nvSpPr>
        <p:spPr/>
        <p:txBody>
          <a:bodyPr/>
          <a:lstStyle/>
          <a:p>
            <a:fld id="{29E7BD1F-0023-244E-A8FD-1ADCC0FAE1A1}" type="slidenum">
              <a:rPr lang="en-US" smtClean="0"/>
              <a:t>22</a:t>
            </a:fld>
            <a:endParaRPr lang="en-US"/>
          </a:p>
        </p:txBody>
      </p:sp>
    </p:spTree>
    <p:extLst>
      <p:ext uri="{BB962C8B-B14F-4D97-AF65-F5344CB8AC3E}">
        <p14:creationId xmlns:p14="http://schemas.microsoft.com/office/powerpoint/2010/main" val="27530475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84292-5552-F2FE-77F2-55F1F775D3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29C63A-48B7-AEC4-8C53-FF8D599772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9A66DC-DDDC-A5CF-A895-77D055767929}"/>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Unlike camera selection and configuration, the collection location, weather, and other factors cannot be easily controlled. </a:t>
            </a:r>
            <a:r>
              <a:rPr lang="en-US" sz="1200" b="1" i="0" kern="1200" dirty="0">
                <a:solidFill>
                  <a:schemeClr val="tx1"/>
                </a:solidFill>
                <a:effectLst/>
                <a:latin typeface="+mn-lt"/>
                <a:ea typeface="+mn-ea"/>
                <a:cs typeface="+mn-cs"/>
              </a:rPr>
              <a:t>Thus, operational systems must be capable of functioning in all conditions.</a:t>
            </a:r>
            <a:r>
              <a:rPr lang="en-US" sz="1200" b="0" i="0" kern="1200" dirty="0">
                <a:solidFill>
                  <a:schemeClr val="tx1"/>
                </a:solidFill>
                <a:effectLst/>
                <a:latin typeface="+mn-lt"/>
                <a:ea typeface="+mn-ea"/>
                <a:cs typeface="+mn-cs"/>
              </a:rPr>
              <a:t>"</a:t>
            </a:r>
          </a:p>
          <a:p>
            <a:br>
              <a:rPr lang="en-US" dirty="0"/>
            </a:br>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0D52C5B-F710-9875-D9D8-6C5CF4D91725}"/>
              </a:ext>
            </a:extLst>
          </p:cNvPr>
          <p:cNvSpPr>
            <a:spLocks noGrp="1"/>
          </p:cNvSpPr>
          <p:nvPr>
            <p:ph type="sldNum" sz="quarter" idx="5"/>
          </p:nvPr>
        </p:nvSpPr>
        <p:spPr/>
        <p:txBody>
          <a:bodyPr/>
          <a:lstStyle/>
          <a:p>
            <a:fld id="{29E7BD1F-0023-244E-A8FD-1ADCC0FAE1A1}" type="slidenum">
              <a:rPr lang="en-US" smtClean="0"/>
              <a:t>24</a:t>
            </a:fld>
            <a:endParaRPr lang="en-US"/>
          </a:p>
        </p:txBody>
      </p:sp>
    </p:spTree>
    <p:extLst>
      <p:ext uri="{BB962C8B-B14F-4D97-AF65-F5344CB8AC3E}">
        <p14:creationId xmlns:p14="http://schemas.microsoft.com/office/powerpoint/2010/main" val="1917616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A41E7-599F-247C-01DF-D88006D695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B72152-8EBA-DF06-1C7F-9B7550C087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9404C0-F6A9-3248-E423-E69C0C81035E}"/>
              </a:ext>
            </a:extLst>
          </p:cNvPr>
          <p:cNvSpPr>
            <a:spLocks noGrp="1"/>
          </p:cNvSpPr>
          <p:nvPr>
            <p:ph type="body" idx="1"/>
          </p:nvPr>
        </p:nvSpPr>
        <p:spPr/>
        <p:txBody>
          <a:bodyPr/>
          <a:lstStyle/>
          <a:p>
            <a:br>
              <a:rPr lang="en-US" dirty="0"/>
            </a:br>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DD49A3C-6C1B-851A-5869-EAE4C1CD79E6}"/>
              </a:ext>
            </a:extLst>
          </p:cNvPr>
          <p:cNvSpPr>
            <a:spLocks noGrp="1"/>
          </p:cNvSpPr>
          <p:nvPr>
            <p:ph type="sldNum" sz="quarter" idx="5"/>
          </p:nvPr>
        </p:nvSpPr>
        <p:spPr/>
        <p:txBody>
          <a:bodyPr/>
          <a:lstStyle/>
          <a:p>
            <a:fld id="{29E7BD1F-0023-244E-A8FD-1ADCC0FAE1A1}" type="slidenum">
              <a:rPr lang="en-US" smtClean="0"/>
              <a:t>25</a:t>
            </a:fld>
            <a:endParaRPr lang="en-US"/>
          </a:p>
        </p:txBody>
      </p:sp>
    </p:spTree>
    <p:extLst>
      <p:ext uri="{BB962C8B-B14F-4D97-AF65-F5344CB8AC3E}">
        <p14:creationId xmlns:p14="http://schemas.microsoft.com/office/powerpoint/2010/main" val="27808228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CA8C5-FB03-9DE4-AE07-A3770EC02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84A11C-8D9F-9F23-1982-8BBAF71A8B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8D5A4F-B6D5-4167-3AE7-2A56B5C8D737}"/>
              </a:ext>
            </a:extLst>
          </p:cNvPr>
          <p:cNvSpPr>
            <a:spLocks noGrp="1"/>
          </p:cNvSpPr>
          <p:nvPr>
            <p:ph type="body" idx="1"/>
          </p:nvPr>
        </p:nvSpPr>
        <p:spPr/>
        <p:txBody>
          <a:bodyPr/>
          <a:lstStyle/>
          <a:p>
            <a:pPr marL="0" indent="0">
              <a:buFont typeface="Arial" panose="020B0604020202020204" pitchFamily="34" charset="0"/>
              <a:buNone/>
            </a:pPr>
            <a:r>
              <a:rPr lang="en-US" sz="1200" b="1" i="0" kern="1200" dirty="0">
                <a:solidFill>
                  <a:schemeClr val="tx1"/>
                </a:solidFill>
                <a:effectLst/>
                <a:latin typeface="+mn-lt"/>
                <a:ea typeface="+mn-ea"/>
                <a:cs typeface="+mn-cs"/>
              </a:rPr>
              <a:t>Possible Answers</a:t>
            </a:r>
            <a:r>
              <a:rPr lang="en-US" sz="1200" b="0" i="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validity of the statistical model,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handling of confounders,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honesty about measurement limits,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generalizability beyond BRIAR </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0" indent="0">
              <a:buFont typeface="Arial" panose="020B0604020202020204" pitchFamily="34" charset="0"/>
              <a:buNone/>
            </a:pPr>
            <a:r>
              <a:rPr lang="en-US" sz="1200" b="0" i="1"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"did it beat the baseline.</a:t>
            </a:r>
          </a:p>
        </p:txBody>
      </p:sp>
      <p:sp>
        <p:nvSpPr>
          <p:cNvPr id="4" name="Slide Number Placeholder 3">
            <a:extLst>
              <a:ext uri="{FF2B5EF4-FFF2-40B4-BE49-F238E27FC236}">
                <a16:creationId xmlns:a16="http://schemas.microsoft.com/office/drawing/2014/main" id="{42AECB8E-5860-1DCA-A58A-7F0D51231AF6}"/>
              </a:ext>
            </a:extLst>
          </p:cNvPr>
          <p:cNvSpPr>
            <a:spLocks noGrp="1"/>
          </p:cNvSpPr>
          <p:nvPr>
            <p:ph type="sldNum" sz="quarter" idx="5"/>
          </p:nvPr>
        </p:nvSpPr>
        <p:spPr/>
        <p:txBody>
          <a:bodyPr/>
          <a:lstStyle/>
          <a:p>
            <a:fld id="{29E7BD1F-0023-244E-A8FD-1ADCC0FAE1A1}" type="slidenum">
              <a:rPr lang="en-US" smtClean="0"/>
              <a:t>26</a:t>
            </a:fld>
            <a:endParaRPr lang="en-US"/>
          </a:p>
        </p:txBody>
      </p:sp>
    </p:spTree>
    <p:extLst>
      <p:ext uri="{BB962C8B-B14F-4D97-AF65-F5344CB8AC3E}">
        <p14:creationId xmlns:p14="http://schemas.microsoft.com/office/powerpoint/2010/main" val="2325879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D0A58-7079-9BEE-7F38-154933D6AD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5014E9-7FE0-612A-245B-E476C490CFCD}"/>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001763C4-5CB7-BE14-0327-548879C1FE9E}"/>
                  </a:ext>
                </a:extLst>
              </p:cNvPr>
              <p:cNvSpPr>
                <a:spLocks noGrp="1"/>
              </p:cNvSpPr>
              <p:nvPr>
                <p:ph type="body" idx="1"/>
              </p:nvPr>
            </p:nvSpPr>
            <p:spPr/>
            <p:txBody>
              <a:bodyPr/>
              <a:lstStyle/>
              <a:p>
                <a:pPr marL="0" lvl="0" indent="0">
                  <a:buFont typeface="Arial" panose="020B0604020202020204" pitchFamily="34" charset="0"/>
                  <a:buNone/>
                </a:pPr>
                <a:r>
                  <a:rPr lang="en-US" b="1" dirty="0"/>
                  <a:t>Score Compatibility</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Why this is clever:</a:t>
                </a:r>
                <a:r>
                  <a:rPr lang="en-US" sz="1200" b="0" i="0" kern="1200" dirty="0">
                    <a:solidFill>
                      <a:schemeClr val="tx1"/>
                    </a:solidFill>
                    <a:effectLst/>
                    <a:latin typeface="+mn-lt"/>
                    <a:ea typeface="+mn-ea"/>
                    <a:cs typeface="+mn-cs"/>
                  </a:rPr>
                  <a:t> the output is no longer an arbitrary similarity — it is </a:t>
                </a:r>
                <a:r>
                  <a:rPr lang="en-US" sz="1200" b="0" i="1" kern="1200" dirty="0">
                    <a:solidFill>
                      <a:schemeClr val="tx1"/>
                    </a:solidFill>
                    <a:effectLst/>
                    <a:latin typeface="+mn-lt"/>
                    <a:ea typeface="+mn-ea"/>
                    <a:cs typeface="+mn-cs"/>
                  </a:rPr>
                  <a:t>an interpretable operational quantity</a:t>
                </a:r>
                <a:r>
                  <a:rPr lang="en-US" sz="1200" b="0" i="0" kern="1200" dirty="0">
                    <a:solidFill>
                      <a:schemeClr val="tx1"/>
                    </a:solidFill>
                    <a:effectLst/>
                    <a:latin typeface="+mn-lt"/>
                    <a:ea typeface="+mn-ea"/>
                    <a:cs typeface="+mn-cs"/>
                  </a:rPr>
                  <a:t>. A score of −6 means one in a million.</a:t>
                </a:r>
              </a:p>
              <a:p>
                <a:pPr marL="171450" lvl="0" indent="-171450">
                  <a:buFont typeface="Arial" panose="020B0604020202020204" pitchFamily="34" charset="0"/>
                  <a:buChar char="•"/>
                </a:pPr>
                <a:endParaRPr lang="en-US" sz="1200" b="1" i="0" kern="1200" dirty="0">
                  <a:solidFill>
                    <a:schemeClr val="tx1"/>
                  </a:solidFill>
                  <a:effectLst/>
                  <a:latin typeface="+mn-lt"/>
                  <a:ea typeface="+mn-ea"/>
                  <a:cs typeface="+mn-cs"/>
                </a:endParaRPr>
              </a:p>
              <a:p>
                <a:pPr marL="0" lvl="0" indent="0">
                  <a:buFont typeface="Arial" panose="020B0604020202020204" pitchFamily="34" charset="0"/>
                  <a:buNone/>
                </a:pPr>
                <a:r>
                  <a:rPr lang="en-US" sz="1200" b="1" i="0" kern="1200" dirty="0">
                    <a:solidFill>
                      <a:schemeClr val="tx1"/>
                    </a:solidFill>
                    <a:effectLst/>
                    <a:latin typeface="+mn-lt"/>
                    <a:ea typeface="+mn-ea"/>
                    <a:cs typeface="+mn-cs"/>
                  </a:rPr>
                  <a:t>Fixed TAR</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Question: </a:t>
                </a:r>
                <a:r>
                  <a:rPr lang="en-US" sz="1200" b="0" i="0" kern="1200" dirty="0">
                    <a:solidFill>
                      <a:schemeClr val="tx1"/>
                    </a:solidFill>
                    <a:effectLst/>
                    <a:latin typeface="+mn-lt"/>
                    <a:ea typeface="+mn-ea"/>
                    <a:cs typeface="+mn-cs"/>
                  </a:rPr>
                  <a:t>Why model the mean genuine score instead of directly modeling TAR?</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Answer</a:t>
                </a:r>
                <a:r>
                  <a:rPr lang="en-US" sz="1200" b="0" i="0" kern="1200" dirty="0">
                    <a:solidFill>
                      <a:schemeClr val="tx1"/>
                    </a:solidFill>
                    <a:effectLst/>
                    <a:latin typeface="+mn-lt"/>
                    <a:ea typeface="+mn-ea"/>
                    <a:cs typeface="+mn-cs"/>
                  </a:rPr>
                  <a:t>: linearity. A linear model on </a:t>
                </a:r>
                <a14:m>
                  <m:oMath xmlns:m="http://schemas.openxmlformats.org/officeDocument/2006/math">
                    <m:sSub>
                      <m:sSubPr>
                        <m:ctrlPr>
                          <a:rPr lang="en-US" sz="1200" kern="1200">
                            <a:solidFill>
                              <a:schemeClr val="tx1"/>
                            </a:solidFill>
                            <a:latin typeface="+mn-lt"/>
                            <a:ea typeface="+mn-ea"/>
                            <a:cs typeface="+mn-cs"/>
                          </a:rPr>
                        </m:ctrlPr>
                      </m:sSubPr>
                      <m:e>
                        <m:r>
                          <m:rPr>
                            <m:sty m:val="p"/>
                          </m:rPr>
                          <a:rPr lang="en-US" sz="1200" kern="1200">
                            <a:solidFill>
                              <a:schemeClr val="tx1"/>
                            </a:solidFill>
                            <a:latin typeface="+mn-lt"/>
                            <a:ea typeface="+mn-ea"/>
                            <a:cs typeface="+mn-cs"/>
                          </a:rPr>
                          <m:t>log</m:t>
                        </m:r>
                      </m:e>
                      <m:sub>
                        <m:r>
                          <a:rPr lang="en-US" sz="1200" i="0" kern="1200">
                            <a:solidFill>
                              <a:schemeClr val="tx1"/>
                            </a:solidFill>
                            <a:latin typeface="+mn-lt"/>
                            <a:ea typeface="+mn-ea"/>
                            <a:cs typeface="+mn-cs"/>
                          </a:rPr>
                          <m:t>10</m:t>
                        </m:r>
                      </m:sub>
                    </m:sSub>
                    <m:d>
                      <m:dPr>
                        <m:ctrlPr>
                          <a:rPr lang="en-US" sz="1200" b="0" i="0" kern="1200">
                            <a:solidFill>
                              <a:schemeClr val="tx1"/>
                            </a:solidFill>
                            <a:latin typeface="+mn-lt"/>
                            <a:ea typeface="+mn-ea"/>
                            <a:cs typeface="+mn-cs"/>
                          </a:rPr>
                        </m:ctrlPr>
                      </m:dPr>
                      <m:e>
                        <m:r>
                          <m:rPr>
                            <m:nor/>
                          </m:rPr>
                          <a:rPr lang="en-US" sz="1200" b="0" i="0" kern="1200">
                            <a:solidFill>
                              <a:schemeClr val="tx1"/>
                            </a:solidFill>
                            <a:latin typeface="+mn-lt"/>
                            <a:ea typeface="+mn-ea"/>
                            <a:cs typeface="+mn-cs"/>
                          </a:rPr>
                          <m:t>FAR</m:t>
                        </m:r>
                      </m:e>
                    </m:d>
                  </m:oMath>
                </a14:m>
                <a:r>
                  <a:rPr lang="en-US" sz="1200" b="0" i="0" kern="1200" dirty="0">
                    <a:solidFill>
                      <a:schemeClr val="tx1"/>
                    </a:solidFill>
                    <a:effectLst/>
                    <a:latin typeface="+mn-lt"/>
                    <a:ea typeface="+mn-ea"/>
                    <a:cs typeface="+mn-cs"/>
                  </a:rPr>
                  <a:t> gives additive coefficients in orders of magnitude — coefficients you can literally sum (Eq. 4). Logistic TAR models don't give you that.</a:t>
                </a:r>
              </a:p>
              <a:p>
                <a:pPr marL="171450" lvl="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r>
                  <a:rPr lang="en-US" sz="1200" b="1" i="0" kern="1200" dirty="0">
                    <a:solidFill>
                      <a:schemeClr val="tx1"/>
                    </a:solidFill>
                    <a:effectLst/>
                    <a:latin typeface="+mn-lt"/>
                    <a:ea typeface="+mn-ea"/>
                    <a:cs typeface="+mn-cs"/>
                  </a:rPr>
                  <a:t>Exercise:</a:t>
                </a:r>
              </a:p>
              <a:p>
                <a:pPr marL="171450" lvl="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Body-configured camera (+0.74),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head height 30–40 </a:t>
                </a:r>
                <a:r>
                  <a:rPr lang="en-US" sz="1200" b="0" i="0" kern="1200" dirty="0" err="1">
                    <a:solidFill>
                      <a:schemeClr val="tx1"/>
                    </a:solidFill>
                    <a:effectLst/>
                    <a:latin typeface="+mn-lt"/>
                    <a:ea typeface="+mn-ea"/>
                    <a:cs typeface="+mn-cs"/>
                  </a:rPr>
                  <a:t>px</a:t>
                </a:r>
                <a:r>
                  <a:rPr lang="en-US" sz="1200" b="0" i="0" kern="1200" dirty="0">
                    <a:solidFill>
                      <a:schemeClr val="tx1"/>
                    </a:solidFill>
                    <a:effectLst/>
                    <a:latin typeface="+mn-lt"/>
                    <a:ea typeface="+mn-ea"/>
                    <a:cs typeface="+mn-cs"/>
                  </a:rPr>
                  <a:t> (+1.32),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medium range (+0.95),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solar load &gt; 900 W/m² (+0.87),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gait available (−0.28).</a:t>
                </a:r>
              </a:p>
              <a:p>
                <a14:m>
                  <m:oMathPara xmlns:m="http://schemas.openxmlformats.org/officeDocument/2006/math">
                    <m:oMath>
                      <m:sSub>
                        <m:sSubPr>
                          <m:ctrlPr>
                            <a:rPr lang="en-US" b="0" i="0"/>
                          </m:ctrlPr>
                        </m:sSubPr>
                        <m:e>
                          <m:r>
                            <m:rPr>
                              <m:nor/>
                            </m:rPr>
                            <a:rPr lang="en-US" b="0" i="0"/>
                            <m:t>FAR</m:t>
                          </m:r>
                        </m:e>
                        <m:sub>
                          <m:r>
                            <a:rPr lang="en-US" b="0" i="1"/>
                            <m:t>𝑒𝑠𝑡</m:t>
                          </m:r>
                        </m:sub>
                      </m:sSub>
                      <m:r>
                        <a:rPr lang="en-US" sz="1200" b="0" i="0" kern="1200">
                          <a:solidFill>
                            <a:schemeClr val="tx1"/>
                          </a:solidFill>
                          <a:latin typeface="+mn-lt"/>
                          <a:ea typeface="+mn-ea"/>
                          <a:cs typeface="+mn-cs"/>
                        </a:rPr>
                        <m:t>=</m:t>
                      </m:r>
                      <m:sSup>
                        <m:sSupPr>
                          <m:ctrlPr>
                            <a:rPr lang="en-US" sz="1200" b="0" i="0" kern="1200">
                              <a:solidFill>
                                <a:schemeClr val="tx1"/>
                              </a:solidFill>
                              <a:latin typeface="+mn-lt"/>
                              <a:ea typeface="+mn-ea"/>
                              <a:cs typeface="+mn-cs"/>
                            </a:rPr>
                          </m:ctrlPr>
                        </m:sSupPr>
                        <m:e>
                          <m:r>
                            <a:rPr lang="en-US" sz="1200" b="0" i="0" kern="1200">
                              <a:solidFill>
                                <a:schemeClr val="tx1"/>
                              </a:solidFill>
                              <a:latin typeface="+mn-lt"/>
                              <a:ea typeface="+mn-ea"/>
                              <a:cs typeface="+mn-cs"/>
                            </a:rPr>
                            <m:t>10</m:t>
                          </m:r>
                        </m:e>
                        <m:sup>
                          <m:r>
                            <a:rPr lang="en-US" sz="1200" b="0" i="0" kern="1200">
                              <a:solidFill>
                                <a:schemeClr val="tx1"/>
                              </a:solidFill>
                              <a:latin typeface="+mn-lt"/>
                              <a:ea typeface="+mn-ea"/>
                              <a:cs typeface="+mn-cs"/>
                            </a:rPr>
                            <m:t>−7.003+0.74+1.32+0.95+0.87−0.28</m:t>
                          </m:r>
                        </m:sup>
                      </m:sSup>
                      <m:r>
                        <a:rPr lang="en-US" sz="1200" b="0" i="0" kern="1200">
                          <a:solidFill>
                            <a:schemeClr val="tx1"/>
                          </a:solidFill>
                          <a:latin typeface="+mn-lt"/>
                          <a:ea typeface="+mn-ea"/>
                          <a:cs typeface="+mn-cs"/>
                        </a:rPr>
                        <m:t>=</m:t>
                      </m:r>
                      <m:sSup>
                        <m:sSupPr>
                          <m:ctrlPr>
                            <a:rPr lang="en-US" sz="1200" b="0" i="0" kern="1200">
                              <a:solidFill>
                                <a:schemeClr val="tx1"/>
                              </a:solidFill>
                              <a:latin typeface="+mn-lt"/>
                              <a:ea typeface="+mn-ea"/>
                              <a:cs typeface="+mn-cs"/>
                            </a:rPr>
                          </m:ctrlPr>
                        </m:sSupPr>
                        <m:e>
                          <m:r>
                            <a:rPr lang="en-US" sz="1200" b="0" i="0" kern="1200">
                              <a:solidFill>
                                <a:schemeClr val="tx1"/>
                              </a:solidFill>
                              <a:latin typeface="+mn-lt"/>
                              <a:ea typeface="+mn-ea"/>
                              <a:cs typeface="+mn-cs"/>
                            </a:rPr>
                            <m:t>10</m:t>
                          </m:r>
                        </m:e>
                        <m:sup>
                          <m:r>
                            <a:rPr lang="en-US" sz="1200" b="0" i="0" kern="1200">
                              <a:solidFill>
                                <a:schemeClr val="tx1"/>
                              </a:solidFill>
                              <a:latin typeface="+mn-lt"/>
                              <a:ea typeface="+mn-ea"/>
                              <a:cs typeface="+mn-cs"/>
                            </a:rPr>
                            <m:t>−3.40</m:t>
                          </m:r>
                        </m:sup>
                      </m:sSup>
                      <m:r>
                        <a:rPr lang="en-US" sz="1200" b="0" i="0" kern="1200">
                          <a:solidFill>
                            <a:schemeClr val="tx1"/>
                          </a:solidFill>
                          <a:latin typeface="+mn-lt"/>
                          <a:ea typeface="+mn-ea"/>
                          <a:cs typeface="+mn-cs"/>
                        </a:rPr>
                        <m:t>≈</m:t>
                      </m:r>
                      <m:f>
                        <m:fPr>
                          <m:ctrlPr>
                            <a:rPr lang="en-US" sz="1200" b="0" i="0" kern="1200">
                              <a:solidFill>
                                <a:schemeClr val="tx1"/>
                              </a:solidFill>
                              <a:latin typeface="+mn-lt"/>
                              <a:ea typeface="+mn-ea"/>
                              <a:cs typeface="+mn-cs"/>
                            </a:rPr>
                          </m:ctrlPr>
                        </m:fPr>
                        <m:num>
                          <m:r>
                            <a:rPr lang="en-US" sz="1200" b="0" i="0" kern="1200">
                              <a:solidFill>
                                <a:schemeClr val="tx1"/>
                              </a:solidFill>
                              <a:latin typeface="+mn-lt"/>
                              <a:ea typeface="+mn-ea"/>
                              <a:cs typeface="+mn-cs"/>
                            </a:rPr>
                            <m:t>1</m:t>
                          </m:r>
                        </m:num>
                        <m:den>
                          <m:r>
                            <a:rPr lang="en-US" sz="1200" b="0" i="0" kern="1200">
                              <a:solidFill>
                                <a:schemeClr val="tx1"/>
                              </a:solidFill>
                              <a:latin typeface="+mn-lt"/>
                              <a:ea typeface="+mn-ea"/>
                              <a:cs typeface="+mn-cs"/>
                            </a:rPr>
                            <m:t>2,512</m:t>
                          </m:r>
                        </m:den>
                      </m:f>
                    </m:oMath>
                  </m:oMathPara>
                </a14:m>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Then ask:</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"You just summed six numbers. What did you assume?"</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Target: </a:t>
                </a:r>
                <a:r>
                  <a:rPr lang="en-US" sz="1200" b="1" i="0" kern="1200" dirty="0">
                    <a:solidFill>
                      <a:schemeClr val="tx1"/>
                    </a:solidFill>
                    <a:effectLst/>
                    <a:latin typeface="+mn-lt"/>
                    <a:ea typeface="+mn-ea"/>
                    <a:cs typeface="+mn-cs"/>
                  </a:rPr>
                  <a:t>additivity — no interactions.</a:t>
                </a:r>
                <a:r>
                  <a:rPr lang="en-US" sz="1200" b="0" i="0" kern="1200" dirty="0">
                    <a:solidFill>
                      <a:schemeClr val="tx1"/>
                    </a:solidFill>
                    <a:effectLst/>
                    <a:latin typeface="+mn-lt"/>
                    <a:ea typeface="+mn-ea"/>
                    <a:cs typeface="+mn-cs"/>
                  </a:rPr>
                  <a:t> Flag it, hold it for Segment F. This plants the critique before you deliver it.</a:t>
                </a: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p:txBody>
          </p:sp>
        </mc:Choice>
        <mc:Fallback>
          <p:sp>
            <p:nvSpPr>
              <p:cNvPr id="3" name="Notes Placeholder 2">
                <a:extLst>
                  <a:ext uri="{FF2B5EF4-FFF2-40B4-BE49-F238E27FC236}">
                    <a16:creationId xmlns:a16="http://schemas.microsoft.com/office/drawing/2014/main" id="{001763C4-5CB7-BE14-0327-548879C1FE9E}"/>
                  </a:ext>
                </a:extLst>
              </p:cNvPr>
              <p:cNvSpPr>
                <a:spLocks noGrp="1"/>
              </p:cNvSpPr>
              <p:nvPr>
                <p:ph type="body" idx="1"/>
              </p:nvPr>
            </p:nvSpPr>
            <p:spPr/>
            <p:txBody>
              <a:bodyPr/>
              <a:lstStyle/>
              <a:p>
                <a:pPr marL="0" lvl="0" indent="0">
                  <a:buFont typeface="Arial" panose="020B0604020202020204" pitchFamily="34" charset="0"/>
                  <a:buNone/>
                </a:pPr>
                <a:r>
                  <a:rPr lang="en-US" b="1" dirty="0"/>
                  <a:t>Score Compatibility</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Why this is clever:</a:t>
                </a:r>
                <a:r>
                  <a:rPr lang="en-US" sz="1200" b="0" i="0" kern="1200" dirty="0">
                    <a:solidFill>
                      <a:schemeClr val="tx1"/>
                    </a:solidFill>
                    <a:effectLst/>
                    <a:latin typeface="+mn-lt"/>
                    <a:ea typeface="+mn-ea"/>
                    <a:cs typeface="+mn-cs"/>
                  </a:rPr>
                  <a:t> the output is no longer an arbitrary similarity — it is </a:t>
                </a:r>
                <a:r>
                  <a:rPr lang="en-US" sz="1200" b="0" i="1" kern="1200" dirty="0">
                    <a:solidFill>
                      <a:schemeClr val="tx1"/>
                    </a:solidFill>
                    <a:effectLst/>
                    <a:latin typeface="+mn-lt"/>
                    <a:ea typeface="+mn-ea"/>
                    <a:cs typeface="+mn-cs"/>
                  </a:rPr>
                  <a:t>an interpretable operational quantity</a:t>
                </a:r>
                <a:r>
                  <a:rPr lang="en-US" sz="1200" b="0" i="0" kern="1200" dirty="0">
                    <a:solidFill>
                      <a:schemeClr val="tx1"/>
                    </a:solidFill>
                    <a:effectLst/>
                    <a:latin typeface="+mn-lt"/>
                    <a:ea typeface="+mn-ea"/>
                    <a:cs typeface="+mn-cs"/>
                  </a:rPr>
                  <a:t>. A score of −6 means one in a million.</a:t>
                </a:r>
              </a:p>
              <a:p>
                <a:pPr marL="171450" lvl="0" indent="-171450">
                  <a:buFont typeface="Arial" panose="020B0604020202020204" pitchFamily="34" charset="0"/>
                  <a:buChar char="•"/>
                </a:pPr>
                <a:endParaRPr lang="en-US" sz="1200" b="1" i="0" kern="1200" dirty="0">
                  <a:solidFill>
                    <a:schemeClr val="tx1"/>
                  </a:solidFill>
                  <a:effectLst/>
                  <a:latin typeface="+mn-lt"/>
                  <a:ea typeface="+mn-ea"/>
                  <a:cs typeface="+mn-cs"/>
                </a:endParaRPr>
              </a:p>
              <a:p>
                <a:pPr marL="0" lvl="0" indent="0">
                  <a:buFont typeface="Arial" panose="020B0604020202020204" pitchFamily="34" charset="0"/>
                  <a:buNone/>
                </a:pPr>
                <a:r>
                  <a:rPr lang="en-US" sz="1200" b="1" i="0" kern="1200" dirty="0">
                    <a:solidFill>
                      <a:schemeClr val="tx1"/>
                    </a:solidFill>
                    <a:effectLst/>
                    <a:latin typeface="+mn-lt"/>
                    <a:ea typeface="+mn-ea"/>
                    <a:cs typeface="+mn-cs"/>
                  </a:rPr>
                  <a:t>Fixed TAR</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Question: </a:t>
                </a:r>
                <a:r>
                  <a:rPr lang="en-US" sz="1200" b="0" i="0" kern="1200" dirty="0">
                    <a:solidFill>
                      <a:schemeClr val="tx1"/>
                    </a:solidFill>
                    <a:effectLst/>
                    <a:latin typeface="+mn-lt"/>
                    <a:ea typeface="+mn-ea"/>
                    <a:cs typeface="+mn-cs"/>
                  </a:rPr>
                  <a:t>Why model the mean genuine score instead of directly modeling TAR?</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Answer</a:t>
                </a:r>
                <a:r>
                  <a:rPr lang="en-US" sz="1200" b="0" i="0" kern="1200" dirty="0">
                    <a:solidFill>
                      <a:schemeClr val="tx1"/>
                    </a:solidFill>
                    <a:effectLst/>
                    <a:latin typeface="+mn-lt"/>
                    <a:ea typeface="+mn-ea"/>
                    <a:cs typeface="+mn-cs"/>
                  </a:rPr>
                  <a:t>: linearity. A linear model on </a:t>
                </a:r>
                <a:r>
                  <a:rPr lang="en-US" sz="1200" i="0" kern="1200">
                    <a:solidFill>
                      <a:schemeClr val="tx1"/>
                    </a:solidFill>
                    <a:latin typeface="+mn-lt"/>
                    <a:ea typeface="+mn-ea"/>
                    <a:cs typeface="+mn-cs"/>
                  </a:rPr>
                  <a:t>log_10 (</a:t>
                </a:r>
                <a:r>
                  <a:rPr lang="en-US" sz="1200" b="0" i="0" kern="1200">
                    <a:solidFill>
                      <a:schemeClr val="tx1"/>
                    </a:solidFill>
                    <a:latin typeface="+mn-lt"/>
                    <a:ea typeface="+mn-ea"/>
                    <a:cs typeface="+mn-cs"/>
                  </a:rPr>
                  <a:t>"FAR" )</a:t>
                </a:r>
                <a:r>
                  <a:rPr lang="en-US" sz="1200" b="0" i="0" kern="1200" dirty="0">
                    <a:solidFill>
                      <a:schemeClr val="tx1"/>
                    </a:solidFill>
                    <a:effectLst/>
                    <a:latin typeface="+mn-lt"/>
                    <a:ea typeface="+mn-ea"/>
                    <a:cs typeface="+mn-cs"/>
                  </a:rPr>
                  <a:t> gives additive coefficients in orders of magnitude — coefficients you can literally sum (Eq. 4). Logistic TAR models don't give you that.</a:t>
                </a:r>
              </a:p>
              <a:p>
                <a:pPr marL="171450" lvl="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r>
                  <a:rPr lang="en-US" sz="1200" b="1" i="0" kern="1200" dirty="0">
                    <a:solidFill>
                      <a:schemeClr val="tx1"/>
                    </a:solidFill>
                    <a:effectLst/>
                    <a:latin typeface="+mn-lt"/>
                    <a:ea typeface="+mn-ea"/>
                    <a:cs typeface="+mn-cs"/>
                  </a:rPr>
                  <a:t>Exercise:</a:t>
                </a:r>
              </a:p>
              <a:p>
                <a:pPr marL="171450" lvl="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Body-configured camera (+0.74),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head height 30–40 </a:t>
                </a:r>
                <a:r>
                  <a:rPr lang="en-US" sz="1200" b="0" i="0" kern="1200" dirty="0" err="1">
                    <a:solidFill>
                      <a:schemeClr val="tx1"/>
                    </a:solidFill>
                    <a:effectLst/>
                    <a:latin typeface="+mn-lt"/>
                    <a:ea typeface="+mn-ea"/>
                    <a:cs typeface="+mn-cs"/>
                  </a:rPr>
                  <a:t>px</a:t>
                </a:r>
                <a:r>
                  <a:rPr lang="en-US" sz="1200" b="0" i="0" kern="1200" dirty="0">
                    <a:solidFill>
                      <a:schemeClr val="tx1"/>
                    </a:solidFill>
                    <a:effectLst/>
                    <a:latin typeface="+mn-lt"/>
                    <a:ea typeface="+mn-ea"/>
                    <a:cs typeface="+mn-cs"/>
                  </a:rPr>
                  <a:t> (+1.32),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medium range (+0.95),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solar load &gt; 900 W/m² (+0.87),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gait available (−0.28).</a:t>
                </a:r>
              </a:p>
              <a:p>
                <a:r>
                  <a:rPr lang="en-US" sz="1200" b="0" i="0" kern="1200">
                    <a:solidFill>
                      <a:schemeClr val="tx1"/>
                    </a:solidFill>
                    <a:latin typeface="+mn-lt"/>
                    <a:ea typeface="+mn-ea"/>
                    <a:cs typeface="+mn-cs"/>
                  </a:rPr>
                  <a:t>〖"</a:t>
                </a:r>
                <a:r>
                  <a:rPr lang="en-US" b="0" i="0"/>
                  <a:t>FAR</a:t>
                </a:r>
                <a:r>
                  <a:rPr lang="en-US" sz="1200" b="0" i="0" kern="1200">
                    <a:solidFill>
                      <a:schemeClr val="tx1"/>
                    </a:solidFill>
                    <a:latin typeface="+mn-lt"/>
                    <a:ea typeface="+mn-ea"/>
                    <a:cs typeface="+mn-cs"/>
                  </a:rPr>
                  <a:t>" 〗_</a:t>
                </a:r>
                <a:r>
                  <a:rPr lang="en-US" b="0" i="0"/>
                  <a:t>𝑒𝑠𝑡</a:t>
                </a:r>
                <a:r>
                  <a:rPr lang="en-US" sz="1200" b="0" i="0" kern="1200">
                    <a:solidFill>
                      <a:schemeClr val="tx1"/>
                    </a:solidFill>
                    <a:latin typeface="+mn-lt"/>
                    <a:ea typeface="+mn-ea"/>
                    <a:cs typeface="+mn-cs"/>
                  </a:rPr>
                  <a:t>=10^(−7.003+0.74+1.32+0.95+0.87−0.28)=10^(−3.40)≈1/2,512</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Then ask:</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"You just summed six numbers. What did you assume?"</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Target: </a:t>
                </a:r>
                <a:r>
                  <a:rPr lang="en-US" sz="1200" b="1" i="0" kern="1200" dirty="0">
                    <a:solidFill>
                      <a:schemeClr val="tx1"/>
                    </a:solidFill>
                    <a:effectLst/>
                    <a:latin typeface="+mn-lt"/>
                    <a:ea typeface="+mn-ea"/>
                    <a:cs typeface="+mn-cs"/>
                  </a:rPr>
                  <a:t>additivity — no interactions.</a:t>
                </a:r>
                <a:r>
                  <a:rPr lang="en-US" sz="1200" b="0" i="0" kern="1200" dirty="0">
                    <a:solidFill>
                      <a:schemeClr val="tx1"/>
                    </a:solidFill>
                    <a:effectLst/>
                    <a:latin typeface="+mn-lt"/>
                    <a:ea typeface="+mn-ea"/>
                    <a:cs typeface="+mn-cs"/>
                  </a:rPr>
                  <a:t> Flag it, hold it for Segment F. This plants the critique before you deliver it.</a:t>
                </a: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p:txBody>
          </p:sp>
        </mc:Fallback>
      </mc:AlternateContent>
      <p:sp>
        <p:nvSpPr>
          <p:cNvPr id="4" name="Slide Number Placeholder 3">
            <a:extLst>
              <a:ext uri="{FF2B5EF4-FFF2-40B4-BE49-F238E27FC236}">
                <a16:creationId xmlns:a16="http://schemas.microsoft.com/office/drawing/2014/main" id="{10053A6D-293C-BC96-788D-AF80D22A77FE}"/>
              </a:ext>
            </a:extLst>
          </p:cNvPr>
          <p:cNvSpPr>
            <a:spLocks noGrp="1"/>
          </p:cNvSpPr>
          <p:nvPr>
            <p:ph type="sldNum" sz="quarter" idx="5"/>
          </p:nvPr>
        </p:nvSpPr>
        <p:spPr/>
        <p:txBody>
          <a:bodyPr/>
          <a:lstStyle/>
          <a:p>
            <a:fld id="{29E7BD1F-0023-244E-A8FD-1ADCC0FAE1A1}" type="slidenum">
              <a:rPr lang="en-US" smtClean="0"/>
              <a:t>27</a:t>
            </a:fld>
            <a:endParaRPr lang="en-US"/>
          </a:p>
        </p:txBody>
      </p:sp>
    </p:spTree>
    <p:extLst>
      <p:ext uri="{BB962C8B-B14F-4D97-AF65-F5344CB8AC3E}">
        <p14:creationId xmlns:p14="http://schemas.microsoft.com/office/powerpoint/2010/main" val="1980342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F3C01-D9A8-CB37-B621-0C31A6AD0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0140D9-B023-6C44-424E-0EA6CAFC89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FF086C-FFE8-B7DF-EA80-EE2C7AD3D6A0}"/>
              </a:ext>
            </a:extLst>
          </p:cNvPr>
          <p:cNvSpPr>
            <a:spLocks noGrp="1"/>
          </p:cNvSpPr>
          <p:nvPr>
            <p:ph type="body" idx="1"/>
          </p:nvPr>
        </p:nvSpPr>
        <p:spPr/>
        <p:txBody>
          <a:bodyPr/>
          <a:lstStyle/>
          <a:p>
            <a:pPr marL="0" lvl="0" indent="0">
              <a:buFont typeface="Arial" panose="020B0604020202020204" pitchFamily="34" charset="0"/>
              <a:buNone/>
            </a:pPr>
            <a:r>
              <a:rPr lang="en-US" sz="1200" b="0" i="0" kern="1200" dirty="0">
                <a:solidFill>
                  <a:schemeClr val="tx1"/>
                </a:solidFill>
                <a:effectLst/>
                <a:latin typeface="+mn-lt"/>
                <a:ea typeface="+mn-ea"/>
                <a:cs typeface="+mn-cs"/>
              </a:rPr>
              <a:t>Failure is a </a:t>
            </a:r>
            <a:r>
              <a:rPr lang="en-US" sz="1200" b="1" i="0" kern="1200" dirty="0">
                <a:solidFill>
                  <a:schemeClr val="tx1"/>
                </a:solidFill>
                <a:effectLst/>
                <a:latin typeface="+mn-lt"/>
                <a:ea typeface="+mn-ea"/>
                <a:cs typeface="+mn-cs"/>
              </a:rPr>
              <a:t>distributional shift</a:t>
            </a:r>
            <a:r>
              <a:rPr lang="en-US" sz="1200" b="0" i="0" kern="1200" dirty="0">
                <a:solidFill>
                  <a:schemeClr val="tx1"/>
                </a:solidFill>
                <a:effectLst/>
                <a:latin typeface="+mn-lt"/>
                <a:ea typeface="+mn-ea"/>
                <a:cs typeface="+mn-cs"/>
              </a:rPr>
              <a:t>, not a fault. Nothing breaks. No exception is raised. The system slides down the ROC while emitting well-formed, confident scores.</a:t>
            </a:r>
          </a:p>
        </p:txBody>
      </p:sp>
      <p:sp>
        <p:nvSpPr>
          <p:cNvPr id="4" name="Slide Number Placeholder 3">
            <a:extLst>
              <a:ext uri="{FF2B5EF4-FFF2-40B4-BE49-F238E27FC236}">
                <a16:creationId xmlns:a16="http://schemas.microsoft.com/office/drawing/2014/main" id="{22C16704-DB15-4BF8-4D24-7A691A9A66B9}"/>
              </a:ext>
            </a:extLst>
          </p:cNvPr>
          <p:cNvSpPr>
            <a:spLocks noGrp="1"/>
          </p:cNvSpPr>
          <p:nvPr>
            <p:ph type="sldNum" sz="quarter" idx="5"/>
          </p:nvPr>
        </p:nvSpPr>
        <p:spPr/>
        <p:txBody>
          <a:bodyPr/>
          <a:lstStyle/>
          <a:p>
            <a:fld id="{29E7BD1F-0023-244E-A8FD-1ADCC0FAE1A1}" type="slidenum">
              <a:rPr lang="en-US" smtClean="0"/>
              <a:t>28</a:t>
            </a:fld>
            <a:endParaRPr lang="en-US"/>
          </a:p>
        </p:txBody>
      </p:sp>
    </p:spTree>
    <p:extLst>
      <p:ext uri="{BB962C8B-B14F-4D97-AF65-F5344CB8AC3E}">
        <p14:creationId xmlns:p14="http://schemas.microsoft.com/office/powerpoint/2010/main" val="38858273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7D9DA-3135-2A25-BFFB-C6A4A73C9B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E1D58-CDD5-AD85-6A71-8538CA976C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5140AC-6D18-9AEE-F1F7-036585B40925}"/>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Discussion (5 min) — do not resolve quickly:</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"Tuesday we argued that degradation makes different people's embeddings collapse toward a shared low-quality region. If that's true, what happens to the impostor distribution?”</a:t>
            </a:r>
            <a:br>
              <a:rPr lang="en-US" sz="1200" b="0" i="1"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1" i="0" u="none" kern="1200" dirty="0">
                <a:solidFill>
                  <a:schemeClr val="tx1"/>
                </a:solidFill>
                <a:effectLst/>
                <a:latin typeface="+mn-lt"/>
                <a:ea typeface="+mn-ea"/>
                <a:cs typeface="+mn-cs"/>
              </a:rPr>
              <a:t>Target reasoning</a:t>
            </a:r>
            <a:r>
              <a:rPr lang="en-US" sz="1200" b="0" i="0" kern="1200" dirty="0">
                <a:solidFill>
                  <a:schemeClr val="tx1"/>
                </a:solidFill>
                <a:effectLst/>
                <a:latin typeface="+mn-lt"/>
                <a:ea typeface="+mn-ea"/>
                <a:cs typeface="+mn-cs"/>
              </a:rPr>
              <a:t>: it should shift </a:t>
            </a:r>
            <a:r>
              <a:rPr lang="en-US" sz="1200" b="1" i="0" kern="1200" dirty="0">
                <a:solidFill>
                  <a:schemeClr val="tx1"/>
                </a:solidFill>
                <a:effectLst/>
                <a:latin typeface="+mn-lt"/>
                <a:ea typeface="+mn-ea"/>
                <a:cs typeface="+mn-cs"/>
              </a:rPr>
              <a:t>upward</a:t>
            </a:r>
            <a:r>
              <a:rPr lang="en-US" sz="1200" b="0" i="0" kern="1200" dirty="0">
                <a:solidFill>
                  <a:schemeClr val="tx1"/>
                </a:solidFill>
                <a:effectLst/>
                <a:latin typeface="+mn-lt"/>
                <a:ea typeface="+mn-ea"/>
                <a:cs typeface="+mn-cs"/>
              </a:rPr>
              <a:t> — degraded probes of different people become more similar </a:t>
            </a:r>
            <a:r>
              <a:rPr lang="en-US" sz="1200" b="0" i="1" kern="1200" dirty="0">
                <a:solidFill>
                  <a:schemeClr val="tx1"/>
                </a:solidFill>
                <a:effectLst/>
                <a:latin typeface="+mn-lt"/>
                <a:ea typeface="+mn-ea"/>
                <a:cs typeface="+mn-cs"/>
              </a:rPr>
              <a:t>because they are both degraded</a:t>
            </a:r>
            <a:r>
              <a:rPr lang="en-US" sz="1200" b="0" i="0" kern="1200" dirty="0">
                <a:solidFill>
                  <a:schemeClr val="tx1"/>
                </a:solidFill>
                <a:effectLst/>
                <a:latin typeface="+mn-lt"/>
                <a:ea typeface="+mn-ea"/>
                <a:cs typeface="+mn-cs"/>
              </a:rPr>
              <a:t>. If so, both distributions move toward each other, and the paper models only one of them.</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Push further: </a:t>
            </a:r>
            <a:r>
              <a:rPr lang="en-US" sz="1200" b="1" i="0" kern="1200" dirty="0">
                <a:solidFill>
                  <a:schemeClr val="tx1"/>
                </a:solidFill>
                <a:effectLst/>
                <a:latin typeface="+mn-lt"/>
                <a:ea typeface="+mn-ea"/>
                <a:cs typeface="+mn-cs"/>
              </a:rPr>
              <a:t>which direction does this bias the results?</a:t>
            </a:r>
            <a:r>
              <a:rPr lang="en-US" sz="1200" b="0" i="0" kern="1200" dirty="0">
                <a:solidFill>
                  <a:schemeClr val="tx1"/>
                </a:solidFill>
                <a:effectLst/>
                <a:latin typeface="+mn-lt"/>
                <a:ea typeface="+mn-ea"/>
                <a:cs typeface="+mn-cs"/>
              </a:rPr>
              <a:t> If impostor scores also rise under degradation, the true FAR degradation is </a:t>
            </a:r>
            <a:r>
              <a:rPr lang="en-US" sz="1200" b="1" i="0" kern="1200" dirty="0">
                <a:solidFill>
                  <a:schemeClr val="tx1"/>
                </a:solidFill>
                <a:effectLst/>
                <a:latin typeface="+mn-lt"/>
                <a:ea typeface="+mn-ea"/>
                <a:cs typeface="+mn-cs"/>
              </a:rPr>
              <a:t>worse</a:t>
            </a:r>
            <a:r>
              <a:rPr lang="en-US" sz="1200" b="0" i="0" kern="1200" dirty="0">
                <a:solidFill>
                  <a:schemeClr val="tx1"/>
                </a:solidFill>
                <a:effectLst/>
                <a:latin typeface="+mn-lt"/>
                <a:ea typeface="+mn-ea"/>
                <a:cs typeface="+mn-cs"/>
              </a:rPr>
              <a:t> than Table 1 reports. The paper's estimates are plausibly </a:t>
            </a:r>
            <a:r>
              <a:rPr lang="en-US" sz="1200" b="1" i="0" kern="1200" dirty="0">
                <a:solidFill>
                  <a:schemeClr val="tx1"/>
                </a:solidFill>
                <a:effectLst/>
                <a:latin typeface="+mn-lt"/>
                <a:ea typeface="+mn-ea"/>
                <a:cs typeface="+mn-cs"/>
              </a:rPr>
              <a:t>conservative</a:t>
            </a:r>
            <a:r>
              <a:rPr lang="en-US" sz="1200" b="0" i="0" kern="1200" dirty="0">
                <a:solidFill>
                  <a:schemeClr val="tx1"/>
                </a:solidFill>
                <a:effectLst/>
                <a:latin typeface="+mn-lt"/>
                <a:ea typeface="+mn-ea"/>
                <a:cs typeface="+mn-cs"/>
              </a:rPr>
              <a:t> — its headline four-orders-of-magnitude claim may be a lower bound.</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Counter-argument to solicit:</a:t>
            </a:r>
            <a:r>
              <a:rPr lang="en-US" sz="1200" b="0" i="0" kern="1200" dirty="0">
                <a:solidFill>
                  <a:schemeClr val="tx1"/>
                </a:solidFill>
                <a:effectLst/>
                <a:latin typeface="+mn-lt"/>
                <a:ea typeface="+mn-ea"/>
                <a:cs typeface="+mn-cs"/>
              </a:rPr>
              <a:t> Is the assumption defensible? The normalization is fit </a:t>
            </a:r>
            <a:r>
              <a:rPr lang="en-US" sz="1200" b="0" i="1" kern="1200" dirty="0">
                <a:solidFill>
                  <a:schemeClr val="tx1"/>
                </a:solidFill>
                <a:effectLst/>
                <a:latin typeface="+mn-lt"/>
                <a:ea typeface="+mn-ea"/>
                <a:cs typeface="+mn-cs"/>
              </a:rPr>
              <a:t>per algorithm over the whole evaluation set</a:t>
            </a:r>
            <a:r>
              <a:rPr lang="en-US" sz="1200" b="0" i="0" kern="1200" dirty="0">
                <a:solidFill>
                  <a:schemeClr val="tx1"/>
                </a:solidFill>
                <a:effectLst/>
                <a:latin typeface="+mn-lt"/>
                <a:ea typeface="+mn-ea"/>
                <a:cs typeface="+mn-cs"/>
              </a:rPr>
              <a:t>, not per condition. Does that make it a modeling convenience rather than a physical claim? Who benefits from it being true?</a:t>
            </a:r>
          </a:p>
        </p:txBody>
      </p:sp>
      <p:sp>
        <p:nvSpPr>
          <p:cNvPr id="4" name="Slide Number Placeholder 3">
            <a:extLst>
              <a:ext uri="{FF2B5EF4-FFF2-40B4-BE49-F238E27FC236}">
                <a16:creationId xmlns:a16="http://schemas.microsoft.com/office/drawing/2014/main" id="{E410473A-20EE-75EC-4580-C5E11E7FE584}"/>
              </a:ext>
            </a:extLst>
          </p:cNvPr>
          <p:cNvSpPr>
            <a:spLocks noGrp="1"/>
          </p:cNvSpPr>
          <p:nvPr>
            <p:ph type="sldNum" sz="quarter" idx="5"/>
          </p:nvPr>
        </p:nvSpPr>
        <p:spPr/>
        <p:txBody>
          <a:bodyPr/>
          <a:lstStyle/>
          <a:p>
            <a:fld id="{29E7BD1F-0023-244E-A8FD-1ADCC0FAE1A1}" type="slidenum">
              <a:rPr lang="en-US" smtClean="0"/>
              <a:t>29</a:t>
            </a:fld>
            <a:endParaRPr lang="en-US"/>
          </a:p>
        </p:txBody>
      </p:sp>
    </p:spTree>
    <p:extLst>
      <p:ext uri="{BB962C8B-B14F-4D97-AF65-F5344CB8AC3E}">
        <p14:creationId xmlns:p14="http://schemas.microsoft.com/office/powerpoint/2010/main" val="32852426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A3014-EBD3-4054-A87A-5B3F86AC7B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7675B-4F64-1895-A4A6-6C6BB533137A}"/>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F36A74C1-4E67-1BE1-6D77-8BCC0EE9E4E9}"/>
                  </a:ext>
                </a:extLst>
              </p:cNvPr>
              <p:cNvSpPr>
                <a:spLocks noGrp="1"/>
              </p:cNvSpPr>
              <p:nvPr>
                <p:ph type="body" idx="1"/>
              </p:nvPr>
            </p:nvSpPr>
            <p:spPr/>
            <p:txBody>
              <a:bodyPr/>
              <a:lstStyle/>
              <a:p>
                <a:pPr marL="0" indent="0">
                  <a:buFont typeface="Arial" panose="020B0604020202020204" pitchFamily="34" charset="0"/>
                  <a:buNone/>
                </a:pPr>
                <a:r>
                  <a:rPr lang="en-US" sz="1200" b="1" i="0" kern="1200" dirty="0">
                    <a:solidFill>
                      <a:schemeClr val="tx1"/>
                    </a:solidFill>
                    <a:effectLst/>
                    <a:latin typeface="+mn-lt"/>
                    <a:ea typeface="+mn-ea"/>
                    <a:cs typeface="+mn-cs"/>
                  </a:rPr>
                  <a:t>Ask:</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"The most quotable number in this paper is the one the authors tell you is extrapolated. What should we actually cite?"</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Target</a:t>
                </a:r>
                <a:r>
                  <a:rPr lang="en-US" sz="1200" b="0" i="0" kern="1200" dirty="0">
                    <a:solidFill>
                      <a:schemeClr val="tx1"/>
                    </a:solidFill>
                    <a:effectLst/>
                    <a:latin typeface="+mn-lt"/>
                    <a:ea typeface="+mn-ea"/>
                    <a:cs typeface="+mn-cs"/>
                  </a:rPr>
                  <a:t>: the </a:t>
                </a:r>
                <a:r>
                  <a:rPr lang="en-US" sz="1200" b="1" i="0" kern="1200" dirty="0">
                    <a:solidFill>
                      <a:schemeClr val="tx1"/>
                    </a:solidFill>
                    <a:effectLst/>
                    <a:latin typeface="+mn-lt"/>
                    <a:ea typeface="+mn-ea"/>
                    <a:cs typeface="+mn-cs"/>
                  </a:rPr>
                  <a:t>deltas</a:t>
                </a:r>
                <a:r>
                  <a:rPr lang="en-US" sz="1200" b="0" i="0" kern="1200" dirty="0">
                    <a:solidFill>
                      <a:schemeClr val="tx1"/>
                    </a:solidFill>
                    <a:effectLst/>
                    <a:latin typeface="+mn-lt"/>
                    <a:ea typeface="+mn-ea"/>
                    <a:cs typeface="+mn-cs"/>
                  </a:rPr>
                  <a:t>, not the intercept.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Differences between coefficients are supported by data; the absolute baseline is an extrapolation. Note that Eq. (4)'s </a:t>
                </a:r>
                <a:r>
                  <a:rPr lang="en-US" sz="1200" b="0" i="1" kern="1200" dirty="0">
                    <a:solidFill>
                      <a:schemeClr val="tx1"/>
                    </a:solidFill>
                    <a:effectLst/>
                    <a:latin typeface="+mn-lt"/>
                    <a:ea typeface="+mn-ea"/>
                    <a:cs typeface="+mn-cs"/>
                  </a:rPr>
                  <a:t>endpoint</a:t>
                </a:r>
                <a:r>
                  <a:rPr lang="en-US" sz="1200" b="0" i="0" kern="1200" dirty="0">
                    <a:solidFill>
                      <a:schemeClr val="tx1"/>
                    </a:solidFill>
                    <a:effectLst/>
                    <a:latin typeface="+mn-lt"/>
                    <a:ea typeface="+mn-ea"/>
                    <a:cs typeface="+mn-cs"/>
                  </a:rPr>
                  <a:t> (</a:t>
                </a:r>
                <a14:m>
                  <m:oMath xmlns:m="http://schemas.openxmlformats.org/officeDocument/2006/math">
                    <m:r>
                      <a:rPr lang="en-US" sz="1200" kern="1200">
                        <a:solidFill>
                          <a:schemeClr val="tx1"/>
                        </a:solidFill>
                        <a:latin typeface="+mn-lt"/>
                        <a:ea typeface="+mn-ea"/>
                        <a:cs typeface="+mn-cs"/>
                      </a:rPr>
                      <m:t>1</m:t>
                    </m:r>
                    <m:r>
                      <a:rPr lang="en-US" sz="1200" i="0" kern="1200">
                        <a:solidFill>
                          <a:schemeClr val="tx1"/>
                        </a:solidFill>
                        <a:latin typeface="+mn-lt"/>
                        <a:ea typeface="+mn-ea"/>
                        <a:cs typeface="+mn-cs"/>
                      </a:rPr>
                      <m:t>/1,469</m:t>
                    </m:r>
                  </m:oMath>
                </a14:m>
                <a:r>
                  <a:rPr lang="en-US" sz="1200" b="0" i="0" kern="1200" dirty="0">
                    <a:solidFill>
                      <a:schemeClr val="tx1"/>
                    </a:solidFill>
                    <a:effectLst/>
                    <a:latin typeface="+mn-lt"/>
                    <a:ea typeface="+mn-ea"/>
                    <a:cs typeface="+mn-cs"/>
                  </a:rPr>
                  <a:t>) is well inside the calibrated range — it is the </a:t>
                </a:r>
                <a:r>
                  <a:rPr lang="en-US" sz="1200" b="0" i="1" kern="1200" dirty="0">
                    <a:solidFill>
                      <a:schemeClr val="tx1"/>
                    </a:solidFill>
                    <a:effectLst/>
                    <a:latin typeface="+mn-lt"/>
                    <a:ea typeface="+mn-ea"/>
                    <a:cs typeface="+mn-cs"/>
                  </a:rPr>
                  <a:t>starting</a:t>
                </a:r>
                <a:r>
                  <a:rPr lang="en-US" sz="1200" b="0" i="0" kern="1200" dirty="0">
                    <a:solidFill>
                      <a:schemeClr val="tx1"/>
                    </a:solidFill>
                    <a:effectLst/>
                    <a:latin typeface="+mn-lt"/>
                    <a:ea typeface="+mn-ea"/>
                    <a:cs typeface="+mn-cs"/>
                  </a:rPr>
                  <a:t> point that's shaky.</a:t>
                </a:r>
              </a:p>
            </p:txBody>
          </p:sp>
        </mc:Choice>
        <mc:Fallback>
          <p:sp>
            <p:nvSpPr>
              <p:cNvPr id="3" name="Notes Placeholder 2">
                <a:extLst>
                  <a:ext uri="{FF2B5EF4-FFF2-40B4-BE49-F238E27FC236}">
                    <a16:creationId xmlns:a16="http://schemas.microsoft.com/office/drawing/2014/main" id="{F36A74C1-4E67-1BE1-6D77-8BCC0EE9E4E9}"/>
                  </a:ext>
                </a:extLst>
              </p:cNvPr>
              <p:cNvSpPr>
                <a:spLocks noGrp="1"/>
              </p:cNvSpPr>
              <p:nvPr>
                <p:ph type="body" idx="1"/>
              </p:nvPr>
            </p:nvSpPr>
            <p:spPr/>
            <p:txBody>
              <a:bodyPr/>
              <a:lstStyle/>
              <a:p>
                <a:pPr marL="0" indent="0">
                  <a:buFont typeface="Arial" panose="020B0604020202020204" pitchFamily="34" charset="0"/>
                  <a:buNone/>
                </a:pPr>
                <a:r>
                  <a:rPr lang="en-US" sz="1200" b="1" i="0" kern="1200" dirty="0">
                    <a:solidFill>
                      <a:schemeClr val="tx1"/>
                    </a:solidFill>
                    <a:effectLst/>
                    <a:latin typeface="+mn-lt"/>
                    <a:ea typeface="+mn-ea"/>
                    <a:cs typeface="+mn-cs"/>
                  </a:rPr>
                  <a:t>Ask:</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"The most quotable number in this paper is the one the authors tell you is extrapolated. What should we actually cite?"</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Target</a:t>
                </a:r>
                <a:r>
                  <a:rPr lang="en-US" sz="1200" b="0" i="0" kern="1200" dirty="0">
                    <a:solidFill>
                      <a:schemeClr val="tx1"/>
                    </a:solidFill>
                    <a:effectLst/>
                    <a:latin typeface="+mn-lt"/>
                    <a:ea typeface="+mn-ea"/>
                    <a:cs typeface="+mn-cs"/>
                  </a:rPr>
                  <a:t>: the </a:t>
                </a:r>
                <a:r>
                  <a:rPr lang="en-US" sz="1200" b="1" i="0" kern="1200" dirty="0">
                    <a:solidFill>
                      <a:schemeClr val="tx1"/>
                    </a:solidFill>
                    <a:effectLst/>
                    <a:latin typeface="+mn-lt"/>
                    <a:ea typeface="+mn-ea"/>
                    <a:cs typeface="+mn-cs"/>
                  </a:rPr>
                  <a:t>deltas</a:t>
                </a:r>
                <a:r>
                  <a:rPr lang="en-US" sz="1200" b="0" i="0" kern="1200" dirty="0">
                    <a:solidFill>
                      <a:schemeClr val="tx1"/>
                    </a:solidFill>
                    <a:effectLst/>
                    <a:latin typeface="+mn-lt"/>
                    <a:ea typeface="+mn-ea"/>
                    <a:cs typeface="+mn-cs"/>
                  </a:rPr>
                  <a:t>, not the intercept.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Differences between coefficients are supported by data; the absolute baseline is an extrapolation. Note that Eq. (4)'s </a:t>
                </a:r>
                <a:r>
                  <a:rPr lang="en-US" sz="1200" b="0" i="1" kern="1200" dirty="0">
                    <a:solidFill>
                      <a:schemeClr val="tx1"/>
                    </a:solidFill>
                    <a:effectLst/>
                    <a:latin typeface="+mn-lt"/>
                    <a:ea typeface="+mn-ea"/>
                    <a:cs typeface="+mn-cs"/>
                  </a:rPr>
                  <a:t>endpoint</a:t>
                </a:r>
                <a:r>
                  <a:rPr lang="en-US" sz="1200" b="0" i="0" kern="1200" dirty="0">
                    <a:solidFill>
                      <a:schemeClr val="tx1"/>
                    </a:solidFill>
                    <a:effectLst/>
                    <a:latin typeface="+mn-lt"/>
                    <a:ea typeface="+mn-ea"/>
                    <a:cs typeface="+mn-cs"/>
                  </a:rPr>
                  <a:t> (</a:t>
                </a:r>
                <a:r>
                  <a:rPr lang="en-US" sz="1200" i="0" kern="1200">
                    <a:solidFill>
                      <a:schemeClr val="tx1"/>
                    </a:solidFill>
                    <a:latin typeface="+mn-lt"/>
                    <a:ea typeface="+mn-ea"/>
                    <a:cs typeface="+mn-cs"/>
                  </a:rPr>
                  <a:t>1/1,469</a:t>
                </a:r>
                <a:r>
                  <a:rPr lang="en-US" sz="1200" b="0" i="0" kern="1200" dirty="0">
                    <a:solidFill>
                      <a:schemeClr val="tx1"/>
                    </a:solidFill>
                    <a:effectLst/>
                    <a:latin typeface="+mn-lt"/>
                    <a:ea typeface="+mn-ea"/>
                    <a:cs typeface="+mn-cs"/>
                  </a:rPr>
                  <a:t>) is well inside the calibrated range — it is the </a:t>
                </a:r>
                <a:r>
                  <a:rPr lang="en-US" sz="1200" b="0" i="1" kern="1200" dirty="0">
                    <a:solidFill>
                      <a:schemeClr val="tx1"/>
                    </a:solidFill>
                    <a:effectLst/>
                    <a:latin typeface="+mn-lt"/>
                    <a:ea typeface="+mn-ea"/>
                    <a:cs typeface="+mn-cs"/>
                  </a:rPr>
                  <a:t>starting</a:t>
                </a:r>
                <a:r>
                  <a:rPr lang="en-US" sz="1200" b="0" i="0" kern="1200" dirty="0">
                    <a:solidFill>
                      <a:schemeClr val="tx1"/>
                    </a:solidFill>
                    <a:effectLst/>
                    <a:latin typeface="+mn-lt"/>
                    <a:ea typeface="+mn-ea"/>
                    <a:cs typeface="+mn-cs"/>
                  </a:rPr>
                  <a:t> point that's shaky.</a:t>
                </a:r>
              </a:p>
            </p:txBody>
          </p:sp>
        </mc:Fallback>
      </mc:AlternateContent>
      <p:sp>
        <p:nvSpPr>
          <p:cNvPr id="4" name="Slide Number Placeholder 3">
            <a:extLst>
              <a:ext uri="{FF2B5EF4-FFF2-40B4-BE49-F238E27FC236}">
                <a16:creationId xmlns:a16="http://schemas.microsoft.com/office/drawing/2014/main" id="{AEF38E34-82A2-356F-10E8-4B45582B5AC6}"/>
              </a:ext>
            </a:extLst>
          </p:cNvPr>
          <p:cNvSpPr>
            <a:spLocks noGrp="1"/>
          </p:cNvSpPr>
          <p:nvPr>
            <p:ph type="sldNum" sz="quarter" idx="5"/>
          </p:nvPr>
        </p:nvSpPr>
        <p:spPr/>
        <p:txBody>
          <a:bodyPr/>
          <a:lstStyle/>
          <a:p>
            <a:fld id="{29E7BD1F-0023-244E-A8FD-1ADCC0FAE1A1}" type="slidenum">
              <a:rPr lang="en-US" smtClean="0"/>
              <a:t>30</a:t>
            </a:fld>
            <a:endParaRPr lang="en-US"/>
          </a:p>
        </p:txBody>
      </p:sp>
    </p:spTree>
    <p:extLst>
      <p:ext uri="{BB962C8B-B14F-4D97-AF65-F5344CB8AC3E}">
        <p14:creationId xmlns:p14="http://schemas.microsoft.com/office/powerpoint/2010/main" val="33704709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86E4B-3A3B-F9D9-BED1-E0C8A0192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9247DC-47E5-7BDE-126F-C3B78F586D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355CA4-2C94-FC7B-585B-7E52246B6C0B}"/>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Discussion:</a:t>
            </a:r>
            <a:r>
              <a:rPr lang="en-US" sz="1200" b="0" i="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0" i="1" kern="1200" dirty="0">
                <a:solidFill>
                  <a:schemeClr val="tx1"/>
                </a:solidFill>
                <a:effectLst/>
                <a:latin typeface="+mn-lt"/>
                <a:ea typeface="+mn-ea"/>
                <a:cs typeface="+mn-cs"/>
              </a:rPr>
              <a:t>”Conditions outweigh algorithm choice by roughly 3×. </a:t>
            </a:r>
            <a:br>
              <a:rPr lang="en-US" sz="1200" b="0" i="1" kern="1200" dirty="0">
                <a:solidFill>
                  <a:schemeClr val="tx1"/>
                </a:solidFill>
                <a:effectLst/>
                <a:latin typeface="+mn-lt"/>
                <a:ea typeface="+mn-ea"/>
                <a:cs typeface="+mn-cs"/>
              </a:rPr>
            </a:br>
            <a:r>
              <a:rPr lang="en-US" sz="1200" b="0" i="1" kern="1200" dirty="0">
                <a:solidFill>
                  <a:schemeClr val="tx1"/>
                </a:solidFill>
                <a:effectLst/>
                <a:latin typeface="+mn-lt"/>
                <a:ea typeface="+mn-ea"/>
                <a:cs typeface="+mn-cs"/>
              </a:rPr>
              <a:t>What should that do to how this field spends its effort? And why doesn't it?"</a:t>
            </a:r>
            <a:r>
              <a:rPr lang="en-US" sz="1200" b="0" i="0" kern="1200" dirty="0">
                <a:solidFill>
                  <a:schemeClr val="tx1"/>
                </a:solidFill>
                <a:effectLst/>
                <a:latin typeface="+mn-lt"/>
                <a:ea typeface="+mn-ea"/>
                <a:cs typeface="+mn-cs"/>
              </a:rPr>
              <a:t> </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Connect to Week 6: leaderboard competition optimizes the smallest term in the equation. </a:t>
            </a:r>
          </a:p>
          <a:p>
            <a:pPr marL="17145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Note also that all five systems correlate strongly (Fig. 2, middle row) — </a:t>
            </a:r>
            <a:r>
              <a:rPr lang="en-US" sz="1200" b="1" i="0" kern="1200" dirty="0">
                <a:solidFill>
                  <a:schemeClr val="tx1"/>
                </a:solidFill>
                <a:effectLst/>
                <a:latin typeface="+mn-lt"/>
                <a:ea typeface="+mn-ea"/>
                <a:cs typeface="+mn-cs"/>
              </a:rPr>
              <a:t>they fail on the same probes</a:t>
            </a:r>
            <a:r>
              <a:rPr lang="en-US" sz="1200" b="0" i="0" kern="1200" dirty="0">
                <a:solidFill>
                  <a:schemeClr val="tx1"/>
                </a:solidFill>
                <a:effectLst/>
                <a:latin typeface="+mn-lt"/>
                <a:ea typeface="+mn-ea"/>
                <a:cs typeface="+mn-cs"/>
              </a:rPr>
              <a:t>, so </a:t>
            </a:r>
            <a:r>
              <a:rPr lang="en-US" sz="1200" b="0" i="0" kern="1200" dirty="0" err="1">
                <a:solidFill>
                  <a:schemeClr val="tx1"/>
                </a:solidFill>
                <a:effectLst/>
                <a:latin typeface="+mn-lt"/>
                <a:ea typeface="+mn-ea"/>
                <a:cs typeface="+mn-cs"/>
              </a:rPr>
              <a:t>ensembling</a:t>
            </a:r>
            <a:r>
              <a:rPr lang="en-US" sz="1200" b="0" i="0" kern="1200" dirty="0">
                <a:solidFill>
                  <a:schemeClr val="tx1"/>
                </a:solidFill>
                <a:effectLst/>
                <a:latin typeface="+mn-lt"/>
                <a:ea typeface="+mn-ea"/>
                <a:cs typeface="+mn-cs"/>
              </a:rPr>
              <a:t> won't rescue you either.</a:t>
            </a:r>
          </a:p>
        </p:txBody>
      </p:sp>
      <p:sp>
        <p:nvSpPr>
          <p:cNvPr id="4" name="Slide Number Placeholder 3">
            <a:extLst>
              <a:ext uri="{FF2B5EF4-FFF2-40B4-BE49-F238E27FC236}">
                <a16:creationId xmlns:a16="http://schemas.microsoft.com/office/drawing/2014/main" id="{CCA7408F-DDA4-50D6-F741-9130CD4C0846}"/>
              </a:ext>
            </a:extLst>
          </p:cNvPr>
          <p:cNvSpPr>
            <a:spLocks noGrp="1"/>
          </p:cNvSpPr>
          <p:nvPr>
            <p:ph type="sldNum" sz="quarter" idx="5"/>
          </p:nvPr>
        </p:nvSpPr>
        <p:spPr/>
        <p:txBody>
          <a:bodyPr/>
          <a:lstStyle/>
          <a:p>
            <a:fld id="{29E7BD1F-0023-244E-A8FD-1ADCC0FAE1A1}" type="slidenum">
              <a:rPr lang="en-US" smtClean="0"/>
              <a:t>31</a:t>
            </a:fld>
            <a:endParaRPr lang="en-US"/>
          </a:p>
        </p:txBody>
      </p:sp>
    </p:spTree>
    <p:extLst>
      <p:ext uri="{BB962C8B-B14F-4D97-AF65-F5344CB8AC3E}">
        <p14:creationId xmlns:p14="http://schemas.microsoft.com/office/powerpoint/2010/main" val="28288616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E6261-0C76-587D-9FFA-4A311437D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41D8F0-B136-C186-9546-D2509DA4D8A6}"/>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7AD9AE92-F1B4-7E12-82CC-EFA9CDDECC59}"/>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Ask:</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"Table 1 says long range costs +1.95. An effect of</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what</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Target: not of distance per se. Long-range cameras are </a:t>
                </a:r>
                <a:r>
                  <a:rPr lang="en-US" sz="1200" b="0" i="1" kern="1200" dirty="0">
                    <a:solidFill>
                      <a:schemeClr val="tx1"/>
                    </a:solidFill>
                    <a:effectLst/>
                    <a:latin typeface="+mn-lt"/>
                    <a:ea typeface="+mn-ea"/>
                    <a:cs typeface="+mn-cs"/>
                  </a:rPr>
                  <a:t>different cameras</a:t>
                </a:r>
                <a:r>
                  <a:rPr lang="en-US" sz="1200" b="0" i="0" kern="1200" dirty="0">
                    <a:solidFill>
                      <a:schemeClr val="tx1"/>
                    </a:solidFill>
                    <a:effectLst/>
                    <a:latin typeface="+mn-lt"/>
                    <a:ea typeface="+mn-ea"/>
                    <a:cs typeface="+mn-cs"/>
                  </a:rPr>
                  <a:t>, at </a:t>
                </a:r>
                <a:r>
                  <a:rPr lang="en-US" sz="1200" b="0" i="1" kern="1200" dirty="0">
                    <a:solidFill>
                      <a:schemeClr val="tx1"/>
                    </a:solidFill>
                    <a:effectLst/>
                    <a:latin typeface="+mn-lt"/>
                    <a:ea typeface="+mn-ea"/>
                    <a:cs typeface="+mn-cs"/>
                  </a:rPr>
                  <a:t>different sites</a:t>
                </a:r>
                <a:r>
                  <a:rPr lang="en-US" sz="1200" b="0" i="0" kern="1200" dirty="0">
                    <a:solidFill>
                      <a:schemeClr val="tx1"/>
                    </a:solidFill>
                    <a:effectLst/>
                    <a:latin typeface="+mn-lt"/>
                    <a:ea typeface="+mn-ea"/>
                    <a:cs typeface="+mn-cs"/>
                  </a:rPr>
                  <a:t>, shooting through </a:t>
                </a:r>
                <a:r>
                  <a:rPr lang="en-US" sz="1200" b="0" i="1" kern="1200" dirty="0">
                    <a:solidFill>
                      <a:schemeClr val="tx1"/>
                    </a:solidFill>
                    <a:effectLst/>
                    <a:latin typeface="+mn-lt"/>
                    <a:ea typeface="+mn-ea"/>
                    <a:cs typeface="+mn-cs"/>
                  </a:rPr>
                  <a:t>different atmosphere</a:t>
                </a:r>
                <a:r>
                  <a:rPr lang="en-US" sz="1200" b="0" i="0" kern="1200" dirty="0">
                    <a:solidFill>
                      <a:schemeClr val="tx1"/>
                    </a:solidFill>
                    <a:effectLst/>
                    <a:latin typeface="+mn-lt"/>
                    <a:ea typeface="+mn-ea"/>
                    <a:cs typeface="+mn-cs"/>
                  </a:rPr>
                  <a:t>. The coefficient prices a </a:t>
                </a:r>
                <a:r>
                  <a:rPr lang="en-US" sz="1200" b="1" i="0" kern="1200" dirty="0">
                    <a:solidFill>
                      <a:schemeClr val="tx1"/>
                    </a:solidFill>
                    <a:effectLst/>
                    <a:latin typeface="+mn-lt"/>
                    <a:ea typeface="+mn-ea"/>
                    <a:cs typeface="+mn-cs"/>
                  </a:rPr>
                  <a:t>bundle</a:t>
                </a:r>
                <a:r>
                  <a:rPr lang="en-US" sz="1200" b="0" i="0" kern="1200" dirty="0">
                    <a:solidFill>
                      <a:schemeClr val="tx1"/>
                    </a:solidFill>
                    <a:effectLst/>
                    <a:latin typeface="+mn-lt"/>
                    <a:ea typeface="+mn-ea"/>
                    <a:cs typeface="+mn-cs"/>
                  </a:rPr>
                  <a:t>. Tie back to Tuesday's </a:t>
                </a:r>
                <a14:m>
                  <m:oMath xmlns:m="http://schemas.openxmlformats.org/officeDocument/2006/math">
                    <m:sSub>
                      <m:sSubPr>
                        <m:ctrlPr>
                          <a:rPr lang="en-US" sz="1200" i="1" kern="1200">
                            <a:solidFill>
                              <a:schemeClr val="tx1"/>
                            </a:solidFill>
                            <a:latin typeface="+mn-lt"/>
                            <a:ea typeface="+mn-ea"/>
                            <a:cs typeface="+mn-cs"/>
                          </a:rPr>
                        </m:ctrlPr>
                      </m:sSubPr>
                      <m:e>
                        <m:r>
                          <a:rPr lang="en-US" sz="1200" i="1" kern="1200">
                            <a:solidFill>
                              <a:schemeClr val="tx1"/>
                            </a:solidFill>
                            <a:latin typeface="+mn-lt"/>
                            <a:ea typeface="+mn-ea"/>
                            <a:cs typeface="+mn-cs"/>
                          </a:rPr>
                          <m:t>ℎ</m:t>
                        </m:r>
                      </m:e>
                      <m:sub>
                        <m:r>
                          <a:rPr lang="en-US" sz="1200" i="1" kern="1200">
                            <a:solidFill>
                              <a:schemeClr val="tx1"/>
                            </a:solidFill>
                            <a:latin typeface="+mn-lt"/>
                            <a:ea typeface="+mn-ea"/>
                            <a:cs typeface="+mn-cs"/>
                          </a:rPr>
                          <m:t>𝑝𝑥</m:t>
                        </m:r>
                      </m:sub>
                    </m:sSub>
                    <m:r>
                      <a:rPr lang="en-US" sz="1200" i="0" kern="1200">
                        <a:solidFill>
                          <a:schemeClr val="tx1"/>
                        </a:solidFill>
                        <a:latin typeface="+mn-lt"/>
                        <a:ea typeface="+mn-ea"/>
                        <a:cs typeface="+mn-cs"/>
                      </a:rPr>
                      <m:t>=</m:t>
                    </m:r>
                    <m:r>
                      <a:rPr lang="en-US" sz="1200" i="1" kern="1200">
                        <a:solidFill>
                          <a:schemeClr val="tx1"/>
                        </a:solidFill>
                        <a:latin typeface="+mn-lt"/>
                        <a:ea typeface="+mn-ea"/>
                        <a:cs typeface="+mn-cs"/>
                      </a:rPr>
                      <m:t>𝐻𝑓</m:t>
                    </m:r>
                    <m:r>
                      <a:rPr lang="en-US" sz="1200" i="0" kern="1200">
                        <a:solidFill>
                          <a:schemeClr val="tx1"/>
                        </a:solidFill>
                        <a:latin typeface="+mn-lt"/>
                        <a:ea typeface="+mn-ea"/>
                        <a:cs typeface="+mn-cs"/>
                      </a:rPr>
                      <m:t>/</m:t>
                    </m:r>
                    <m:d>
                      <m:dPr>
                        <m:ctrlPr>
                          <a:rPr lang="en-US" sz="1200" i="1" kern="1200">
                            <a:solidFill>
                              <a:schemeClr val="tx1"/>
                            </a:solidFill>
                            <a:latin typeface="+mn-lt"/>
                            <a:ea typeface="+mn-ea"/>
                            <a:cs typeface="+mn-cs"/>
                          </a:rPr>
                        </m:ctrlPr>
                      </m:dPr>
                      <m:e>
                        <m:r>
                          <a:rPr lang="en-US" sz="1200" i="1" kern="1200">
                            <a:solidFill>
                              <a:schemeClr val="tx1"/>
                            </a:solidFill>
                            <a:latin typeface="+mn-lt"/>
                            <a:ea typeface="+mn-ea"/>
                            <a:cs typeface="+mn-cs"/>
                          </a:rPr>
                          <m:t>𝑅𝑝</m:t>
                        </m:r>
                      </m:e>
                    </m:d>
                  </m:oMath>
                </a14:m>
                <a:r>
                  <a:rPr lang="en-US" sz="1200" b="0" i="0" kern="1200" dirty="0">
                    <a:solidFill>
                      <a:schemeClr val="tx1"/>
                    </a:solidFill>
                    <a:effectLst/>
                    <a:latin typeface="+mn-lt"/>
                    <a:ea typeface="+mn-ea"/>
                    <a:cs typeface="+mn-cs"/>
                  </a:rPr>
                  <a:t>: range and resolution are mechanically coupled, so they cannot be cleanly separated even in principle.</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 The sharpest question of the session:</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"The paper says the camera is one of the main drivers of performance. Where is it in Table 1?"</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Target: </a:t>
                </a:r>
                <a:r>
                  <a:rPr lang="en-US" sz="1200" b="1" i="0" kern="1200" dirty="0">
                    <a:solidFill>
                      <a:schemeClr val="tx1"/>
                    </a:solidFill>
                    <a:effectLst/>
                    <a:latin typeface="+mn-lt"/>
                    <a:ea typeface="+mn-ea"/>
                    <a:cs typeface="+mn-cs"/>
                  </a:rPr>
                  <a:t>it isn't.</a:t>
                </a:r>
                <a:r>
                  <a:rPr lang="en-US" sz="1200" b="0" i="0" kern="1200" dirty="0">
                    <a:solidFill>
                      <a:schemeClr val="tx1"/>
                    </a:solidFill>
                    <a:effectLst/>
                    <a:latin typeface="+mn-lt"/>
                    <a:ea typeface="+mn-ea"/>
                    <a:cs typeface="+mn-cs"/>
                  </a:rPr>
                  <a:t> The largest effect was absorbed to make the others interpretable. Table 1 is a list of </a:t>
                </a:r>
                <a:r>
                  <a:rPr lang="en-US" sz="1200" b="1" i="0" kern="1200" dirty="0">
                    <a:solidFill>
                      <a:schemeClr val="tx1"/>
                    </a:solidFill>
                    <a:effectLst/>
                    <a:latin typeface="+mn-lt"/>
                    <a:ea typeface="+mn-ea"/>
                    <a:cs typeface="+mn-cs"/>
                  </a:rPr>
                  <a:t>secondary effects, conditional on having conditioned away the primary one.</a:t>
                </a:r>
                <a:r>
                  <a:rPr lang="en-US" sz="1200" b="0" i="0" kern="1200" dirty="0">
                    <a:solidFill>
                      <a:schemeClr val="tx1"/>
                    </a:solidFill>
                    <a:effectLst/>
                    <a:latin typeface="+mn-lt"/>
                    <a:ea typeface="+mn-ea"/>
                    <a:cs typeface="+mn-cs"/>
                  </a:rPr>
                  <a:t> That is a legitimate and standard move — but it means the table cannot be read as "here is what matters most."</a:t>
                </a:r>
              </a:p>
              <a:p>
                <a:endParaRPr lang="en-US" sz="1200" b="0" i="0" kern="1200" dirty="0">
                  <a:solidFill>
                    <a:schemeClr val="tx1"/>
                  </a:solidFill>
                  <a:effectLst/>
                  <a:latin typeface="+mn-lt"/>
                  <a:ea typeface="+mn-ea"/>
                  <a:cs typeface="+mn-cs"/>
                </a:endParaRPr>
              </a:p>
            </p:txBody>
          </p:sp>
        </mc:Choice>
        <mc:Fallback>
          <p:sp>
            <p:nvSpPr>
              <p:cNvPr id="3" name="Notes Placeholder 2">
                <a:extLst>
                  <a:ext uri="{FF2B5EF4-FFF2-40B4-BE49-F238E27FC236}">
                    <a16:creationId xmlns:a16="http://schemas.microsoft.com/office/drawing/2014/main" id="{7AD9AE92-F1B4-7E12-82CC-EFA9CDDECC59}"/>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Ask:</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"Table 1 says long range costs +1.95. An effect of</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what</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Target: not of distance per se. Long-range cameras are </a:t>
                </a:r>
                <a:r>
                  <a:rPr lang="en-US" sz="1200" b="0" i="1" kern="1200" dirty="0">
                    <a:solidFill>
                      <a:schemeClr val="tx1"/>
                    </a:solidFill>
                    <a:effectLst/>
                    <a:latin typeface="+mn-lt"/>
                    <a:ea typeface="+mn-ea"/>
                    <a:cs typeface="+mn-cs"/>
                  </a:rPr>
                  <a:t>different cameras</a:t>
                </a:r>
                <a:r>
                  <a:rPr lang="en-US" sz="1200" b="0" i="0" kern="1200" dirty="0">
                    <a:solidFill>
                      <a:schemeClr val="tx1"/>
                    </a:solidFill>
                    <a:effectLst/>
                    <a:latin typeface="+mn-lt"/>
                    <a:ea typeface="+mn-ea"/>
                    <a:cs typeface="+mn-cs"/>
                  </a:rPr>
                  <a:t>, at </a:t>
                </a:r>
                <a:r>
                  <a:rPr lang="en-US" sz="1200" b="0" i="1" kern="1200" dirty="0">
                    <a:solidFill>
                      <a:schemeClr val="tx1"/>
                    </a:solidFill>
                    <a:effectLst/>
                    <a:latin typeface="+mn-lt"/>
                    <a:ea typeface="+mn-ea"/>
                    <a:cs typeface="+mn-cs"/>
                  </a:rPr>
                  <a:t>different sites</a:t>
                </a:r>
                <a:r>
                  <a:rPr lang="en-US" sz="1200" b="0" i="0" kern="1200" dirty="0">
                    <a:solidFill>
                      <a:schemeClr val="tx1"/>
                    </a:solidFill>
                    <a:effectLst/>
                    <a:latin typeface="+mn-lt"/>
                    <a:ea typeface="+mn-ea"/>
                    <a:cs typeface="+mn-cs"/>
                  </a:rPr>
                  <a:t>, shooting through </a:t>
                </a:r>
                <a:r>
                  <a:rPr lang="en-US" sz="1200" b="0" i="1" kern="1200" dirty="0">
                    <a:solidFill>
                      <a:schemeClr val="tx1"/>
                    </a:solidFill>
                    <a:effectLst/>
                    <a:latin typeface="+mn-lt"/>
                    <a:ea typeface="+mn-ea"/>
                    <a:cs typeface="+mn-cs"/>
                  </a:rPr>
                  <a:t>different atmosphere</a:t>
                </a:r>
                <a:r>
                  <a:rPr lang="en-US" sz="1200" b="0" i="0" kern="1200" dirty="0">
                    <a:solidFill>
                      <a:schemeClr val="tx1"/>
                    </a:solidFill>
                    <a:effectLst/>
                    <a:latin typeface="+mn-lt"/>
                    <a:ea typeface="+mn-ea"/>
                    <a:cs typeface="+mn-cs"/>
                  </a:rPr>
                  <a:t>. The coefficient prices a </a:t>
                </a:r>
                <a:r>
                  <a:rPr lang="en-US" sz="1200" b="1" i="0" kern="1200" dirty="0">
                    <a:solidFill>
                      <a:schemeClr val="tx1"/>
                    </a:solidFill>
                    <a:effectLst/>
                    <a:latin typeface="+mn-lt"/>
                    <a:ea typeface="+mn-ea"/>
                    <a:cs typeface="+mn-cs"/>
                  </a:rPr>
                  <a:t>bundle</a:t>
                </a:r>
                <a:r>
                  <a:rPr lang="en-US" sz="1200" b="0" i="0" kern="1200" dirty="0">
                    <a:solidFill>
                      <a:schemeClr val="tx1"/>
                    </a:solidFill>
                    <a:effectLst/>
                    <a:latin typeface="+mn-lt"/>
                    <a:ea typeface="+mn-ea"/>
                    <a:cs typeface="+mn-cs"/>
                  </a:rPr>
                  <a:t>. Tie back to Tuesday's </a:t>
                </a:r>
                <a:r>
                  <a:rPr lang="en-US" sz="1200" i="0" kern="1200">
                    <a:solidFill>
                      <a:schemeClr val="tx1"/>
                    </a:solidFill>
                    <a:latin typeface="+mn-lt"/>
                    <a:ea typeface="+mn-ea"/>
                    <a:cs typeface="+mn-cs"/>
                  </a:rPr>
                  <a:t>ℎ_𝑝𝑥=𝐻𝑓/(𝑅𝑝)</a:t>
                </a:r>
                <a:r>
                  <a:rPr lang="en-US" sz="1200" b="0" i="0" kern="1200" dirty="0">
                    <a:solidFill>
                      <a:schemeClr val="tx1"/>
                    </a:solidFill>
                    <a:effectLst/>
                    <a:latin typeface="+mn-lt"/>
                    <a:ea typeface="+mn-ea"/>
                    <a:cs typeface="+mn-cs"/>
                  </a:rPr>
                  <a:t>: range and resolution are mechanically coupled, so they cannot be cleanly separated even in principle.</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 The sharpest question of the session:</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"The paper says the camera is one of the main drivers of performance. Where is it in Table 1?"</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Target: </a:t>
                </a:r>
                <a:r>
                  <a:rPr lang="en-US" sz="1200" b="1" i="0" kern="1200" dirty="0">
                    <a:solidFill>
                      <a:schemeClr val="tx1"/>
                    </a:solidFill>
                    <a:effectLst/>
                    <a:latin typeface="+mn-lt"/>
                    <a:ea typeface="+mn-ea"/>
                    <a:cs typeface="+mn-cs"/>
                  </a:rPr>
                  <a:t>it isn't.</a:t>
                </a:r>
                <a:r>
                  <a:rPr lang="en-US" sz="1200" b="0" i="0" kern="1200" dirty="0">
                    <a:solidFill>
                      <a:schemeClr val="tx1"/>
                    </a:solidFill>
                    <a:effectLst/>
                    <a:latin typeface="+mn-lt"/>
                    <a:ea typeface="+mn-ea"/>
                    <a:cs typeface="+mn-cs"/>
                  </a:rPr>
                  <a:t> The largest effect was absorbed to make the others interpretable. Table 1 is a list of </a:t>
                </a:r>
                <a:r>
                  <a:rPr lang="en-US" sz="1200" b="1" i="0" kern="1200" dirty="0">
                    <a:solidFill>
                      <a:schemeClr val="tx1"/>
                    </a:solidFill>
                    <a:effectLst/>
                    <a:latin typeface="+mn-lt"/>
                    <a:ea typeface="+mn-ea"/>
                    <a:cs typeface="+mn-cs"/>
                  </a:rPr>
                  <a:t>secondary effects, conditional on having conditioned away the primary one.</a:t>
                </a:r>
                <a:r>
                  <a:rPr lang="en-US" sz="1200" b="0" i="0" kern="1200" dirty="0">
                    <a:solidFill>
                      <a:schemeClr val="tx1"/>
                    </a:solidFill>
                    <a:effectLst/>
                    <a:latin typeface="+mn-lt"/>
                    <a:ea typeface="+mn-ea"/>
                    <a:cs typeface="+mn-cs"/>
                  </a:rPr>
                  <a:t> That is a legitimate and standard move — but it means the table cannot be read as "here is what matters most."</a:t>
                </a:r>
              </a:p>
              <a:p>
                <a:endParaRPr lang="en-US" sz="1200" b="0" i="0" kern="1200" dirty="0">
                  <a:solidFill>
                    <a:schemeClr val="tx1"/>
                  </a:solidFill>
                  <a:effectLst/>
                  <a:latin typeface="+mn-lt"/>
                  <a:ea typeface="+mn-ea"/>
                  <a:cs typeface="+mn-cs"/>
                </a:endParaRPr>
              </a:p>
            </p:txBody>
          </p:sp>
        </mc:Fallback>
      </mc:AlternateContent>
      <p:sp>
        <p:nvSpPr>
          <p:cNvPr id="4" name="Slide Number Placeholder 3">
            <a:extLst>
              <a:ext uri="{FF2B5EF4-FFF2-40B4-BE49-F238E27FC236}">
                <a16:creationId xmlns:a16="http://schemas.microsoft.com/office/drawing/2014/main" id="{8567CFA5-0D1A-E0BC-0290-8577DACC5851}"/>
              </a:ext>
            </a:extLst>
          </p:cNvPr>
          <p:cNvSpPr>
            <a:spLocks noGrp="1"/>
          </p:cNvSpPr>
          <p:nvPr>
            <p:ph type="sldNum" sz="quarter" idx="5"/>
          </p:nvPr>
        </p:nvSpPr>
        <p:spPr/>
        <p:txBody>
          <a:bodyPr/>
          <a:lstStyle/>
          <a:p>
            <a:fld id="{29E7BD1F-0023-244E-A8FD-1ADCC0FAE1A1}" type="slidenum">
              <a:rPr lang="en-US" smtClean="0"/>
              <a:t>32</a:t>
            </a:fld>
            <a:endParaRPr lang="en-US"/>
          </a:p>
        </p:txBody>
      </p:sp>
    </p:spTree>
    <p:extLst>
      <p:ext uri="{BB962C8B-B14F-4D97-AF65-F5344CB8AC3E}">
        <p14:creationId xmlns:p14="http://schemas.microsoft.com/office/powerpoint/2010/main" val="10281522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31538-3C80-E0C9-59AF-4CE79DA09F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27DB8B-4DAD-9755-CDA7-56C7928EA0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4A510D-C895-79DE-CFC1-13ECFE4D2352}"/>
              </a:ext>
            </a:extLst>
          </p:cNvPr>
          <p:cNvSpPr>
            <a:spLocks noGrp="1"/>
          </p:cNvSpPr>
          <p:nvPr>
            <p:ph type="body" idx="1"/>
          </p:nvPr>
        </p:nvSpPr>
        <p:spPr/>
        <p:txBody>
          <a:bodyPr/>
          <a:lstStyle/>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Face configuration = zoomed in = more pixels on head.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Body configuration = zoomed out = fewer. </a:t>
            </a:r>
          </a:p>
          <a:p>
            <a:pPr mar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indent="0">
              <a:buFont typeface="Arial" panose="020B0604020202020204" pitchFamily="34" charset="0"/>
              <a:buNone/>
            </a:pPr>
            <a:r>
              <a:rPr lang="en-US" sz="1200" b="0" i="0" kern="1200" dirty="0">
                <a:solidFill>
                  <a:schemeClr val="tx1"/>
                </a:solidFill>
                <a:effectLst/>
                <a:latin typeface="+mn-lt"/>
                <a:ea typeface="+mn-ea"/>
                <a:cs typeface="+mn-cs"/>
              </a:rPr>
              <a:t>Therefore, Modality Body (+0.74) and small head height are partially the </a:t>
            </a:r>
            <a:r>
              <a:rPr lang="en-US" sz="1200" b="0" i="1" kern="1200" dirty="0">
                <a:solidFill>
                  <a:schemeClr val="tx1"/>
                </a:solidFill>
                <a:effectLst/>
                <a:latin typeface="+mn-lt"/>
                <a:ea typeface="+mn-ea"/>
                <a:cs typeface="+mn-cs"/>
              </a:rPr>
              <a:t>same effect counted twice</a:t>
            </a:r>
            <a:r>
              <a:rPr lang="en-US" sz="1200" b="0" i="0" kern="1200" dirty="0">
                <a:solidFill>
                  <a:schemeClr val="tx1"/>
                </a:solidFill>
                <a:effectLst/>
                <a:latin typeface="+mn-lt"/>
                <a:ea typeface="+mn-ea"/>
                <a:cs typeface="+mn-cs"/>
              </a:rPr>
              <a:t>.</a:t>
            </a:r>
          </a:p>
          <a:p>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Discussion:</a:t>
            </a:r>
            <a:r>
              <a:rPr lang="en-US" sz="1200" b="0" i="0" kern="1200" dirty="0">
                <a:solidFill>
                  <a:schemeClr val="tx1"/>
                </a:solidFill>
                <a:effectLst/>
                <a:latin typeface="+mn-lt"/>
                <a:ea typeface="+mn-ea"/>
                <a:cs typeface="+mn-cs"/>
              </a:rPr>
              <a:t> Does summing +0.74 and +1.32 in the exercise double-count?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What would the correctly specified model look like?</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Ask:</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"Is dropping ~10% of probes for missing weather benign? Construct a mechanism where it isn't."</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Target: weather stations fail in extreme weather; remote long-range sites are less instrumented. If missingness correlates with </a:t>
            </a:r>
            <a:r>
              <a:rPr lang="en-US" sz="1200" b="0" i="1" kern="1200" dirty="0">
                <a:solidFill>
                  <a:schemeClr val="tx1"/>
                </a:solidFill>
                <a:effectLst/>
                <a:latin typeface="+mn-lt"/>
                <a:ea typeface="+mn-ea"/>
                <a:cs typeface="+mn-cs"/>
              </a:rPr>
              <a:t>severity</a:t>
            </a:r>
            <a:r>
              <a:rPr lang="en-US" sz="1200" b="0" i="0" kern="1200" dirty="0">
                <a:solidFill>
                  <a:schemeClr val="tx1"/>
                </a:solidFill>
                <a:effectLst/>
                <a:latin typeface="+mn-lt"/>
                <a:ea typeface="+mn-ea"/>
                <a:cs typeface="+mn-cs"/>
              </a:rPr>
              <a:t>, the hardest conditions are preferentially deleted — biasing weather coefficients </a:t>
            </a:r>
            <a:r>
              <a:rPr lang="en-US" sz="1200" b="1" i="0" kern="1200" dirty="0">
                <a:solidFill>
                  <a:schemeClr val="tx1"/>
                </a:solidFill>
                <a:effectLst/>
                <a:latin typeface="+mn-lt"/>
                <a:ea typeface="+mn-ea"/>
                <a:cs typeface="+mn-cs"/>
              </a:rPr>
              <a:t>toward zero</a:t>
            </a:r>
            <a:r>
              <a:rPr lang="en-US" sz="1200" b="0" i="0" kern="1200" dirty="0">
                <a:solidFill>
                  <a:schemeClr val="tx1"/>
                </a:solidFill>
                <a:effectLst/>
                <a:latin typeface="+mn-lt"/>
                <a:ea typeface="+mn-ea"/>
                <a:cs typeface="+mn-cs"/>
              </a:rPr>
              <a:t>. Which is exactly what the paper reports for weather.</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Recall the paper from Jonathon Phillips (NIST) — metadata completeness at scale is a research problem in itself, and this is what it costs downstream.</a:t>
            </a:r>
          </a:p>
        </p:txBody>
      </p:sp>
      <p:sp>
        <p:nvSpPr>
          <p:cNvPr id="4" name="Slide Number Placeholder 3">
            <a:extLst>
              <a:ext uri="{FF2B5EF4-FFF2-40B4-BE49-F238E27FC236}">
                <a16:creationId xmlns:a16="http://schemas.microsoft.com/office/drawing/2014/main" id="{11AFEE23-2F43-223E-34A1-9F129004B319}"/>
              </a:ext>
            </a:extLst>
          </p:cNvPr>
          <p:cNvSpPr>
            <a:spLocks noGrp="1"/>
          </p:cNvSpPr>
          <p:nvPr>
            <p:ph type="sldNum" sz="quarter" idx="5"/>
          </p:nvPr>
        </p:nvSpPr>
        <p:spPr/>
        <p:txBody>
          <a:bodyPr/>
          <a:lstStyle/>
          <a:p>
            <a:fld id="{29E7BD1F-0023-244E-A8FD-1ADCC0FAE1A1}" type="slidenum">
              <a:rPr lang="en-US" smtClean="0"/>
              <a:t>33</a:t>
            </a:fld>
            <a:endParaRPr lang="en-US"/>
          </a:p>
        </p:txBody>
      </p:sp>
    </p:spTree>
    <p:extLst>
      <p:ext uri="{BB962C8B-B14F-4D97-AF65-F5344CB8AC3E}">
        <p14:creationId xmlns:p14="http://schemas.microsoft.com/office/powerpoint/2010/main" val="23525449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BFCDC-4FAC-AABC-D509-DC5CEE29B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E0DB1E-F4B9-C32A-FE24-97099EA6C8A5}"/>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B88A44D4-EF0E-FA67-2EB6-698ADE8FB0E7}"/>
                  </a:ext>
                </a:extLst>
              </p:cNvPr>
              <p:cNvSpPr>
                <a:spLocks noGrp="1"/>
              </p:cNvSpPr>
              <p:nvPr>
                <p:ph type="body" idx="1"/>
              </p:nvPr>
            </p:nvSpPr>
            <p:spPr/>
            <p:txBody>
              <a:bodyPr/>
              <a:lstStyle/>
              <a:p>
                <a:pPr lvl="0"/>
                <a:r>
                  <a:rPr lang="en-US" dirty="0" err="1"/>
                  <a:t>Tubulence</a:t>
                </a:r>
                <a:r>
                  <a:rPr lang="en-US" dirty="0"/>
                  <a:t> Null:</a:t>
                </a:r>
              </a:p>
              <a:p>
                <a:pPr lvl="0"/>
                <a:endParaRPr lang="en-US" dirty="0"/>
              </a:p>
              <a:p>
                <a:r>
                  <a:rPr lang="en-US" sz="1200" b="0" i="0" kern="1200" dirty="0">
                    <a:solidFill>
                      <a:schemeClr val="tx1"/>
                    </a:solidFill>
                    <a:effectLst/>
                    <a:latin typeface="+mn-lt"/>
                    <a:ea typeface="+mn-ea"/>
                    <a:cs typeface="+mn-cs"/>
                  </a:rPr>
                  <a:t>Has Turbulence = True: </a:t>
                </a:r>
                <a:r>
                  <a:rPr lang="en-US" sz="1200" b="1" i="0" kern="1200" dirty="0">
                    <a:solidFill>
                      <a:schemeClr val="tx1"/>
                    </a:solidFill>
                    <a:effectLst/>
                    <a:latin typeface="+mn-lt"/>
                    <a:ea typeface="+mn-ea"/>
                    <a:cs typeface="+mn-cs"/>
                  </a:rPr>
                  <a:t>+0.06, p = 0.104.</a:t>
                </a:r>
                <a:r>
                  <a:rPr lang="en-US" sz="1200" b="0" i="0" kern="1200" dirty="0">
                    <a:solidFill>
                      <a:schemeClr val="tx1"/>
                    </a:solidFill>
                    <a:effectLst/>
                    <a:latin typeface="+mn-lt"/>
                    <a:ea typeface="+mn-ea"/>
                    <a:cs typeface="+mn-cs"/>
                  </a:rPr>
                  <a:t> A clean null for the phenomenon the program considers central.</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authors offer three explanations: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Algorithms genuinely mitigate it — temporal integration, "lucky" frames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It's already absorbed by distance and solar loading</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It couldn't be measured:</a:t>
                </a:r>
                <a:r>
                  <a:rPr lang="en-US" sz="1200" b="0" i="0" kern="1200" dirty="0">
                    <a:solidFill>
                      <a:schemeClr val="tx1"/>
                    </a:solidFill>
                    <a:effectLst/>
                    <a:latin typeface="+mn-lt"/>
                    <a:ea typeface="+mn-ea"/>
                    <a:cs typeface="+mn-cs"/>
                  </a:rPr>
                  <a:t> "we could only measure turbulence (</a:t>
                </a:r>
                <a14:m>
                  <m:oMath xmlns:m="http://schemas.openxmlformats.org/officeDocument/2006/math">
                    <m:sSubSup>
                      <m:sSubSupPr>
                        <m:ctrlPr>
                          <a:rPr lang="en-US" sz="1200" i="1" kern="1200">
                            <a:solidFill>
                              <a:schemeClr val="tx1"/>
                            </a:solidFill>
                            <a:latin typeface="+mn-lt"/>
                            <a:ea typeface="+mn-ea"/>
                            <a:cs typeface="+mn-cs"/>
                          </a:rPr>
                        </m:ctrlPr>
                      </m:sSubSupPr>
                      <m:e>
                        <m:r>
                          <a:rPr lang="en-US" sz="1200" i="1" kern="1200">
                            <a:solidFill>
                              <a:schemeClr val="tx1"/>
                            </a:solidFill>
                            <a:latin typeface="+mn-lt"/>
                            <a:ea typeface="+mn-ea"/>
                            <a:cs typeface="+mn-cs"/>
                          </a:rPr>
                          <m:t>𝐶</m:t>
                        </m:r>
                      </m:e>
                      <m:sub>
                        <m:r>
                          <a:rPr lang="en-US" sz="1200" i="1" kern="1200">
                            <a:solidFill>
                              <a:schemeClr val="tx1"/>
                            </a:solidFill>
                            <a:latin typeface="+mn-lt"/>
                            <a:ea typeface="+mn-ea"/>
                            <a:cs typeface="+mn-cs"/>
                          </a:rPr>
                          <m:t>𝑛</m:t>
                        </m:r>
                      </m:sub>
                      <m:sup>
                        <m:r>
                          <a:rPr lang="en-US" sz="1200" i="0" kern="1200">
                            <a:solidFill>
                              <a:schemeClr val="tx1"/>
                            </a:solidFill>
                            <a:latin typeface="+mn-lt"/>
                            <a:ea typeface="+mn-ea"/>
                            <a:cs typeface="+mn-cs"/>
                          </a:rPr>
                          <m:t>2</m:t>
                        </m:r>
                      </m:sup>
                    </m:sSubSup>
                  </m:oMath>
                </a14:m>
                <a:r>
                  <a:rPr lang="en-US" sz="1200" b="0" i="0" kern="1200" dirty="0">
                    <a:solidFill>
                      <a:schemeClr val="tx1"/>
                    </a:solidFill>
                    <a:effectLst/>
                    <a:latin typeface="+mn-lt"/>
                    <a:ea typeface="+mn-ea"/>
                    <a:cs typeface="+mn-cs"/>
                  </a:rPr>
                  <a:t>) for a small number of cameras which were placed near collection scintillometers. Consequently, </a:t>
                </a:r>
                <a:r>
                  <a:rPr lang="en-US" sz="1200" b="1" i="0" kern="1200" dirty="0">
                    <a:solidFill>
                      <a:schemeClr val="tx1"/>
                    </a:solidFill>
                    <a:effectLst/>
                    <a:latin typeface="+mn-lt"/>
                    <a:ea typeface="+mn-ea"/>
                    <a:cs typeface="+mn-cs"/>
                  </a:rPr>
                  <a:t>estimating turbulence for the majority of the cameras is infeasible.</a:t>
                </a:r>
                <a:r>
                  <a:rPr lang="en-US" sz="1200" b="0" i="0" kern="1200" dirty="0">
                    <a:solidFill>
                      <a:schemeClr val="tx1"/>
                    </a:solidFill>
                    <a:effectLst/>
                    <a:latin typeface="+mn-lt"/>
                    <a:ea typeface="+mn-ea"/>
                    <a:cs typeface="+mn-cs"/>
                  </a:rPr>
                  <a:t>”</a:t>
                </a:r>
              </a:p>
              <a:p>
                <a:pPr marL="171450" lvl="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r>
                  <a:rPr lang="en-US" sz="1200" b="0" i="0" kern="1200" dirty="0">
                    <a:solidFill>
                      <a:schemeClr val="tx1"/>
                    </a:solidFill>
                    <a:effectLst/>
                    <a:latin typeface="+mn-lt"/>
                    <a:ea typeface="+mn-ea"/>
                    <a:cs typeface="+mn-cs"/>
                  </a:rPr>
                  <a:t>Additivity by Assertion: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Although interactions may indeed play a significant role in this research, we have opted for a simpler model.”</a:t>
                </a:r>
              </a:p>
              <a:p>
                <a:pPr marL="0" lvl="0" indent="0">
                  <a:buFont typeface="Arial" panose="020B0604020202020204" pitchFamily="34" charset="0"/>
                  <a:buNone/>
                </a:pPr>
                <a:endParaRPr lang="en-US" sz="1200" b="1" i="0" kern="1200" dirty="0">
                  <a:solidFill>
                    <a:schemeClr val="tx1"/>
                  </a:solidFill>
                  <a:effectLst/>
                  <a:latin typeface="+mn-lt"/>
                  <a:ea typeface="+mn-ea"/>
                  <a:cs typeface="+mn-cs"/>
                </a:endParaRPr>
              </a:p>
              <a:p>
                <a:pPr marL="0" lvl="0" indent="0">
                  <a:buFont typeface="Arial" panose="020B0604020202020204" pitchFamily="34" charset="0"/>
                  <a:buNone/>
                </a:pPr>
                <a:r>
                  <a:rPr lang="en-US" sz="1200" b="1" i="0" kern="1200" dirty="0">
                    <a:solidFill>
                      <a:schemeClr val="tx1"/>
                    </a:solidFill>
                    <a:effectLst/>
                    <a:latin typeface="+mn-lt"/>
                    <a:ea typeface="+mn-ea"/>
                    <a:cs typeface="+mn-cs"/>
                  </a:rPr>
                  <a:t>Ask:</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"Name an interaction you'd expect to be strong. Which way would including it move the Eq. (4) estimate?"</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Candidates: head height × turbulence (turbulence should matter far more when you have few pixels to lose); solar load × modality; range × sensor. Most plausible interactions are </a:t>
                </a:r>
                <a:r>
                  <a:rPr lang="en-US" sz="1200" b="1" i="0" kern="1200" dirty="0">
                    <a:solidFill>
                      <a:schemeClr val="tx1"/>
                    </a:solidFill>
                    <a:effectLst/>
                    <a:latin typeface="+mn-lt"/>
                    <a:ea typeface="+mn-ea"/>
                    <a:cs typeface="+mn-cs"/>
                  </a:rPr>
                  <a:t>super-additive</a:t>
                </a:r>
                <a:r>
                  <a:rPr lang="en-US" sz="1200" b="0" i="0" kern="1200" dirty="0">
                    <a:solidFill>
                      <a:schemeClr val="tx1"/>
                    </a:solidFill>
                    <a:effectLst/>
                    <a:latin typeface="+mn-lt"/>
                    <a:ea typeface="+mn-ea"/>
                    <a:cs typeface="+mn-cs"/>
                  </a:rPr>
                  <a:t>, meaning Eq. (4) likely </a:t>
                </a:r>
                <a:r>
                  <a:rPr lang="en-US" sz="1200" b="0" i="1" kern="1200" dirty="0">
                    <a:solidFill>
                      <a:schemeClr val="tx1"/>
                    </a:solidFill>
                    <a:effectLst/>
                    <a:latin typeface="+mn-lt"/>
                    <a:ea typeface="+mn-ea"/>
                    <a:cs typeface="+mn-cs"/>
                  </a:rPr>
                  <a:t>understates</a:t>
                </a:r>
                <a:r>
                  <a:rPr lang="en-US" sz="1200" b="0" i="0" kern="1200" dirty="0">
                    <a:solidFill>
                      <a:schemeClr val="tx1"/>
                    </a:solidFill>
                    <a:effectLst/>
                    <a:latin typeface="+mn-lt"/>
                    <a:ea typeface="+mn-ea"/>
                    <a:cs typeface="+mn-cs"/>
                  </a:rPr>
                  <a:t> combined degradation.</a:t>
                </a: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r>
                  <a:rPr lang="en-US" sz="1200" b="0" i="0" kern="1200" dirty="0">
                    <a:solidFill>
                      <a:schemeClr val="tx1"/>
                    </a:solidFill>
                    <a:effectLst/>
                    <a:latin typeface="+mn-lt"/>
                    <a:ea typeface="+mn-ea"/>
                    <a:cs typeface="+mn-cs"/>
                  </a:rPr>
                  <a:t>Binning and UAV:</a:t>
                </a:r>
              </a:p>
              <a:p>
                <a:r>
                  <a:rPr lang="en-US" sz="1200" b="0" i="0" kern="1200" dirty="0">
                    <a:solidFill>
                      <a:schemeClr val="tx1"/>
                    </a:solidFill>
                    <a:effectLst/>
                    <a:latin typeface="+mn-lt"/>
                    <a:ea typeface="+mn-ea"/>
                    <a:cs typeface="+mn-cs"/>
                  </a:rPr>
                  <a:t>All continuous covariates were categorized (§5, p. 6) — within-bin information discarded. Worse, the UAV category:</a:t>
                </a:r>
              </a:p>
              <a:p>
                <a:r>
                  <a:rPr lang="en-US" sz="1200" b="0" i="0" kern="1200" dirty="0">
                    <a:solidFill>
                      <a:schemeClr val="tx1"/>
                    </a:solidFill>
                    <a:effectLst/>
                    <a:latin typeface="+mn-lt"/>
                    <a:ea typeface="+mn-ea"/>
                    <a:cs typeface="+mn-cs"/>
                  </a:rPr>
                  <a:t>"'UAV' mounted cameras exhibit significant variability. This likely results from the difference between small, modern HD and 4k quadcopters that typically fly at low altitude and within 100m of the subjects and larger systems that fly at longer distances and up to 1200 ft altitude, often with older or lower resolution payloads. </a:t>
                </a:r>
                <a:r>
                  <a:rPr lang="en-US" sz="1200" b="1" i="0" kern="1200" dirty="0">
                    <a:solidFill>
                      <a:schemeClr val="tx1"/>
                    </a:solidFill>
                    <a:effectLst/>
                    <a:latin typeface="+mn-lt"/>
                    <a:ea typeface="+mn-ea"/>
                    <a:cs typeface="+mn-cs"/>
                  </a:rPr>
                  <a:t>In this model, all of these are grouped into the same category.</a:t>
                </a:r>
                <a:r>
                  <a:rPr lang="en-US" sz="1200" b="0" i="0" kern="1200" dirty="0">
                    <a:solidFill>
                      <a:schemeClr val="tx1"/>
                    </a:solidFill>
                    <a:effectLst/>
                    <a:latin typeface="+mn-lt"/>
                    <a:ea typeface="+mn-ea"/>
                    <a:cs typeface="+mn-cs"/>
                  </a:rPr>
                  <a:t>" — §6, p. 7</a:t>
                </a:r>
              </a:p>
              <a:p>
                <a:r>
                  <a:rPr lang="en-US" sz="1200" b="0" i="0" kern="1200" dirty="0">
                    <a:solidFill>
                      <a:schemeClr val="tx1"/>
                    </a:solidFill>
                    <a:effectLst/>
                    <a:latin typeface="+mn-lt"/>
                    <a:ea typeface="+mn-ea"/>
                    <a:cs typeface="+mn-cs"/>
                  </a:rPr>
                  <a:t>Result: +1.00 with CI (−0.12, 2.12), p = 0.081 — </a:t>
                </a:r>
                <a:r>
                  <a:rPr lang="en-US" sz="1200" b="1" i="0" kern="1200" dirty="0">
                    <a:solidFill>
                      <a:schemeClr val="tx1"/>
                    </a:solidFill>
                    <a:effectLst/>
                    <a:latin typeface="+mn-lt"/>
                    <a:ea typeface="+mn-ea"/>
                    <a:cs typeface="+mn-cs"/>
                  </a:rPr>
                  <a:t>not significant</a:t>
                </a:r>
                <a:r>
                  <a:rPr lang="en-US" sz="1200" b="0" i="0" kern="1200" dirty="0">
                    <a:solidFill>
                      <a:schemeClr val="tx1"/>
                    </a:solidFill>
                    <a:effectLst/>
                    <a:latin typeface="+mn-lt"/>
                    <a:ea typeface="+mn-ea"/>
                    <a:cs typeface="+mn-cs"/>
                  </a:rPr>
                  <a:t>, and operationally the most interesting category in the paper.</a:t>
                </a: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a:p>
                <a:r>
                  <a:rPr lang="en-US" b="1" dirty="0"/>
                  <a:t>More Details on the </a:t>
                </a:r>
                <a:r>
                  <a:rPr lang="en-US" b="1" dirty="0" err="1"/>
                  <a:t>Tubulence</a:t>
                </a:r>
                <a:r>
                  <a:rPr lang="en-US" b="1" dirty="0"/>
                  <a:t> Null</a:t>
                </a:r>
                <a:br>
                  <a:rPr lang="en-US" b="1" dirty="0"/>
                </a:br>
                <a:br>
                  <a:rPr lang="en-US" b="1" dirty="0"/>
                </a:br>
                <a:r>
                  <a:rPr lang="en-US" sz="1200" b="0" i="0" kern="1200" dirty="0">
                    <a:solidFill>
                      <a:schemeClr val="tx1"/>
                    </a:solidFill>
                    <a:effectLst/>
                    <a:latin typeface="+mn-lt"/>
                    <a:ea typeface="+mn-ea"/>
                    <a:cs typeface="+mn-cs"/>
                  </a:rPr>
                  <a:t>The short version: the paper didn't find that turbulence doesn't matter. It found that </a:t>
                </a:r>
                <a:r>
                  <a:rPr lang="en-US" sz="1200" b="1" i="0" kern="1200" dirty="0">
                    <a:solidFill>
                      <a:schemeClr val="tx1"/>
                    </a:solidFill>
                    <a:effectLst/>
                    <a:latin typeface="+mn-lt"/>
                    <a:ea typeface="+mn-ea"/>
                    <a:cs typeface="+mn-cs"/>
                  </a:rPr>
                  <a:t>a binary flag called "Has Turbulence" doesn't predict much</a:t>
                </a:r>
                <a:r>
                  <a:rPr lang="en-US" sz="1200" b="0" i="0" kern="1200" dirty="0">
                    <a:solidFill>
                      <a:schemeClr val="tx1"/>
                    </a:solidFill>
                    <a:effectLst/>
                    <a:latin typeface="+mn-lt"/>
                    <a:ea typeface="+mn-ea"/>
                    <a:cs typeface="+mn-cs"/>
                  </a:rPr>
                  <a:t> — and those are very different claims. Almost everything interesting is in the gap between them.</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What the number actually says</a:t>
                </a:r>
              </a:p>
              <a:p>
                <a:r>
                  <a:rPr lang="en-US" sz="1200" b="0" i="0" kern="1200" dirty="0">
                    <a:solidFill>
                      <a:schemeClr val="tx1"/>
                    </a:solidFill>
                    <a:effectLst/>
                    <a:latin typeface="+mn-lt"/>
                    <a:ea typeface="+mn-ea"/>
                    <a:cs typeface="+mn-cs"/>
                  </a:rPr>
                  <a:t>Has Turb. True: </a:t>
                </a:r>
                <a:r>
                  <a:rPr lang="en-US" sz="1200" b="1" i="0" kern="1200" dirty="0">
                    <a:solidFill>
                      <a:schemeClr val="tx1"/>
                    </a:solidFill>
                    <a:effectLst/>
                    <a:latin typeface="+mn-lt"/>
                    <a:ea typeface="+mn-ea"/>
                    <a:cs typeface="+mn-cs"/>
                  </a:rPr>
                  <a:t>+0.06, CI (−0.01, 0.13), p = 0.104</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Taken at face value, </a:t>
                </a:r>
                <a14:m>
                  <m:oMath xmlns:m="http://schemas.openxmlformats.org/officeDocument/2006/math">
                    <m:sSup>
                      <m:sSupPr>
                        <m:ctrlPr>
                          <a:rPr lang="en-US" sz="1200" kern="1200">
                            <a:solidFill>
                              <a:schemeClr val="tx1"/>
                            </a:solidFill>
                            <a:latin typeface="+mn-lt"/>
                            <a:ea typeface="+mn-ea"/>
                            <a:cs typeface="+mn-cs"/>
                          </a:rPr>
                        </m:ctrlPr>
                      </m:sSupPr>
                      <m:e>
                        <m:r>
                          <a:rPr lang="en-US" sz="1200" kern="1200">
                            <a:solidFill>
                              <a:schemeClr val="tx1"/>
                            </a:solidFill>
                            <a:latin typeface="+mn-lt"/>
                            <a:ea typeface="+mn-ea"/>
                            <a:cs typeface="+mn-cs"/>
                          </a:rPr>
                          <m:t>10</m:t>
                        </m:r>
                      </m:e>
                      <m:sup>
                        <m:r>
                          <a:rPr lang="en-US" sz="1200" i="0" kern="1200">
                            <a:solidFill>
                              <a:schemeClr val="tx1"/>
                            </a:solidFill>
                            <a:latin typeface="+mn-lt"/>
                            <a:ea typeface="+mn-ea"/>
                            <a:cs typeface="+mn-cs"/>
                          </a:rPr>
                          <m:t>0.06</m:t>
                        </m:r>
                      </m:sup>
                    </m:sSup>
                    <m:r>
                      <a:rPr lang="en-US" sz="1200" i="0" kern="1200">
                        <a:solidFill>
                          <a:schemeClr val="tx1"/>
                        </a:solidFill>
                        <a:latin typeface="+mn-lt"/>
                        <a:ea typeface="+mn-ea"/>
                        <a:cs typeface="+mn-cs"/>
                      </a:rPr>
                      <m:t>≈1.15</m:t>
                    </m:r>
                  </m:oMath>
                </a14:m>
                <a:r>
                  <a:rPr lang="en-US" sz="1200" b="0" i="0" kern="1200" dirty="0">
                    <a:solidFill>
                      <a:schemeClr val="tx1"/>
                    </a:solidFill>
                    <a:effectLst/>
                    <a:latin typeface="+mn-lt"/>
                    <a:ea typeface="+mn-ea"/>
                    <a:cs typeface="+mn-cs"/>
                  </a:rPr>
                  <a:t> — a 15% increase in FAR. Against head height &lt; 30 </a:t>
                </a:r>
                <a:r>
                  <a:rPr lang="en-US" sz="1200" b="0" i="0" kern="1200" dirty="0" err="1">
                    <a:solidFill>
                      <a:schemeClr val="tx1"/>
                    </a:solidFill>
                    <a:effectLst/>
                    <a:latin typeface="+mn-lt"/>
                    <a:ea typeface="+mn-ea"/>
                    <a:cs typeface="+mn-cs"/>
                  </a:rPr>
                  <a:t>px</a:t>
                </a:r>
                <a:r>
                  <a:rPr lang="en-US" sz="1200" b="0" i="0" kern="1200" dirty="0">
                    <a:solidFill>
                      <a:schemeClr val="tx1"/>
                    </a:solidFill>
                    <a:effectLst/>
                    <a:latin typeface="+mn-lt"/>
                    <a:ea typeface="+mn-ea"/>
                    <a:cs typeface="+mn-cs"/>
                  </a:rPr>
                  <a:t> at </a:t>
                </a:r>
                <a14:m>
                  <m:oMath xmlns:m="http://schemas.openxmlformats.org/officeDocument/2006/math">
                    <m:sSup>
                      <m:sSupPr>
                        <m:ctrlPr>
                          <a:rPr lang="en-US" sz="1200" kern="1200">
                            <a:solidFill>
                              <a:schemeClr val="tx1"/>
                            </a:solidFill>
                            <a:latin typeface="+mn-lt"/>
                            <a:ea typeface="+mn-ea"/>
                            <a:cs typeface="+mn-cs"/>
                          </a:rPr>
                        </m:ctrlPr>
                      </m:sSupPr>
                      <m:e>
                        <m:r>
                          <a:rPr lang="en-US" sz="1200" kern="1200">
                            <a:solidFill>
                              <a:schemeClr val="tx1"/>
                            </a:solidFill>
                            <a:latin typeface="+mn-lt"/>
                            <a:ea typeface="+mn-ea"/>
                            <a:cs typeface="+mn-cs"/>
                          </a:rPr>
                          <m:t>10</m:t>
                        </m:r>
                      </m:e>
                      <m:sup>
                        <m:r>
                          <a:rPr lang="en-US" sz="1200" i="0" kern="1200">
                            <a:solidFill>
                              <a:schemeClr val="tx1"/>
                            </a:solidFill>
                            <a:latin typeface="+mn-lt"/>
                            <a:ea typeface="+mn-ea"/>
                            <a:cs typeface="+mn-cs"/>
                          </a:rPr>
                          <m:t>1.88</m:t>
                        </m:r>
                      </m:sup>
                    </m:sSup>
                    <m:r>
                      <a:rPr lang="en-US" sz="1200" i="0" kern="1200">
                        <a:solidFill>
                          <a:schemeClr val="tx1"/>
                        </a:solidFill>
                        <a:latin typeface="+mn-lt"/>
                        <a:ea typeface="+mn-ea"/>
                        <a:cs typeface="+mn-cs"/>
                      </a:rPr>
                      <m:t>≈76×</m:t>
                    </m:r>
                  </m:oMath>
                </a14:m>
                <a:r>
                  <a:rPr lang="en-US" sz="1200" b="0" i="0" kern="1200" dirty="0">
                    <a:solidFill>
                      <a:schemeClr val="tx1"/>
                    </a:solidFill>
                    <a:effectLst/>
                    <a:latin typeface="+mn-lt"/>
                    <a:ea typeface="+mn-ea"/>
                    <a:cs typeface="+mn-cs"/>
                  </a:rPr>
                  <a:t>, it's nothing.</a:t>
                </a:r>
              </a:p>
              <a:p>
                <a:r>
                  <a:rPr lang="en-US" sz="1200" b="0" i="0" kern="1200" dirty="0">
                    <a:solidFill>
                      <a:schemeClr val="tx1"/>
                    </a:solidFill>
                    <a:effectLst/>
                    <a:latin typeface="+mn-lt"/>
                    <a:ea typeface="+mn-ea"/>
                    <a:cs typeface="+mn-cs"/>
                  </a:rPr>
                  <a:t>Note the CI is </a:t>
                </a:r>
                <a:r>
                  <a:rPr lang="en-US" sz="1200" b="0" i="1" kern="1200" dirty="0">
                    <a:solidFill>
                      <a:schemeClr val="tx1"/>
                    </a:solidFill>
                    <a:effectLst/>
                    <a:latin typeface="+mn-lt"/>
                    <a:ea typeface="+mn-ea"/>
                    <a:cs typeface="+mn-cs"/>
                  </a:rPr>
                  <a:t>narrow</a:t>
                </a:r>
                <a:r>
                  <a:rPr lang="en-US" sz="1200" b="0" i="0" kern="1200" dirty="0">
                    <a:solidFill>
                      <a:schemeClr val="tx1"/>
                    </a:solidFill>
                    <a:effectLst/>
                    <a:latin typeface="+mn-lt"/>
                    <a:ea typeface="+mn-ea"/>
                    <a:cs typeface="+mn-cs"/>
                  </a:rPr>
                  <a:t> — width 0.14, versus UAV's (−0.12, 2.12). So this isn't a low-power null where the effect could be anywhere. It's a </a:t>
                </a:r>
                <a:r>
                  <a:rPr lang="en-US" sz="1200" b="1" i="0" kern="1200" dirty="0">
                    <a:solidFill>
                      <a:schemeClr val="tx1"/>
                    </a:solidFill>
                    <a:effectLst/>
                    <a:latin typeface="+mn-lt"/>
                    <a:ea typeface="+mn-ea"/>
                    <a:cs typeface="+mn-cs"/>
                  </a:rPr>
                  <a:t>precisely estimated near-zero</a:t>
                </a:r>
                <a:r>
                  <a:rPr lang="en-US" sz="1200" b="0" i="0" kern="1200" dirty="0">
                    <a:solidFill>
                      <a:schemeClr val="tx1"/>
                    </a:solidFill>
                    <a:effectLst/>
                    <a:latin typeface="+mn-lt"/>
                    <a:ea typeface="+mn-ea"/>
                    <a:cs typeface="+mn-cs"/>
                  </a:rPr>
                  <a:t>. That matters, because it rules out the easy dismissal ("not enough data") and forces you to argue about construct validity instead: is the flag measuring turbulence?</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Four reasons it probably isn’t</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1. Exposure misclassification, and it's one-directional.</a:t>
                </a:r>
                <a:r>
                  <a:rPr lang="en-US" sz="1200" b="0" i="0" kern="1200" dirty="0">
                    <a:solidFill>
                      <a:schemeClr val="tx1"/>
                    </a:solidFill>
                    <a:effectLst/>
                    <a:latin typeface="+mn-lt"/>
                    <a:ea typeface="+mn-ea"/>
                    <a:cs typeface="+mn-cs"/>
                  </a:rPr>
                  <a:t> </a:t>
                </a:r>
                <a14:m>
                  <m:oMath xmlns:m="http://schemas.openxmlformats.org/officeDocument/2006/math">
                    <m:sSubSup>
                      <m:sSubSupPr>
                        <m:ctrlPr>
                          <a:rPr lang="en-US" sz="1200" i="1" kern="1200">
                            <a:solidFill>
                              <a:schemeClr val="tx1"/>
                            </a:solidFill>
                            <a:latin typeface="+mn-lt"/>
                            <a:ea typeface="+mn-ea"/>
                            <a:cs typeface="+mn-cs"/>
                          </a:rPr>
                        </m:ctrlPr>
                      </m:sSubSupPr>
                      <m:e>
                        <m:r>
                          <a:rPr lang="en-US" sz="1200" i="1" kern="1200">
                            <a:solidFill>
                              <a:schemeClr val="tx1"/>
                            </a:solidFill>
                            <a:latin typeface="+mn-lt"/>
                            <a:ea typeface="+mn-ea"/>
                            <a:cs typeface="+mn-cs"/>
                          </a:rPr>
                          <m:t>𝐶</m:t>
                        </m:r>
                      </m:e>
                      <m:sub>
                        <m:r>
                          <a:rPr lang="en-US" sz="1200" i="1" kern="1200">
                            <a:solidFill>
                              <a:schemeClr val="tx1"/>
                            </a:solidFill>
                            <a:latin typeface="+mn-lt"/>
                            <a:ea typeface="+mn-ea"/>
                            <a:cs typeface="+mn-cs"/>
                          </a:rPr>
                          <m:t>𝑛</m:t>
                        </m:r>
                      </m:sub>
                      <m:sup>
                        <m:r>
                          <a:rPr lang="en-US" sz="1200" i="0" kern="1200">
                            <a:solidFill>
                              <a:schemeClr val="tx1"/>
                            </a:solidFill>
                            <a:latin typeface="+mn-lt"/>
                            <a:ea typeface="+mn-ea"/>
                            <a:cs typeface="+mn-cs"/>
                          </a:rPr>
                          <m:t>2</m:t>
                        </m:r>
                      </m:sup>
                    </m:sSubSup>
                  </m:oMath>
                </a14:m>
                <a:r>
                  <a:rPr lang="en-US" sz="1200" b="0" i="0" kern="1200" dirty="0">
                    <a:solidFill>
                      <a:schemeClr val="tx1"/>
                    </a:solidFill>
                    <a:effectLst/>
                    <a:latin typeface="+mn-lt"/>
                    <a:ea typeface="+mn-ea"/>
                    <a:cs typeface="+mn-cs"/>
                  </a:rPr>
                  <a:t> was measured only for cameras near scintillometers. Every other camera gets "False" by default — so the False group is a mixture of </a:t>
                </a:r>
                <a:r>
                  <a:rPr lang="en-US" sz="1200" b="0" i="1" kern="1200" dirty="0">
                    <a:solidFill>
                      <a:schemeClr val="tx1"/>
                    </a:solidFill>
                    <a:effectLst/>
                    <a:latin typeface="+mn-lt"/>
                    <a:ea typeface="+mn-ea"/>
                    <a:cs typeface="+mn-cs"/>
                  </a:rPr>
                  <a:t>genuinely calm</a:t>
                </a:r>
                <a:r>
                  <a:rPr lang="en-US" sz="1200" b="0" i="0" kern="1200" dirty="0">
                    <a:solidFill>
                      <a:schemeClr val="tx1"/>
                    </a:solidFill>
                    <a:effectLst/>
                    <a:latin typeface="+mn-lt"/>
                    <a:ea typeface="+mn-ea"/>
                    <a:cs typeface="+mn-cs"/>
                  </a:rPr>
                  <a:t> and </a:t>
                </a:r>
                <a:r>
                  <a:rPr lang="en-US" sz="1200" b="0" i="1" kern="1200" dirty="0">
                    <a:solidFill>
                      <a:schemeClr val="tx1"/>
                    </a:solidFill>
                    <a:effectLst/>
                    <a:latin typeface="+mn-lt"/>
                    <a:ea typeface="+mn-ea"/>
                    <a:cs typeface="+mn-cs"/>
                  </a:rPr>
                  <a:t>turbulent but </a:t>
                </a:r>
                <a:r>
                  <a:rPr lang="en-US" sz="1200" b="0" i="1" kern="1200" dirty="0" err="1">
                    <a:solidFill>
                      <a:schemeClr val="tx1"/>
                    </a:solidFill>
                    <a:effectLst/>
                    <a:latin typeface="+mn-lt"/>
                    <a:ea typeface="+mn-ea"/>
                    <a:cs typeface="+mn-cs"/>
                  </a:rPr>
                  <a:t>uninstrumented</a:t>
                </a:r>
                <a:r>
                  <a:rPr lang="en-US" sz="1200" b="0" i="0" kern="1200" dirty="0">
                    <a:solidFill>
                      <a:schemeClr val="tx1"/>
                    </a:solidFill>
                    <a:effectLst/>
                    <a:latin typeface="+mn-lt"/>
                    <a:ea typeface="+mn-ea"/>
                    <a:cs typeface="+mn-cs"/>
                  </a:rPr>
                  <a:t>. This is non-differential misclassification of the exposure variable, and its effect is textbook: it </a:t>
                </a:r>
                <a:r>
                  <a:rPr lang="en-US" sz="1200" b="1" i="0" kern="1200" dirty="0">
                    <a:solidFill>
                      <a:schemeClr val="tx1"/>
                    </a:solidFill>
                    <a:effectLst/>
                    <a:latin typeface="+mn-lt"/>
                    <a:ea typeface="+mn-ea"/>
                    <a:cs typeface="+mn-cs"/>
                  </a:rPr>
                  <a:t>attenuates the estimate toward zero</a:t>
                </a:r>
                <a:r>
                  <a:rPr lang="en-US" sz="1200" b="0" i="0" kern="1200" dirty="0">
                    <a:solidFill>
                      <a:schemeClr val="tx1"/>
                    </a:solidFill>
                    <a:effectLst/>
                    <a:latin typeface="+mn-lt"/>
                    <a:ea typeface="+mn-ea"/>
                    <a:cs typeface="+mn-cs"/>
                  </a:rPr>
                  <a:t>. If a fraction </a:t>
                </a:r>
                <a14:m>
                  <m:oMath xmlns:m="http://schemas.openxmlformats.org/officeDocument/2006/math">
                    <m:r>
                      <a:rPr lang="en-US" sz="1200" i="1" kern="1200">
                        <a:solidFill>
                          <a:schemeClr val="tx1"/>
                        </a:solidFill>
                        <a:latin typeface="+mn-lt"/>
                        <a:ea typeface="+mn-ea"/>
                        <a:cs typeface="+mn-cs"/>
                      </a:rPr>
                      <m:t>𝛼</m:t>
                    </m:r>
                  </m:oMath>
                </a14:m>
                <a:r>
                  <a:rPr lang="en-US" sz="1200" b="0" i="0" kern="1200" dirty="0">
                    <a:solidFill>
                      <a:schemeClr val="tx1"/>
                    </a:solidFill>
                    <a:effectLst/>
                    <a:latin typeface="+mn-lt"/>
                    <a:ea typeface="+mn-ea"/>
                    <a:cs typeface="+mn-cs"/>
                  </a:rPr>
                  <a:t> of truly-turbulent probes are labeled False, the observed contrast shrinks roughly by </a:t>
                </a:r>
                <a14:m>
                  <m:oMath xmlns:m="http://schemas.openxmlformats.org/officeDocument/2006/math">
                    <m:d>
                      <m:dPr>
                        <m:ctrlPr>
                          <a:rPr lang="en-US" sz="1200" i="0" kern="1200">
                            <a:solidFill>
                              <a:schemeClr val="tx1"/>
                            </a:solidFill>
                            <a:latin typeface="+mn-lt"/>
                            <a:ea typeface="+mn-ea"/>
                            <a:cs typeface="+mn-cs"/>
                          </a:rPr>
                        </m:ctrlPr>
                      </m:dPr>
                      <m:e>
                        <m:r>
                          <a:rPr lang="en-US" sz="1200" i="0" kern="1200">
                            <a:solidFill>
                              <a:schemeClr val="tx1"/>
                            </a:solidFill>
                            <a:latin typeface="+mn-lt"/>
                            <a:ea typeface="+mn-ea"/>
                            <a:cs typeface="+mn-cs"/>
                          </a:rPr>
                          <m:t>1−</m:t>
                        </m:r>
                        <m:r>
                          <a:rPr lang="en-US" sz="1200" i="1" kern="1200">
                            <a:solidFill>
                              <a:schemeClr val="tx1"/>
                            </a:solidFill>
                            <a:latin typeface="+mn-lt"/>
                            <a:ea typeface="+mn-ea"/>
                            <a:cs typeface="+mn-cs"/>
                          </a:rPr>
                          <m:t>𝛼</m:t>
                        </m:r>
                      </m:e>
                    </m:d>
                  </m:oMath>
                </a14:m>
                <a:r>
                  <a:rPr lang="en-US" sz="1200" b="0" i="0" kern="1200" dirty="0">
                    <a:solidFill>
                      <a:schemeClr val="tx1"/>
                    </a:solidFill>
                    <a:effectLst/>
                    <a:latin typeface="+mn-lt"/>
                    <a:ea typeface="+mn-ea"/>
                    <a:cs typeface="+mn-cs"/>
                  </a:rPr>
                  <a:t> relative to the truth. The direction of the bias is known even when its size isn’t.</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2. Binarizing a quantity with orders-of-magnitude dynamic range.</a:t>
                </a:r>
                <a:r>
                  <a:rPr lang="en-US" sz="1200" b="0" i="0" kern="1200" dirty="0">
                    <a:solidFill>
                      <a:schemeClr val="tx1"/>
                    </a:solidFill>
                    <a:effectLst/>
                    <a:latin typeface="+mn-lt"/>
                    <a:ea typeface="+mn-ea"/>
                    <a:cs typeface="+mn-cs"/>
                  </a:rPr>
                  <a:t> </a:t>
                </a:r>
                <a14:m>
                  <m:oMath xmlns:m="http://schemas.openxmlformats.org/officeDocument/2006/math">
                    <m:sSubSup>
                      <m:sSubSupPr>
                        <m:ctrlPr>
                          <a:rPr lang="en-US" sz="1200" i="1" kern="1200">
                            <a:solidFill>
                              <a:schemeClr val="tx1"/>
                            </a:solidFill>
                            <a:latin typeface="+mn-lt"/>
                            <a:ea typeface="+mn-ea"/>
                            <a:cs typeface="+mn-cs"/>
                          </a:rPr>
                        </m:ctrlPr>
                      </m:sSubSupPr>
                      <m:e>
                        <m:r>
                          <a:rPr lang="en-US" sz="1200" i="1" kern="1200">
                            <a:solidFill>
                              <a:schemeClr val="tx1"/>
                            </a:solidFill>
                            <a:latin typeface="+mn-lt"/>
                            <a:ea typeface="+mn-ea"/>
                            <a:cs typeface="+mn-cs"/>
                          </a:rPr>
                          <m:t>𝐶</m:t>
                        </m:r>
                      </m:e>
                      <m:sub>
                        <m:r>
                          <a:rPr lang="en-US" sz="1200" i="1" kern="1200">
                            <a:solidFill>
                              <a:schemeClr val="tx1"/>
                            </a:solidFill>
                            <a:latin typeface="+mn-lt"/>
                            <a:ea typeface="+mn-ea"/>
                            <a:cs typeface="+mn-cs"/>
                          </a:rPr>
                          <m:t>𝑛</m:t>
                        </m:r>
                      </m:sub>
                      <m:sup>
                        <m:r>
                          <a:rPr lang="en-US" sz="1200" i="0" kern="1200">
                            <a:solidFill>
                              <a:schemeClr val="tx1"/>
                            </a:solidFill>
                            <a:latin typeface="+mn-lt"/>
                            <a:ea typeface="+mn-ea"/>
                            <a:cs typeface="+mn-cs"/>
                          </a:rPr>
                          <m:t>2</m:t>
                        </m:r>
                      </m:sup>
                    </m:sSubSup>
                  </m:oMath>
                </a14:m>
                <a:r>
                  <a:rPr lang="en-US" sz="1200" b="0" i="0" kern="1200" dirty="0">
                    <a:solidFill>
                      <a:schemeClr val="tx1"/>
                    </a:solidFill>
                    <a:effectLst/>
                    <a:latin typeface="+mn-lt"/>
                    <a:ea typeface="+mn-ea"/>
                    <a:cs typeface="+mn-cs"/>
                  </a:rPr>
                  <a:t> spans roughly </a:t>
                </a:r>
                <a14:m>
                  <m:oMath xmlns:m="http://schemas.openxmlformats.org/officeDocument/2006/math">
                    <m:sSup>
                      <m:sSupPr>
                        <m:ctrlPr>
                          <a:rPr lang="en-US" sz="1200" kern="1200">
                            <a:solidFill>
                              <a:schemeClr val="tx1"/>
                            </a:solidFill>
                            <a:latin typeface="+mn-lt"/>
                            <a:ea typeface="+mn-ea"/>
                            <a:cs typeface="+mn-cs"/>
                          </a:rPr>
                        </m:ctrlPr>
                      </m:sSupPr>
                      <m:e>
                        <m:r>
                          <a:rPr lang="en-US" sz="1200" kern="1200">
                            <a:solidFill>
                              <a:schemeClr val="tx1"/>
                            </a:solidFill>
                            <a:latin typeface="+mn-lt"/>
                            <a:ea typeface="+mn-ea"/>
                            <a:cs typeface="+mn-cs"/>
                          </a:rPr>
                          <m:t>10</m:t>
                        </m:r>
                      </m:e>
                      <m:sup>
                        <m:r>
                          <a:rPr lang="en-US" sz="1200" i="0" kern="1200">
                            <a:solidFill>
                              <a:schemeClr val="tx1"/>
                            </a:solidFill>
                            <a:latin typeface="+mn-lt"/>
                            <a:ea typeface="+mn-ea"/>
                            <a:cs typeface="+mn-cs"/>
                          </a:rPr>
                          <m:t>−17</m:t>
                        </m:r>
                      </m:sup>
                    </m:sSup>
                  </m:oMath>
                </a14:m>
                <a:r>
                  <a:rPr lang="en-US" sz="1200" b="0" i="0" kern="1200" dirty="0">
                    <a:solidFill>
                      <a:schemeClr val="tx1"/>
                    </a:solidFill>
                    <a:effectLst/>
                    <a:latin typeface="+mn-lt"/>
                    <a:ea typeface="+mn-ea"/>
                    <a:cs typeface="+mn-cs"/>
                  </a:rPr>
                  <a:t> to </a:t>
                </a:r>
                <a14:m>
                  <m:oMath xmlns:m="http://schemas.openxmlformats.org/officeDocument/2006/math">
                    <m:sSup>
                      <m:sSupPr>
                        <m:ctrlPr>
                          <a:rPr lang="en-US" sz="1200" kern="1200">
                            <a:solidFill>
                              <a:schemeClr val="tx1"/>
                            </a:solidFill>
                            <a:latin typeface="+mn-lt"/>
                            <a:ea typeface="+mn-ea"/>
                            <a:cs typeface="+mn-cs"/>
                          </a:rPr>
                        </m:ctrlPr>
                      </m:sSupPr>
                      <m:e>
                        <m:r>
                          <a:rPr lang="en-US" sz="1200" kern="1200">
                            <a:solidFill>
                              <a:schemeClr val="tx1"/>
                            </a:solidFill>
                            <a:latin typeface="+mn-lt"/>
                            <a:ea typeface="+mn-ea"/>
                            <a:cs typeface="+mn-cs"/>
                          </a:rPr>
                          <m:t>10</m:t>
                        </m:r>
                      </m:e>
                      <m:sup>
                        <m:r>
                          <a:rPr lang="en-US" sz="1200" i="0" kern="1200">
                            <a:solidFill>
                              <a:schemeClr val="tx1"/>
                            </a:solidFill>
                            <a:latin typeface="+mn-lt"/>
                            <a:ea typeface="+mn-ea"/>
                            <a:cs typeface="+mn-cs"/>
                          </a:rPr>
                          <m:t>−13</m:t>
                        </m:r>
                      </m:sup>
                    </m:sSup>
                    <m:r>
                      <m:rPr>
                        <m:nor/>
                      </m:rPr>
                      <a:rPr lang="en-US" sz="1200" b="0" i="0" kern="1200">
                        <a:solidFill>
                          <a:schemeClr val="tx1"/>
                        </a:solidFill>
                        <a:latin typeface="+mn-lt"/>
                        <a:ea typeface="+mn-ea"/>
                        <a:cs typeface="+mn-cs"/>
                      </a:rPr>
                      <m:t> </m:t>
                    </m:r>
                    <m:sSup>
                      <m:sSupPr>
                        <m:ctrlPr>
                          <a:rPr lang="en-US" sz="1200" b="0" i="0" kern="1200">
                            <a:solidFill>
                              <a:schemeClr val="tx1"/>
                            </a:solidFill>
                            <a:latin typeface="+mn-lt"/>
                            <a:ea typeface="+mn-ea"/>
                            <a:cs typeface="+mn-cs"/>
                          </a:rPr>
                        </m:ctrlPr>
                      </m:sSupPr>
                      <m:e>
                        <m:r>
                          <m:rPr>
                            <m:sty m:val="p"/>
                          </m:rPr>
                          <a:rPr lang="en-US" sz="1200" b="0" i="0" kern="1200">
                            <a:solidFill>
                              <a:schemeClr val="tx1"/>
                            </a:solidFill>
                            <a:latin typeface="+mn-lt"/>
                            <a:ea typeface="+mn-ea"/>
                            <a:cs typeface="+mn-cs"/>
                          </a:rPr>
                          <m:t>m</m:t>
                        </m:r>
                      </m:e>
                      <m:sup>
                        <m:r>
                          <a:rPr lang="en-US" sz="1200" b="0" i="0" kern="1200">
                            <a:solidFill>
                              <a:schemeClr val="tx1"/>
                            </a:solidFill>
                            <a:latin typeface="+mn-lt"/>
                            <a:ea typeface="+mn-ea"/>
                            <a:cs typeface="+mn-cs"/>
                          </a:rPr>
                          <m:t>−2/3</m:t>
                        </m:r>
                      </m:sup>
                    </m:sSup>
                  </m:oMath>
                </a14:m>
                <a:r>
                  <a:rPr lang="en-US" sz="1200" b="0" i="0" kern="1200" dirty="0">
                    <a:solidFill>
                      <a:schemeClr val="tx1"/>
                    </a:solidFill>
                    <a:effectLst/>
                    <a:latin typeface="+mn-lt"/>
                    <a:ea typeface="+mn-ea"/>
                    <a:cs typeface="+mn-cs"/>
                  </a:rPr>
                  <a:t> near the ground. And it enters the optics nonlinearly — recall Tuesday's </a:t>
                </a:r>
                <a14:m>
                  <m:oMath xmlns:m="http://schemas.openxmlformats.org/officeDocument/2006/math">
                    <m:sSub>
                      <m:sSubPr>
                        <m:ctrlPr>
                          <a:rPr lang="en-US" sz="1200" i="1" kern="1200">
                            <a:solidFill>
                              <a:schemeClr val="tx1"/>
                            </a:solidFill>
                            <a:latin typeface="+mn-lt"/>
                            <a:ea typeface="+mn-ea"/>
                            <a:cs typeface="+mn-cs"/>
                          </a:rPr>
                        </m:ctrlPr>
                      </m:sSubPr>
                      <m:e>
                        <m:r>
                          <a:rPr lang="en-US" sz="1200" i="1" kern="1200">
                            <a:solidFill>
                              <a:schemeClr val="tx1"/>
                            </a:solidFill>
                            <a:latin typeface="+mn-lt"/>
                            <a:ea typeface="+mn-ea"/>
                            <a:cs typeface="+mn-cs"/>
                          </a:rPr>
                          <m:t>𝑟</m:t>
                        </m:r>
                      </m:e>
                      <m:sub>
                        <m:r>
                          <a:rPr lang="en-US" sz="1200" i="0" kern="1200">
                            <a:solidFill>
                              <a:schemeClr val="tx1"/>
                            </a:solidFill>
                            <a:latin typeface="+mn-lt"/>
                            <a:ea typeface="+mn-ea"/>
                            <a:cs typeface="+mn-cs"/>
                          </a:rPr>
                          <m:t>0</m:t>
                        </m:r>
                      </m:sub>
                    </m:sSub>
                    <m:r>
                      <a:rPr lang="en-US" sz="1200" i="0" kern="1200">
                        <a:solidFill>
                          <a:schemeClr val="tx1"/>
                        </a:solidFill>
                        <a:latin typeface="+mn-lt"/>
                        <a:ea typeface="+mn-ea"/>
                        <a:cs typeface="+mn-cs"/>
                      </a:rPr>
                      <m:t>∝</m:t>
                    </m:r>
                    <m:sSup>
                      <m:sSupPr>
                        <m:ctrlPr>
                          <a:rPr lang="en-US" sz="1200" i="1" kern="1200">
                            <a:solidFill>
                              <a:schemeClr val="tx1"/>
                            </a:solidFill>
                            <a:latin typeface="+mn-lt"/>
                            <a:ea typeface="+mn-ea"/>
                            <a:cs typeface="+mn-cs"/>
                          </a:rPr>
                        </m:ctrlPr>
                      </m:sSupPr>
                      <m:e>
                        <m:d>
                          <m:dPr>
                            <m:begChr m:val="["/>
                            <m:endChr m:val="]"/>
                            <m:ctrlPr>
                              <a:rPr lang="en-US" sz="1200" i="1" kern="1200">
                                <a:solidFill>
                                  <a:schemeClr val="tx1"/>
                                </a:solidFill>
                                <a:latin typeface="+mn-lt"/>
                                <a:ea typeface="+mn-ea"/>
                                <a:cs typeface="+mn-cs"/>
                              </a:rPr>
                            </m:ctrlPr>
                          </m:dPr>
                          <m:e>
                            <m:nary>
                              <m:naryPr>
                                <m:grow m:val="on"/>
                                <m:subHide m:val="on"/>
                                <m:supHide m:val="on"/>
                                <m:ctrlPr>
                                  <a:rPr lang="en-US" sz="1200" i="1" kern="1200">
                                    <a:solidFill>
                                      <a:schemeClr val="tx1"/>
                                    </a:solidFill>
                                    <a:latin typeface="+mn-lt"/>
                                    <a:ea typeface="+mn-ea"/>
                                    <a:cs typeface="+mn-cs"/>
                                  </a:rPr>
                                </m:ctrlPr>
                              </m:naryPr>
                              <m:sub/>
                              <m:sup/>
                              <m:e>
                                <m:sSubSup>
                                  <m:sSubSupPr>
                                    <m:ctrlPr>
                                      <a:rPr lang="en-US" sz="1200" i="1" kern="1200">
                                        <a:solidFill>
                                          <a:schemeClr val="tx1"/>
                                        </a:solidFill>
                                        <a:latin typeface="+mn-lt"/>
                                        <a:ea typeface="+mn-ea"/>
                                        <a:cs typeface="+mn-cs"/>
                                      </a:rPr>
                                    </m:ctrlPr>
                                  </m:sSubSupPr>
                                  <m:e>
                                    <m:r>
                                      <a:rPr lang="en-US" sz="1200" i="1" kern="1200">
                                        <a:solidFill>
                                          <a:schemeClr val="tx1"/>
                                        </a:solidFill>
                                        <a:latin typeface="+mn-lt"/>
                                        <a:ea typeface="+mn-ea"/>
                                        <a:cs typeface="+mn-cs"/>
                                      </a:rPr>
                                      <m:t>𝐶</m:t>
                                    </m:r>
                                  </m:e>
                                  <m:sub>
                                    <m:r>
                                      <a:rPr lang="en-US" sz="1200" i="1" kern="1200">
                                        <a:solidFill>
                                          <a:schemeClr val="tx1"/>
                                        </a:solidFill>
                                        <a:latin typeface="+mn-lt"/>
                                        <a:ea typeface="+mn-ea"/>
                                        <a:cs typeface="+mn-cs"/>
                                      </a:rPr>
                                      <m:t>𝑛</m:t>
                                    </m:r>
                                  </m:sub>
                                  <m:sup>
                                    <m:r>
                                      <a:rPr lang="en-US" sz="1200" i="0" kern="1200">
                                        <a:solidFill>
                                          <a:schemeClr val="tx1"/>
                                        </a:solidFill>
                                        <a:latin typeface="+mn-lt"/>
                                        <a:ea typeface="+mn-ea"/>
                                        <a:cs typeface="+mn-cs"/>
                                      </a:rPr>
                                      <m:t>2</m:t>
                                    </m:r>
                                  </m:sup>
                                </m:sSubSup>
                              </m:e>
                            </m:nary>
                            <m:r>
                              <a:rPr lang="en-US" sz="1200" i="1" kern="1200">
                                <a:solidFill>
                                  <a:schemeClr val="tx1"/>
                                </a:solidFill>
                                <a:latin typeface="+mn-lt"/>
                                <a:ea typeface="+mn-ea"/>
                                <a:cs typeface="+mn-cs"/>
                              </a:rPr>
                              <m:t>𝑑𝑧</m:t>
                            </m:r>
                          </m:e>
                        </m:d>
                      </m:e>
                      <m:sup>
                        <m:r>
                          <a:rPr lang="en-US" sz="1200" i="0" kern="1200">
                            <a:solidFill>
                              <a:schemeClr val="tx1"/>
                            </a:solidFill>
                            <a:latin typeface="+mn-lt"/>
                            <a:ea typeface="+mn-ea"/>
                            <a:cs typeface="+mn-cs"/>
                          </a:rPr>
                          <m:t>−3/5</m:t>
                        </m:r>
                      </m:sup>
                    </m:sSup>
                  </m:oMath>
                </a14:m>
                <a:r>
                  <a:rPr lang="en-US" sz="1200" b="0" i="0" kern="1200" dirty="0">
                    <a:solidFill>
                      <a:schemeClr val="tx1"/>
                    </a:solidFill>
                    <a:effectLst/>
                    <a:latin typeface="+mn-lt"/>
                    <a:ea typeface="+mn-ea"/>
                    <a:cs typeface="+mn-cs"/>
                  </a:rPr>
                  <a:t>, with degradation severity scaling as </a:t>
                </a:r>
                <a14:m>
                  <m:oMath xmlns:m="http://schemas.openxmlformats.org/officeDocument/2006/math">
                    <m:r>
                      <a:rPr lang="en-US" sz="1200" i="1" kern="1200">
                        <a:solidFill>
                          <a:schemeClr val="tx1"/>
                        </a:solidFill>
                        <a:latin typeface="+mn-lt"/>
                        <a:ea typeface="+mn-ea"/>
                        <a:cs typeface="+mn-cs"/>
                      </a:rPr>
                      <m:t>𝐷</m:t>
                    </m:r>
                    <m:r>
                      <a:rPr lang="en-US" sz="1200" i="0" kern="1200">
                        <a:solidFill>
                          <a:schemeClr val="tx1"/>
                        </a:solidFill>
                        <a:latin typeface="+mn-lt"/>
                        <a:ea typeface="+mn-ea"/>
                        <a:cs typeface="+mn-cs"/>
                      </a:rPr>
                      <m:t>/</m:t>
                    </m:r>
                    <m:sSub>
                      <m:sSubPr>
                        <m:ctrlPr>
                          <a:rPr lang="en-US" sz="1200" i="1" kern="1200">
                            <a:solidFill>
                              <a:schemeClr val="tx1"/>
                            </a:solidFill>
                            <a:latin typeface="+mn-lt"/>
                            <a:ea typeface="+mn-ea"/>
                            <a:cs typeface="+mn-cs"/>
                          </a:rPr>
                        </m:ctrlPr>
                      </m:sSubPr>
                      <m:e>
                        <m:r>
                          <a:rPr lang="en-US" sz="1200" i="1" kern="1200">
                            <a:solidFill>
                              <a:schemeClr val="tx1"/>
                            </a:solidFill>
                            <a:latin typeface="+mn-lt"/>
                            <a:ea typeface="+mn-ea"/>
                            <a:cs typeface="+mn-cs"/>
                          </a:rPr>
                          <m:t>𝑟</m:t>
                        </m:r>
                      </m:e>
                      <m:sub>
                        <m:r>
                          <a:rPr lang="en-US" sz="1200" i="0" kern="1200">
                            <a:solidFill>
                              <a:schemeClr val="tx1"/>
                            </a:solidFill>
                            <a:latin typeface="+mn-lt"/>
                            <a:ea typeface="+mn-ea"/>
                            <a:cs typeface="+mn-cs"/>
                          </a:rPr>
                          <m:t>0</m:t>
                        </m:r>
                      </m:sub>
                    </m:sSub>
                  </m:oMath>
                </a14:m>
                <a:r>
                  <a:rPr lang="en-US" sz="1200" b="0" i="0" kern="1200" dirty="0">
                    <a:solidFill>
                      <a:schemeClr val="tx1"/>
                    </a:solidFill>
                    <a:effectLst/>
                    <a:latin typeface="+mn-lt"/>
                    <a:ea typeface="+mn-ea"/>
                    <a:cs typeface="+mn-cs"/>
                  </a:rPr>
                  <a:t>. Collapsing that onto yes/no discards nearly all of it. "True" pools weak turbulence with seeing-destroying turbulence.</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3. Collinearity — and this is the sharp one.</a:t>
                </a:r>
                <a:r>
                  <a:rPr lang="en-US" sz="1200" b="0" i="0" kern="1200" dirty="0">
                    <a:solidFill>
                      <a:schemeClr val="tx1"/>
                    </a:solidFill>
                    <a:effectLst/>
                    <a:latin typeface="+mn-lt"/>
                    <a:ea typeface="+mn-ea"/>
                    <a:cs typeface="+mn-cs"/>
                  </a:rPr>
                  <a:t> Daytime near-ground turbulence is </a:t>
                </a:r>
                <a:r>
                  <a:rPr lang="en-US" sz="1200" b="0" i="1" kern="1200" dirty="0">
                    <a:solidFill>
                      <a:schemeClr val="tx1"/>
                    </a:solidFill>
                    <a:effectLst/>
                    <a:latin typeface="+mn-lt"/>
                    <a:ea typeface="+mn-ea"/>
                    <a:cs typeface="+mn-cs"/>
                  </a:rPr>
                  <a:t>driven by</a:t>
                </a:r>
                <a:r>
                  <a:rPr lang="en-US" sz="1200" b="0" i="0" kern="1200" dirty="0">
                    <a:solidFill>
                      <a:schemeClr val="tx1"/>
                    </a:solidFill>
                    <a:effectLst/>
                    <a:latin typeface="+mn-lt"/>
                    <a:ea typeface="+mn-ea"/>
                    <a:cs typeface="+mn-cs"/>
                  </a:rPr>
                  <a:t> solar heating of the surface: insolation → surface heat flux → convective thermal plumes → refractive index fluctuations. Solar load is a turbulence generator.</a:t>
                </a:r>
              </a:p>
              <a:p>
                <a:r>
                  <a:rPr lang="en-US" sz="1200" b="0" i="0" kern="1200" dirty="0">
                    <a:solidFill>
                      <a:schemeClr val="tx1"/>
                    </a:solidFill>
                    <a:effectLst/>
                    <a:latin typeface="+mn-lt"/>
                    <a:ea typeface="+mn-ea"/>
                    <a:cs typeface="+mn-cs"/>
                  </a:rPr>
                  <a:t>Solar Load &gt; 900 W/m² comes in at </a:t>
                </a:r>
                <a:r>
                  <a:rPr lang="en-US" sz="1200" b="1" i="0" kern="1200" dirty="0">
                    <a:solidFill>
                      <a:schemeClr val="tx1"/>
                    </a:solidFill>
                    <a:effectLst/>
                    <a:latin typeface="+mn-lt"/>
                    <a:ea typeface="+mn-ea"/>
                    <a:cs typeface="+mn-cs"/>
                  </a:rPr>
                  <a:t>+0.87, p &lt; 0.001</a:t>
                </a:r>
                <a:r>
                  <a:rPr lang="en-US" sz="1200" b="0" i="0" kern="1200" dirty="0">
                    <a:solidFill>
                      <a:schemeClr val="tx1"/>
                    </a:solidFill>
                    <a:effectLst/>
                    <a:latin typeface="+mn-lt"/>
                    <a:ea typeface="+mn-ea"/>
                    <a:cs typeface="+mn-cs"/>
                  </a:rPr>
                  <a:t> — one of the largest weather effects in the paper.</a:t>
                </a:r>
              </a:p>
              <a:p>
                <a:r>
                  <a:rPr lang="en-US" sz="1200" b="0" i="0" kern="1200" dirty="0">
                    <a:solidFill>
                      <a:schemeClr val="tx1"/>
                    </a:solidFill>
                    <a:effectLst/>
                    <a:latin typeface="+mn-lt"/>
                    <a:ea typeface="+mn-ea"/>
                    <a:cs typeface="+mn-cs"/>
                  </a:rPr>
                  <a:t>So a live hypothesis is that </a:t>
                </a:r>
                <a:r>
                  <a:rPr lang="en-US" sz="1200" b="1" i="0" kern="1200" dirty="0">
                    <a:solidFill>
                      <a:schemeClr val="tx1"/>
                    </a:solidFill>
                    <a:effectLst/>
                    <a:latin typeface="+mn-lt"/>
                    <a:ea typeface="+mn-ea"/>
                    <a:cs typeface="+mn-cs"/>
                  </a:rPr>
                  <a:t>the paper did detect turbulence and filed it under "solar loading."</a:t>
                </a:r>
                <a:r>
                  <a:rPr lang="en-US" sz="1200" b="0" i="0" kern="1200" dirty="0">
                    <a:solidFill>
                      <a:schemeClr val="tx1"/>
                    </a:solidFill>
                    <a:effectLst/>
                    <a:latin typeface="+mn-lt"/>
                    <a:ea typeface="+mn-ea"/>
                    <a:cs typeface="+mn-cs"/>
                  </a:rPr>
                  <a:t> The authors half-say this themselves (§6, p. 8): </a:t>
                </a:r>
                <a:r>
                  <a:rPr lang="en-US" sz="1200" b="0" i="1" kern="1200" dirty="0">
                    <a:solidFill>
                      <a:schemeClr val="tx1"/>
                    </a:solidFill>
                    <a:effectLst/>
                    <a:latin typeface="+mn-lt"/>
                    <a:ea typeface="+mn-ea"/>
                    <a:cs typeface="+mn-cs"/>
                  </a:rPr>
                  <a:t>"It is also possible that turbulence is already accounted for in the model by other covariates, such as distance or solar loading."</a:t>
                </a:r>
                <a:r>
                  <a:rPr lang="en-US" sz="1200" b="0" i="0" kern="1200" dirty="0">
                    <a:solidFill>
                      <a:schemeClr val="tx1"/>
                    </a:solidFill>
                    <a:effectLst/>
                    <a:latin typeface="+mn-lt"/>
                    <a:ea typeface="+mn-ea"/>
                    <a:cs typeface="+mn-cs"/>
                  </a:rPr>
                  <a:t> Path length is the other absorber, since turbulence integrates along the optical path, so range partially encodes cumulative </a:t>
                </a:r>
                <a14:m>
                  <m:oMath xmlns:m="http://schemas.openxmlformats.org/officeDocument/2006/math">
                    <m:sSubSup>
                      <m:sSubSupPr>
                        <m:ctrlPr>
                          <a:rPr lang="en-US" sz="1200" i="1" kern="1200">
                            <a:solidFill>
                              <a:schemeClr val="tx1"/>
                            </a:solidFill>
                            <a:latin typeface="+mn-lt"/>
                            <a:ea typeface="+mn-ea"/>
                            <a:cs typeface="+mn-cs"/>
                          </a:rPr>
                        </m:ctrlPr>
                      </m:sSubSupPr>
                      <m:e>
                        <m:r>
                          <a:rPr lang="en-US" sz="1200" i="1" kern="1200">
                            <a:solidFill>
                              <a:schemeClr val="tx1"/>
                            </a:solidFill>
                            <a:latin typeface="+mn-lt"/>
                            <a:ea typeface="+mn-ea"/>
                            <a:cs typeface="+mn-cs"/>
                          </a:rPr>
                          <m:t>𝐶</m:t>
                        </m:r>
                      </m:e>
                      <m:sub>
                        <m:r>
                          <a:rPr lang="en-US" sz="1200" i="1" kern="1200">
                            <a:solidFill>
                              <a:schemeClr val="tx1"/>
                            </a:solidFill>
                            <a:latin typeface="+mn-lt"/>
                            <a:ea typeface="+mn-ea"/>
                            <a:cs typeface="+mn-cs"/>
                          </a:rPr>
                          <m:t>𝑛</m:t>
                        </m:r>
                      </m:sub>
                      <m:sup>
                        <m:r>
                          <a:rPr lang="en-US" sz="1200" i="0" kern="1200">
                            <a:solidFill>
                              <a:schemeClr val="tx1"/>
                            </a:solidFill>
                            <a:latin typeface="+mn-lt"/>
                            <a:ea typeface="+mn-ea"/>
                            <a:cs typeface="+mn-cs"/>
                          </a:rPr>
                          <m:t>2</m:t>
                        </m:r>
                      </m:sup>
                    </m:sSubSup>
                  </m:oMath>
                </a14:m>
                <a:r>
                  <a:rPr lang="en-US" sz="1200" b="0" i="0" kern="1200" dirty="0">
                    <a:solidFill>
                      <a:schemeClr val="tx1"/>
                    </a:solidFill>
                    <a:effectLst/>
                    <a:latin typeface="+mn-lt"/>
                    <a:ea typeface="+mn-ea"/>
                    <a:cs typeface="+mn-cs"/>
                  </a:rPr>
                  <a:t>. Plus the 63 </a:t>
                </a:r>
                <a:r>
                  <a:rPr lang="en-US" sz="1200" b="0" i="0" kern="1200" dirty="0" err="1">
                    <a:solidFill>
                      <a:schemeClr val="tx1"/>
                    </a:solidFill>
                    <a:effectLst/>
                    <a:latin typeface="+mn-lt"/>
                    <a:ea typeface="+mn-ea"/>
                    <a:cs typeface="+mn-cs"/>
                  </a:rPr>
                  <a:t>sensor×collection</a:t>
                </a:r>
                <a:r>
                  <a:rPr lang="en-US" sz="1200" b="0" i="0" kern="1200" dirty="0">
                    <a:solidFill>
                      <a:schemeClr val="tx1"/>
                    </a:solidFill>
                    <a:effectLst/>
                    <a:latin typeface="+mn-lt"/>
                    <a:ea typeface="+mn-ea"/>
                    <a:cs typeface="+mn-cs"/>
                  </a:rPr>
                  <a:t> groups soak up site- and season-level atmospheric character. Turbulence is competing with three better-measured proxies for the same variance.</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4. Restricted support.</a:t>
                </a:r>
                <a:r>
                  <a:rPr lang="en-US" sz="1200" b="0" i="0" kern="1200" dirty="0">
                    <a:solidFill>
                      <a:schemeClr val="tx1"/>
                    </a:solidFill>
                    <a:effectLst/>
                    <a:latin typeface="+mn-lt"/>
                    <a:ea typeface="+mn-ea"/>
                    <a:cs typeface="+mn-cs"/>
                  </a:rPr>
                  <a:t> Turbulence only degrades medium- and long-range imagery, so most of the 8,295 modeled probes are structurally incapable of showing an effect. The contrast that matters is being estimated on a subset, then reported as a global coefficient.</a:t>
                </a:r>
              </a:p>
              <a:p>
                <a:pPr lvl="0"/>
                <a:endParaRPr lang="en-US" b="1" dirty="0"/>
              </a:p>
            </p:txBody>
          </p:sp>
        </mc:Choice>
        <mc:Fallback>
          <p:sp>
            <p:nvSpPr>
              <p:cNvPr id="3" name="Notes Placeholder 2">
                <a:extLst>
                  <a:ext uri="{FF2B5EF4-FFF2-40B4-BE49-F238E27FC236}">
                    <a16:creationId xmlns:a16="http://schemas.microsoft.com/office/drawing/2014/main" id="{B88A44D4-EF0E-FA67-2EB6-698ADE8FB0E7}"/>
                  </a:ext>
                </a:extLst>
              </p:cNvPr>
              <p:cNvSpPr>
                <a:spLocks noGrp="1"/>
              </p:cNvSpPr>
              <p:nvPr>
                <p:ph type="body" idx="1"/>
              </p:nvPr>
            </p:nvSpPr>
            <p:spPr/>
            <p:txBody>
              <a:bodyPr/>
              <a:lstStyle/>
              <a:p>
                <a:pPr lvl="0"/>
                <a:r>
                  <a:rPr lang="en-US" dirty="0" err="1"/>
                  <a:t>Tubulence</a:t>
                </a:r>
                <a:r>
                  <a:rPr lang="en-US" dirty="0"/>
                  <a:t> Null:</a:t>
                </a:r>
              </a:p>
              <a:p>
                <a:pPr lvl="0"/>
                <a:endParaRPr lang="en-US" dirty="0"/>
              </a:p>
              <a:p>
                <a:r>
                  <a:rPr lang="en-US" sz="1200" b="0" i="0" kern="1200" dirty="0">
                    <a:solidFill>
                      <a:schemeClr val="tx1"/>
                    </a:solidFill>
                    <a:effectLst/>
                    <a:latin typeface="+mn-lt"/>
                    <a:ea typeface="+mn-ea"/>
                    <a:cs typeface="+mn-cs"/>
                  </a:rPr>
                  <a:t>Has Turbulence = True: </a:t>
                </a:r>
                <a:r>
                  <a:rPr lang="en-US" sz="1200" b="1" i="0" kern="1200" dirty="0">
                    <a:solidFill>
                      <a:schemeClr val="tx1"/>
                    </a:solidFill>
                    <a:effectLst/>
                    <a:latin typeface="+mn-lt"/>
                    <a:ea typeface="+mn-ea"/>
                    <a:cs typeface="+mn-cs"/>
                  </a:rPr>
                  <a:t>+0.06, p = 0.104.</a:t>
                </a:r>
                <a:r>
                  <a:rPr lang="en-US" sz="1200" b="0" i="0" kern="1200" dirty="0">
                    <a:solidFill>
                      <a:schemeClr val="tx1"/>
                    </a:solidFill>
                    <a:effectLst/>
                    <a:latin typeface="+mn-lt"/>
                    <a:ea typeface="+mn-ea"/>
                    <a:cs typeface="+mn-cs"/>
                  </a:rPr>
                  <a:t> A clean null for the phenomenon the program considers central.</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authors offer three explanations: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Algorithms genuinely mitigate it — temporal integration, "lucky" frames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It's already absorbed by distance and solar loading</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It couldn't be measured:</a:t>
                </a:r>
                <a:r>
                  <a:rPr lang="en-US" sz="1200" b="0" i="0" kern="1200" dirty="0">
                    <a:solidFill>
                      <a:schemeClr val="tx1"/>
                    </a:solidFill>
                    <a:effectLst/>
                    <a:latin typeface="+mn-lt"/>
                    <a:ea typeface="+mn-ea"/>
                    <a:cs typeface="+mn-cs"/>
                  </a:rPr>
                  <a:t> "we could only measure turbulence (</a:t>
                </a:r>
                <a:r>
                  <a:rPr lang="en-US" sz="1200" i="0" kern="1200">
                    <a:solidFill>
                      <a:schemeClr val="tx1"/>
                    </a:solidFill>
                    <a:latin typeface="+mn-lt"/>
                    <a:ea typeface="+mn-ea"/>
                    <a:cs typeface="+mn-cs"/>
                  </a:rPr>
                  <a:t>𝐶_𝑛^2</a:t>
                </a:r>
                <a:r>
                  <a:rPr lang="en-US" sz="1200" b="0" i="0" kern="1200" dirty="0">
                    <a:solidFill>
                      <a:schemeClr val="tx1"/>
                    </a:solidFill>
                    <a:effectLst/>
                    <a:latin typeface="+mn-lt"/>
                    <a:ea typeface="+mn-ea"/>
                    <a:cs typeface="+mn-cs"/>
                  </a:rPr>
                  <a:t>) for a small number of cameras which were placed near collection scintillometers. Consequently, </a:t>
                </a:r>
                <a:r>
                  <a:rPr lang="en-US" sz="1200" b="1" i="0" kern="1200" dirty="0">
                    <a:solidFill>
                      <a:schemeClr val="tx1"/>
                    </a:solidFill>
                    <a:effectLst/>
                    <a:latin typeface="+mn-lt"/>
                    <a:ea typeface="+mn-ea"/>
                    <a:cs typeface="+mn-cs"/>
                  </a:rPr>
                  <a:t>estimating turbulence for the majority of the cameras is infeasible.</a:t>
                </a:r>
                <a:r>
                  <a:rPr lang="en-US" sz="1200" b="0" i="0" kern="1200" dirty="0">
                    <a:solidFill>
                      <a:schemeClr val="tx1"/>
                    </a:solidFill>
                    <a:effectLst/>
                    <a:latin typeface="+mn-lt"/>
                    <a:ea typeface="+mn-ea"/>
                    <a:cs typeface="+mn-cs"/>
                  </a:rPr>
                  <a:t>”</a:t>
                </a:r>
              </a:p>
              <a:p>
                <a:pPr marL="171450" lvl="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r>
                  <a:rPr lang="en-US" sz="1200" b="0" i="0" kern="1200" dirty="0">
                    <a:solidFill>
                      <a:schemeClr val="tx1"/>
                    </a:solidFill>
                    <a:effectLst/>
                    <a:latin typeface="+mn-lt"/>
                    <a:ea typeface="+mn-ea"/>
                    <a:cs typeface="+mn-cs"/>
                  </a:rPr>
                  <a:t>Additivity by Assertion: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Although interactions may indeed play a significant role in this research, we have opted for a simpler model.”</a:t>
                </a:r>
              </a:p>
              <a:p>
                <a:pPr marL="0" lvl="0" indent="0">
                  <a:buFont typeface="Arial" panose="020B0604020202020204" pitchFamily="34" charset="0"/>
                  <a:buNone/>
                </a:pPr>
                <a:endParaRPr lang="en-US" sz="1200" b="1" i="0" kern="1200" dirty="0">
                  <a:solidFill>
                    <a:schemeClr val="tx1"/>
                  </a:solidFill>
                  <a:effectLst/>
                  <a:latin typeface="+mn-lt"/>
                  <a:ea typeface="+mn-ea"/>
                  <a:cs typeface="+mn-cs"/>
                </a:endParaRPr>
              </a:p>
              <a:p>
                <a:pPr marL="0" lvl="0" indent="0">
                  <a:buFont typeface="Arial" panose="020B0604020202020204" pitchFamily="34" charset="0"/>
                  <a:buNone/>
                </a:pPr>
                <a:r>
                  <a:rPr lang="en-US" sz="1200" b="1" i="0" kern="1200" dirty="0">
                    <a:solidFill>
                      <a:schemeClr val="tx1"/>
                    </a:solidFill>
                    <a:effectLst/>
                    <a:latin typeface="+mn-lt"/>
                    <a:ea typeface="+mn-ea"/>
                    <a:cs typeface="+mn-cs"/>
                  </a:rPr>
                  <a:t>Ask:</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"Name an interaction you'd expect to be strong. Which way would including it move the Eq. (4) estimate?"</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Candidates: head height × turbulence (turbulence should matter far more when you have few pixels to lose); solar load × modality; range × sensor. Most plausible interactions are </a:t>
                </a:r>
                <a:r>
                  <a:rPr lang="en-US" sz="1200" b="1" i="0" kern="1200" dirty="0">
                    <a:solidFill>
                      <a:schemeClr val="tx1"/>
                    </a:solidFill>
                    <a:effectLst/>
                    <a:latin typeface="+mn-lt"/>
                    <a:ea typeface="+mn-ea"/>
                    <a:cs typeface="+mn-cs"/>
                  </a:rPr>
                  <a:t>super-additive</a:t>
                </a:r>
                <a:r>
                  <a:rPr lang="en-US" sz="1200" b="0" i="0" kern="1200" dirty="0">
                    <a:solidFill>
                      <a:schemeClr val="tx1"/>
                    </a:solidFill>
                    <a:effectLst/>
                    <a:latin typeface="+mn-lt"/>
                    <a:ea typeface="+mn-ea"/>
                    <a:cs typeface="+mn-cs"/>
                  </a:rPr>
                  <a:t>, meaning Eq. (4) likely </a:t>
                </a:r>
                <a:r>
                  <a:rPr lang="en-US" sz="1200" b="0" i="1" kern="1200" dirty="0">
                    <a:solidFill>
                      <a:schemeClr val="tx1"/>
                    </a:solidFill>
                    <a:effectLst/>
                    <a:latin typeface="+mn-lt"/>
                    <a:ea typeface="+mn-ea"/>
                    <a:cs typeface="+mn-cs"/>
                  </a:rPr>
                  <a:t>understates</a:t>
                </a:r>
                <a:r>
                  <a:rPr lang="en-US" sz="1200" b="0" i="0" kern="1200" dirty="0">
                    <a:solidFill>
                      <a:schemeClr val="tx1"/>
                    </a:solidFill>
                    <a:effectLst/>
                    <a:latin typeface="+mn-lt"/>
                    <a:ea typeface="+mn-ea"/>
                    <a:cs typeface="+mn-cs"/>
                  </a:rPr>
                  <a:t> combined degradation.</a:t>
                </a: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r>
                  <a:rPr lang="en-US" sz="1200" b="0" i="0" kern="1200" dirty="0">
                    <a:solidFill>
                      <a:schemeClr val="tx1"/>
                    </a:solidFill>
                    <a:effectLst/>
                    <a:latin typeface="+mn-lt"/>
                    <a:ea typeface="+mn-ea"/>
                    <a:cs typeface="+mn-cs"/>
                  </a:rPr>
                  <a:t>Binning and UAV:</a:t>
                </a:r>
              </a:p>
              <a:p>
                <a:r>
                  <a:rPr lang="en-US" sz="1200" b="0" i="0" kern="1200" dirty="0">
                    <a:solidFill>
                      <a:schemeClr val="tx1"/>
                    </a:solidFill>
                    <a:effectLst/>
                    <a:latin typeface="+mn-lt"/>
                    <a:ea typeface="+mn-ea"/>
                    <a:cs typeface="+mn-cs"/>
                  </a:rPr>
                  <a:t>All continuous covariates were categorized (§5, p. 6) — within-bin information discarded. Worse, the UAV category:</a:t>
                </a:r>
              </a:p>
              <a:p>
                <a:r>
                  <a:rPr lang="en-US" sz="1200" b="0" i="0" kern="1200" dirty="0">
                    <a:solidFill>
                      <a:schemeClr val="tx1"/>
                    </a:solidFill>
                    <a:effectLst/>
                    <a:latin typeface="+mn-lt"/>
                    <a:ea typeface="+mn-ea"/>
                    <a:cs typeface="+mn-cs"/>
                  </a:rPr>
                  <a:t>"'UAV' mounted cameras exhibit significant variability. This likely results from the difference between small, modern HD and 4k quadcopters that typically fly at low altitude and within 100m of the subjects and larger systems that fly at longer distances and up to 1200 ft altitude, often with older or lower resolution payloads. </a:t>
                </a:r>
                <a:r>
                  <a:rPr lang="en-US" sz="1200" b="1" i="0" kern="1200" dirty="0">
                    <a:solidFill>
                      <a:schemeClr val="tx1"/>
                    </a:solidFill>
                    <a:effectLst/>
                    <a:latin typeface="+mn-lt"/>
                    <a:ea typeface="+mn-ea"/>
                    <a:cs typeface="+mn-cs"/>
                  </a:rPr>
                  <a:t>In this model, all of these are grouped into the same category.</a:t>
                </a:r>
                <a:r>
                  <a:rPr lang="en-US" sz="1200" b="0" i="0" kern="1200" dirty="0">
                    <a:solidFill>
                      <a:schemeClr val="tx1"/>
                    </a:solidFill>
                    <a:effectLst/>
                    <a:latin typeface="+mn-lt"/>
                    <a:ea typeface="+mn-ea"/>
                    <a:cs typeface="+mn-cs"/>
                  </a:rPr>
                  <a:t>" — §6, p. 7</a:t>
                </a:r>
              </a:p>
              <a:p>
                <a:r>
                  <a:rPr lang="en-US" sz="1200" b="0" i="0" kern="1200" dirty="0">
                    <a:solidFill>
                      <a:schemeClr val="tx1"/>
                    </a:solidFill>
                    <a:effectLst/>
                    <a:latin typeface="+mn-lt"/>
                    <a:ea typeface="+mn-ea"/>
                    <a:cs typeface="+mn-cs"/>
                  </a:rPr>
                  <a:t>Result: +1.00 with CI (−0.12, 2.12), p = 0.081 — </a:t>
                </a:r>
                <a:r>
                  <a:rPr lang="en-US" sz="1200" b="1" i="0" kern="1200" dirty="0">
                    <a:solidFill>
                      <a:schemeClr val="tx1"/>
                    </a:solidFill>
                    <a:effectLst/>
                    <a:latin typeface="+mn-lt"/>
                    <a:ea typeface="+mn-ea"/>
                    <a:cs typeface="+mn-cs"/>
                  </a:rPr>
                  <a:t>not significant</a:t>
                </a:r>
                <a:r>
                  <a:rPr lang="en-US" sz="1200" b="0" i="0" kern="1200" dirty="0">
                    <a:solidFill>
                      <a:schemeClr val="tx1"/>
                    </a:solidFill>
                    <a:effectLst/>
                    <a:latin typeface="+mn-lt"/>
                    <a:ea typeface="+mn-ea"/>
                    <a:cs typeface="+mn-cs"/>
                  </a:rPr>
                  <a:t>, and operationally the most interesting category in the paper.</a:t>
                </a: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a:p>
                <a:r>
                  <a:rPr lang="en-US" b="1" dirty="0"/>
                  <a:t>More Details on the </a:t>
                </a:r>
                <a:r>
                  <a:rPr lang="en-US" b="1" dirty="0" err="1"/>
                  <a:t>Tubulence</a:t>
                </a:r>
                <a:r>
                  <a:rPr lang="en-US" b="1" dirty="0"/>
                  <a:t> Null</a:t>
                </a:r>
                <a:br>
                  <a:rPr lang="en-US" b="1" dirty="0"/>
                </a:br>
                <a:br>
                  <a:rPr lang="en-US" b="1" dirty="0"/>
                </a:br>
                <a:r>
                  <a:rPr lang="en-US" sz="1200" b="0" i="0" kern="1200" dirty="0">
                    <a:solidFill>
                      <a:schemeClr val="tx1"/>
                    </a:solidFill>
                    <a:effectLst/>
                    <a:latin typeface="+mn-lt"/>
                    <a:ea typeface="+mn-ea"/>
                    <a:cs typeface="+mn-cs"/>
                  </a:rPr>
                  <a:t>The short version: the paper didn't find that turbulence doesn't matter. It found that </a:t>
                </a:r>
                <a:r>
                  <a:rPr lang="en-US" sz="1200" b="1" i="0" kern="1200" dirty="0">
                    <a:solidFill>
                      <a:schemeClr val="tx1"/>
                    </a:solidFill>
                    <a:effectLst/>
                    <a:latin typeface="+mn-lt"/>
                    <a:ea typeface="+mn-ea"/>
                    <a:cs typeface="+mn-cs"/>
                  </a:rPr>
                  <a:t>a binary flag called "Has Turbulence" doesn't predict much</a:t>
                </a:r>
                <a:r>
                  <a:rPr lang="en-US" sz="1200" b="0" i="0" kern="1200" dirty="0">
                    <a:solidFill>
                      <a:schemeClr val="tx1"/>
                    </a:solidFill>
                    <a:effectLst/>
                    <a:latin typeface="+mn-lt"/>
                    <a:ea typeface="+mn-ea"/>
                    <a:cs typeface="+mn-cs"/>
                  </a:rPr>
                  <a:t> — and those are very different claims. Almost everything interesting is in the gap between them.</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What the number actually says</a:t>
                </a:r>
              </a:p>
              <a:p>
                <a:r>
                  <a:rPr lang="en-US" sz="1200" b="0" i="0" kern="1200" dirty="0">
                    <a:solidFill>
                      <a:schemeClr val="tx1"/>
                    </a:solidFill>
                    <a:effectLst/>
                    <a:latin typeface="+mn-lt"/>
                    <a:ea typeface="+mn-ea"/>
                    <a:cs typeface="+mn-cs"/>
                  </a:rPr>
                  <a:t>Has Turb. True: </a:t>
                </a:r>
                <a:r>
                  <a:rPr lang="en-US" sz="1200" b="1" i="0" kern="1200" dirty="0">
                    <a:solidFill>
                      <a:schemeClr val="tx1"/>
                    </a:solidFill>
                    <a:effectLst/>
                    <a:latin typeface="+mn-lt"/>
                    <a:ea typeface="+mn-ea"/>
                    <a:cs typeface="+mn-cs"/>
                  </a:rPr>
                  <a:t>+0.06, CI (−0.01, 0.13), p = 0.104</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Taken at face value, </a:t>
                </a:r>
                <a:r>
                  <a:rPr lang="en-US" sz="1200" i="0" kern="1200">
                    <a:solidFill>
                      <a:schemeClr val="tx1"/>
                    </a:solidFill>
                    <a:latin typeface="+mn-lt"/>
                    <a:ea typeface="+mn-ea"/>
                    <a:cs typeface="+mn-cs"/>
                  </a:rPr>
                  <a:t>10^0.06≈1.15</a:t>
                </a:r>
                <a:r>
                  <a:rPr lang="en-US" sz="1200" b="0" i="0" kern="1200" dirty="0">
                    <a:solidFill>
                      <a:schemeClr val="tx1"/>
                    </a:solidFill>
                    <a:effectLst/>
                    <a:latin typeface="+mn-lt"/>
                    <a:ea typeface="+mn-ea"/>
                    <a:cs typeface="+mn-cs"/>
                  </a:rPr>
                  <a:t> — a 15% increase in FAR. Against head height &lt; 30 </a:t>
                </a:r>
                <a:r>
                  <a:rPr lang="en-US" sz="1200" b="0" i="0" kern="1200" dirty="0" err="1">
                    <a:solidFill>
                      <a:schemeClr val="tx1"/>
                    </a:solidFill>
                    <a:effectLst/>
                    <a:latin typeface="+mn-lt"/>
                    <a:ea typeface="+mn-ea"/>
                    <a:cs typeface="+mn-cs"/>
                  </a:rPr>
                  <a:t>px</a:t>
                </a:r>
                <a:r>
                  <a:rPr lang="en-US" sz="1200" b="0" i="0" kern="1200" dirty="0">
                    <a:solidFill>
                      <a:schemeClr val="tx1"/>
                    </a:solidFill>
                    <a:effectLst/>
                    <a:latin typeface="+mn-lt"/>
                    <a:ea typeface="+mn-ea"/>
                    <a:cs typeface="+mn-cs"/>
                  </a:rPr>
                  <a:t> at </a:t>
                </a:r>
                <a:r>
                  <a:rPr lang="en-US" sz="1200" i="0" kern="1200">
                    <a:solidFill>
                      <a:schemeClr val="tx1"/>
                    </a:solidFill>
                    <a:latin typeface="+mn-lt"/>
                    <a:ea typeface="+mn-ea"/>
                    <a:cs typeface="+mn-cs"/>
                  </a:rPr>
                  <a:t>10^1.88≈76×</a:t>
                </a:r>
                <a:r>
                  <a:rPr lang="en-US" sz="1200" b="0" i="0" kern="1200" dirty="0">
                    <a:solidFill>
                      <a:schemeClr val="tx1"/>
                    </a:solidFill>
                    <a:effectLst/>
                    <a:latin typeface="+mn-lt"/>
                    <a:ea typeface="+mn-ea"/>
                    <a:cs typeface="+mn-cs"/>
                  </a:rPr>
                  <a:t>, it's nothing.</a:t>
                </a:r>
              </a:p>
              <a:p>
                <a:r>
                  <a:rPr lang="en-US" sz="1200" b="0" i="0" kern="1200" dirty="0">
                    <a:solidFill>
                      <a:schemeClr val="tx1"/>
                    </a:solidFill>
                    <a:effectLst/>
                    <a:latin typeface="+mn-lt"/>
                    <a:ea typeface="+mn-ea"/>
                    <a:cs typeface="+mn-cs"/>
                  </a:rPr>
                  <a:t>Note the CI is </a:t>
                </a:r>
                <a:r>
                  <a:rPr lang="en-US" sz="1200" b="0" i="1" kern="1200" dirty="0">
                    <a:solidFill>
                      <a:schemeClr val="tx1"/>
                    </a:solidFill>
                    <a:effectLst/>
                    <a:latin typeface="+mn-lt"/>
                    <a:ea typeface="+mn-ea"/>
                    <a:cs typeface="+mn-cs"/>
                  </a:rPr>
                  <a:t>narrow</a:t>
                </a:r>
                <a:r>
                  <a:rPr lang="en-US" sz="1200" b="0" i="0" kern="1200" dirty="0">
                    <a:solidFill>
                      <a:schemeClr val="tx1"/>
                    </a:solidFill>
                    <a:effectLst/>
                    <a:latin typeface="+mn-lt"/>
                    <a:ea typeface="+mn-ea"/>
                    <a:cs typeface="+mn-cs"/>
                  </a:rPr>
                  <a:t> — width 0.14, versus UAV's (−0.12, 2.12). So this isn't a low-power null where the effect could be anywhere. It's a </a:t>
                </a:r>
                <a:r>
                  <a:rPr lang="en-US" sz="1200" b="1" i="0" kern="1200" dirty="0">
                    <a:solidFill>
                      <a:schemeClr val="tx1"/>
                    </a:solidFill>
                    <a:effectLst/>
                    <a:latin typeface="+mn-lt"/>
                    <a:ea typeface="+mn-ea"/>
                    <a:cs typeface="+mn-cs"/>
                  </a:rPr>
                  <a:t>precisely estimated near-zero</a:t>
                </a:r>
                <a:r>
                  <a:rPr lang="en-US" sz="1200" b="0" i="0" kern="1200" dirty="0">
                    <a:solidFill>
                      <a:schemeClr val="tx1"/>
                    </a:solidFill>
                    <a:effectLst/>
                    <a:latin typeface="+mn-lt"/>
                    <a:ea typeface="+mn-ea"/>
                    <a:cs typeface="+mn-cs"/>
                  </a:rPr>
                  <a:t>. That matters, because it rules out the easy dismissal ("not enough data") and forces you to argue about construct validity instead: is the flag measuring turbulence?</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Four reasons it probably isn’t</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1. Exposure misclassification, and it's one-directional.</a:t>
                </a:r>
                <a:r>
                  <a:rPr lang="en-US" sz="1200" b="0" i="0" kern="1200" dirty="0">
                    <a:solidFill>
                      <a:schemeClr val="tx1"/>
                    </a:solidFill>
                    <a:effectLst/>
                    <a:latin typeface="+mn-lt"/>
                    <a:ea typeface="+mn-ea"/>
                    <a:cs typeface="+mn-cs"/>
                  </a:rPr>
                  <a:t> </a:t>
                </a:r>
                <a:r>
                  <a:rPr lang="en-US" sz="1200" i="0" kern="1200">
                    <a:solidFill>
                      <a:schemeClr val="tx1"/>
                    </a:solidFill>
                    <a:latin typeface="+mn-lt"/>
                    <a:ea typeface="+mn-ea"/>
                    <a:cs typeface="+mn-cs"/>
                  </a:rPr>
                  <a:t>𝐶_𝑛^2</a:t>
                </a:r>
                <a:r>
                  <a:rPr lang="en-US" sz="1200" b="0" i="0" kern="1200" dirty="0">
                    <a:solidFill>
                      <a:schemeClr val="tx1"/>
                    </a:solidFill>
                    <a:effectLst/>
                    <a:latin typeface="+mn-lt"/>
                    <a:ea typeface="+mn-ea"/>
                    <a:cs typeface="+mn-cs"/>
                  </a:rPr>
                  <a:t> was measured only for cameras near scintillometers. Every other camera gets "False" by default — so the False group is a mixture of </a:t>
                </a:r>
                <a:r>
                  <a:rPr lang="en-US" sz="1200" b="0" i="1" kern="1200" dirty="0">
                    <a:solidFill>
                      <a:schemeClr val="tx1"/>
                    </a:solidFill>
                    <a:effectLst/>
                    <a:latin typeface="+mn-lt"/>
                    <a:ea typeface="+mn-ea"/>
                    <a:cs typeface="+mn-cs"/>
                  </a:rPr>
                  <a:t>genuinely calm</a:t>
                </a:r>
                <a:r>
                  <a:rPr lang="en-US" sz="1200" b="0" i="0" kern="1200" dirty="0">
                    <a:solidFill>
                      <a:schemeClr val="tx1"/>
                    </a:solidFill>
                    <a:effectLst/>
                    <a:latin typeface="+mn-lt"/>
                    <a:ea typeface="+mn-ea"/>
                    <a:cs typeface="+mn-cs"/>
                  </a:rPr>
                  <a:t> and </a:t>
                </a:r>
                <a:r>
                  <a:rPr lang="en-US" sz="1200" b="0" i="1" kern="1200" dirty="0">
                    <a:solidFill>
                      <a:schemeClr val="tx1"/>
                    </a:solidFill>
                    <a:effectLst/>
                    <a:latin typeface="+mn-lt"/>
                    <a:ea typeface="+mn-ea"/>
                    <a:cs typeface="+mn-cs"/>
                  </a:rPr>
                  <a:t>turbulent but </a:t>
                </a:r>
                <a:r>
                  <a:rPr lang="en-US" sz="1200" b="0" i="1" kern="1200" dirty="0" err="1">
                    <a:solidFill>
                      <a:schemeClr val="tx1"/>
                    </a:solidFill>
                    <a:effectLst/>
                    <a:latin typeface="+mn-lt"/>
                    <a:ea typeface="+mn-ea"/>
                    <a:cs typeface="+mn-cs"/>
                  </a:rPr>
                  <a:t>uninstrumented</a:t>
                </a:r>
                <a:r>
                  <a:rPr lang="en-US" sz="1200" b="0" i="0" kern="1200" dirty="0">
                    <a:solidFill>
                      <a:schemeClr val="tx1"/>
                    </a:solidFill>
                    <a:effectLst/>
                    <a:latin typeface="+mn-lt"/>
                    <a:ea typeface="+mn-ea"/>
                    <a:cs typeface="+mn-cs"/>
                  </a:rPr>
                  <a:t>. This is non-differential misclassification of the exposure variable, and its effect is textbook: it </a:t>
                </a:r>
                <a:r>
                  <a:rPr lang="en-US" sz="1200" b="1" i="0" kern="1200" dirty="0">
                    <a:solidFill>
                      <a:schemeClr val="tx1"/>
                    </a:solidFill>
                    <a:effectLst/>
                    <a:latin typeface="+mn-lt"/>
                    <a:ea typeface="+mn-ea"/>
                    <a:cs typeface="+mn-cs"/>
                  </a:rPr>
                  <a:t>attenuates the estimate toward zero</a:t>
                </a:r>
                <a:r>
                  <a:rPr lang="en-US" sz="1200" b="0" i="0" kern="1200" dirty="0">
                    <a:solidFill>
                      <a:schemeClr val="tx1"/>
                    </a:solidFill>
                    <a:effectLst/>
                    <a:latin typeface="+mn-lt"/>
                    <a:ea typeface="+mn-ea"/>
                    <a:cs typeface="+mn-cs"/>
                  </a:rPr>
                  <a:t>. If a fraction </a:t>
                </a:r>
                <a:r>
                  <a:rPr lang="en-US" sz="1200" i="0" kern="1200">
                    <a:solidFill>
                      <a:schemeClr val="tx1"/>
                    </a:solidFill>
                    <a:latin typeface="+mn-lt"/>
                    <a:ea typeface="+mn-ea"/>
                    <a:cs typeface="+mn-cs"/>
                  </a:rPr>
                  <a:t>𝛼</a:t>
                </a:r>
                <a:r>
                  <a:rPr lang="en-US" sz="1200" b="0" i="0" kern="1200" dirty="0">
                    <a:solidFill>
                      <a:schemeClr val="tx1"/>
                    </a:solidFill>
                    <a:effectLst/>
                    <a:latin typeface="+mn-lt"/>
                    <a:ea typeface="+mn-ea"/>
                    <a:cs typeface="+mn-cs"/>
                  </a:rPr>
                  <a:t> of truly-turbulent probes are labeled False, the observed contrast shrinks roughly by </a:t>
                </a:r>
                <a:r>
                  <a:rPr lang="en-US" sz="1200" i="0" kern="1200">
                    <a:solidFill>
                      <a:schemeClr val="tx1"/>
                    </a:solidFill>
                    <a:latin typeface="+mn-lt"/>
                    <a:ea typeface="+mn-ea"/>
                    <a:cs typeface="+mn-cs"/>
                  </a:rPr>
                  <a:t>(1−𝛼)</a:t>
                </a:r>
                <a:r>
                  <a:rPr lang="en-US" sz="1200" b="0" i="0" kern="1200" dirty="0">
                    <a:solidFill>
                      <a:schemeClr val="tx1"/>
                    </a:solidFill>
                    <a:effectLst/>
                    <a:latin typeface="+mn-lt"/>
                    <a:ea typeface="+mn-ea"/>
                    <a:cs typeface="+mn-cs"/>
                  </a:rPr>
                  <a:t> relative to the truth. The direction of the bias is known even when its size isn’t.</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2. Binarizing a quantity with orders-of-magnitude dynamic range.</a:t>
                </a:r>
                <a:r>
                  <a:rPr lang="en-US" sz="1200" b="0" i="0" kern="1200" dirty="0">
                    <a:solidFill>
                      <a:schemeClr val="tx1"/>
                    </a:solidFill>
                    <a:effectLst/>
                    <a:latin typeface="+mn-lt"/>
                    <a:ea typeface="+mn-ea"/>
                    <a:cs typeface="+mn-cs"/>
                  </a:rPr>
                  <a:t> </a:t>
                </a:r>
                <a:r>
                  <a:rPr lang="en-US" sz="1200" i="0" kern="1200">
                    <a:solidFill>
                      <a:schemeClr val="tx1"/>
                    </a:solidFill>
                    <a:latin typeface="+mn-lt"/>
                    <a:ea typeface="+mn-ea"/>
                    <a:cs typeface="+mn-cs"/>
                  </a:rPr>
                  <a:t>𝐶_𝑛^2</a:t>
                </a:r>
                <a:r>
                  <a:rPr lang="en-US" sz="1200" b="0" i="0" kern="1200" dirty="0">
                    <a:solidFill>
                      <a:schemeClr val="tx1"/>
                    </a:solidFill>
                    <a:effectLst/>
                    <a:latin typeface="+mn-lt"/>
                    <a:ea typeface="+mn-ea"/>
                    <a:cs typeface="+mn-cs"/>
                  </a:rPr>
                  <a:t> spans roughly </a:t>
                </a:r>
                <a:r>
                  <a:rPr lang="en-US" sz="1200" i="0" kern="1200">
                    <a:solidFill>
                      <a:schemeClr val="tx1"/>
                    </a:solidFill>
                    <a:latin typeface="+mn-lt"/>
                    <a:ea typeface="+mn-ea"/>
                    <a:cs typeface="+mn-cs"/>
                  </a:rPr>
                  <a:t>10^(−17)</a:t>
                </a:r>
                <a:r>
                  <a:rPr lang="en-US" sz="1200" b="0" i="0" kern="1200" dirty="0">
                    <a:solidFill>
                      <a:schemeClr val="tx1"/>
                    </a:solidFill>
                    <a:effectLst/>
                    <a:latin typeface="+mn-lt"/>
                    <a:ea typeface="+mn-ea"/>
                    <a:cs typeface="+mn-cs"/>
                  </a:rPr>
                  <a:t> to </a:t>
                </a:r>
                <a:r>
                  <a:rPr lang="en-US" sz="1200" i="0" kern="1200">
                    <a:solidFill>
                      <a:schemeClr val="tx1"/>
                    </a:solidFill>
                    <a:latin typeface="+mn-lt"/>
                    <a:ea typeface="+mn-ea"/>
                    <a:cs typeface="+mn-cs"/>
                  </a:rPr>
                  <a:t>10^(−13)</a:t>
                </a:r>
                <a:r>
                  <a:rPr lang="en-US" sz="1200" b="0" i="0" kern="1200">
                    <a:solidFill>
                      <a:schemeClr val="tx1"/>
                    </a:solidFill>
                    <a:latin typeface="+mn-lt"/>
                    <a:ea typeface="+mn-ea"/>
                    <a:cs typeface="+mn-cs"/>
                  </a:rPr>
                  <a:t> </a:t>
                </a:r>
                <a:r>
                  <a:rPr lang="en-US"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mn-lt"/>
                    <a:ea typeface="+mn-ea"/>
                    <a:cs typeface="+mn-cs"/>
                  </a:rPr>
                  <a:t>" m^(−2/3)</a:t>
                </a:r>
                <a:r>
                  <a:rPr lang="en-US" sz="1200" b="0" i="0" kern="1200" dirty="0">
                    <a:solidFill>
                      <a:schemeClr val="tx1"/>
                    </a:solidFill>
                    <a:effectLst/>
                    <a:latin typeface="+mn-lt"/>
                    <a:ea typeface="+mn-ea"/>
                    <a:cs typeface="+mn-cs"/>
                  </a:rPr>
                  <a:t> near the ground. And it enters the optics nonlinearly — recall Tuesday's </a:t>
                </a:r>
                <a:r>
                  <a:rPr lang="en-US" sz="1200" i="0" kern="1200">
                    <a:solidFill>
                      <a:schemeClr val="tx1"/>
                    </a:solidFill>
                    <a:latin typeface="+mn-lt"/>
                    <a:ea typeface="+mn-ea"/>
                    <a:cs typeface="+mn-cs"/>
                  </a:rPr>
                  <a:t>𝑟_0∝[∫128▒𝐶_𝑛^2  𝑑𝑧]^(−3/5)</a:t>
                </a:r>
                <a:r>
                  <a:rPr lang="en-US" sz="1200" b="0" i="0" kern="1200" dirty="0">
                    <a:solidFill>
                      <a:schemeClr val="tx1"/>
                    </a:solidFill>
                    <a:effectLst/>
                    <a:latin typeface="+mn-lt"/>
                    <a:ea typeface="+mn-ea"/>
                    <a:cs typeface="+mn-cs"/>
                  </a:rPr>
                  <a:t>, with degradation severity scaling as </a:t>
                </a:r>
                <a:r>
                  <a:rPr lang="en-US" sz="1200" i="0" kern="1200">
                    <a:solidFill>
                      <a:schemeClr val="tx1"/>
                    </a:solidFill>
                    <a:latin typeface="+mn-lt"/>
                    <a:ea typeface="+mn-ea"/>
                    <a:cs typeface="+mn-cs"/>
                  </a:rPr>
                  <a:t>𝐷/𝑟_0</a:t>
                </a:r>
                <a:r>
                  <a:rPr lang="en-US" sz="1200" b="0" i="0" kern="1200" dirty="0">
                    <a:solidFill>
                      <a:schemeClr val="tx1"/>
                    </a:solidFill>
                    <a:effectLst/>
                    <a:latin typeface="+mn-lt"/>
                    <a:ea typeface="+mn-ea"/>
                    <a:cs typeface="+mn-cs"/>
                  </a:rPr>
                  <a:t>. Collapsing that onto yes/no discards nearly all of it. "True" pools weak turbulence with seeing-destroying turbulence.</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3. Collinearity — and this is the sharp one.</a:t>
                </a:r>
                <a:r>
                  <a:rPr lang="en-US" sz="1200" b="0" i="0" kern="1200" dirty="0">
                    <a:solidFill>
                      <a:schemeClr val="tx1"/>
                    </a:solidFill>
                    <a:effectLst/>
                    <a:latin typeface="+mn-lt"/>
                    <a:ea typeface="+mn-ea"/>
                    <a:cs typeface="+mn-cs"/>
                  </a:rPr>
                  <a:t> Daytime near-ground turbulence is </a:t>
                </a:r>
                <a:r>
                  <a:rPr lang="en-US" sz="1200" b="0" i="1" kern="1200" dirty="0">
                    <a:solidFill>
                      <a:schemeClr val="tx1"/>
                    </a:solidFill>
                    <a:effectLst/>
                    <a:latin typeface="+mn-lt"/>
                    <a:ea typeface="+mn-ea"/>
                    <a:cs typeface="+mn-cs"/>
                  </a:rPr>
                  <a:t>driven by</a:t>
                </a:r>
                <a:r>
                  <a:rPr lang="en-US" sz="1200" b="0" i="0" kern="1200" dirty="0">
                    <a:solidFill>
                      <a:schemeClr val="tx1"/>
                    </a:solidFill>
                    <a:effectLst/>
                    <a:latin typeface="+mn-lt"/>
                    <a:ea typeface="+mn-ea"/>
                    <a:cs typeface="+mn-cs"/>
                  </a:rPr>
                  <a:t> solar heating of the surface: insolation → surface heat flux → convective thermal plumes → refractive index fluctuations. Solar load is a turbulence generator.</a:t>
                </a:r>
              </a:p>
              <a:p>
                <a:r>
                  <a:rPr lang="en-US" sz="1200" b="0" i="0" kern="1200" dirty="0">
                    <a:solidFill>
                      <a:schemeClr val="tx1"/>
                    </a:solidFill>
                    <a:effectLst/>
                    <a:latin typeface="+mn-lt"/>
                    <a:ea typeface="+mn-ea"/>
                    <a:cs typeface="+mn-cs"/>
                  </a:rPr>
                  <a:t>Solar Load &gt; 900 W/m² comes in at </a:t>
                </a:r>
                <a:r>
                  <a:rPr lang="en-US" sz="1200" b="1" i="0" kern="1200" dirty="0">
                    <a:solidFill>
                      <a:schemeClr val="tx1"/>
                    </a:solidFill>
                    <a:effectLst/>
                    <a:latin typeface="+mn-lt"/>
                    <a:ea typeface="+mn-ea"/>
                    <a:cs typeface="+mn-cs"/>
                  </a:rPr>
                  <a:t>+0.87, p &lt; 0.001</a:t>
                </a:r>
                <a:r>
                  <a:rPr lang="en-US" sz="1200" b="0" i="0" kern="1200" dirty="0">
                    <a:solidFill>
                      <a:schemeClr val="tx1"/>
                    </a:solidFill>
                    <a:effectLst/>
                    <a:latin typeface="+mn-lt"/>
                    <a:ea typeface="+mn-ea"/>
                    <a:cs typeface="+mn-cs"/>
                  </a:rPr>
                  <a:t> — one of the largest weather effects in the paper.</a:t>
                </a:r>
              </a:p>
              <a:p>
                <a:r>
                  <a:rPr lang="en-US" sz="1200" b="0" i="0" kern="1200" dirty="0">
                    <a:solidFill>
                      <a:schemeClr val="tx1"/>
                    </a:solidFill>
                    <a:effectLst/>
                    <a:latin typeface="+mn-lt"/>
                    <a:ea typeface="+mn-ea"/>
                    <a:cs typeface="+mn-cs"/>
                  </a:rPr>
                  <a:t>So a live hypothesis is that </a:t>
                </a:r>
                <a:r>
                  <a:rPr lang="en-US" sz="1200" b="1" i="0" kern="1200" dirty="0">
                    <a:solidFill>
                      <a:schemeClr val="tx1"/>
                    </a:solidFill>
                    <a:effectLst/>
                    <a:latin typeface="+mn-lt"/>
                    <a:ea typeface="+mn-ea"/>
                    <a:cs typeface="+mn-cs"/>
                  </a:rPr>
                  <a:t>the paper did detect turbulence and filed it under "solar loading."</a:t>
                </a:r>
                <a:r>
                  <a:rPr lang="en-US" sz="1200" b="0" i="0" kern="1200" dirty="0">
                    <a:solidFill>
                      <a:schemeClr val="tx1"/>
                    </a:solidFill>
                    <a:effectLst/>
                    <a:latin typeface="+mn-lt"/>
                    <a:ea typeface="+mn-ea"/>
                    <a:cs typeface="+mn-cs"/>
                  </a:rPr>
                  <a:t> The authors half-say this themselves (§6, p. 8): </a:t>
                </a:r>
                <a:r>
                  <a:rPr lang="en-US" sz="1200" b="0" i="1" kern="1200" dirty="0">
                    <a:solidFill>
                      <a:schemeClr val="tx1"/>
                    </a:solidFill>
                    <a:effectLst/>
                    <a:latin typeface="+mn-lt"/>
                    <a:ea typeface="+mn-ea"/>
                    <a:cs typeface="+mn-cs"/>
                  </a:rPr>
                  <a:t>"It is also possible that turbulence is already accounted for in the model by other covariates, such as distance or solar loading."</a:t>
                </a:r>
                <a:r>
                  <a:rPr lang="en-US" sz="1200" b="0" i="0" kern="1200" dirty="0">
                    <a:solidFill>
                      <a:schemeClr val="tx1"/>
                    </a:solidFill>
                    <a:effectLst/>
                    <a:latin typeface="+mn-lt"/>
                    <a:ea typeface="+mn-ea"/>
                    <a:cs typeface="+mn-cs"/>
                  </a:rPr>
                  <a:t> Path length is the other absorber, since turbulence integrates along the optical path, so range partially encodes cumulative </a:t>
                </a:r>
                <a:r>
                  <a:rPr lang="en-US" sz="1200" i="0" kern="1200">
                    <a:solidFill>
                      <a:schemeClr val="tx1"/>
                    </a:solidFill>
                    <a:latin typeface="+mn-lt"/>
                    <a:ea typeface="+mn-ea"/>
                    <a:cs typeface="+mn-cs"/>
                  </a:rPr>
                  <a:t>𝐶_𝑛^2</a:t>
                </a:r>
                <a:r>
                  <a:rPr lang="en-US" sz="1200" b="0" i="0" kern="1200" dirty="0">
                    <a:solidFill>
                      <a:schemeClr val="tx1"/>
                    </a:solidFill>
                    <a:effectLst/>
                    <a:latin typeface="+mn-lt"/>
                    <a:ea typeface="+mn-ea"/>
                    <a:cs typeface="+mn-cs"/>
                  </a:rPr>
                  <a:t>. Plus the 63 </a:t>
                </a:r>
                <a:r>
                  <a:rPr lang="en-US" sz="1200" b="0" i="0" kern="1200" dirty="0" err="1">
                    <a:solidFill>
                      <a:schemeClr val="tx1"/>
                    </a:solidFill>
                    <a:effectLst/>
                    <a:latin typeface="+mn-lt"/>
                    <a:ea typeface="+mn-ea"/>
                    <a:cs typeface="+mn-cs"/>
                  </a:rPr>
                  <a:t>sensor×collection</a:t>
                </a:r>
                <a:r>
                  <a:rPr lang="en-US" sz="1200" b="0" i="0" kern="1200" dirty="0">
                    <a:solidFill>
                      <a:schemeClr val="tx1"/>
                    </a:solidFill>
                    <a:effectLst/>
                    <a:latin typeface="+mn-lt"/>
                    <a:ea typeface="+mn-ea"/>
                    <a:cs typeface="+mn-cs"/>
                  </a:rPr>
                  <a:t> groups soak up site- and season-level atmospheric character. Turbulence is competing with three better-measured proxies for the same variance.</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4. Restricted support.</a:t>
                </a:r>
                <a:r>
                  <a:rPr lang="en-US" sz="1200" b="0" i="0" kern="1200" dirty="0">
                    <a:solidFill>
                      <a:schemeClr val="tx1"/>
                    </a:solidFill>
                    <a:effectLst/>
                    <a:latin typeface="+mn-lt"/>
                    <a:ea typeface="+mn-ea"/>
                    <a:cs typeface="+mn-cs"/>
                  </a:rPr>
                  <a:t> Turbulence only degrades medium- and long-range imagery, so most of the 8,295 modeled probes are structurally incapable of showing an effect. The contrast that matters is being estimated on a subset, then reported as a global coefficient.</a:t>
                </a:r>
              </a:p>
              <a:p>
                <a:pPr lvl="0"/>
                <a:endParaRPr lang="en-US" b="1" dirty="0"/>
              </a:p>
            </p:txBody>
          </p:sp>
        </mc:Fallback>
      </mc:AlternateContent>
      <p:sp>
        <p:nvSpPr>
          <p:cNvPr id="4" name="Slide Number Placeholder 3">
            <a:extLst>
              <a:ext uri="{FF2B5EF4-FFF2-40B4-BE49-F238E27FC236}">
                <a16:creationId xmlns:a16="http://schemas.microsoft.com/office/drawing/2014/main" id="{88BC0318-09B4-41C2-CBA5-293E91137C5C}"/>
              </a:ext>
            </a:extLst>
          </p:cNvPr>
          <p:cNvSpPr>
            <a:spLocks noGrp="1"/>
          </p:cNvSpPr>
          <p:nvPr>
            <p:ph type="sldNum" sz="quarter" idx="5"/>
          </p:nvPr>
        </p:nvSpPr>
        <p:spPr/>
        <p:txBody>
          <a:bodyPr/>
          <a:lstStyle/>
          <a:p>
            <a:fld id="{29E7BD1F-0023-244E-A8FD-1ADCC0FAE1A1}" type="slidenum">
              <a:rPr lang="en-US" smtClean="0"/>
              <a:t>34</a:t>
            </a:fld>
            <a:endParaRPr lang="en-US"/>
          </a:p>
        </p:txBody>
      </p:sp>
    </p:spTree>
    <p:extLst>
      <p:ext uri="{BB962C8B-B14F-4D97-AF65-F5344CB8AC3E}">
        <p14:creationId xmlns:p14="http://schemas.microsoft.com/office/powerpoint/2010/main" val="10381711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05708-4042-1BC2-2047-D68C03652C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605B2F-1059-94EB-B6B9-84B07EAAAB25}"/>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35514DFB-E381-5560-ED76-38040D539618}"/>
                  </a:ext>
                </a:extLst>
              </p:cNvPr>
              <p:cNvSpPr>
                <a:spLocks noGrp="1"/>
              </p:cNvSpPr>
              <p:nvPr>
                <p:ph type="body" idx="1"/>
              </p:nvPr>
            </p:nvSpPr>
            <p:spPr/>
            <p:txBody>
              <a:bodyPr/>
              <a:lstStyle/>
              <a:p>
                <a:pPr lvl="0"/>
                <a:r>
                  <a:rPr lang="en-US" dirty="0" err="1"/>
                  <a:t>Tubulence</a:t>
                </a:r>
                <a:r>
                  <a:rPr lang="en-US" dirty="0"/>
                  <a:t> Null:</a:t>
                </a:r>
              </a:p>
              <a:p>
                <a:pPr lvl="0"/>
                <a:endParaRPr lang="en-US" dirty="0"/>
              </a:p>
              <a:p>
                <a:r>
                  <a:rPr lang="en-US" sz="1200" b="0" i="0" kern="1200" dirty="0">
                    <a:solidFill>
                      <a:schemeClr val="tx1"/>
                    </a:solidFill>
                    <a:effectLst/>
                    <a:latin typeface="+mn-lt"/>
                    <a:ea typeface="+mn-ea"/>
                    <a:cs typeface="+mn-cs"/>
                  </a:rPr>
                  <a:t>Has Turbulence = True: </a:t>
                </a:r>
                <a:r>
                  <a:rPr lang="en-US" sz="1200" b="1" i="0" kern="1200" dirty="0">
                    <a:solidFill>
                      <a:schemeClr val="tx1"/>
                    </a:solidFill>
                    <a:effectLst/>
                    <a:latin typeface="+mn-lt"/>
                    <a:ea typeface="+mn-ea"/>
                    <a:cs typeface="+mn-cs"/>
                  </a:rPr>
                  <a:t>+0.06, p = 0.104.</a:t>
                </a:r>
                <a:r>
                  <a:rPr lang="en-US" sz="1200" b="0" i="0" kern="1200" dirty="0">
                    <a:solidFill>
                      <a:schemeClr val="tx1"/>
                    </a:solidFill>
                    <a:effectLst/>
                    <a:latin typeface="+mn-lt"/>
                    <a:ea typeface="+mn-ea"/>
                    <a:cs typeface="+mn-cs"/>
                  </a:rPr>
                  <a:t> A clean null for the phenomenon the program considers central.</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authors offer three explanations: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Algorithms genuinely mitigate it — temporal integration, "lucky" frames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It's already absorbed by distance and solar loading</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It couldn't be measured:</a:t>
                </a:r>
                <a:r>
                  <a:rPr lang="en-US" sz="1200" b="0" i="0" kern="1200" dirty="0">
                    <a:solidFill>
                      <a:schemeClr val="tx1"/>
                    </a:solidFill>
                    <a:effectLst/>
                    <a:latin typeface="+mn-lt"/>
                    <a:ea typeface="+mn-ea"/>
                    <a:cs typeface="+mn-cs"/>
                  </a:rPr>
                  <a:t> "we could only measure turbulence (</a:t>
                </a:r>
                <a14:m>
                  <m:oMath xmlns:m="http://schemas.openxmlformats.org/officeDocument/2006/math">
                    <m:sSubSup>
                      <m:sSubSupPr>
                        <m:ctrlPr>
                          <a:rPr lang="en-US" sz="1200" i="1" kern="1200">
                            <a:solidFill>
                              <a:schemeClr val="tx1"/>
                            </a:solidFill>
                            <a:latin typeface="Cambria Math" panose="02040503050406030204" pitchFamily="18" charset="0"/>
                            <a:ea typeface="+mn-ea"/>
                            <a:cs typeface="+mn-cs"/>
                          </a:rPr>
                        </m:ctrlPr>
                      </m:sSubSupPr>
                      <m:e>
                        <m:r>
                          <a:rPr lang="en-US" sz="1200" i="1" kern="1200">
                            <a:solidFill>
                              <a:schemeClr val="tx1"/>
                            </a:solidFill>
                            <a:latin typeface="Cambria Math" panose="02040503050406030204" pitchFamily="18" charset="0"/>
                            <a:ea typeface="+mn-ea"/>
                            <a:cs typeface="+mn-cs"/>
                          </a:rPr>
                          <m:t>𝐶</m:t>
                        </m:r>
                      </m:e>
                      <m:sub>
                        <m:r>
                          <a:rPr lang="en-US" sz="1200" i="1" kern="1200">
                            <a:solidFill>
                              <a:schemeClr val="tx1"/>
                            </a:solidFill>
                            <a:latin typeface="Cambria Math" panose="02040503050406030204" pitchFamily="18" charset="0"/>
                            <a:ea typeface="+mn-ea"/>
                            <a:cs typeface="+mn-cs"/>
                          </a:rPr>
                          <m:t>𝑛</m:t>
                        </m:r>
                      </m:sub>
                      <m:sup>
                        <m:r>
                          <a:rPr lang="en-US" sz="1200" i="0" kern="1200">
                            <a:solidFill>
                              <a:schemeClr val="tx1"/>
                            </a:solidFill>
                            <a:latin typeface="Cambria Math" panose="02040503050406030204" pitchFamily="18" charset="0"/>
                            <a:ea typeface="+mn-ea"/>
                            <a:cs typeface="+mn-cs"/>
                          </a:rPr>
                          <m:t>2</m:t>
                        </m:r>
                      </m:sup>
                    </m:sSubSup>
                  </m:oMath>
                </a14:m>
                <a:r>
                  <a:rPr lang="en-US" sz="1200" b="0" i="0" kern="1200" dirty="0">
                    <a:solidFill>
                      <a:schemeClr val="tx1"/>
                    </a:solidFill>
                    <a:effectLst/>
                    <a:latin typeface="+mn-lt"/>
                    <a:ea typeface="+mn-ea"/>
                    <a:cs typeface="+mn-cs"/>
                  </a:rPr>
                  <a:t>) for a small number of cameras which were placed near collection scintillometers. Consequently, </a:t>
                </a:r>
                <a:r>
                  <a:rPr lang="en-US" sz="1200" b="1" i="0" kern="1200" dirty="0">
                    <a:solidFill>
                      <a:schemeClr val="tx1"/>
                    </a:solidFill>
                    <a:effectLst/>
                    <a:latin typeface="+mn-lt"/>
                    <a:ea typeface="+mn-ea"/>
                    <a:cs typeface="+mn-cs"/>
                  </a:rPr>
                  <a:t>estimating turbulence for the majority of the cameras is infeasible.</a:t>
                </a:r>
                <a:r>
                  <a:rPr lang="en-US" sz="1200" b="0" i="0" kern="1200" dirty="0">
                    <a:solidFill>
                      <a:schemeClr val="tx1"/>
                    </a:solidFill>
                    <a:effectLst/>
                    <a:latin typeface="+mn-lt"/>
                    <a:ea typeface="+mn-ea"/>
                    <a:cs typeface="+mn-cs"/>
                  </a:rPr>
                  <a:t>”</a:t>
                </a:r>
              </a:p>
              <a:p>
                <a:pPr marL="171450" lvl="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r>
                  <a:rPr lang="en-US" sz="1200" b="0" i="0" kern="1200" dirty="0">
                    <a:solidFill>
                      <a:schemeClr val="tx1"/>
                    </a:solidFill>
                    <a:effectLst/>
                    <a:latin typeface="+mn-lt"/>
                    <a:ea typeface="+mn-ea"/>
                    <a:cs typeface="+mn-cs"/>
                  </a:rPr>
                  <a:t>Additivity by Assertion: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Although interactions may indeed play a significant role in this research, we have opted for a simpler model.”</a:t>
                </a:r>
              </a:p>
              <a:p>
                <a:pPr marL="0" lvl="0" indent="0">
                  <a:buFont typeface="Arial" panose="020B0604020202020204" pitchFamily="34" charset="0"/>
                  <a:buNone/>
                </a:pPr>
                <a:endParaRPr lang="en-US" sz="1200" b="1" i="0" kern="1200" dirty="0">
                  <a:solidFill>
                    <a:schemeClr val="tx1"/>
                  </a:solidFill>
                  <a:effectLst/>
                  <a:latin typeface="+mn-lt"/>
                  <a:ea typeface="+mn-ea"/>
                  <a:cs typeface="+mn-cs"/>
                </a:endParaRPr>
              </a:p>
              <a:p>
                <a:pPr marL="0" lvl="0" indent="0">
                  <a:buFont typeface="Arial" panose="020B0604020202020204" pitchFamily="34" charset="0"/>
                  <a:buNone/>
                </a:pPr>
                <a:r>
                  <a:rPr lang="en-US" sz="1200" b="1" i="0" kern="1200" dirty="0">
                    <a:solidFill>
                      <a:schemeClr val="tx1"/>
                    </a:solidFill>
                    <a:effectLst/>
                    <a:latin typeface="+mn-lt"/>
                    <a:ea typeface="+mn-ea"/>
                    <a:cs typeface="+mn-cs"/>
                  </a:rPr>
                  <a:t>Ask:</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"Name an interaction you'd expect to be strong. Which way would including it move the Eq. (4) estimate?"</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Candidates: head height × turbulence (turbulence should matter far more when you have few pixels to lose); solar load × modality; range × sensor. Most plausible interactions are </a:t>
                </a:r>
                <a:r>
                  <a:rPr lang="en-US" sz="1200" b="1" i="0" kern="1200" dirty="0">
                    <a:solidFill>
                      <a:schemeClr val="tx1"/>
                    </a:solidFill>
                    <a:effectLst/>
                    <a:latin typeface="+mn-lt"/>
                    <a:ea typeface="+mn-ea"/>
                    <a:cs typeface="+mn-cs"/>
                  </a:rPr>
                  <a:t>super-additive</a:t>
                </a:r>
                <a:r>
                  <a:rPr lang="en-US" sz="1200" b="0" i="0" kern="1200" dirty="0">
                    <a:solidFill>
                      <a:schemeClr val="tx1"/>
                    </a:solidFill>
                    <a:effectLst/>
                    <a:latin typeface="+mn-lt"/>
                    <a:ea typeface="+mn-ea"/>
                    <a:cs typeface="+mn-cs"/>
                  </a:rPr>
                  <a:t>, meaning Eq. (4) likely </a:t>
                </a:r>
                <a:r>
                  <a:rPr lang="en-US" sz="1200" b="0" i="1" kern="1200" dirty="0">
                    <a:solidFill>
                      <a:schemeClr val="tx1"/>
                    </a:solidFill>
                    <a:effectLst/>
                    <a:latin typeface="+mn-lt"/>
                    <a:ea typeface="+mn-ea"/>
                    <a:cs typeface="+mn-cs"/>
                  </a:rPr>
                  <a:t>understates</a:t>
                </a:r>
                <a:r>
                  <a:rPr lang="en-US" sz="1200" b="0" i="0" kern="1200" dirty="0">
                    <a:solidFill>
                      <a:schemeClr val="tx1"/>
                    </a:solidFill>
                    <a:effectLst/>
                    <a:latin typeface="+mn-lt"/>
                    <a:ea typeface="+mn-ea"/>
                    <a:cs typeface="+mn-cs"/>
                  </a:rPr>
                  <a:t> combined degradation.</a:t>
                </a: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r>
                  <a:rPr lang="en-US" sz="1200" b="0" i="0" kern="1200" dirty="0">
                    <a:solidFill>
                      <a:schemeClr val="tx1"/>
                    </a:solidFill>
                    <a:effectLst/>
                    <a:latin typeface="+mn-lt"/>
                    <a:ea typeface="+mn-ea"/>
                    <a:cs typeface="+mn-cs"/>
                  </a:rPr>
                  <a:t>Binning and UAV:</a:t>
                </a:r>
              </a:p>
              <a:p>
                <a:r>
                  <a:rPr lang="en-US" sz="1200" b="0" i="0" kern="1200" dirty="0">
                    <a:solidFill>
                      <a:schemeClr val="tx1"/>
                    </a:solidFill>
                    <a:effectLst/>
                    <a:latin typeface="+mn-lt"/>
                    <a:ea typeface="+mn-ea"/>
                    <a:cs typeface="+mn-cs"/>
                  </a:rPr>
                  <a:t>All continuous covariates were categorized (§5, p. 6) — within-bin information discarded. Worse, the UAV category:</a:t>
                </a:r>
              </a:p>
              <a:p>
                <a:r>
                  <a:rPr lang="en-US" sz="1200" b="0" i="0" kern="1200" dirty="0">
                    <a:solidFill>
                      <a:schemeClr val="tx1"/>
                    </a:solidFill>
                    <a:effectLst/>
                    <a:latin typeface="+mn-lt"/>
                    <a:ea typeface="+mn-ea"/>
                    <a:cs typeface="+mn-cs"/>
                  </a:rPr>
                  <a:t>"'UAV' mounted cameras exhibit significant variability. This likely results from the difference between small, modern HD and 4k quadcopters that typically fly at low altitude and within 100m of the subjects and larger systems that fly at longer distances and up to 1200 ft altitude, often with older or lower resolution payloads. </a:t>
                </a:r>
                <a:r>
                  <a:rPr lang="en-US" sz="1200" b="1" i="0" kern="1200" dirty="0">
                    <a:solidFill>
                      <a:schemeClr val="tx1"/>
                    </a:solidFill>
                    <a:effectLst/>
                    <a:latin typeface="+mn-lt"/>
                    <a:ea typeface="+mn-ea"/>
                    <a:cs typeface="+mn-cs"/>
                  </a:rPr>
                  <a:t>In this model, all of these are grouped into the same category.</a:t>
                </a:r>
                <a:r>
                  <a:rPr lang="en-US" sz="1200" b="0" i="0" kern="1200" dirty="0">
                    <a:solidFill>
                      <a:schemeClr val="tx1"/>
                    </a:solidFill>
                    <a:effectLst/>
                    <a:latin typeface="+mn-lt"/>
                    <a:ea typeface="+mn-ea"/>
                    <a:cs typeface="+mn-cs"/>
                  </a:rPr>
                  <a:t>" — §6, p. 7</a:t>
                </a:r>
              </a:p>
              <a:p>
                <a:r>
                  <a:rPr lang="en-US" sz="1200" b="0" i="0" kern="1200" dirty="0">
                    <a:solidFill>
                      <a:schemeClr val="tx1"/>
                    </a:solidFill>
                    <a:effectLst/>
                    <a:latin typeface="+mn-lt"/>
                    <a:ea typeface="+mn-ea"/>
                    <a:cs typeface="+mn-cs"/>
                  </a:rPr>
                  <a:t>Result: +1.00 with CI (−0.12, 2.12), p = 0.081 — </a:t>
                </a:r>
                <a:r>
                  <a:rPr lang="en-US" sz="1200" b="1" i="0" kern="1200" dirty="0">
                    <a:solidFill>
                      <a:schemeClr val="tx1"/>
                    </a:solidFill>
                    <a:effectLst/>
                    <a:latin typeface="+mn-lt"/>
                    <a:ea typeface="+mn-ea"/>
                    <a:cs typeface="+mn-cs"/>
                  </a:rPr>
                  <a:t>not significant</a:t>
                </a:r>
                <a:r>
                  <a:rPr lang="en-US" sz="1200" b="0" i="0" kern="1200" dirty="0">
                    <a:solidFill>
                      <a:schemeClr val="tx1"/>
                    </a:solidFill>
                    <a:effectLst/>
                    <a:latin typeface="+mn-lt"/>
                    <a:ea typeface="+mn-ea"/>
                    <a:cs typeface="+mn-cs"/>
                  </a:rPr>
                  <a:t>, and operationally the most interesting category in the paper.</a:t>
                </a: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a:p>
                <a:pPr lvl="0"/>
                <a:endParaRPr lang="en-US" dirty="0"/>
              </a:p>
            </p:txBody>
          </p:sp>
        </mc:Choice>
        <mc:Fallback>
          <p:sp>
            <p:nvSpPr>
              <p:cNvPr id="3" name="Notes Placeholder 2">
                <a:extLst>
                  <a:ext uri="{FF2B5EF4-FFF2-40B4-BE49-F238E27FC236}">
                    <a16:creationId xmlns:a16="http://schemas.microsoft.com/office/drawing/2014/main" id="{35514DFB-E381-5560-ED76-38040D539618}"/>
                  </a:ext>
                </a:extLst>
              </p:cNvPr>
              <p:cNvSpPr>
                <a:spLocks noGrp="1"/>
              </p:cNvSpPr>
              <p:nvPr>
                <p:ph type="body" idx="1"/>
              </p:nvPr>
            </p:nvSpPr>
            <p:spPr/>
            <p:txBody>
              <a:bodyPr/>
              <a:lstStyle/>
              <a:p>
                <a:pPr lvl="0"/>
                <a:r>
                  <a:rPr lang="en-US" dirty="0" err="1"/>
                  <a:t>Tubulence</a:t>
                </a:r>
                <a:r>
                  <a:rPr lang="en-US" dirty="0"/>
                  <a:t> Null:</a:t>
                </a:r>
              </a:p>
              <a:p>
                <a:pPr lvl="0"/>
                <a:endParaRPr lang="en-US" dirty="0"/>
              </a:p>
              <a:p>
                <a:r>
                  <a:rPr lang="en-US" sz="1200" b="0" i="0" kern="1200" dirty="0">
                    <a:solidFill>
                      <a:schemeClr val="tx1"/>
                    </a:solidFill>
                    <a:effectLst/>
                    <a:latin typeface="+mn-lt"/>
                    <a:ea typeface="+mn-ea"/>
                    <a:cs typeface="+mn-cs"/>
                  </a:rPr>
                  <a:t>Has Turbulence = True: </a:t>
                </a:r>
                <a:r>
                  <a:rPr lang="en-US" sz="1200" b="1" i="0" kern="1200" dirty="0">
                    <a:solidFill>
                      <a:schemeClr val="tx1"/>
                    </a:solidFill>
                    <a:effectLst/>
                    <a:latin typeface="+mn-lt"/>
                    <a:ea typeface="+mn-ea"/>
                    <a:cs typeface="+mn-cs"/>
                  </a:rPr>
                  <a:t>+0.06, p = 0.104.</a:t>
                </a:r>
                <a:r>
                  <a:rPr lang="en-US" sz="1200" b="0" i="0" kern="1200" dirty="0">
                    <a:solidFill>
                      <a:schemeClr val="tx1"/>
                    </a:solidFill>
                    <a:effectLst/>
                    <a:latin typeface="+mn-lt"/>
                    <a:ea typeface="+mn-ea"/>
                    <a:cs typeface="+mn-cs"/>
                  </a:rPr>
                  <a:t> A clean null for the phenomenon the program considers central.</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authors offer three explanations: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Algorithms genuinely mitigate it — temporal integration, "lucky" frames</a:t>
                </a:r>
              </a:p>
              <a:p>
                <a:pPr marL="171450" lvl="0" indent="-171450">
                  <a:buFont typeface="Arial" panose="020B0604020202020204" pitchFamily="34" charset="0"/>
                  <a:buChar char="•"/>
                </a:pPr>
                <a:r>
                  <a:rPr lang="en-US" sz="1200" b="0" i="0" kern="1200" dirty="0">
                    <a:solidFill>
                      <a:schemeClr val="tx1"/>
                    </a:solidFill>
                    <a:effectLst/>
                    <a:latin typeface="+mn-lt"/>
                    <a:ea typeface="+mn-ea"/>
                    <a:cs typeface="+mn-cs"/>
                  </a:rPr>
                  <a:t>It's already absorbed by distance and solar loading</a:t>
                </a:r>
              </a:p>
              <a:p>
                <a:pPr marL="171450" lvl="0" indent="-171450">
                  <a:buFont typeface="Arial" panose="020B0604020202020204" pitchFamily="34" charset="0"/>
                  <a:buChar char="•"/>
                </a:pPr>
                <a:r>
                  <a:rPr lang="en-US" sz="1200" b="1" i="0" kern="1200" dirty="0">
                    <a:solidFill>
                      <a:schemeClr val="tx1"/>
                    </a:solidFill>
                    <a:effectLst/>
                    <a:latin typeface="+mn-lt"/>
                    <a:ea typeface="+mn-ea"/>
                    <a:cs typeface="+mn-cs"/>
                  </a:rPr>
                  <a:t>It couldn't be measured:</a:t>
                </a:r>
                <a:r>
                  <a:rPr lang="en-US" sz="1200" b="0" i="0" kern="1200" dirty="0">
                    <a:solidFill>
                      <a:schemeClr val="tx1"/>
                    </a:solidFill>
                    <a:effectLst/>
                    <a:latin typeface="+mn-lt"/>
                    <a:ea typeface="+mn-ea"/>
                    <a:cs typeface="+mn-cs"/>
                  </a:rPr>
                  <a:t> "we could only measure turbulence (</a:t>
                </a:r>
                <a:r>
                  <a:rPr lang="en-US" sz="1200" i="0" kern="1200">
                    <a:solidFill>
                      <a:schemeClr val="tx1"/>
                    </a:solidFill>
                    <a:latin typeface="Cambria Math" panose="02040503050406030204" pitchFamily="18" charset="0"/>
                    <a:ea typeface="+mn-ea"/>
                    <a:cs typeface="+mn-cs"/>
                  </a:rPr>
                  <a:t>𝐶_𝑛^2</a:t>
                </a:r>
                <a:r>
                  <a:rPr lang="en-US" sz="1200" b="0" i="0" kern="1200" dirty="0">
                    <a:solidFill>
                      <a:schemeClr val="tx1"/>
                    </a:solidFill>
                    <a:effectLst/>
                    <a:latin typeface="+mn-lt"/>
                    <a:ea typeface="+mn-ea"/>
                    <a:cs typeface="+mn-cs"/>
                  </a:rPr>
                  <a:t>) for a small number of cameras which were placed near collection scintillometers. Consequently, </a:t>
                </a:r>
                <a:r>
                  <a:rPr lang="en-US" sz="1200" b="1" i="0" kern="1200" dirty="0">
                    <a:solidFill>
                      <a:schemeClr val="tx1"/>
                    </a:solidFill>
                    <a:effectLst/>
                    <a:latin typeface="+mn-lt"/>
                    <a:ea typeface="+mn-ea"/>
                    <a:cs typeface="+mn-cs"/>
                  </a:rPr>
                  <a:t>estimating turbulence for the majority of the cameras is infeasible.</a:t>
                </a:r>
                <a:r>
                  <a:rPr lang="en-US" sz="1200" b="0" i="0" kern="1200" dirty="0">
                    <a:solidFill>
                      <a:schemeClr val="tx1"/>
                    </a:solidFill>
                    <a:effectLst/>
                    <a:latin typeface="+mn-lt"/>
                    <a:ea typeface="+mn-ea"/>
                    <a:cs typeface="+mn-cs"/>
                  </a:rPr>
                  <a:t>”</a:t>
                </a:r>
              </a:p>
              <a:p>
                <a:pPr marL="171450" lvl="0" indent="-171450">
                  <a:buFont typeface="Arial" panose="020B0604020202020204" pitchFamily="34" charset="0"/>
                  <a:buChar char="•"/>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r>
                  <a:rPr lang="en-US" sz="1200" b="0" i="0" kern="1200" dirty="0">
                    <a:solidFill>
                      <a:schemeClr val="tx1"/>
                    </a:solidFill>
                    <a:effectLst/>
                    <a:latin typeface="+mn-lt"/>
                    <a:ea typeface="+mn-ea"/>
                    <a:cs typeface="+mn-cs"/>
                  </a:rPr>
                  <a:t>Additivity by Assertion: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Although interactions may indeed play a significant role in this research, we have opted for a simpler model.”</a:t>
                </a:r>
              </a:p>
              <a:p>
                <a:pPr marL="0" lvl="0" indent="0">
                  <a:buFont typeface="Arial" panose="020B0604020202020204" pitchFamily="34" charset="0"/>
                  <a:buNone/>
                </a:pPr>
                <a:endParaRPr lang="en-US" sz="1200" b="1" i="0" kern="1200" dirty="0">
                  <a:solidFill>
                    <a:schemeClr val="tx1"/>
                  </a:solidFill>
                  <a:effectLst/>
                  <a:latin typeface="+mn-lt"/>
                  <a:ea typeface="+mn-ea"/>
                  <a:cs typeface="+mn-cs"/>
                </a:endParaRPr>
              </a:p>
              <a:p>
                <a:pPr marL="0" lvl="0" indent="0">
                  <a:buFont typeface="Arial" panose="020B0604020202020204" pitchFamily="34" charset="0"/>
                  <a:buNone/>
                </a:pPr>
                <a:r>
                  <a:rPr lang="en-US" sz="1200" b="1" i="0" kern="1200" dirty="0">
                    <a:solidFill>
                      <a:schemeClr val="tx1"/>
                    </a:solidFill>
                    <a:effectLst/>
                    <a:latin typeface="+mn-lt"/>
                    <a:ea typeface="+mn-ea"/>
                    <a:cs typeface="+mn-cs"/>
                  </a:rPr>
                  <a:t>Ask:</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"Name an interaction you'd expect to be strong. Which way would including it move the Eq. (4) estimate?"</a:t>
                </a:r>
                <a:r>
                  <a:rPr lang="en-US" sz="1200" b="0" i="0" kern="1200" dirty="0">
                    <a:solidFill>
                      <a:schemeClr val="tx1"/>
                    </a:solidFill>
                    <a:effectLst/>
                    <a:latin typeface="+mn-lt"/>
                    <a:ea typeface="+mn-ea"/>
                    <a:cs typeface="+mn-cs"/>
                  </a:rPr>
                  <a:t>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Candidates: head height × turbulence (turbulence should matter far more when you have few pixels to lose); solar load × modality; range × sensor. Most plausible interactions are </a:t>
                </a:r>
                <a:r>
                  <a:rPr lang="en-US" sz="1200" b="1" i="0" kern="1200" dirty="0">
                    <a:solidFill>
                      <a:schemeClr val="tx1"/>
                    </a:solidFill>
                    <a:effectLst/>
                    <a:latin typeface="+mn-lt"/>
                    <a:ea typeface="+mn-ea"/>
                    <a:cs typeface="+mn-cs"/>
                  </a:rPr>
                  <a:t>super-additive</a:t>
                </a:r>
                <a:r>
                  <a:rPr lang="en-US" sz="1200" b="0" i="0" kern="1200" dirty="0">
                    <a:solidFill>
                      <a:schemeClr val="tx1"/>
                    </a:solidFill>
                    <a:effectLst/>
                    <a:latin typeface="+mn-lt"/>
                    <a:ea typeface="+mn-ea"/>
                    <a:cs typeface="+mn-cs"/>
                  </a:rPr>
                  <a:t>, meaning Eq. (4) likely </a:t>
                </a:r>
                <a:r>
                  <a:rPr lang="en-US" sz="1200" b="0" i="1" kern="1200" dirty="0">
                    <a:solidFill>
                      <a:schemeClr val="tx1"/>
                    </a:solidFill>
                    <a:effectLst/>
                    <a:latin typeface="+mn-lt"/>
                    <a:ea typeface="+mn-ea"/>
                    <a:cs typeface="+mn-cs"/>
                  </a:rPr>
                  <a:t>understates</a:t>
                </a:r>
                <a:r>
                  <a:rPr lang="en-US" sz="1200" b="0" i="0" kern="1200" dirty="0">
                    <a:solidFill>
                      <a:schemeClr val="tx1"/>
                    </a:solidFill>
                    <a:effectLst/>
                    <a:latin typeface="+mn-lt"/>
                    <a:ea typeface="+mn-ea"/>
                    <a:cs typeface="+mn-cs"/>
                  </a:rPr>
                  <a:t> combined degradation.</a:t>
                </a: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r>
                  <a:rPr lang="en-US" sz="1200" b="0" i="0" kern="1200" dirty="0">
                    <a:solidFill>
                      <a:schemeClr val="tx1"/>
                    </a:solidFill>
                    <a:effectLst/>
                    <a:latin typeface="+mn-lt"/>
                    <a:ea typeface="+mn-ea"/>
                    <a:cs typeface="+mn-cs"/>
                  </a:rPr>
                  <a:t>Binning and UAV:</a:t>
                </a:r>
              </a:p>
              <a:p>
                <a:r>
                  <a:rPr lang="en-US" sz="1200" b="0" i="0" kern="1200" dirty="0">
                    <a:solidFill>
                      <a:schemeClr val="tx1"/>
                    </a:solidFill>
                    <a:effectLst/>
                    <a:latin typeface="+mn-lt"/>
                    <a:ea typeface="+mn-ea"/>
                    <a:cs typeface="+mn-cs"/>
                  </a:rPr>
                  <a:t>All continuous covariates were categorized (§5, p. 6) — within-bin information discarded. Worse, the UAV category:</a:t>
                </a:r>
              </a:p>
              <a:p>
                <a:r>
                  <a:rPr lang="en-US" sz="1200" b="0" i="0" kern="1200" dirty="0">
                    <a:solidFill>
                      <a:schemeClr val="tx1"/>
                    </a:solidFill>
                    <a:effectLst/>
                    <a:latin typeface="+mn-lt"/>
                    <a:ea typeface="+mn-ea"/>
                    <a:cs typeface="+mn-cs"/>
                  </a:rPr>
                  <a:t>"'UAV' mounted cameras exhibit significant variability. This likely results from the difference between small, modern HD and 4k quadcopters that typically fly at low altitude and within 100m of the subjects and larger systems that fly at longer distances and up to 1200 ft altitude, often with older or lower resolution payloads. </a:t>
                </a:r>
                <a:r>
                  <a:rPr lang="en-US" sz="1200" b="1" i="0" kern="1200" dirty="0">
                    <a:solidFill>
                      <a:schemeClr val="tx1"/>
                    </a:solidFill>
                    <a:effectLst/>
                    <a:latin typeface="+mn-lt"/>
                    <a:ea typeface="+mn-ea"/>
                    <a:cs typeface="+mn-cs"/>
                  </a:rPr>
                  <a:t>In this model, all of these are grouped into the same category.</a:t>
                </a:r>
                <a:r>
                  <a:rPr lang="en-US" sz="1200" b="0" i="0" kern="1200" dirty="0">
                    <a:solidFill>
                      <a:schemeClr val="tx1"/>
                    </a:solidFill>
                    <a:effectLst/>
                    <a:latin typeface="+mn-lt"/>
                    <a:ea typeface="+mn-ea"/>
                    <a:cs typeface="+mn-cs"/>
                  </a:rPr>
                  <a:t>" — §6, p. 7</a:t>
                </a:r>
              </a:p>
              <a:p>
                <a:r>
                  <a:rPr lang="en-US" sz="1200" b="0" i="0" kern="1200" dirty="0">
                    <a:solidFill>
                      <a:schemeClr val="tx1"/>
                    </a:solidFill>
                    <a:effectLst/>
                    <a:latin typeface="+mn-lt"/>
                    <a:ea typeface="+mn-ea"/>
                    <a:cs typeface="+mn-cs"/>
                  </a:rPr>
                  <a:t>Result: +1.00 with CI (−0.12, 2.12), p = 0.081 — </a:t>
                </a:r>
                <a:r>
                  <a:rPr lang="en-US" sz="1200" b="1" i="0" kern="1200" dirty="0">
                    <a:solidFill>
                      <a:schemeClr val="tx1"/>
                    </a:solidFill>
                    <a:effectLst/>
                    <a:latin typeface="+mn-lt"/>
                    <a:ea typeface="+mn-ea"/>
                    <a:cs typeface="+mn-cs"/>
                  </a:rPr>
                  <a:t>not significant</a:t>
                </a:r>
                <a:r>
                  <a:rPr lang="en-US" sz="1200" b="0" i="0" kern="1200" dirty="0">
                    <a:solidFill>
                      <a:schemeClr val="tx1"/>
                    </a:solidFill>
                    <a:effectLst/>
                    <a:latin typeface="+mn-lt"/>
                    <a:ea typeface="+mn-ea"/>
                    <a:cs typeface="+mn-cs"/>
                  </a:rPr>
                  <a:t>, and operationally the most interesting category in the paper.</a:t>
                </a: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a:p>
                <a:pPr marL="0" lvl="0" indent="0">
                  <a:buFont typeface="Arial" panose="020B0604020202020204" pitchFamily="34" charset="0"/>
                  <a:buNone/>
                </a:pPr>
                <a:endParaRPr lang="en-US" sz="1200" b="0" i="0" kern="1200" dirty="0">
                  <a:solidFill>
                    <a:schemeClr val="tx1"/>
                  </a:solidFill>
                  <a:effectLst/>
                  <a:latin typeface="+mn-lt"/>
                  <a:ea typeface="+mn-ea"/>
                  <a:cs typeface="+mn-cs"/>
                </a:endParaRPr>
              </a:p>
              <a:p>
                <a:pPr lvl="0"/>
                <a:endParaRPr lang="en-US" dirty="0"/>
              </a:p>
            </p:txBody>
          </p:sp>
        </mc:Fallback>
      </mc:AlternateContent>
      <p:sp>
        <p:nvSpPr>
          <p:cNvPr id="4" name="Slide Number Placeholder 3">
            <a:extLst>
              <a:ext uri="{FF2B5EF4-FFF2-40B4-BE49-F238E27FC236}">
                <a16:creationId xmlns:a16="http://schemas.microsoft.com/office/drawing/2014/main" id="{641C68E6-7F53-865F-1C5E-55149EC56890}"/>
              </a:ext>
            </a:extLst>
          </p:cNvPr>
          <p:cNvSpPr>
            <a:spLocks noGrp="1"/>
          </p:cNvSpPr>
          <p:nvPr>
            <p:ph type="sldNum" sz="quarter" idx="5"/>
          </p:nvPr>
        </p:nvSpPr>
        <p:spPr/>
        <p:txBody>
          <a:bodyPr/>
          <a:lstStyle/>
          <a:p>
            <a:fld id="{29E7BD1F-0023-244E-A8FD-1ADCC0FAE1A1}" type="slidenum">
              <a:rPr lang="en-US" smtClean="0"/>
              <a:t>35</a:t>
            </a:fld>
            <a:endParaRPr lang="en-US"/>
          </a:p>
        </p:txBody>
      </p:sp>
    </p:spTree>
    <p:extLst>
      <p:ext uri="{BB962C8B-B14F-4D97-AF65-F5344CB8AC3E}">
        <p14:creationId xmlns:p14="http://schemas.microsoft.com/office/powerpoint/2010/main" val="26421548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487BA-B482-BF93-B372-3F4EB7A587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63B99D-F2B9-C459-8DBA-FDE1878ABA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2F479A-02C9-638C-9CEB-284D57C069CF}"/>
              </a:ext>
            </a:extLst>
          </p:cNvPr>
          <p:cNvSpPr>
            <a:spLocks noGrp="1"/>
          </p:cNvSpPr>
          <p:nvPr>
            <p:ph type="body" idx="1"/>
          </p:nvPr>
        </p:nvSpPr>
        <p:spPr/>
        <p:txBody>
          <a:bodyPr/>
          <a:lstStyle/>
          <a:p>
            <a:pPr lvl="0"/>
            <a:endParaRPr lang="en-US" dirty="0"/>
          </a:p>
        </p:txBody>
      </p:sp>
      <p:sp>
        <p:nvSpPr>
          <p:cNvPr id="4" name="Slide Number Placeholder 3">
            <a:extLst>
              <a:ext uri="{FF2B5EF4-FFF2-40B4-BE49-F238E27FC236}">
                <a16:creationId xmlns:a16="http://schemas.microsoft.com/office/drawing/2014/main" id="{BA99E52E-44A2-E09E-1CF7-33B618185631}"/>
              </a:ext>
            </a:extLst>
          </p:cNvPr>
          <p:cNvSpPr>
            <a:spLocks noGrp="1"/>
          </p:cNvSpPr>
          <p:nvPr>
            <p:ph type="sldNum" sz="quarter" idx="5"/>
          </p:nvPr>
        </p:nvSpPr>
        <p:spPr/>
        <p:txBody>
          <a:bodyPr/>
          <a:lstStyle/>
          <a:p>
            <a:fld id="{29E7BD1F-0023-244E-A8FD-1ADCC0FAE1A1}" type="slidenum">
              <a:rPr lang="en-US" smtClean="0"/>
              <a:t>36</a:t>
            </a:fld>
            <a:endParaRPr lang="en-US"/>
          </a:p>
        </p:txBody>
      </p:sp>
    </p:spTree>
    <p:extLst>
      <p:ext uri="{BB962C8B-B14F-4D97-AF65-F5344CB8AC3E}">
        <p14:creationId xmlns:p14="http://schemas.microsoft.com/office/powerpoint/2010/main" val="2325332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55BD7-37BF-4E36-8F28-67BD40373D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3ACBF7-D240-A320-978B-7E21B71C29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BCB2A34-3520-C142-2371-9A000140B56F}"/>
              </a:ext>
            </a:extLst>
          </p:cNvPr>
          <p:cNvSpPr>
            <a:spLocks noGrp="1"/>
          </p:cNvSpPr>
          <p:nvPr>
            <p:ph type="dt" sz="half" idx="10"/>
          </p:nvPr>
        </p:nvSpPr>
        <p:spPr/>
        <p:txBody>
          <a:bodyPr/>
          <a:lstStyle/>
          <a:p>
            <a:fld id="{6A3133F5-D2D4-124E-AEA8-ED867D9E6E27}" type="datetime1">
              <a:rPr lang="en-US" smtClean="0"/>
              <a:t>10/1/26</a:t>
            </a:fld>
            <a:endParaRPr lang="en-US"/>
          </a:p>
        </p:txBody>
      </p:sp>
      <p:sp>
        <p:nvSpPr>
          <p:cNvPr id="5" name="Footer Placeholder 4">
            <a:extLst>
              <a:ext uri="{FF2B5EF4-FFF2-40B4-BE49-F238E27FC236}">
                <a16:creationId xmlns:a16="http://schemas.microsoft.com/office/drawing/2014/main" id="{DFFB9F44-3BB6-E725-24EB-941F27C9CA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224BD5-3153-0587-36B8-CD91C3703711}"/>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279400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E3FE9-A364-D73A-05F6-FFF58EA302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ACE305-35F5-5977-7B49-2F2A8ECC2E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DFE3B5-FE82-2C25-DDE3-47AE2CFAC5F5}"/>
              </a:ext>
            </a:extLst>
          </p:cNvPr>
          <p:cNvSpPr>
            <a:spLocks noGrp="1"/>
          </p:cNvSpPr>
          <p:nvPr>
            <p:ph type="dt" sz="half" idx="10"/>
          </p:nvPr>
        </p:nvSpPr>
        <p:spPr/>
        <p:txBody>
          <a:bodyPr/>
          <a:lstStyle/>
          <a:p>
            <a:fld id="{F669E125-511A-4147-94C1-5164B0CF5122}" type="datetime1">
              <a:rPr lang="en-US" smtClean="0"/>
              <a:t>10/1/26</a:t>
            </a:fld>
            <a:endParaRPr lang="en-US"/>
          </a:p>
        </p:txBody>
      </p:sp>
      <p:sp>
        <p:nvSpPr>
          <p:cNvPr id="5" name="Footer Placeholder 4">
            <a:extLst>
              <a:ext uri="{FF2B5EF4-FFF2-40B4-BE49-F238E27FC236}">
                <a16:creationId xmlns:a16="http://schemas.microsoft.com/office/drawing/2014/main" id="{2AF54B18-4598-3209-5C87-B0577647DD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7259C2-4D2B-65D3-EC28-6A093F58B5FC}"/>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1184792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3D270-ED86-A140-D2D2-6E40EE7709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E1BFEE-3B5B-8F42-E644-E11232A428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EE3541-DCB2-3A84-28A5-55AA090C7367}"/>
              </a:ext>
            </a:extLst>
          </p:cNvPr>
          <p:cNvSpPr>
            <a:spLocks noGrp="1"/>
          </p:cNvSpPr>
          <p:nvPr>
            <p:ph type="dt" sz="half" idx="10"/>
          </p:nvPr>
        </p:nvSpPr>
        <p:spPr/>
        <p:txBody>
          <a:bodyPr/>
          <a:lstStyle/>
          <a:p>
            <a:fld id="{C82E5058-EE6D-5245-A89E-DA55830DA588}" type="datetime1">
              <a:rPr lang="en-US" smtClean="0"/>
              <a:t>10/1/26</a:t>
            </a:fld>
            <a:endParaRPr lang="en-US"/>
          </a:p>
        </p:txBody>
      </p:sp>
      <p:sp>
        <p:nvSpPr>
          <p:cNvPr id="5" name="Footer Placeholder 4">
            <a:extLst>
              <a:ext uri="{FF2B5EF4-FFF2-40B4-BE49-F238E27FC236}">
                <a16:creationId xmlns:a16="http://schemas.microsoft.com/office/drawing/2014/main" id="{2DBC3851-4B31-8B2D-70B6-C0FC1D883D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0680C5-9A79-9CF1-B265-3FD1EDCADD42}"/>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2967775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84A61-1D50-E17A-7E22-578C312D4F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56280B-9CD0-9EA9-D5B2-5291E6A070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EAEC1E-92A3-F81F-C252-A8FF4F1A03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ED603F-FA12-FED1-58D5-6A8BC717800F}"/>
              </a:ext>
            </a:extLst>
          </p:cNvPr>
          <p:cNvSpPr>
            <a:spLocks noGrp="1"/>
          </p:cNvSpPr>
          <p:nvPr>
            <p:ph type="dt" sz="half" idx="10"/>
          </p:nvPr>
        </p:nvSpPr>
        <p:spPr/>
        <p:txBody>
          <a:bodyPr/>
          <a:lstStyle/>
          <a:p>
            <a:fld id="{B7CF32B4-3432-854A-8F88-42B18DD70392}" type="datetime1">
              <a:rPr lang="en-US" smtClean="0"/>
              <a:t>10/1/26</a:t>
            </a:fld>
            <a:endParaRPr lang="en-US"/>
          </a:p>
        </p:txBody>
      </p:sp>
      <p:sp>
        <p:nvSpPr>
          <p:cNvPr id="6" name="Footer Placeholder 5">
            <a:extLst>
              <a:ext uri="{FF2B5EF4-FFF2-40B4-BE49-F238E27FC236}">
                <a16:creationId xmlns:a16="http://schemas.microsoft.com/office/drawing/2014/main" id="{0B6826EA-8FB4-C6B9-30B3-2510583EAF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4EC8D0-A8F1-6023-2FFB-D130171B0AC1}"/>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1944185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DEC2B-3E3F-0138-5350-608E24D7F3C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9007462-B5F0-6C22-50CD-5C106C5833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6E5DFC-5DBE-20CF-F375-FFEAB8E457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6B81173-E1E3-7B84-B402-65A61171CB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126268-0CD1-ACA1-14AB-8ADF04620A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6EFB38-0E1D-E36D-BB00-8C6CE66D26CB}"/>
              </a:ext>
            </a:extLst>
          </p:cNvPr>
          <p:cNvSpPr>
            <a:spLocks noGrp="1"/>
          </p:cNvSpPr>
          <p:nvPr>
            <p:ph type="dt" sz="half" idx="10"/>
          </p:nvPr>
        </p:nvSpPr>
        <p:spPr/>
        <p:txBody>
          <a:bodyPr/>
          <a:lstStyle/>
          <a:p>
            <a:fld id="{A204A0B1-86DA-2341-8346-6C99AEC9DF3F}" type="datetime1">
              <a:rPr lang="en-US" smtClean="0"/>
              <a:t>10/1/26</a:t>
            </a:fld>
            <a:endParaRPr lang="en-US"/>
          </a:p>
        </p:txBody>
      </p:sp>
      <p:sp>
        <p:nvSpPr>
          <p:cNvPr id="8" name="Footer Placeholder 7">
            <a:extLst>
              <a:ext uri="{FF2B5EF4-FFF2-40B4-BE49-F238E27FC236}">
                <a16:creationId xmlns:a16="http://schemas.microsoft.com/office/drawing/2014/main" id="{3A46F722-1880-BC96-896E-EC21AC89AA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9DEDEE-16E9-C882-1F36-FD088FDB2ECD}"/>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3366051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90D7-4AE0-27F9-D2BB-4D7D49CB28D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6670660-75F0-0CDD-5F9F-3829800A37F0}"/>
              </a:ext>
            </a:extLst>
          </p:cNvPr>
          <p:cNvSpPr>
            <a:spLocks noGrp="1"/>
          </p:cNvSpPr>
          <p:nvPr>
            <p:ph type="dt" sz="half" idx="10"/>
          </p:nvPr>
        </p:nvSpPr>
        <p:spPr/>
        <p:txBody>
          <a:bodyPr/>
          <a:lstStyle/>
          <a:p>
            <a:fld id="{DA8C9185-2E54-674A-BAD1-85A3AA463925}" type="datetime1">
              <a:rPr lang="en-US" smtClean="0"/>
              <a:t>10/1/26</a:t>
            </a:fld>
            <a:endParaRPr lang="en-US"/>
          </a:p>
        </p:txBody>
      </p:sp>
      <p:sp>
        <p:nvSpPr>
          <p:cNvPr id="4" name="Footer Placeholder 3">
            <a:extLst>
              <a:ext uri="{FF2B5EF4-FFF2-40B4-BE49-F238E27FC236}">
                <a16:creationId xmlns:a16="http://schemas.microsoft.com/office/drawing/2014/main" id="{398BC658-82FA-564A-9F95-B794A70921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FBABAE-8960-26DD-C0AB-2DCC13A2F7D9}"/>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3156741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A9F884-98FA-788E-B999-6A02AF64B412}"/>
              </a:ext>
            </a:extLst>
          </p:cNvPr>
          <p:cNvSpPr>
            <a:spLocks noGrp="1"/>
          </p:cNvSpPr>
          <p:nvPr>
            <p:ph type="dt" sz="half" idx="10"/>
          </p:nvPr>
        </p:nvSpPr>
        <p:spPr/>
        <p:txBody>
          <a:bodyPr/>
          <a:lstStyle/>
          <a:p>
            <a:fld id="{51D1DEC0-BDB9-7547-A040-5F74C7F0A2EB}" type="datetime1">
              <a:rPr lang="en-US" smtClean="0"/>
              <a:t>10/1/26</a:t>
            </a:fld>
            <a:endParaRPr lang="en-US"/>
          </a:p>
        </p:txBody>
      </p:sp>
      <p:sp>
        <p:nvSpPr>
          <p:cNvPr id="3" name="Footer Placeholder 2">
            <a:extLst>
              <a:ext uri="{FF2B5EF4-FFF2-40B4-BE49-F238E27FC236}">
                <a16:creationId xmlns:a16="http://schemas.microsoft.com/office/drawing/2014/main" id="{F030D628-459C-C358-6CF0-984B7230F4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5B541A-0371-C571-6FDC-A08FC27F2D0E}"/>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3152612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AE166-F8AB-C666-2915-D32D1DB8C6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4F9D79C-7FE7-7EB6-94F7-E67700E117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E0CAAC-0B0D-2303-0A8B-936E8DFFD2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36B8F6-A943-5DDA-083F-63368D42D56F}"/>
              </a:ext>
            </a:extLst>
          </p:cNvPr>
          <p:cNvSpPr>
            <a:spLocks noGrp="1"/>
          </p:cNvSpPr>
          <p:nvPr>
            <p:ph type="dt" sz="half" idx="10"/>
          </p:nvPr>
        </p:nvSpPr>
        <p:spPr/>
        <p:txBody>
          <a:bodyPr/>
          <a:lstStyle/>
          <a:p>
            <a:fld id="{0D4C1CEC-C241-F144-B7EE-3F399CF2F855}" type="datetime1">
              <a:rPr lang="en-US" smtClean="0"/>
              <a:t>10/1/26</a:t>
            </a:fld>
            <a:endParaRPr lang="en-US"/>
          </a:p>
        </p:txBody>
      </p:sp>
      <p:sp>
        <p:nvSpPr>
          <p:cNvPr id="6" name="Footer Placeholder 5">
            <a:extLst>
              <a:ext uri="{FF2B5EF4-FFF2-40B4-BE49-F238E27FC236}">
                <a16:creationId xmlns:a16="http://schemas.microsoft.com/office/drawing/2014/main" id="{36FF915C-6EB4-D110-FA78-79FE9A6BE6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2DB6A3-BDF8-29F7-37A1-7D8629195C69}"/>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2514836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C9944-1659-BA22-CE12-045B87F594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BEA263-FFA1-DA08-023D-7E0A161E5E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1F6F9F-1567-8C00-C197-57568694A0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F6AD5D-DCC3-871D-FE87-F7F2E18AC18B}"/>
              </a:ext>
            </a:extLst>
          </p:cNvPr>
          <p:cNvSpPr>
            <a:spLocks noGrp="1"/>
          </p:cNvSpPr>
          <p:nvPr>
            <p:ph type="dt" sz="half" idx="10"/>
          </p:nvPr>
        </p:nvSpPr>
        <p:spPr/>
        <p:txBody>
          <a:bodyPr/>
          <a:lstStyle/>
          <a:p>
            <a:fld id="{1E590CA3-F584-6847-99EC-27211115173F}" type="datetime1">
              <a:rPr lang="en-US" smtClean="0"/>
              <a:t>10/1/26</a:t>
            </a:fld>
            <a:endParaRPr lang="en-US"/>
          </a:p>
        </p:txBody>
      </p:sp>
      <p:sp>
        <p:nvSpPr>
          <p:cNvPr id="6" name="Footer Placeholder 5">
            <a:extLst>
              <a:ext uri="{FF2B5EF4-FFF2-40B4-BE49-F238E27FC236}">
                <a16:creationId xmlns:a16="http://schemas.microsoft.com/office/drawing/2014/main" id="{630417D0-BA01-36B5-653A-A1E9A7E574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259C58-0C4D-0374-B981-57831FBD5C40}"/>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2763496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22CD7-E54F-CD89-7485-5677F839E9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D466E9-BB5C-83A8-CF56-D7E21D8005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C86D00-F991-E78A-93EE-F68973EBE222}"/>
              </a:ext>
            </a:extLst>
          </p:cNvPr>
          <p:cNvSpPr>
            <a:spLocks noGrp="1"/>
          </p:cNvSpPr>
          <p:nvPr>
            <p:ph type="dt" sz="half" idx="10"/>
          </p:nvPr>
        </p:nvSpPr>
        <p:spPr/>
        <p:txBody>
          <a:bodyPr/>
          <a:lstStyle/>
          <a:p>
            <a:fld id="{20CB89D0-A891-0D42-B9FA-42EA6A1C73D3}" type="datetime1">
              <a:rPr lang="en-US" smtClean="0"/>
              <a:t>10/1/26</a:t>
            </a:fld>
            <a:endParaRPr lang="en-US"/>
          </a:p>
        </p:txBody>
      </p:sp>
      <p:sp>
        <p:nvSpPr>
          <p:cNvPr id="5" name="Footer Placeholder 4">
            <a:extLst>
              <a:ext uri="{FF2B5EF4-FFF2-40B4-BE49-F238E27FC236}">
                <a16:creationId xmlns:a16="http://schemas.microsoft.com/office/drawing/2014/main" id="{CF8CA405-E72D-8C54-88CA-BC6B2F35A4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4AE63-D71B-CD9C-AFEC-7E890DF29A09}"/>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1160403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A77E43-ACC6-26B0-8AB5-B0B5432A6B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BB03F7-DBAC-4849-A157-459FD38A10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F43A34-F2DF-E4D4-43C5-B5B902106714}"/>
              </a:ext>
            </a:extLst>
          </p:cNvPr>
          <p:cNvSpPr>
            <a:spLocks noGrp="1"/>
          </p:cNvSpPr>
          <p:nvPr>
            <p:ph type="dt" sz="half" idx="10"/>
          </p:nvPr>
        </p:nvSpPr>
        <p:spPr/>
        <p:txBody>
          <a:bodyPr/>
          <a:lstStyle/>
          <a:p>
            <a:fld id="{F9A59DF5-F2DE-E34C-B2C8-7B6353A7BD3C}" type="datetime1">
              <a:rPr lang="en-US" smtClean="0"/>
              <a:t>10/1/26</a:t>
            </a:fld>
            <a:endParaRPr lang="en-US"/>
          </a:p>
        </p:txBody>
      </p:sp>
      <p:sp>
        <p:nvSpPr>
          <p:cNvPr id="5" name="Footer Placeholder 4">
            <a:extLst>
              <a:ext uri="{FF2B5EF4-FFF2-40B4-BE49-F238E27FC236}">
                <a16:creationId xmlns:a16="http://schemas.microsoft.com/office/drawing/2014/main" id="{73C5EC14-305F-7D57-9D0B-746CE62821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F64559-BF47-1AD2-E577-83E2F6E72B8B}"/>
              </a:ext>
            </a:extLst>
          </p:cNvPr>
          <p:cNvSpPr>
            <a:spLocks noGrp="1"/>
          </p:cNvSpPr>
          <p:nvPr>
            <p:ph type="sldNum" sz="quarter" idx="12"/>
          </p:nvPr>
        </p:nvSpPr>
        <p:spPr/>
        <p:txBody>
          <a:bodyPr/>
          <a:lstStyle/>
          <a:p>
            <a:fld id="{659B2F21-D912-7541-8ED2-FD6ABD90B685}" type="slidenum">
              <a:rPr lang="en-US" smtClean="0"/>
              <a:t>‹#›</a:t>
            </a:fld>
            <a:endParaRPr lang="en-US"/>
          </a:p>
        </p:txBody>
      </p:sp>
    </p:spTree>
    <p:extLst>
      <p:ext uri="{BB962C8B-B14F-4D97-AF65-F5344CB8AC3E}">
        <p14:creationId xmlns:p14="http://schemas.microsoft.com/office/powerpoint/2010/main" val="647687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19DD8B-A0D3-DCAC-67BF-1DA87AE35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F0C4E0-63A9-F57B-3913-E42895A202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EF23F0-1925-A80E-E6A6-CD06E96B3B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53B64E-8EC6-0244-906C-D23B685FA725}" type="datetime1">
              <a:rPr lang="en-US" smtClean="0"/>
              <a:t>10/1/26</a:t>
            </a:fld>
            <a:endParaRPr lang="en-US"/>
          </a:p>
        </p:txBody>
      </p:sp>
      <p:sp>
        <p:nvSpPr>
          <p:cNvPr id="5" name="Footer Placeholder 4">
            <a:extLst>
              <a:ext uri="{FF2B5EF4-FFF2-40B4-BE49-F238E27FC236}">
                <a16:creationId xmlns:a16="http://schemas.microsoft.com/office/drawing/2014/main" id="{E45E9B10-0740-78EF-0212-FE71B83721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1A7D157-0278-E6CB-A277-999243C7E9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9B2F21-D912-7541-8ED2-FD6ABD90B685}" type="slidenum">
              <a:rPr lang="en-US" smtClean="0"/>
              <a:t>‹#›</a:t>
            </a:fld>
            <a:endParaRPr lang="en-US"/>
          </a:p>
        </p:txBody>
      </p:sp>
    </p:spTree>
    <p:extLst>
      <p:ext uri="{BB962C8B-B14F-4D97-AF65-F5344CB8AC3E}">
        <p14:creationId xmlns:p14="http://schemas.microsoft.com/office/powerpoint/2010/main" val="7160330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iarpa.gov/research-programs/briar"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136A7-C380-6533-68F7-5FCB25388587}"/>
              </a:ext>
            </a:extLst>
          </p:cNvPr>
          <p:cNvSpPr>
            <a:spLocks noGrp="1"/>
          </p:cNvSpPr>
          <p:nvPr>
            <p:ph type="ctrTitle"/>
          </p:nvPr>
        </p:nvSpPr>
        <p:spPr/>
        <p:txBody>
          <a:bodyPr anchor="t">
            <a:normAutofit fontScale="90000"/>
          </a:bodyPr>
          <a:lstStyle/>
          <a:p>
            <a:r>
              <a:rPr lang="en-US" sz="4000" dirty="0"/>
              <a:t>Week 7</a:t>
            </a:r>
            <a:br>
              <a:rPr lang="en-US" sz="4000" dirty="0"/>
            </a:br>
            <a:br>
              <a:rPr lang="en-US" sz="4000" dirty="0"/>
            </a:br>
            <a:r>
              <a:rPr lang="en-US" sz="3600" b="1" dirty="0">
                <a:solidFill>
                  <a:srgbClr val="0070C0"/>
                </a:solidFill>
              </a:rPr>
              <a:t>Why Do Biometric Systems Fail Outside the Laboratory?</a:t>
            </a:r>
            <a:br>
              <a:rPr lang="en-US" sz="3200" dirty="0">
                <a:solidFill>
                  <a:srgbClr val="0070C0"/>
                </a:solidFill>
              </a:rPr>
            </a:br>
            <a:br>
              <a:rPr lang="en-US" sz="3200" dirty="0">
                <a:solidFill>
                  <a:srgbClr val="0070C0"/>
                </a:solidFill>
              </a:rPr>
            </a:br>
            <a:endParaRPr lang="en-US" sz="3200" dirty="0">
              <a:solidFill>
                <a:srgbClr val="0070C0"/>
              </a:solidFill>
            </a:endParaRPr>
          </a:p>
        </p:txBody>
      </p:sp>
      <p:sp>
        <p:nvSpPr>
          <p:cNvPr id="3" name="Subtitle 2">
            <a:extLst>
              <a:ext uri="{FF2B5EF4-FFF2-40B4-BE49-F238E27FC236}">
                <a16:creationId xmlns:a16="http://schemas.microsoft.com/office/drawing/2014/main" id="{DEAD4E25-E958-FBCE-E1A7-3803FC37C249}"/>
              </a:ext>
            </a:extLst>
          </p:cNvPr>
          <p:cNvSpPr>
            <a:spLocks noGrp="1"/>
          </p:cNvSpPr>
          <p:nvPr>
            <p:ph type="subTitle" idx="1"/>
          </p:nvPr>
        </p:nvSpPr>
        <p:spPr/>
        <p:txBody>
          <a:bodyPr>
            <a:normAutofit fontScale="92500" lnSpcReduction="20000"/>
          </a:bodyPr>
          <a:lstStyle/>
          <a:p>
            <a:r>
              <a:rPr lang="en-US" dirty="0"/>
              <a:t>COSC 594-003 Special Topics in Computer Science</a:t>
            </a:r>
          </a:p>
          <a:p>
            <a:r>
              <a:rPr lang="en-US" b="1" dirty="0"/>
              <a:t>Biometrics</a:t>
            </a:r>
          </a:p>
          <a:p>
            <a:r>
              <a:rPr lang="en-US" dirty="0"/>
              <a:t>Benjamin S. Riggan</a:t>
            </a:r>
            <a:br>
              <a:rPr lang="en-US" dirty="0"/>
            </a:br>
            <a:r>
              <a:rPr lang="en-US" dirty="0"/>
              <a:t>Associate Professor</a:t>
            </a:r>
            <a:br>
              <a:rPr lang="en-US" dirty="0"/>
            </a:br>
            <a:endParaRPr lang="en-US" dirty="0"/>
          </a:p>
        </p:txBody>
      </p:sp>
      <p:pic>
        <p:nvPicPr>
          <p:cNvPr id="4" name="Picture 3" descr="EECS IT Help">
            <a:extLst>
              <a:ext uri="{FF2B5EF4-FFF2-40B4-BE49-F238E27FC236}">
                <a16:creationId xmlns:a16="http://schemas.microsoft.com/office/drawing/2014/main" id="{C1A58977-E919-897B-53CC-470809EFB2BD}"/>
              </a:ext>
            </a:extLst>
          </p:cNvPr>
          <p:cNvPicPr>
            <a:picLocks noChangeAspect="1"/>
          </p:cNvPicPr>
          <p:nvPr/>
        </p:nvPicPr>
        <p:blipFill>
          <a:blip r:embed="rId3"/>
          <a:stretch>
            <a:fillRect/>
          </a:stretch>
        </p:blipFill>
        <p:spPr>
          <a:xfrm>
            <a:off x="4651663" y="5013468"/>
            <a:ext cx="2888673" cy="1444337"/>
          </a:xfrm>
          <a:prstGeom prst="rect">
            <a:avLst/>
          </a:prstGeom>
        </p:spPr>
      </p:pic>
      <p:pic>
        <p:nvPicPr>
          <p:cNvPr id="6" name="Picture 5" descr="IEEE Biometrics Council | Welcome To IEEE Biometrics">
            <a:extLst>
              <a:ext uri="{FF2B5EF4-FFF2-40B4-BE49-F238E27FC236}">
                <a16:creationId xmlns:a16="http://schemas.microsoft.com/office/drawing/2014/main" id="{0FDF122F-DF23-DC90-3D7B-1D677CA35E6F}"/>
              </a:ext>
            </a:extLst>
          </p:cNvPr>
          <p:cNvPicPr>
            <a:picLocks noChangeAspect="1"/>
          </p:cNvPicPr>
          <p:nvPr/>
        </p:nvPicPr>
        <p:blipFill>
          <a:blip r:embed="rId4"/>
          <a:stretch>
            <a:fillRect/>
          </a:stretch>
        </p:blipFill>
        <p:spPr>
          <a:xfrm>
            <a:off x="7965458" y="5013467"/>
            <a:ext cx="2543317" cy="1426739"/>
          </a:xfrm>
          <a:prstGeom prst="rect">
            <a:avLst/>
          </a:prstGeom>
        </p:spPr>
      </p:pic>
      <p:sp>
        <p:nvSpPr>
          <p:cNvPr id="5" name="Slide Number Placeholder 4">
            <a:extLst>
              <a:ext uri="{FF2B5EF4-FFF2-40B4-BE49-F238E27FC236}">
                <a16:creationId xmlns:a16="http://schemas.microsoft.com/office/drawing/2014/main" id="{6D147458-81C4-53D5-F1DE-6786C4996ACD}"/>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1</a:t>
            </a:fld>
            <a:endParaRPr lang="en-US"/>
          </a:p>
        </p:txBody>
      </p:sp>
      <p:sp>
        <p:nvSpPr>
          <p:cNvPr id="8" name="TextBox 7">
            <a:extLst>
              <a:ext uri="{FF2B5EF4-FFF2-40B4-BE49-F238E27FC236}">
                <a16:creationId xmlns:a16="http://schemas.microsoft.com/office/drawing/2014/main" id="{38A46A57-D3D0-F88B-5CDE-E163B11542F6}"/>
              </a:ext>
            </a:extLst>
          </p:cNvPr>
          <p:cNvSpPr txBox="1"/>
          <p:nvPr/>
        </p:nvSpPr>
        <p:spPr>
          <a:xfrm>
            <a:off x="2720787" y="3028890"/>
            <a:ext cx="6750424" cy="400110"/>
          </a:xfrm>
          <a:prstGeom prst="rect">
            <a:avLst/>
          </a:prstGeom>
          <a:noFill/>
        </p:spPr>
        <p:txBody>
          <a:bodyPr wrap="square" rtlCol="0">
            <a:spAutoFit/>
          </a:bodyPr>
          <a:lstStyle/>
          <a:p>
            <a:pPr algn="ctr"/>
            <a:r>
              <a:rPr lang="en-US" sz="2000" i="1" dirty="0"/>
              <a:t>Distribution Shifts</a:t>
            </a:r>
          </a:p>
        </p:txBody>
      </p:sp>
    </p:spTree>
    <p:extLst>
      <p:ext uri="{BB962C8B-B14F-4D97-AF65-F5344CB8AC3E}">
        <p14:creationId xmlns:p14="http://schemas.microsoft.com/office/powerpoint/2010/main" val="1434099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070CE-809A-242C-8F58-FBBC30200F08}"/>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FC089CCF-4275-6BE9-5413-A522AE206F4B}"/>
              </a:ext>
            </a:extLst>
          </p:cNvPr>
          <p:cNvSpPr>
            <a:spLocks noGrp="1"/>
          </p:cNvSpPr>
          <p:nvPr>
            <p:ph type="sldNum" sz="quarter" idx="12"/>
          </p:nvPr>
        </p:nvSpPr>
        <p:spPr/>
        <p:txBody>
          <a:bodyPr/>
          <a:lstStyle/>
          <a:p>
            <a:fld id="{659B2F21-D912-7541-8ED2-FD6ABD90B685}" type="slidenum">
              <a:rPr lang="en-US" smtClean="0"/>
              <a:t>2</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2BD68B5-8C45-3844-738E-0A61E91F5373}"/>
                  </a:ext>
                </a:extLst>
              </p:cNvPr>
              <p:cNvSpPr txBox="1"/>
              <p:nvPr/>
            </p:nvSpPr>
            <p:spPr>
              <a:xfrm>
                <a:off x="1493116" y="693321"/>
                <a:ext cx="9342888" cy="3984069"/>
              </a:xfrm>
              <a:prstGeom prst="roundRect">
                <a:avLst/>
              </a:prstGeom>
              <a:solidFill>
                <a:schemeClr val="bg1">
                  <a:lumMod val="85000"/>
                </a:schemeClr>
              </a:solidFill>
              <a:ln>
                <a:solidFill>
                  <a:schemeClr val="tx1"/>
                </a:solidFill>
              </a:ln>
              <a:effectLst>
                <a:outerShdw blurRad="50800" dist="38100" dir="8100000" algn="tr" rotWithShape="0">
                  <a:prstClr val="black">
                    <a:alpha val="40000"/>
                  </a:prstClr>
                </a:outerShdw>
              </a:effectLst>
            </p:spPr>
            <p:txBody>
              <a:bodyPr wrap="square">
                <a:spAutoFit/>
              </a:bodyPr>
              <a:lstStyle/>
              <a:p>
                <a:pPr algn="l"/>
                <a:r>
                  <a:rPr lang="en-US" sz="3200" b="1" dirty="0">
                    <a:solidFill>
                      <a:srgbClr val="0070C0"/>
                    </a:solidFill>
                  </a:rPr>
                  <a:t>Scenario</a:t>
                </a:r>
                <a:endParaRPr lang="en-US" sz="3200" b="1" i="0" dirty="0">
                  <a:solidFill>
                    <a:srgbClr val="0070C0"/>
                  </a:solidFill>
                  <a:effectLst/>
                  <a:latin typeface="+mn-lt"/>
                </a:endParaRPr>
              </a:p>
              <a:p>
                <a:pPr marL="457200" indent="-457200" algn="l">
                  <a:buFont typeface="Arial" panose="020B0604020202020204" pitchFamily="34" charset="0"/>
                  <a:buChar char="•"/>
                </a:pPr>
                <a:r>
                  <a:rPr lang="en-US" sz="2800" i="0" dirty="0">
                    <a:solidFill>
                      <a:schemeClr val="tx1"/>
                    </a:solidFill>
                    <a:effectLst/>
                    <a:latin typeface="+mn-lt"/>
                  </a:rPr>
                  <a:t>A </a:t>
                </a:r>
                <a:r>
                  <a:rPr lang="en-US" sz="2800" i="0" dirty="0">
                    <a:solidFill>
                      <a:srgbClr val="0070C0"/>
                    </a:solidFill>
                    <a:effectLst/>
                    <a:latin typeface="+mn-lt"/>
                  </a:rPr>
                  <a:t>f</a:t>
                </a:r>
                <a:r>
                  <a:rPr lang="en-US" sz="2800" b="1" i="0" dirty="0">
                    <a:solidFill>
                      <a:srgbClr val="0070C0"/>
                    </a:solidFill>
                    <a:effectLst/>
                    <a:latin typeface="+mn-lt"/>
                  </a:rPr>
                  <a:t>ace verification </a:t>
                </a:r>
                <a:r>
                  <a:rPr lang="en-US" sz="2800" i="0" dirty="0">
                    <a:solidFill>
                      <a:schemeClr val="tx1"/>
                    </a:solidFill>
                    <a:effectLst/>
                    <a:latin typeface="+mn-lt"/>
                  </a:rPr>
                  <a:t>system reports: </a:t>
                </a:r>
                <a14:m>
                  <m:oMath xmlns:m="http://schemas.openxmlformats.org/officeDocument/2006/math">
                    <m:r>
                      <a:rPr lang="en-US" sz="2800" b="0" i="1" smtClean="0">
                        <a:solidFill>
                          <a:schemeClr val="tx1"/>
                        </a:solidFill>
                        <a:effectLst/>
                        <a:latin typeface="Cambria Math" panose="02040503050406030204" pitchFamily="18" charset="0"/>
                      </a:rPr>
                      <m:t>𝑇𝐴𝑅</m:t>
                    </m:r>
                    <m:r>
                      <a:rPr lang="en-US" sz="2800" b="0" i="1" smtClean="0">
                        <a:solidFill>
                          <a:schemeClr val="tx1"/>
                        </a:solidFill>
                        <a:effectLst/>
                        <a:latin typeface="Cambria Math" panose="02040503050406030204" pitchFamily="18" charset="0"/>
                      </a:rPr>
                      <m:t>=99.6% </m:t>
                    </m:r>
                    <m:r>
                      <a:rPr lang="en-US" sz="2800" b="0" i="1" smtClean="0">
                        <a:solidFill>
                          <a:schemeClr val="tx1"/>
                        </a:solidFill>
                        <a:effectLst/>
                        <a:latin typeface="Cambria Math" panose="02040503050406030204" pitchFamily="18" charset="0"/>
                      </a:rPr>
                      <m:t>𝑎𝑡</m:t>
                    </m:r>
                    <m:r>
                      <a:rPr lang="en-US" sz="2800" b="0" i="1" smtClean="0">
                        <a:solidFill>
                          <a:schemeClr val="tx1"/>
                        </a:solidFill>
                        <a:effectLst/>
                        <a:latin typeface="Cambria Math" panose="02040503050406030204" pitchFamily="18" charset="0"/>
                      </a:rPr>
                      <m:t> </m:t>
                    </m:r>
                    <m:r>
                      <a:rPr lang="en-US" sz="2800" b="0" i="1" smtClean="0">
                        <a:solidFill>
                          <a:schemeClr val="tx1"/>
                        </a:solidFill>
                        <a:effectLst/>
                        <a:latin typeface="Cambria Math" panose="02040503050406030204" pitchFamily="18" charset="0"/>
                      </a:rPr>
                      <m:t>𝐹𝐴𝑅</m:t>
                    </m:r>
                    <m:r>
                      <a:rPr lang="en-US" sz="2800" b="0" i="1" smtClean="0">
                        <a:solidFill>
                          <a:schemeClr val="tx1"/>
                        </a:solidFill>
                        <a:effectLst/>
                        <a:latin typeface="Cambria Math" panose="02040503050406030204" pitchFamily="18" charset="0"/>
                      </a:rPr>
                      <m:t>=</m:t>
                    </m:r>
                    <m:sSup>
                      <m:sSupPr>
                        <m:ctrlPr>
                          <a:rPr lang="en-US" sz="2800" b="0" i="1" smtClean="0">
                            <a:solidFill>
                              <a:schemeClr val="tx1"/>
                            </a:solidFill>
                            <a:effectLst/>
                            <a:latin typeface="Cambria Math" panose="02040503050406030204" pitchFamily="18" charset="0"/>
                          </a:rPr>
                        </m:ctrlPr>
                      </m:sSupPr>
                      <m:e>
                        <m:r>
                          <a:rPr lang="en-US" sz="2800" b="0" i="1" smtClean="0">
                            <a:solidFill>
                              <a:schemeClr val="tx1"/>
                            </a:solidFill>
                            <a:effectLst/>
                            <a:latin typeface="Cambria Math" panose="02040503050406030204" pitchFamily="18" charset="0"/>
                          </a:rPr>
                          <m:t>10</m:t>
                        </m:r>
                      </m:e>
                      <m:sup>
                        <m:r>
                          <a:rPr lang="en-US" sz="2800" b="0" i="1" smtClean="0">
                            <a:solidFill>
                              <a:schemeClr val="tx1"/>
                            </a:solidFill>
                            <a:effectLst/>
                            <a:latin typeface="Cambria Math" panose="02040503050406030204" pitchFamily="18" charset="0"/>
                          </a:rPr>
                          <m:t>−6</m:t>
                        </m:r>
                      </m:sup>
                    </m:sSup>
                  </m:oMath>
                </a14:m>
                <a:r>
                  <a:rPr lang="en-US" sz="2800" dirty="0">
                    <a:solidFill>
                      <a:schemeClr val="tx1"/>
                    </a:solidFill>
                    <a:effectLst/>
                  </a:rPr>
                  <a:t> on a standard benchmark.</a:t>
                </a:r>
              </a:p>
              <a:p>
                <a:pPr marL="457200" indent="-457200" algn="l">
                  <a:buFont typeface="Arial" panose="020B0604020202020204" pitchFamily="34" charset="0"/>
                  <a:buChar char="•"/>
                </a:pPr>
                <a:r>
                  <a:rPr lang="en-US" sz="2800" dirty="0"/>
                  <a:t>System is deployed to verify personnel entering a secure facility</a:t>
                </a:r>
              </a:p>
              <a:p>
                <a:pPr marL="457200" indent="-457200" algn="l">
                  <a:buFont typeface="Arial" panose="020B0604020202020204" pitchFamily="34" charset="0"/>
                  <a:buChar char="•"/>
                </a:pPr>
                <a:r>
                  <a:rPr lang="en-US" sz="2800" dirty="0"/>
                  <a:t>In the first month, operators increasingly </a:t>
                </a:r>
                <a:r>
                  <a:rPr lang="en-US" sz="2800" b="1" dirty="0">
                    <a:solidFill>
                      <a:srgbClr val="0070C0"/>
                    </a:solidFill>
                  </a:rPr>
                  <a:t>stop responding</a:t>
                </a:r>
                <a:r>
                  <a:rPr lang="en-US" sz="2800" dirty="0"/>
                  <a:t> to security alerts because too many alerts are irrelevant and require manual resolution</a:t>
                </a:r>
                <a:endParaRPr lang="en-US" sz="2800" dirty="0">
                  <a:solidFill>
                    <a:schemeClr val="tx1"/>
                  </a:solidFill>
                  <a:effectLst/>
                </a:endParaRPr>
              </a:p>
            </p:txBody>
          </p:sp>
        </mc:Choice>
        <mc:Fallback xmlns="">
          <p:sp>
            <p:nvSpPr>
              <p:cNvPr id="3" name="TextBox 2">
                <a:extLst>
                  <a:ext uri="{FF2B5EF4-FFF2-40B4-BE49-F238E27FC236}">
                    <a16:creationId xmlns:a16="http://schemas.microsoft.com/office/drawing/2014/main" id="{62BD68B5-8C45-3844-738E-0A61E91F5373}"/>
                  </a:ext>
                </a:extLst>
              </p:cNvPr>
              <p:cNvSpPr txBox="1">
                <a:spLocks noRot="1" noChangeAspect="1" noMove="1" noResize="1" noEditPoints="1" noAdjustHandles="1" noChangeArrowheads="1" noChangeShapeType="1" noTextEdit="1"/>
              </p:cNvSpPr>
              <p:nvPr/>
            </p:nvSpPr>
            <p:spPr>
              <a:xfrm>
                <a:off x="1493116" y="693321"/>
                <a:ext cx="9342888" cy="3984069"/>
              </a:xfrm>
              <a:prstGeom prst="roundRect">
                <a:avLst/>
              </a:prstGeom>
              <a:blipFill>
                <a:blip r:embed="rId3"/>
                <a:stretch>
                  <a:fillRect/>
                </a:stretch>
              </a:blipFill>
              <a:ln>
                <a:solidFill>
                  <a:schemeClr val="tx1"/>
                </a:solidFill>
              </a:ln>
              <a:effectLst>
                <a:outerShdw blurRad="50800" dist="38100" dir="8100000" algn="tr" rotWithShape="0">
                  <a:prstClr val="black">
                    <a:alpha val="40000"/>
                  </a:prstClr>
                </a:outerShdw>
              </a:effectLst>
            </p:spPr>
            <p:txBody>
              <a:bodyPr/>
              <a:lstStyle/>
              <a:p>
                <a:r>
                  <a:rPr lang="en-US">
                    <a:noFill/>
                  </a:rPr>
                  <a:t> </a:t>
                </a:r>
              </a:p>
            </p:txBody>
          </p:sp>
        </mc:Fallback>
      </mc:AlternateContent>
      <p:sp>
        <p:nvSpPr>
          <p:cNvPr id="8" name="TextBox 7">
            <a:extLst>
              <a:ext uri="{FF2B5EF4-FFF2-40B4-BE49-F238E27FC236}">
                <a16:creationId xmlns:a16="http://schemas.microsoft.com/office/drawing/2014/main" id="{50CA9B06-C6B8-FDE2-88F5-1A0663E6A2DB}"/>
              </a:ext>
            </a:extLst>
          </p:cNvPr>
          <p:cNvSpPr txBox="1"/>
          <p:nvPr/>
        </p:nvSpPr>
        <p:spPr>
          <a:xfrm>
            <a:off x="1610697" y="5224482"/>
            <a:ext cx="9107725" cy="584775"/>
          </a:xfrm>
          <a:prstGeom prst="rect">
            <a:avLst/>
          </a:prstGeom>
          <a:noFill/>
        </p:spPr>
        <p:txBody>
          <a:bodyPr wrap="square">
            <a:spAutoFit/>
          </a:bodyPr>
          <a:lstStyle/>
          <a:p>
            <a:r>
              <a:rPr lang="en-US" sz="3200" b="1" dirty="0"/>
              <a:t>Nothing about the model changed. What failed?</a:t>
            </a:r>
          </a:p>
        </p:txBody>
      </p:sp>
    </p:spTree>
    <p:extLst>
      <p:ext uri="{BB962C8B-B14F-4D97-AF65-F5344CB8AC3E}">
        <p14:creationId xmlns:p14="http://schemas.microsoft.com/office/powerpoint/2010/main" val="2669045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DCD0-74E7-7EED-EA12-0C52EB33BE6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3492DB-C6FA-E032-8EBA-3EA23E96D141}"/>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Key Learning Objectives</a:t>
            </a:r>
          </a:p>
        </p:txBody>
      </p:sp>
      <p:sp>
        <p:nvSpPr>
          <p:cNvPr id="3" name="Slide Number Placeholder 2">
            <a:extLst>
              <a:ext uri="{FF2B5EF4-FFF2-40B4-BE49-F238E27FC236}">
                <a16:creationId xmlns:a16="http://schemas.microsoft.com/office/drawing/2014/main" id="{7EFE87CF-4D45-6613-2765-6D7C1DF99278}"/>
              </a:ext>
              <a:ext uri="{C183D7F6-B498-43B3-948B-1728B52AA6E4}">
                <adec:decorative xmlns:adec="http://schemas.microsoft.com/office/drawing/2017/decorative" val="0"/>
              </a:ext>
            </a:extLst>
          </p:cNvPr>
          <p:cNvSpPr>
            <a:spLocks noGrp="1"/>
          </p:cNvSpPr>
          <p:nvPr>
            <p:ph type="sldNum" sz="quarter" idx="12"/>
          </p:nvPr>
        </p:nvSpPr>
        <p:spPr/>
        <p:txBody>
          <a:bodyPr/>
          <a:lstStyle/>
          <a:p>
            <a:fld id="{659B2F21-D912-7541-8ED2-FD6ABD90B685}" type="slidenum">
              <a:rPr lang="en-US" smtClean="0"/>
              <a:t>3</a:t>
            </a:fld>
            <a:endParaRPr lang="en-US"/>
          </a:p>
        </p:txBody>
      </p:sp>
      <p:sp>
        <p:nvSpPr>
          <p:cNvPr id="5" name="TextBox 4">
            <a:extLst>
              <a:ext uri="{FF2B5EF4-FFF2-40B4-BE49-F238E27FC236}">
                <a16:creationId xmlns:a16="http://schemas.microsoft.com/office/drawing/2014/main" id="{2C8A448B-A02B-8F61-533A-059A3D4A3D35}"/>
              </a:ext>
            </a:extLst>
          </p:cNvPr>
          <p:cNvSpPr txBox="1"/>
          <p:nvPr/>
        </p:nvSpPr>
        <p:spPr>
          <a:xfrm>
            <a:off x="1113496" y="1640685"/>
            <a:ext cx="9965007" cy="1077218"/>
          </a:xfrm>
          <a:prstGeom prst="rect">
            <a:avLst/>
          </a:prstGeom>
          <a:noFill/>
        </p:spPr>
        <p:txBody>
          <a:bodyPr wrap="square">
            <a:spAutoFit/>
          </a:bodyPr>
          <a:lstStyle/>
          <a:p>
            <a:r>
              <a:rPr lang="en-US" sz="3200" b="1" dirty="0"/>
              <a:t>What does “the same biometric problem” actually mean?</a:t>
            </a:r>
          </a:p>
        </p:txBody>
      </p:sp>
      <p:sp>
        <p:nvSpPr>
          <p:cNvPr id="9" name="TextBox 8">
            <a:extLst>
              <a:ext uri="{FF2B5EF4-FFF2-40B4-BE49-F238E27FC236}">
                <a16:creationId xmlns:a16="http://schemas.microsoft.com/office/drawing/2014/main" id="{8DC44CE4-3EF7-C2D2-CB1A-3F3A1B1FAD09}"/>
              </a:ext>
            </a:extLst>
          </p:cNvPr>
          <p:cNvSpPr txBox="1"/>
          <p:nvPr/>
        </p:nvSpPr>
        <p:spPr>
          <a:xfrm>
            <a:off x="590310" y="3663043"/>
            <a:ext cx="9158808" cy="2831544"/>
          </a:xfrm>
          <a:prstGeom prst="rect">
            <a:avLst/>
          </a:prstGeom>
          <a:noFill/>
        </p:spPr>
        <p:txBody>
          <a:bodyPr wrap="square">
            <a:spAutoFit/>
          </a:bodyPr>
          <a:lstStyle/>
          <a:p>
            <a:pPr marL="342900" lvl="0" indent="-342900">
              <a:buFont typeface="+mj-lt"/>
              <a:buAutoNum type="arabicPeriod"/>
            </a:pPr>
            <a:r>
              <a:rPr lang="en-US" sz="2000" dirty="0"/>
              <a:t>To </a:t>
            </a:r>
            <a:r>
              <a:rPr lang="en-US" sz="2000" b="1" dirty="0"/>
              <a:t>differentiate</a:t>
            </a:r>
            <a:r>
              <a:rPr lang="en-US" sz="2000" dirty="0"/>
              <a:t> various shifts in a biometric deployment </a:t>
            </a:r>
            <a:br>
              <a:rPr lang="en-US" sz="2000" dirty="0"/>
            </a:br>
            <a:r>
              <a:rPr lang="en-US" sz="2000" dirty="0"/>
              <a:t>(</a:t>
            </a:r>
            <a:r>
              <a:rPr lang="en-US" sz="2000" i="1" dirty="0"/>
              <a:t>e.g., </a:t>
            </a:r>
            <a:r>
              <a:rPr lang="en-US" i="1" dirty="0" err="1"/>
              <a:t>train→test</a:t>
            </a:r>
            <a:r>
              <a:rPr lang="en-US" i="1" dirty="0"/>
              <a:t> domain gap, </a:t>
            </a:r>
            <a:r>
              <a:rPr lang="en-US" i="1" dirty="0" err="1"/>
              <a:t>gallery→probe</a:t>
            </a:r>
            <a:r>
              <a:rPr lang="en-US" i="1" dirty="0"/>
              <a:t> asymmetry, and population/prior shift</a:t>
            </a:r>
            <a:r>
              <a:rPr lang="en-US" dirty="0"/>
              <a:t>)</a:t>
            </a:r>
            <a:endParaRPr lang="en-US" sz="2000" b="0" i="0" dirty="0">
              <a:solidFill>
                <a:schemeClr val="tx1"/>
              </a:solidFill>
              <a:effectLst/>
              <a:latin typeface="+mn-lt"/>
            </a:endParaRPr>
          </a:p>
          <a:p>
            <a:pPr marL="342900" lvl="0" indent="-342900">
              <a:buFont typeface="+mj-lt"/>
              <a:buAutoNum type="arabicPeriod"/>
            </a:pPr>
            <a:r>
              <a:rPr lang="en-US" sz="2000" b="0" i="0" dirty="0">
                <a:solidFill>
                  <a:schemeClr val="tx1"/>
                </a:solidFill>
                <a:effectLst/>
                <a:latin typeface="+mn-lt"/>
              </a:rPr>
              <a:t>To </a:t>
            </a:r>
            <a:r>
              <a:rPr lang="en-US" sz="2000" b="1" i="0" dirty="0">
                <a:solidFill>
                  <a:schemeClr val="tx1"/>
                </a:solidFill>
                <a:effectLst/>
                <a:latin typeface="+mn-lt"/>
              </a:rPr>
              <a:t>derive</a:t>
            </a:r>
            <a:r>
              <a:rPr lang="en-US" sz="2000" b="0" i="0" dirty="0">
                <a:solidFill>
                  <a:schemeClr val="tx1"/>
                </a:solidFill>
                <a:effectLst/>
                <a:latin typeface="+mn-lt"/>
              </a:rPr>
              <a:t> </a:t>
            </a:r>
            <a:r>
              <a:rPr lang="en-US" dirty="0"/>
              <a:t>why aggregate benchmark accuracy is a </a:t>
            </a:r>
            <a:r>
              <a:rPr lang="en-US" i="1" dirty="0"/>
              <a:t>mixture</a:t>
            </a:r>
            <a:r>
              <a:rPr lang="en-US" dirty="0"/>
              <a:t> statistic</a:t>
            </a:r>
            <a:endParaRPr lang="en-US" sz="2000" b="0" i="0" dirty="0">
              <a:solidFill>
                <a:schemeClr val="tx1"/>
              </a:solidFill>
              <a:effectLst/>
              <a:latin typeface="+mn-lt"/>
            </a:endParaRPr>
          </a:p>
          <a:p>
            <a:pPr marL="342900" lvl="0" indent="-342900" algn="l">
              <a:buFont typeface="+mj-lt"/>
              <a:buAutoNum type="arabicPeriod"/>
            </a:pPr>
            <a:r>
              <a:rPr lang="en-US" sz="2000" b="0" i="0" dirty="0">
                <a:solidFill>
                  <a:schemeClr val="tx1"/>
                </a:solidFill>
                <a:effectLst/>
                <a:latin typeface="+mn-lt"/>
              </a:rPr>
              <a:t>To </a:t>
            </a:r>
            <a:r>
              <a:rPr lang="en-US" sz="2000" b="1" dirty="0"/>
              <a:t>separate</a:t>
            </a:r>
            <a:r>
              <a:rPr lang="en-US" sz="2000" dirty="0"/>
              <a:t> two failure modes inside biometric representations: </a:t>
            </a:r>
            <a:r>
              <a:rPr lang="en-US" sz="2000" i="1" dirty="0"/>
              <a:t>signal loss </a:t>
            </a:r>
            <a:r>
              <a:rPr lang="en-US" sz="2000" dirty="0"/>
              <a:t>and </a:t>
            </a:r>
            <a:r>
              <a:rPr lang="en-US" sz="2000" i="1" dirty="0"/>
              <a:t>nuisance entanglement)</a:t>
            </a:r>
            <a:endParaRPr lang="en-US" sz="2000" b="0" i="0" dirty="0">
              <a:solidFill>
                <a:schemeClr val="tx1"/>
              </a:solidFill>
              <a:effectLst/>
              <a:latin typeface="+mn-lt"/>
            </a:endParaRPr>
          </a:p>
          <a:p>
            <a:pPr marL="342900" lvl="0" indent="-342900">
              <a:buFont typeface="+mj-lt"/>
              <a:buAutoNum type="arabicPeriod"/>
            </a:pPr>
            <a:r>
              <a:rPr lang="en-US" sz="2000" b="0" i="0" dirty="0">
                <a:solidFill>
                  <a:schemeClr val="tx1"/>
                </a:solidFill>
                <a:effectLst/>
                <a:latin typeface="+mn-lt"/>
              </a:rPr>
              <a:t>To </a:t>
            </a:r>
            <a:r>
              <a:rPr lang="en-US" sz="2000" b="1" dirty="0"/>
              <a:t>explain </a:t>
            </a:r>
            <a:r>
              <a:rPr lang="en-US" sz="2000" dirty="0"/>
              <a:t>how sensing and acquisition conditions determine the amount and quality of biometric information captured, and distinguish causal factors from proxy variables</a:t>
            </a:r>
          </a:p>
          <a:p>
            <a:pPr marL="342900" lvl="0" indent="-342900">
              <a:buFont typeface="+mj-lt"/>
              <a:buAutoNum type="arabicPeriod"/>
            </a:pPr>
            <a:r>
              <a:rPr lang="en-US" dirty="0"/>
              <a:t>To </a:t>
            </a:r>
            <a:r>
              <a:rPr lang="en-US" b="1" dirty="0"/>
              <a:t>understand</a:t>
            </a:r>
            <a:r>
              <a:rPr lang="en-US" dirty="0"/>
              <a:t> which operational covariates dominate biometric failure</a:t>
            </a:r>
            <a:endParaRPr lang="en-US" sz="2000" b="0" i="0" dirty="0">
              <a:solidFill>
                <a:srgbClr val="161C24"/>
              </a:solidFill>
              <a:effectLst/>
              <a:latin typeface="-apple-system"/>
            </a:endParaRPr>
          </a:p>
        </p:txBody>
      </p:sp>
      <p:sp>
        <p:nvSpPr>
          <p:cNvPr id="10" name="TextBox 9">
            <a:extLst>
              <a:ext uri="{FF2B5EF4-FFF2-40B4-BE49-F238E27FC236}">
                <a16:creationId xmlns:a16="http://schemas.microsoft.com/office/drawing/2014/main" id="{30773BF2-626A-3A11-445E-25310ED35C7B}"/>
              </a:ext>
            </a:extLst>
          </p:cNvPr>
          <p:cNvSpPr txBox="1"/>
          <p:nvPr/>
        </p:nvSpPr>
        <p:spPr>
          <a:xfrm>
            <a:off x="590310" y="3164693"/>
            <a:ext cx="2771099" cy="461665"/>
          </a:xfrm>
          <a:prstGeom prst="rect">
            <a:avLst/>
          </a:prstGeom>
          <a:noFill/>
        </p:spPr>
        <p:txBody>
          <a:bodyPr wrap="square" rtlCol="0">
            <a:spAutoFit/>
          </a:bodyPr>
          <a:lstStyle/>
          <a:p>
            <a:r>
              <a:rPr lang="en-US" sz="2400" b="1" dirty="0">
                <a:solidFill>
                  <a:srgbClr val="0070C0"/>
                </a:solidFill>
              </a:rPr>
              <a:t>Key Outcomes:</a:t>
            </a:r>
          </a:p>
        </p:txBody>
      </p:sp>
    </p:spTree>
    <p:extLst>
      <p:ext uri="{BB962C8B-B14F-4D97-AF65-F5344CB8AC3E}">
        <p14:creationId xmlns:p14="http://schemas.microsoft.com/office/powerpoint/2010/main" val="3842382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AA31F-5EAB-033B-35CA-1E849C9D140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CB728B4-528D-97D1-5AB5-963EF952FE8D}"/>
              </a:ext>
            </a:extLst>
          </p:cNvPr>
          <p:cNvSpPr txBox="1"/>
          <p:nvPr/>
        </p:nvSpPr>
        <p:spPr>
          <a:xfrm>
            <a:off x="605742" y="1125100"/>
            <a:ext cx="10995948" cy="1200329"/>
          </a:xfrm>
          <a:prstGeom prst="rect">
            <a:avLst/>
          </a:prstGeom>
          <a:noFill/>
        </p:spPr>
        <p:txBody>
          <a:bodyPr wrap="square" rtlCol="0">
            <a:spAutoFit/>
          </a:bodyPr>
          <a:lstStyle/>
          <a:p>
            <a:r>
              <a:rPr lang="en-US" sz="2400" dirty="0"/>
              <a:t>LAST WEEK — Can We Trust Published Biometric Results?</a:t>
            </a:r>
          </a:p>
          <a:p>
            <a:endParaRPr lang="en-US" sz="2400" b="1" dirty="0">
              <a:solidFill>
                <a:srgbClr val="0070C0"/>
              </a:solidFill>
            </a:endParaRPr>
          </a:p>
          <a:p>
            <a:r>
              <a:rPr lang="en-US" sz="2400" b="1" dirty="0">
                <a:solidFill>
                  <a:srgbClr val="0070C0"/>
                </a:solidFill>
              </a:rPr>
              <a:t>THIS WEEK — Why Do Biometric Systems Fail Outside the Laboratory?</a:t>
            </a:r>
            <a:endParaRPr lang="en-US" sz="2400" dirty="0">
              <a:solidFill>
                <a:srgbClr val="0070C0"/>
              </a:solidFill>
            </a:endParaRPr>
          </a:p>
        </p:txBody>
      </p:sp>
      <p:sp>
        <p:nvSpPr>
          <p:cNvPr id="20" name="Slide Number Placeholder 19">
            <a:extLst>
              <a:ext uri="{FF2B5EF4-FFF2-40B4-BE49-F238E27FC236}">
                <a16:creationId xmlns:a16="http://schemas.microsoft.com/office/drawing/2014/main" id="{909AA2BC-369B-13FB-9DED-3098BC38067E}"/>
              </a:ext>
            </a:extLst>
          </p:cNvPr>
          <p:cNvSpPr>
            <a:spLocks noGrp="1"/>
          </p:cNvSpPr>
          <p:nvPr>
            <p:ph type="sldNum" sz="quarter" idx="12"/>
          </p:nvPr>
        </p:nvSpPr>
        <p:spPr/>
        <p:txBody>
          <a:bodyPr/>
          <a:lstStyle/>
          <a:p>
            <a:fld id="{659B2F21-D912-7541-8ED2-FD6ABD90B685}" type="slidenum">
              <a:rPr lang="en-US" smtClean="0"/>
              <a:t>4</a:t>
            </a:fld>
            <a:endParaRPr lang="en-US"/>
          </a:p>
        </p:txBody>
      </p:sp>
      <p:pic>
        <p:nvPicPr>
          <p:cNvPr id="6" name="Picture 2">
            <a:extLst>
              <a:ext uri="{FF2B5EF4-FFF2-40B4-BE49-F238E27FC236}">
                <a16:creationId xmlns:a16="http://schemas.microsoft.com/office/drawing/2014/main" id="{04282464-FF17-EC95-87AA-6F58F60D65D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46057" y="2715316"/>
            <a:ext cx="11299886" cy="3152633"/>
          </a:xfrm>
          <a:prstGeom prst="rect">
            <a:avLst/>
          </a:prstGeom>
        </p:spPr>
      </p:pic>
      <p:sp>
        <p:nvSpPr>
          <p:cNvPr id="7" name="TextBox 6">
            <a:extLst>
              <a:ext uri="{FF2B5EF4-FFF2-40B4-BE49-F238E27FC236}">
                <a16:creationId xmlns:a16="http://schemas.microsoft.com/office/drawing/2014/main" id="{EF878B1F-BA44-18DE-3CB2-1844BE710A4C}"/>
              </a:ext>
            </a:extLst>
          </p:cNvPr>
          <p:cNvSpPr txBox="1"/>
          <p:nvPr/>
        </p:nvSpPr>
        <p:spPr>
          <a:xfrm>
            <a:off x="2647666" y="5103674"/>
            <a:ext cx="1486241" cy="1754326"/>
          </a:xfrm>
          <a:prstGeom prst="rect">
            <a:avLst/>
          </a:prstGeom>
          <a:noFill/>
        </p:spPr>
        <p:txBody>
          <a:bodyPr wrap="none" rtlCol="0">
            <a:spAutoFit/>
          </a:bodyPr>
          <a:lstStyle/>
          <a:p>
            <a:pPr marL="285750" indent="-285750">
              <a:buFontTx/>
              <a:buChar char="-"/>
            </a:pPr>
            <a:r>
              <a:rPr lang="en-US" i="1" dirty="0"/>
              <a:t>person</a:t>
            </a:r>
          </a:p>
          <a:p>
            <a:pPr marL="285750" indent="-285750">
              <a:buFontTx/>
              <a:buChar char="-"/>
            </a:pPr>
            <a:r>
              <a:rPr lang="en-US" i="1" dirty="0"/>
              <a:t>face</a:t>
            </a:r>
          </a:p>
          <a:p>
            <a:pPr marL="285750" indent="-285750">
              <a:buFontTx/>
              <a:buChar char="-"/>
            </a:pPr>
            <a:r>
              <a:rPr lang="en-US" i="1" dirty="0"/>
              <a:t>fingerprint</a:t>
            </a:r>
          </a:p>
          <a:p>
            <a:pPr marL="285750" indent="-285750">
              <a:buFontTx/>
              <a:buChar char="-"/>
            </a:pPr>
            <a:r>
              <a:rPr lang="en-US" i="1" dirty="0"/>
              <a:t>iris</a:t>
            </a:r>
          </a:p>
          <a:p>
            <a:pPr marL="285750" indent="-285750">
              <a:buFontTx/>
              <a:buChar char="-"/>
            </a:pPr>
            <a:r>
              <a:rPr lang="en-US" i="1" dirty="0"/>
              <a:t>…</a:t>
            </a:r>
          </a:p>
          <a:p>
            <a:endParaRPr lang="en-US" i="1" dirty="0"/>
          </a:p>
        </p:txBody>
      </p:sp>
      <p:cxnSp>
        <p:nvCxnSpPr>
          <p:cNvPr id="11" name="Straight Arrow Connector 10">
            <a:extLst>
              <a:ext uri="{FF2B5EF4-FFF2-40B4-BE49-F238E27FC236}">
                <a16:creationId xmlns:a16="http://schemas.microsoft.com/office/drawing/2014/main" id="{19834419-AA21-0EE0-4A76-C32EE7DE7519}"/>
              </a:ext>
            </a:extLst>
          </p:cNvPr>
          <p:cNvCxnSpPr>
            <a:cxnSpLocks/>
          </p:cNvCxnSpPr>
          <p:nvPr/>
        </p:nvCxnSpPr>
        <p:spPr>
          <a:xfrm>
            <a:off x="5216576" y="1535176"/>
            <a:ext cx="0" cy="404734"/>
          </a:xfrm>
          <a:prstGeom prst="straightConnector1">
            <a:avLst/>
          </a:prstGeom>
          <a:ln w="76200">
            <a:solidFill>
              <a:srgbClr val="0070C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6910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EC01-FB83-76B2-13E0-0081CA58C39F}"/>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E8BD3462-F724-19B5-7F58-ED0EC1FAFED3}"/>
              </a:ext>
            </a:extLst>
          </p:cNvPr>
          <p:cNvSpPr>
            <a:spLocks noGrp="1"/>
          </p:cNvSpPr>
          <p:nvPr>
            <p:ph type="sldNum" sz="quarter" idx="12"/>
          </p:nvPr>
        </p:nvSpPr>
        <p:spPr/>
        <p:txBody>
          <a:bodyPr/>
          <a:lstStyle/>
          <a:p>
            <a:fld id="{659B2F21-D912-7541-8ED2-FD6ABD90B685}" type="slidenum">
              <a:rPr lang="en-US" smtClean="0"/>
              <a:t>5</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2F86C27-1294-6EE6-6D58-13DA95CBCC38}"/>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Week 6 </a:t>
                </a:r>
                <a14:m>
                  <m:oMath xmlns:m="http://schemas.openxmlformats.org/officeDocument/2006/math">
                    <m:r>
                      <a:rPr lang="en-US" sz="4000" b="1" i="1" smtClean="0">
                        <a:solidFill>
                          <a:srgbClr val="0070C0"/>
                        </a:solidFill>
                        <a:latin typeface="Cambria Math" panose="02040503050406030204" pitchFamily="18" charset="0"/>
                      </a:rPr>
                      <m:t>→</m:t>
                    </m:r>
                  </m:oMath>
                </a14:m>
                <a:r>
                  <a:rPr lang="en-US" sz="4000" b="1" dirty="0">
                    <a:solidFill>
                      <a:srgbClr val="0070C0"/>
                    </a:solidFill>
                  </a:rPr>
                  <a:t> Week 7 Overview</a:t>
                </a:r>
              </a:p>
            </p:txBody>
          </p:sp>
        </mc:Choice>
        <mc:Fallback xmlns="">
          <p:sp>
            <p:nvSpPr>
              <p:cNvPr id="3" name="TextBox 2">
                <a:extLst>
                  <a:ext uri="{FF2B5EF4-FFF2-40B4-BE49-F238E27FC236}">
                    <a16:creationId xmlns:a16="http://schemas.microsoft.com/office/drawing/2014/main" id="{C2F86C27-1294-6EE6-6D58-13DA95CBCC38}"/>
                  </a:ext>
                </a:extLst>
              </p:cNvPr>
              <p:cNvSpPr txBox="1">
                <a:spLocks noRot="1" noChangeAspect="1" noMove="1" noResize="1" noEditPoints="1" noAdjustHandles="1" noChangeArrowheads="1" noChangeShapeType="1" noTextEdit="1"/>
              </p:cNvSpPr>
              <p:nvPr/>
            </p:nvSpPr>
            <p:spPr>
              <a:xfrm>
                <a:off x="590310" y="486009"/>
                <a:ext cx="10995948" cy="707886"/>
              </a:xfrm>
              <a:prstGeom prst="rect">
                <a:avLst/>
              </a:prstGeom>
              <a:blipFill>
                <a:blip r:embed="rId3"/>
                <a:stretch>
                  <a:fillRect l="-1961" t="-15789" b="-350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056683DD-A072-0345-FD87-13E17C239F2C}"/>
                  </a:ext>
                </a:extLst>
              </p:cNvPr>
              <p:cNvGraphicFramePr>
                <a:graphicFrameLocks noGrp="1"/>
              </p:cNvGraphicFramePr>
              <p:nvPr>
                <p:extLst>
                  <p:ext uri="{D42A27DB-BD31-4B8C-83A1-F6EECF244321}">
                    <p14:modId xmlns:p14="http://schemas.microsoft.com/office/powerpoint/2010/main" val="1336006152"/>
                  </p:ext>
                </p:extLst>
              </p:nvPr>
            </p:nvGraphicFramePr>
            <p:xfrm>
              <a:off x="1059053" y="2022522"/>
              <a:ext cx="10222422" cy="3505200"/>
            </p:xfrm>
            <a:graphic>
              <a:graphicData uri="http://schemas.openxmlformats.org/drawingml/2006/table">
                <a:tbl>
                  <a:tblPr firstRow="1" bandRow="1">
                    <a:tableStyleId>{69CF1AB2-1976-4502-BF36-3FF5EA218861}</a:tableStyleId>
                  </a:tblPr>
                  <a:tblGrid>
                    <a:gridCol w="3407474">
                      <a:extLst>
                        <a:ext uri="{9D8B030D-6E8A-4147-A177-3AD203B41FA5}">
                          <a16:colId xmlns:a16="http://schemas.microsoft.com/office/drawing/2014/main" val="3356872657"/>
                        </a:ext>
                      </a:extLst>
                    </a:gridCol>
                    <a:gridCol w="3407474">
                      <a:extLst>
                        <a:ext uri="{9D8B030D-6E8A-4147-A177-3AD203B41FA5}">
                          <a16:colId xmlns:a16="http://schemas.microsoft.com/office/drawing/2014/main" val="577326759"/>
                        </a:ext>
                      </a:extLst>
                    </a:gridCol>
                    <a:gridCol w="3407474">
                      <a:extLst>
                        <a:ext uri="{9D8B030D-6E8A-4147-A177-3AD203B41FA5}">
                          <a16:colId xmlns:a16="http://schemas.microsoft.com/office/drawing/2014/main" val="731414146"/>
                        </a:ext>
                      </a:extLst>
                    </a:gridCol>
                  </a:tblGrid>
                  <a:tr h="370840">
                    <a:tc>
                      <a:txBody>
                        <a:bodyPr/>
                        <a:lstStyle/>
                        <a:p>
                          <a:endParaRPr lang="en-US" dirty="0"/>
                        </a:p>
                      </a:txBody>
                      <a:tcPr/>
                    </a:tc>
                    <a:tc>
                      <a:txBody>
                        <a:bodyPr/>
                        <a:lstStyle/>
                        <a:p>
                          <a:pPr algn="ctr"/>
                          <a:r>
                            <a:rPr lang="en-US" dirty="0"/>
                            <a:t>Week 6</a:t>
                          </a:r>
                        </a:p>
                      </a:txBody>
                      <a:tcPr/>
                    </a:tc>
                    <a:tc>
                      <a:txBody>
                        <a:bodyPr/>
                        <a:lstStyle/>
                        <a:p>
                          <a:pPr algn="ctr"/>
                          <a:r>
                            <a:rPr lang="en-US" dirty="0"/>
                            <a:t>Week 7</a:t>
                          </a:r>
                        </a:p>
                      </a:txBody>
                      <a:tcPr/>
                    </a:tc>
                    <a:extLst>
                      <a:ext uri="{0D108BD9-81ED-4DB2-BD59-A6C34878D82A}">
                        <a16:rowId xmlns:a16="http://schemas.microsoft.com/office/drawing/2014/main" val="1052507669"/>
                      </a:ext>
                    </a:extLst>
                  </a:tr>
                  <a:tr h="370840">
                    <a:tc>
                      <a:txBody>
                        <a:bodyPr/>
                        <a:lstStyle/>
                        <a:p>
                          <a:r>
                            <a:rPr lang="en-US" dirty="0"/>
                            <a:t>Question</a:t>
                          </a:r>
                        </a:p>
                      </a:txBody>
                      <a:tcPr/>
                    </a:tc>
                    <a:tc>
                      <a:txBody>
                        <a:bodyPr/>
                        <a:lstStyle/>
                        <a:p>
                          <a:r>
                            <a:rPr lang="en-US" dirty="0"/>
                            <a:t>Can we trust published Results?</a:t>
                          </a:r>
                        </a:p>
                      </a:txBody>
                      <a:tcPr/>
                    </a:tc>
                    <a:tc>
                      <a:txBody>
                        <a:bodyPr/>
                        <a:lstStyle/>
                        <a:p>
                          <a:r>
                            <a:rPr lang="en-US" dirty="0"/>
                            <a:t>Why do systems fail in the field?</a:t>
                          </a:r>
                        </a:p>
                      </a:txBody>
                      <a:tcPr/>
                    </a:tc>
                    <a:extLst>
                      <a:ext uri="{0D108BD9-81ED-4DB2-BD59-A6C34878D82A}">
                        <a16:rowId xmlns:a16="http://schemas.microsoft.com/office/drawing/2014/main" val="3621213698"/>
                      </a:ext>
                    </a:extLst>
                  </a:tr>
                  <a:tr h="370840">
                    <a:tc>
                      <a:txBody>
                        <a:bodyPr/>
                        <a:lstStyle/>
                        <a:p>
                          <a:r>
                            <a:rPr lang="en-US" dirty="0"/>
                            <a:t>Failure Source</a:t>
                          </a:r>
                        </a:p>
                      </a:txBody>
                      <a:tcPr/>
                    </a:tc>
                    <a:tc>
                      <a:txBody>
                        <a:bodyPr/>
                        <a:lstStyle/>
                        <a:p>
                          <a:r>
                            <a:rPr lang="en-US" b="1" dirty="0"/>
                            <a:t>Sampling  error</a:t>
                          </a:r>
                        </a:p>
                      </a:txBody>
                      <a:tcPr/>
                    </a:tc>
                    <a:tc>
                      <a:txBody>
                        <a:bodyPr/>
                        <a:lstStyle/>
                        <a:p>
                          <a:r>
                            <a:rPr lang="en-US" b="1" dirty="0"/>
                            <a:t>Distribution mismatch</a:t>
                          </a:r>
                        </a:p>
                      </a:txBody>
                      <a:tcPr/>
                    </a:tc>
                    <a:extLst>
                      <a:ext uri="{0D108BD9-81ED-4DB2-BD59-A6C34878D82A}">
                        <a16:rowId xmlns:a16="http://schemas.microsoft.com/office/drawing/2014/main" val="870578214"/>
                      </a:ext>
                    </a:extLst>
                  </a:tr>
                  <a:tr h="370840">
                    <a:tc>
                      <a:txBody>
                        <a:bodyPr/>
                        <a:lstStyle/>
                        <a:p>
                          <a:r>
                            <a:rPr lang="en-US" dirty="0"/>
                            <a:t>Performance Issue</a:t>
                          </a:r>
                        </a:p>
                      </a:txBody>
                      <a:tcPr/>
                    </a:tc>
                    <a:tc>
                      <a:txBody>
                        <a:bodyPr/>
                        <a:lstStyle/>
                        <a:p>
                          <a:r>
                            <a:rPr lang="en-US" dirty="0"/>
                            <a:t>Test set is too small</a:t>
                          </a:r>
                        </a:p>
                      </a:txBody>
                      <a:tcPr/>
                    </a:tc>
                    <a:tc>
                      <a:txBody>
                        <a:bodyPr/>
                        <a:lstStyle/>
                        <a:p>
                          <a:r>
                            <a:rPr lang="en-US" dirty="0"/>
                            <a:t>Test set differences in apparent representation</a:t>
                          </a:r>
                        </a:p>
                      </a:txBody>
                      <a:tcPr/>
                    </a:tc>
                    <a:extLst>
                      <a:ext uri="{0D108BD9-81ED-4DB2-BD59-A6C34878D82A}">
                        <a16:rowId xmlns:a16="http://schemas.microsoft.com/office/drawing/2014/main" val="675558405"/>
                      </a:ext>
                    </a:extLst>
                  </a:tr>
                  <a:tr h="370840">
                    <a:tc>
                      <a:txBody>
                        <a:bodyPr/>
                        <a:lstStyle/>
                        <a:p>
                          <a:r>
                            <a:rPr lang="en-US" dirty="0"/>
                            <a:t>Fix</a:t>
                          </a:r>
                        </a:p>
                      </a:txBody>
                      <a:tcPr/>
                    </a:tc>
                    <a:tc>
                      <a:txBody>
                        <a:bodyPr/>
                        <a:lstStyle/>
                        <a:p>
                          <a:r>
                            <a:rPr lang="en-US" dirty="0"/>
                            <a:t>Collect more data</a:t>
                          </a:r>
                        </a:p>
                      </a:txBody>
                      <a:tcPr/>
                    </a:tc>
                    <a:tc>
                      <a:txBody>
                        <a:bodyPr/>
                        <a:lstStyle/>
                        <a:p>
                          <a:pPr marL="285750" indent="-285750">
                            <a:buFont typeface="Arial" panose="020B0604020202020204" pitchFamily="34" charset="0"/>
                            <a:buChar char="•"/>
                          </a:pPr>
                          <a:r>
                            <a:rPr lang="en-US" dirty="0"/>
                            <a:t>Collect different data</a:t>
                          </a:r>
                        </a:p>
                        <a:p>
                          <a:pPr marL="285750" indent="-285750">
                            <a:buFont typeface="Arial" panose="020B0604020202020204" pitchFamily="34" charset="0"/>
                            <a:buChar char="•"/>
                          </a:pPr>
                          <a:r>
                            <a:rPr lang="en-US" dirty="0"/>
                            <a:t>Or change representation </a:t>
                          </a:r>
                        </a:p>
                      </a:txBody>
                      <a:tcPr/>
                    </a:tc>
                    <a:extLst>
                      <a:ext uri="{0D108BD9-81ED-4DB2-BD59-A6C34878D82A}">
                        <a16:rowId xmlns:a16="http://schemas.microsoft.com/office/drawing/2014/main" val="1655518489"/>
                      </a:ext>
                    </a:extLst>
                  </a:tr>
                  <a:tr h="370840">
                    <a:tc>
                      <a:txBody>
                        <a:bodyPr/>
                        <a:lstStyle/>
                        <a:p>
                          <a:r>
                            <a:rPr lang="en-US" dirty="0"/>
                            <a:t>Theoretical</a:t>
                          </a:r>
                          <a:r>
                            <a:rPr lang="en-US" baseline="0" dirty="0"/>
                            <a:t> </a:t>
                          </a:r>
                          <a:r>
                            <a:rPr lang="en-US" dirty="0"/>
                            <a:t>Converges as </a:t>
                          </a:r>
                          <a14:m>
                            <m:oMath xmlns:m="http://schemas.openxmlformats.org/officeDocument/2006/math">
                              <m:r>
                                <a:rPr lang="en-US" b="0" smtClean="0">
                                  <a:latin typeface="Cambria Math" panose="02040503050406030204" pitchFamily="18" charset="0"/>
                                </a:rPr>
                                <m:t>𝑛</m:t>
                              </m:r>
                              <m:r>
                                <a:rPr lang="en-US" b="0" smtClean="0">
                                  <a:latin typeface="Cambria Math" panose="02040503050406030204" pitchFamily="18" charset="0"/>
                                </a:rPr>
                                <m:t>→∞</m:t>
                              </m:r>
                            </m:oMath>
                          </a14:m>
                          <a:endParaRPr lang="en-US" dirty="0"/>
                        </a:p>
                      </a:txBody>
                      <a:tcPr/>
                    </a:tc>
                    <a:tc>
                      <a:txBody>
                        <a:bodyPr/>
                        <a:lstStyle/>
                        <a:p>
                          <a:r>
                            <a:rPr lang="en-US" dirty="0"/>
                            <a:t>Yes</a:t>
                          </a:r>
                        </a:p>
                      </a:txBody>
                      <a:tcPr/>
                    </a:tc>
                    <a:tc>
                      <a:txBody>
                        <a:bodyPr/>
                        <a:lstStyle/>
                        <a:p>
                          <a:r>
                            <a:rPr lang="en-US" dirty="0"/>
                            <a:t>No</a:t>
                          </a:r>
                        </a:p>
                      </a:txBody>
                      <a:tcPr/>
                    </a:tc>
                    <a:extLst>
                      <a:ext uri="{0D108BD9-81ED-4DB2-BD59-A6C34878D82A}">
                        <a16:rowId xmlns:a16="http://schemas.microsoft.com/office/drawing/2014/main" val="1380911699"/>
                      </a:ext>
                    </a:extLst>
                  </a:tr>
                  <a:tr h="370840">
                    <a:tc>
                      <a:txBody>
                        <a:bodyPr/>
                        <a:lstStyle/>
                        <a:p>
                          <a:r>
                            <a:rPr lang="en-US" dirty="0"/>
                            <a:t>Statistical Object</a:t>
                          </a:r>
                        </a:p>
                      </a:txBody>
                      <a:tcPr/>
                    </a:tc>
                    <a:tc>
                      <a:txBody>
                        <a:bodyPr/>
                        <a:lstStyle/>
                        <a:p>
                          <a:r>
                            <a:rPr lang="en-US" dirty="0"/>
                            <a:t>Confidence interval on a metric</a:t>
                          </a:r>
                        </a:p>
                      </a:txBody>
                      <a:tcPr/>
                    </a:tc>
                    <a:tc>
                      <a:txBody>
                        <a:bodyPr/>
                        <a:lstStyle/>
                        <a:p>
                          <a:r>
                            <a:rPr lang="en-US" dirty="0"/>
                            <a:t>Conditional model of the metric</a:t>
                          </a:r>
                        </a:p>
                      </a:txBody>
                      <a:tcPr/>
                    </a:tc>
                    <a:extLst>
                      <a:ext uri="{0D108BD9-81ED-4DB2-BD59-A6C34878D82A}">
                        <a16:rowId xmlns:a16="http://schemas.microsoft.com/office/drawing/2014/main" val="510985792"/>
                      </a:ext>
                    </a:extLst>
                  </a:tr>
                  <a:tr h="370840">
                    <a:tc>
                      <a:txBody>
                        <a:bodyPr/>
                        <a:lstStyle/>
                        <a:p>
                          <a:r>
                            <a:rPr lang="en-US" dirty="0"/>
                            <a:t>Pipeline stage</a:t>
                          </a:r>
                        </a:p>
                      </a:txBody>
                      <a:tcPr/>
                    </a:tc>
                    <a:tc>
                      <a:txBody>
                        <a:bodyPr/>
                        <a:lstStyle/>
                        <a:p>
                          <a:r>
                            <a:rPr lang="en-US" dirty="0"/>
                            <a:t>Evaluation / Decision</a:t>
                          </a:r>
                        </a:p>
                      </a:txBody>
                      <a:tcPr/>
                    </a:tc>
                    <a:tc>
                      <a:txBody>
                        <a:bodyPr/>
                        <a:lstStyle/>
                        <a:p>
                          <a:r>
                            <a:rPr lang="en-US" b="1" dirty="0"/>
                            <a:t>Representation</a:t>
                          </a:r>
                        </a:p>
                      </a:txBody>
                      <a:tcPr/>
                    </a:tc>
                    <a:extLst>
                      <a:ext uri="{0D108BD9-81ED-4DB2-BD59-A6C34878D82A}">
                        <a16:rowId xmlns:a16="http://schemas.microsoft.com/office/drawing/2014/main" val="334633587"/>
                      </a:ext>
                    </a:extLst>
                  </a:tr>
                </a:tbl>
              </a:graphicData>
            </a:graphic>
          </p:graphicFrame>
        </mc:Choice>
        <mc:Fallback xmlns="">
          <p:graphicFrame>
            <p:nvGraphicFramePr>
              <p:cNvPr id="4" name="Table 3">
                <a:extLst>
                  <a:ext uri="{FF2B5EF4-FFF2-40B4-BE49-F238E27FC236}">
                    <a16:creationId xmlns:a16="http://schemas.microsoft.com/office/drawing/2014/main" id="{056683DD-A072-0345-FD87-13E17C239F2C}"/>
                  </a:ext>
                </a:extLst>
              </p:cNvPr>
              <p:cNvGraphicFramePr>
                <a:graphicFrameLocks noGrp="1"/>
              </p:cNvGraphicFramePr>
              <p:nvPr>
                <p:extLst>
                  <p:ext uri="{D42A27DB-BD31-4B8C-83A1-F6EECF244321}">
                    <p14:modId xmlns:p14="http://schemas.microsoft.com/office/powerpoint/2010/main" val="1336006152"/>
                  </p:ext>
                </p:extLst>
              </p:nvPr>
            </p:nvGraphicFramePr>
            <p:xfrm>
              <a:off x="1059053" y="2022522"/>
              <a:ext cx="10222422" cy="3505200"/>
            </p:xfrm>
            <a:graphic>
              <a:graphicData uri="http://schemas.openxmlformats.org/drawingml/2006/table">
                <a:tbl>
                  <a:tblPr firstRow="1" bandRow="1">
                    <a:tableStyleId>{69CF1AB2-1976-4502-BF36-3FF5EA218861}</a:tableStyleId>
                  </a:tblPr>
                  <a:tblGrid>
                    <a:gridCol w="3407474">
                      <a:extLst>
                        <a:ext uri="{9D8B030D-6E8A-4147-A177-3AD203B41FA5}">
                          <a16:colId xmlns:a16="http://schemas.microsoft.com/office/drawing/2014/main" val="3356872657"/>
                        </a:ext>
                      </a:extLst>
                    </a:gridCol>
                    <a:gridCol w="3407474">
                      <a:extLst>
                        <a:ext uri="{9D8B030D-6E8A-4147-A177-3AD203B41FA5}">
                          <a16:colId xmlns:a16="http://schemas.microsoft.com/office/drawing/2014/main" val="577326759"/>
                        </a:ext>
                      </a:extLst>
                    </a:gridCol>
                    <a:gridCol w="3407474">
                      <a:extLst>
                        <a:ext uri="{9D8B030D-6E8A-4147-A177-3AD203B41FA5}">
                          <a16:colId xmlns:a16="http://schemas.microsoft.com/office/drawing/2014/main" val="731414146"/>
                        </a:ext>
                      </a:extLst>
                    </a:gridCol>
                  </a:tblGrid>
                  <a:tr h="370840">
                    <a:tc>
                      <a:txBody>
                        <a:bodyPr/>
                        <a:lstStyle/>
                        <a:p>
                          <a:endParaRPr lang="en-US" dirty="0"/>
                        </a:p>
                      </a:txBody>
                      <a:tcPr/>
                    </a:tc>
                    <a:tc>
                      <a:txBody>
                        <a:bodyPr/>
                        <a:lstStyle/>
                        <a:p>
                          <a:pPr algn="ctr"/>
                          <a:r>
                            <a:rPr lang="en-US" dirty="0"/>
                            <a:t>Week 6</a:t>
                          </a:r>
                        </a:p>
                      </a:txBody>
                      <a:tcPr/>
                    </a:tc>
                    <a:tc>
                      <a:txBody>
                        <a:bodyPr/>
                        <a:lstStyle/>
                        <a:p>
                          <a:pPr algn="ctr"/>
                          <a:r>
                            <a:rPr lang="en-US" dirty="0"/>
                            <a:t>Week 7</a:t>
                          </a:r>
                        </a:p>
                      </a:txBody>
                      <a:tcPr/>
                    </a:tc>
                    <a:extLst>
                      <a:ext uri="{0D108BD9-81ED-4DB2-BD59-A6C34878D82A}">
                        <a16:rowId xmlns:a16="http://schemas.microsoft.com/office/drawing/2014/main" val="1052507669"/>
                      </a:ext>
                    </a:extLst>
                  </a:tr>
                  <a:tr h="370840">
                    <a:tc>
                      <a:txBody>
                        <a:bodyPr/>
                        <a:lstStyle/>
                        <a:p>
                          <a:r>
                            <a:rPr lang="en-US" dirty="0"/>
                            <a:t>Question</a:t>
                          </a:r>
                        </a:p>
                      </a:txBody>
                      <a:tcPr/>
                    </a:tc>
                    <a:tc>
                      <a:txBody>
                        <a:bodyPr/>
                        <a:lstStyle/>
                        <a:p>
                          <a:r>
                            <a:rPr lang="en-US" dirty="0"/>
                            <a:t>Can we trust published Results?</a:t>
                          </a:r>
                        </a:p>
                      </a:txBody>
                      <a:tcPr/>
                    </a:tc>
                    <a:tc>
                      <a:txBody>
                        <a:bodyPr/>
                        <a:lstStyle/>
                        <a:p>
                          <a:r>
                            <a:rPr lang="en-US" dirty="0"/>
                            <a:t>Why do systems fail in the field?</a:t>
                          </a:r>
                        </a:p>
                      </a:txBody>
                      <a:tcPr/>
                    </a:tc>
                    <a:extLst>
                      <a:ext uri="{0D108BD9-81ED-4DB2-BD59-A6C34878D82A}">
                        <a16:rowId xmlns:a16="http://schemas.microsoft.com/office/drawing/2014/main" val="3621213698"/>
                      </a:ext>
                    </a:extLst>
                  </a:tr>
                  <a:tr h="370840">
                    <a:tc>
                      <a:txBody>
                        <a:bodyPr/>
                        <a:lstStyle/>
                        <a:p>
                          <a:r>
                            <a:rPr lang="en-US" dirty="0"/>
                            <a:t>Failure Source</a:t>
                          </a:r>
                        </a:p>
                      </a:txBody>
                      <a:tcPr/>
                    </a:tc>
                    <a:tc>
                      <a:txBody>
                        <a:bodyPr/>
                        <a:lstStyle/>
                        <a:p>
                          <a:r>
                            <a:rPr lang="en-US" b="1" dirty="0"/>
                            <a:t>Sampling  error</a:t>
                          </a:r>
                        </a:p>
                      </a:txBody>
                      <a:tcPr/>
                    </a:tc>
                    <a:tc>
                      <a:txBody>
                        <a:bodyPr/>
                        <a:lstStyle/>
                        <a:p>
                          <a:r>
                            <a:rPr lang="en-US" b="1" dirty="0"/>
                            <a:t>Distribution mismatch</a:t>
                          </a:r>
                        </a:p>
                      </a:txBody>
                      <a:tcPr/>
                    </a:tc>
                    <a:extLst>
                      <a:ext uri="{0D108BD9-81ED-4DB2-BD59-A6C34878D82A}">
                        <a16:rowId xmlns:a16="http://schemas.microsoft.com/office/drawing/2014/main" val="870578214"/>
                      </a:ext>
                    </a:extLst>
                  </a:tr>
                  <a:tr h="640080">
                    <a:tc>
                      <a:txBody>
                        <a:bodyPr/>
                        <a:lstStyle/>
                        <a:p>
                          <a:r>
                            <a:rPr lang="en-US" dirty="0"/>
                            <a:t>Performance Issue</a:t>
                          </a:r>
                        </a:p>
                      </a:txBody>
                      <a:tcPr/>
                    </a:tc>
                    <a:tc>
                      <a:txBody>
                        <a:bodyPr/>
                        <a:lstStyle/>
                        <a:p>
                          <a:r>
                            <a:rPr lang="en-US" dirty="0"/>
                            <a:t>Test set is too small</a:t>
                          </a:r>
                        </a:p>
                      </a:txBody>
                      <a:tcPr/>
                    </a:tc>
                    <a:tc>
                      <a:txBody>
                        <a:bodyPr/>
                        <a:lstStyle/>
                        <a:p>
                          <a:r>
                            <a:rPr lang="en-US" dirty="0"/>
                            <a:t>Test set differences in apparent representation</a:t>
                          </a:r>
                        </a:p>
                      </a:txBody>
                      <a:tcPr/>
                    </a:tc>
                    <a:extLst>
                      <a:ext uri="{0D108BD9-81ED-4DB2-BD59-A6C34878D82A}">
                        <a16:rowId xmlns:a16="http://schemas.microsoft.com/office/drawing/2014/main" val="675558405"/>
                      </a:ext>
                    </a:extLst>
                  </a:tr>
                  <a:tr h="640080">
                    <a:tc>
                      <a:txBody>
                        <a:bodyPr/>
                        <a:lstStyle/>
                        <a:p>
                          <a:r>
                            <a:rPr lang="en-US" dirty="0"/>
                            <a:t>Fix</a:t>
                          </a:r>
                        </a:p>
                      </a:txBody>
                      <a:tcPr/>
                    </a:tc>
                    <a:tc>
                      <a:txBody>
                        <a:bodyPr/>
                        <a:lstStyle/>
                        <a:p>
                          <a:r>
                            <a:rPr lang="en-US" dirty="0"/>
                            <a:t>Collect more data</a:t>
                          </a:r>
                        </a:p>
                      </a:txBody>
                      <a:tcPr/>
                    </a:tc>
                    <a:tc>
                      <a:txBody>
                        <a:bodyPr/>
                        <a:lstStyle/>
                        <a:p>
                          <a:pPr marL="285750" indent="-285750">
                            <a:buFont typeface="Arial" panose="020B0604020202020204" pitchFamily="34" charset="0"/>
                            <a:buChar char="•"/>
                          </a:pPr>
                          <a:r>
                            <a:rPr lang="en-US" dirty="0"/>
                            <a:t>Collect different data</a:t>
                          </a:r>
                        </a:p>
                        <a:p>
                          <a:pPr marL="285750" indent="-285750">
                            <a:buFont typeface="Arial" panose="020B0604020202020204" pitchFamily="34" charset="0"/>
                            <a:buChar char="•"/>
                          </a:pPr>
                          <a:r>
                            <a:rPr lang="en-US" dirty="0"/>
                            <a:t>Or change representation </a:t>
                          </a:r>
                        </a:p>
                      </a:txBody>
                      <a:tcPr/>
                    </a:tc>
                    <a:extLst>
                      <a:ext uri="{0D108BD9-81ED-4DB2-BD59-A6C34878D82A}">
                        <a16:rowId xmlns:a16="http://schemas.microsoft.com/office/drawing/2014/main" val="1655518489"/>
                      </a:ext>
                    </a:extLst>
                  </a:tr>
                  <a:tr h="370840">
                    <a:tc>
                      <a:txBody>
                        <a:bodyPr/>
                        <a:lstStyle/>
                        <a:p>
                          <a:endParaRPr lang="en-US"/>
                        </a:p>
                      </a:txBody>
                      <a:tcPr>
                        <a:blipFill>
                          <a:blip r:embed="rId4"/>
                          <a:stretch>
                            <a:fillRect l="-372" t="-662069" r="-200000" b="-231034"/>
                          </a:stretch>
                        </a:blipFill>
                      </a:tcPr>
                    </a:tc>
                    <a:tc>
                      <a:txBody>
                        <a:bodyPr/>
                        <a:lstStyle/>
                        <a:p>
                          <a:r>
                            <a:rPr lang="en-US" dirty="0"/>
                            <a:t>Yes</a:t>
                          </a:r>
                        </a:p>
                      </a:txBody>
                      <a:tcPr/>
                    </a:tc>
                    <a:tc>
                      <a:txBody>
                        <a:bodyPr/>
                        <a:lstStyle/>
                        <a:p>
                          <a:r>
                            <a:rPr lang="en-US" dirty="0"/>
                            <a:t>No</a:t>
                          </a:r>
                        </a:p>
                      </a:txBody>
                      <a:tcPr/>
                    </a:tc>
                    <a:extLst>
                      <a:ext uri="{0D108BD9-81ED-4DB2-BD59-A6C34878D82A}">
                        <a16:rowId xmlns:a16="http://schemas.microsoft.com/office/drawing/2014/main" val="1380911699"/>
                      </a:ext>
                    </a:extLst>
                  </a:tr>
                  <a:tr h="370840">
                    <a:tc>
                      <a:txBody>
                        <a:bodyPr/>
                        <a:lstStyle/>
                        <a:p>
                          <a:r>
                            <a:rPr lang="en-US" dirty="0"/>
                            <a:t>Statistical Object</a:t>
                          </a:r>
                        </a:p>
                      </a:txBody>
                      <a:tcPr/>
                    </a:tc>
                    <a:tc>
                      <a:txBody>
                        <a:bodyPr/>
                        <a:lstStyle/>
                        <a:p>
                          <a:r>
                            <a:rPr lang="en-US" dirty="0"/>
                            <a:t>Confidence interval on a metric</a:t>
                          </a:r>
                        </a:p>
                      </a:txBody>
                      <a:tcPr/>
                    </a:tc>
                    <a:tc>
                      <a:txBody>
                        <a:bodyPr/>
                        <a:lstStyle/>
                        <a:p>
                          <a:r>
                            <a:rPr lang="en-US" dirty="0"/>
                            <a:t>Conditional model of the metric</a:t>
                          </a:r>
                        </a:p>
                      </a:txBody>
                      <a:tcPr/>
                    </a:tc>
                    <a:extLst>
                      <a:ext uri="{0D108BD9-81ED-4DB2-BD59-A6C34878D82A}">
                        <a16:rowId xmlns:a16="http://schemas.microsoft.com/office/drawing/2014/main" val="510985792"/>
                      </a:ext>
                    </a:extLst>
                  </a:tr>
                  <a:tr h="370840">
                    <a:tc>
                      <a:txBody>
                        <a:bodyPr/>
                        <a:lstStyle/>
                        <a:p>
                          <a:r>
                            <a:rPr lang="en-US" dirty="0"/>
                            <a:t>Pipeline stage</a:t>
                          </a:r>
                        </a:p>
                      </a:txBody>
                      <a:tcPr/>
                    </a:tc>
                    <a:tc>
                      <a:txBody>
                        <a:bodyPr/>
                        <a:lstStyle/>
                        <a:p>
                          <a:r>
                            <a:rPr lang="en-US" dirty="0"/>
                            <a:t>Evaluation / Decision</a:t>
                          </a:r>
                        </a:p>
                      </a:txBody>
                      <a:tcPr/>
                    </a:tc>
                    <a:tc>
                      <a:txBody>
                        <a:bodyPr/>
                        <a:lstStyle/>
                        <a:p>
                          <a:r>
                            <a:rPr lang="en-US" b="1" dirty="0"/>
                            <a:t>Representation</a:t>
                          </a:r>
                        </a:p>
                      </a:txBody>
                      <a:tcPr/>
                    </a:tc>
                    <a:extLst>
                      <a:ext uri="{0D108BD9-81ED-4DB2-BD59-A6C34878D82A}">
                        <a16:rowId xmlns:a16="http://schemas.microsoft.com/office/drawing/2014/main" val="334633587"/>
                      </a:ext>
                    </a:extLst>
                  </a:tr>
                </a:tbl>
              </a:graphicData>
            </a:graphic>
          </p:graphicFrame>
        </mc:Fallback>
      </mc:AlternateContent>
    </p:spTree>
    <p:extLst>
      <p:ext uri="{BB962C8B-B14F-4D97-AF65-F5344CB8AC3E}">
        <p14:creationId xmlns:p14="http://schemas.microsoft.com/office/powerpoint/2010/main" val="2936599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B6A93-121C-8AAA-CF88-8FD59E1F71E9}"/>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D1BE6F49-DACF-163C-7B45-02052C162A7E}"/>
              </a:ext>
            </a:extLst>
          </p:cNvPr>
          <p:cNvSpPr>
            <a:spLocks noGrp="1"/>
          </p:cNvSpPr>
          <p:nvPr>
            <p:ph type="sldNum" sz="quarter" idx="12"/>
          </p:nvPr>
        </p:nvSpPr>
        <p:spPr/>
        <p:txBody>
          <a:bodyPr/>
          <a:lstStyle/>
          <a:p>
            <a:fld id="{659B2F21-D912-7541-8ED2-FD6ABD90B685}" type="slidenum">
              <a:rPr lang="en-US" smtClean="0"/>
              <a:t>6</a:t>
            </a:fld>
            <a:endParaRPr lang="en-US"/>
          </a:p>
        </p:txBody>
      </p:sp>
      <p:sp>
        <p:nvSpPr>
          <p:cNvPr id="2" name="TextBox 1">
            <a:extLst>
              <a:ext uri="{FF2B5EF4-FFF2-40B4-BE49-F238E27FC236}">
                <a16:creationId xmlns:a16="http://schemas.microsoft.com/office/drawing/2014/main" id="{D69DFD57-E61C-8BDF-E41C-9674F53AA597}"/>
              </a:ext>
            </a:extLst>
          </p:cNvPr>
          <p:cNvSpPr txBox="1"/>
          <p:nvPr/>
        </p:nvSpPr>
        <p:spPr>
          <a:xfrm>
            <a:off x="745293" y="3075057"/>
            <a:ext cx="10995948" cy="707886"/>
          </a:xfrm>
          <a:prstGeom prst="rect">
            <a:avLst/>
          </a:prstGeom>
          <a:noFill/>
        </p:spPr>
        <p:txBody>
          <a:bodyPr wrap="square" rtlCol="0">
            <a:spAutoFit/>
          </a:bodyPr>
          <a:lstStyle/>
          <a:p>
            <a:pPr algn="ctr"/>
            <a:r>
              <a:rPr lang="en-US" sz="4000" b="1" dirty="0">
                <a:solidFill>
                  <a:srgbClr val="0070C0"/>
                </a:solidFill>
              </a:rPr>
              <a:t>Formalizing Domain Shift</a:t>
            </a:r>
          </a:p>
        </p:txBody>
      </p:sp>
    </p:spTree>
    <p:extLst>
      <p:ext uri="{BB962C8B-B14F-4D97-AF65-F5344CB8AC3E}">
        <p14:creationId xmlns:p14="http://schemas.microsoft.com/office/powerpoint/2010/main" val="2209485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F347B-1AF4-290E-F82B-9EE248372FC9}"/>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DBD5ABCD-EA1E-2CD5-782B-3FBCE437DF56}"/>
              </a:ext>
            </a:extLst>
          </p:cNvPr>
          <p:cNvSpPr>
            <a:spLocks noGrp="1"/>
          </p:cNvSpPr>
          <p:nvPr>
            <p:ph type="sldNum" sz="quarter" idx="12"/>
          </p:nvPr>
        </p:nvSpPr>
        <p:spPr/>
        <p:txBody>
          <a:bodyPr/>
          <a:lstStyle/>
          <a:p>
            <a:fld id="{659B2F21-D912-7541-8ED2-FD6ABD90B685}" type="slidenum">
              <a:rPr lang="en-US" smtClean="0"/>
              <a:t>7</a:t>
            </a:fld>
            <a:endParaRPr lang="en-US"/>
          </a:p>
        </p:txBody>
      </p:sp>
      <p:sp>
        <p:nvSpPr>
          <p:cNvPr id="2" name="TextBox 1">
            <a:extLst>
              <a:ext uri="{FF2B5EF4-FFF2-40B4-BE49-F238E27FC236}">
                <a16:creationId xmlns:a16="http://schemas.microsoft.com/office/drawing/2014/main" id="{7D6F573A-9762-B8C6-2D3B-0355C76B33AC}"/>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Domain Shifts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183EBCF-F4DB-674C-98E1-480DA947E503}"/>
                  </a:ext>
                </a:extLst>
              </p:cNvPr>
              <p:cNvSpPr txBox="1"/>
              <p:nvPr/>
            </p:nvSpPr>
            <p:spPr>
              <a:xfrm>
                <a:off x="590310" y="1457816"/>
                <a:ext cx="10397988" cy="4210576"/>
              </a:xfrm>
              <a:prstGeom prst="rect">
                <a:avLst/>
              </a:prstGeom>
              <a:noFill/>
            </p:spPr>
            <p:txBody>
              <a:bodyPr wrap="square">
                <a:spAutoFit/>
              </a:bodyPr>
              <a:lstStyle/>
              <a:p>
                <a:r>
                  <a:rPr lang="en-US" sz="2400" dirty="0"/>
                  <a:t>Let 𝑦 be identity, 𝑐 operational conditions, </a:t>
                </a:r>
                <a14:m>
                  <m:oMath xmlns:m="http://schemas.openxmlformats.org/officeDocument/2006/math">
                    <m:r>
                      <a:rPr lang="en-US" sz="2400" b="0" i="1" smtClean="0">
                        <a:latin typeface="Cambria Math" panose="02040503050406030204" pitchFamily="18" charset="0"/>
                      </a:rPr>
                      <m:t>𝑝</m:t>
                    </m:r>
                    <m:d>
                      <m:dPr>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 </m:t>
                        </m:r>
                      </m:e>
                    </m:d>
                    <m:r>
                      <a:rPr lang="en-US" sz="2400" b="0" i="1" smtClean="0">
                        <a:latin typeface="Cambria Math" panose="02040503050406030204" pitchFamily="18" charset="0"/>
                      </a:rPr>
                      <m:t>𝑦</m:t>
                    </m:r>
                    <m:r>
                      <a:rPr lang="en-US" sz="2400" b="0" i="1" smtClean="0">
                        <a:latin typeface="Cambria Math" panose="02040503050406030204" pitchFamily="18" charset="0"/>
                      </a:rPr>
                      <m:t>, </m:t>
                    </m:r>
                    <m:r>
                      <a:rPr lang="en-US" sz="2400" b="0" i="1" smtClean="0">
                        <a:latin typeface="Cambria Math" panose="02040503050406030204" pitchFamily="18" charset="0"/>
                      </a:rPr>
                      <m:t>𝑐</m:t>
                    </m:r>
                    <m:r>
                      <a:rPr lang="en-US" sz="2400" b="0" i="1" smtClean="0">
                        <a:latin typeface="Cambria Math" panose="02040503050406030204" pitchFamily="18" charset="0"/>
                      </a:rPr>
                      <m:t>)</m:t>
                    </m:r>
                  </m:oMath>
                </a14:m>
                <a:r>
                  <a:rPr lang="en-US" sz="2400" dirty="0"/>
                  <a:t> the shared imaging model, and 𝜋(𝑐) the condition mixture of a given setting. The encoder 𝑓_𝜃 is fit on samples drawn under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𝑡𝑟𝑎𝑖𝑛</m:t>
                        </m:r>
                      </m:sub>
                    </m:sSub>
                  </m:oMath>
                </a14:m>
                <a:r>
                  <a:rPr lang="en-US" sz="2400" dirty="0"/>
                  <a:t> .</a:t>
                </a:r>
              </a:p>
              <a:p>
                <a:endParaRPr lang="en-US" sz="2400" dirty="0"/>
              </a:p>
              <a:p>
                <a:r>
                  <a:rPr lang="en-US" sz="2400" b="1" dirty="0"/>
                  <a:t>	Shift 1 — Representation gap (</a:t>
                </a:r>
                <a14:m>
                  <m:oMath xmlns:m="http://schemas.openxmlformats.org/officeDocument/2006/math">
                    <m:r>
                      <a:rPr lang="en-US" sz="2400" b="1" i="1" smtClean="0">
                        <a:latin typeface="Cambria Math" panose="02040503050406030204" pitchFamily="18" charset="0"/>
                      </a:rPr>
                      <m:t>𝒕𝒓𝒂𝒊𝒏</m:t>
                    </m:r>
                    <m:r>
                      <a:rPr lang="en-US" sz="2400" b="1" i="1" smtClean="0">
                        <a:latin typeface="Cambria Math" panose="02040503050406030204" pitchFamily="18" charset="0"/>
                      </a:rPr>
                      <m:t>→</m:t>
                    </m:r>
                    <m:r>
                      <a:rPr lang="en-US" sz="2400" b="1" i="1" smtClean="0">
                        <a:latin typeface="Cambria Math" panose="02040503050406030204" pitchFamily="18" charset="0"/>
                      </a:rPr>
                      <m:t>𝒅𝒆𝒑𝒍𝒐𝒚</m:t>
                    </m:r>
                  </m:oMath>
                </a14:m>
                <a:r>
                  <a:rPr lang="en-US" sz="2400" b="1" dirty="0"/>
                  <a:t>)</a:t>
                </a:r>
              </a:p>
              <a:p>
                <a:pPr/>
                <a:r>
                  <a:rPr lang="en-US" sz="2400" b="1" dirty="0"/>
                  <a:t>	</a:t>
                </a:r>
                <a:r>
                  <a:rPr lang="en-US" sz="2400" dirty="0"/>
                  <a:t>A support problem:</a:t>
                </a:r>
                <a:br>
                  <a:rPr lang="en-US" sz="2400" dirty="0"/>
                </a:br>
                <a:br>
                  <a:rPr lang="en-US" sz="2400" dirty="0"/>
                </a:br>
                <a14:m>
                  <m:oMathPara xmlns:m="http://schemas.openxmlformats.org/officeDocument/2006/math">
                    <m:oMath>
                      <m:r>
                        <a:rPr lang="en-US" sz="2400" b="0" i="1" smtClean="0">
                          <a:latin typeface="Cambria Math" panose="02040503050406030204" pitchFamily="18" charset="0"/>
                        </a:rPr>
                        <m:t>𝑠𝑢𝑝𝑝</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𝑑𝑒𝑝𝑙𝑜𝑦</m:t>
                              </m:r>
                            </m:sub>
                          </m:sSub>
                        </m:e>
                      </m:d>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𝑠𝑢𝑝𝑝</m:t>
                      </m:r>
                      <m:d>
                        <m:dPr>
                          <m:ctrlPr>
                            <a:rPr lang="en-US" sz="2400" b="0" i="1" smtClean="0">
                              <a:latin typeface="Cambria Math" panose="02040503050406030204" pitchFamily="18" charset="0"/>
                              <a:ea typeface="Cambria Math" panose="02040503050406030204" pitchFamily="18" charset="0"/>
                            </a:rPr>
                          </m:ctrlPr>
                        </m:dPr>
                        <m:e>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𝜋</m:t>
                              </m:r>
                            </m:e>
                            <m:sub>
                              <m:r>
                                <a:rPr lang="en-US" sz="2400" b="0" i="1" smtClean="0">
                                  <a:latin typeface="Cambria Math" panose="02040503050406030204" pitchFamily="18" charset="0"/>
                                  <a:ea typeface="Cambria Math" panose="02040503050406030204" pitchFamily="18" charset="0"/>
                                </a:rPr>
                                <m:t>𝑡𝑟𝑎𝑖𝑛</m:t>
                              </m:r>
                            </m:sub>
                          </m:sSub>
                        </m:e>
                      </m:d>
                    </m:oMath>
                  </m:oMathPara>
                </a14:m>
                <a:br>
                  <a:rPr lang="en-US" sz="2400" b="1" dirty="0"/>
                </a:br>
                <a:br>
                  <a:rPr lang="en-US" sz="2400" dirty="0"/>
                </a:br>
                <a:endParaRPr lang="en-US" sz="2400" i="0" dirty="0">
                  <a:solidFill>
                    <a:srgbClr val="161C24"/>
                  </a:solidFill>
                  <a:effectLst/>
                  <a:latin typeface="-apple-system"/>
                </a:endParaRPr>
              </a:p>
              <a:p>
                <a:endParaRPr lang="en-US" sz="2400" i="0" dirty="0">
                  <a:solidFill>
                    <a:srgbClr val="161C24"/>
                  </a:solidFill>
                  <a:effectLst/>
                  <a:latin typeface="-apple-system"/>
                </a:endParaRPr>
              </a:p>
            </p:txBody>
          </p:sp>
        </mc:Choice>
        <mc:Fallback xmlns="">
          <p:sp>
            <p:nvSpPr>
              <p:cNvPr id="5" name="TextBox 4">
                <a:extLst>
                  <a:ext uri="{FF2B5EF4-FFF2-40B4-BE49-F238E27FC236}">
                    <a16:creationId xmlns:a16="http://schemas.microsoft.com/office/drawing/2014/main" id="{5183EBCF-F4DB-674C-98E1-480DA947E503}"/>
                  </a:ext>
                </a:extLst>
              </p:cNvPr>
              <p:cNvSpPr txBox="1">
                <a:spLocks noRot="1" noChangeAspect="1" noMove="1" noResize="1" noEditPoints="1" noAdjustHandles="1" noChangeArrowheads="1" noChangeShapeType="1" noTextEdit="1"/>
              </p:cNvSpPr>
              <p:nvPr/>
            </p:nvSpPr>
            <p:spPr>
              <a:xfrm>
                <a:off x="590310" y="1457816"/>
                <a:ext cx="10397988" cy="4210576"/>
              </a:xfrm>
              <a:prstGeom prst="rect">
                <a:avLst/>
              </a:prstGeom>
              <a:blipFill>
                <a:blip r:embed="rId3"/>
                <a:stretch>
                  <a:fillRect l="-976" t="-1201" r="-122"/>
                </a:stretch>
              </a:blipFill>
            </p:spPr>
            <p:txBody>
              <a:bodyPr/>
              <a:lstStyle/>
              <a:p>
                <a:r>
                  <a:rPr lang="en-US">
                    <a:noFill/>
                  </a:rPr>
                  <a:t> </a:t>
                </a:r>
              </a:p>
            </p:txBody>
          </p:sp>
        </mc:Fallback>
      </mc:AlternateContent>
    </p:spTree>
    <p:extLst>
      <p:ext uri="{BB962C8B-B14F-4D97-AF65-F5344CB8AC3E}">
        <p14:creationId xmlns:p14="http://schemas.microsoft.com/office/powerpoint/2010/main" val="383205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B4A59-031F-0263-1161-40CF1BDA011B}"/>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4B0AFC7D-DB8C-3AFA-451E-4971AF2121D2}"/>
              </a:ext>
            </a:extLst>
          </p:cNvPr>
          <p:cNvSpPr>
            <a:spLocks noGrp="1"/>
          </p:cNvSpPr>
          <p:nvPr>
            <p:ph type="sldNum" sz="quarter" idx="12"/>
          </p:nvPr>
        </p:nvSpPr>
        <p:spPr/>
        <p:txBody>
          <a:bodyPr/>
          <a:lstStyle/>
          <a:p>
            <a:fld id="{659B2F21-D912-7541-8ED2-FD6ABD90B685}" type="slidenum">
              <a:rPr lang="en-US" smtClean="0"/>
              <a:t>8</a:t>
            </a:fld>
            <a:endParaRPr lang="en-US"/>
          </a:p>
        </p:txBody>
      </p:sp>
      <p:sp>
        <p:nvSpPr>
          <p:cNvPr id="2" name="TextBox 1">
            <a:extLst>
              <a:ext uri="{FF2B5EF4-FFF2-40B4-BE49-F238E27FC236}">
                <a16:creationId xmlns:a16="http://schemas.microsoft.com/office/drawing/2014/main" id="{05871DE7-68A7-C15A-B787-97E345616604}"/>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Domain Shifts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C573E86-C6FC-BB92-CA5D-C882D8FE4FAB}"/>
                  </a:ext>
                </a:extLst>
              </p:cNvPr>
              <p:cNvSpPr txBox="1"/>
              <p:nvPr/>
            </p:nvSpPr>
            <p:spPr>
              <a:xfrm>
                <a:off x="590310" y="1457816"/>
                <a:ext cx="10397988" cy="5086392"/>
              </a:xfrm>
              <a:prstGeom prst="rect">
                <a:avLst/>
              </a:prstGeom>
              <a:noFill/>
            </p:spPr>
            <p:txBody>
              <a:bodyPr wrap="square">
                <a:spAutoFit/>
              </a:bodyPr>
              <a:lstStyle/>
              <a:p>
                <a:r>
                  <a:rPr lang="en-US" sz="2400" dirty="0"/>
                  <a:t>Let 𝑦 be identity, 𝑐 operational conditions, </a:t>
                </a:r>
                <a14:m>
                  <m:oMath xmlns:m="http://schemas.openxmlformats.org/officeDocument/2006/math">
                    <m:r>
                      <a:rPr lang="en-US" sz="2400" b="0" i="1" smtClean="0">
                        <a:latin typeface="Cambria Math" panose="02040503050406030204" pitchFamily="18" charset="0"/>
                      </a:rPr>
                      <m:t>𝑝</m:t>
                    </m:r>
                    <m:d>
                      <m:dPr>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 </m:t>
                        </m:r>
                      </m:e>
                    </m:d>
                    <m:r>
                      <a:rPr lang="en-US" sz="2400" b="0" i="1" smtClean="0">
                        <a:latin typeface="Cambria Math" panose="02040503050406030204" pitchFamily="18" charset="0"/>
                      </a:rPr>
                      <m:t>𝑦</m:t>
                    </m:r>
                    <m:r>
                      <a:rPr lang="en-US" sz="2400" b="0" i="1" smtClean="0">
                        <a:latin typeface="Cambria Math" panose="02040503050406030204" pitchFamily="18" charset="0"/>
                      </a:rPr>
                      <m:t>, </m:t>
                    </m:r>
                    <m:r>
                      <a:rPr lang="en-US" sz="2400" b="0" i="1" smtClean="0">
                        <a:latin typeface="Cambria Math" panose="02040503050406030204" pitchFamily="18" charset="0"/>
                      </a:rPr>
                      <m:t>𝑐</m:t>
                    </m:r>
                    <m:r>
                      <a:rPr lang="en-US" sz="2400" b="0" i="1" smtClean="0">
                        <a:latin typeface="Cambria Math" panose="02040503050406030204" pitchFamily="18" charset="0"/>
                      </a:rPr>
                      <m:t>)</m:t>
                    </m:r>
                  </m:oMath>
                </a14:m>
                <a:r>
                  <a:rPr lang="en-US" sz="2400" dirty="0"/>
                  <a:t> the shared imaging model, and 𝜋(𝑐) the condition mixture of a given setting. The encoder 𝑓_𝜃 is fit on samples drawn under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𝑡𝑟𝑎𝑖𝑛</m:t>
                        </m:r>
                      </m:sub>
                    </m:sSub>
                  </m:oMath>
                </a14:m>
                <a:r>
                  <a:rPr lang="en-US" sz="2400" dirty="0"/>
                  <a:t> .</a:t>
                </a:r>
              </a:p>
              <a:p>
                <a:endParaRPr lang="en-US" sz="2400" dirty="0"/>
              </a:p>
              <a:p>
                <a:r>
                  <a:rPr lang="en-US" sz="2400" b="1" dirty="0"/>
                  <a:t>	Shift 2 — Enrollment Asymmetry, </a:t>
                </a:r>
                <a14:m>
                  <m:oMath xmlns:m="http://schemas.openxmlformats.org/officeDocument/2006/math">
                    <m:r>
                      <a:rPr lang="en-US" sz="2400" b="1" i="1" smtClean="0">
                        <a:latin typeface="Cambria Math" panose="02040503050406030204" pitchFamily="18" charset="0"/>
                      </a:rPr>
                      <m:t>𝒈𝒂𝒍𝒍𝒆𝒓𝒚</m:t>
                    </m:r>
                    <m:r>
                      <a:rPr lang="en-US" sz="2400" b="1" i="1" smtClean="0">
                        <a:latin typeface="Cambria Math" panose="02040503050406030204" pitchFamily="18" charset="0"/>
                      </a:rPr>
                      <m:t> </m:t>
                    </m:r>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𝒈</m:t>
                        </m:r>
                      </m:e>
                    </m:d>
                    <m:r>
                      <a:rPr lang="en-US" sz="2400" b="1" i="1" smtClean="0">
                        <a:latin typeface="Cambria Math" panose="02040503050406030204" pitchFamily="18" charset="0"/>
                      </a:rPr>
                      <m:t>→</m:t>
                    </m:r>
                    <m:r>
                      <a:rPr lang="en-US" sz="2400" b="1" i="1" smtClean="0">
                        <a:latin typeface="Cambria Math" panose="02040503050406030204" pitchFamily="18" charset="0"/>
                      </a:rPr>
                      <m:t>𝒑𝒓𝒐𝒃𝒆</m:t>
                    </m:r>
                    <m:r>
                      <a:rPr lang="en-US" sz="2400" b="1" i="1" smtClean="0">
                        <a:latin typeface="Cambria Math" panose="02040503050406030204" pitchFamily="18" charset="0"/>
                      </a:rPr>
                      <m:t> (</m:t>
                    </m:r>
                    <m:r>
                      <a:rPr lang="en-US" sz="2400" b="1" i="1" smtClean="0">
                        <a:latin typeface="Cambria Math" panose="02040503050406030204" pitchFamily="18" charset="0"/>
                      </a:rPr>
                      <m:t>𝒑</m:t>
                    </m:r>
                    <m:r>
                      <a:rPr lang="en-US" sz="2400" b="1" i="1" smtClean="0">
                        <a:latin typeface="Cambria Math" panose="02040503050406030204" pitchFamily="18" charset="0"/>
                      </a:rPr>
                      <m:t>)</m:t>
                    </m:r>
                  </m:oMath>
                </a14:m>
                <a:endParaRPr lang="en-US" sz="2400" b="1" dirty="0"/>
              </a:p>
              <a:p>
                <a:r>
                  <a:rPr lang="en-US" sz="2400" b="1" dirty="0"/>
                  <a:t>	</a:t>
                </a:r>
                <a:r>
                  <a:rPr lang="en-US" sz="2400" dirty="0"/>
                  <a:t>Every score is an inner product across two different condition 	mixtures, </a:t>
                </a:r>
                <a14:m>
                  <m:oMath xmlns:m="http://schemas.openxmlformats.org/officeDocument/2006/math">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𝜋</m:t>
                        </m:r>
                      </m:e>
                      <m:sub>
                        <m:r>
                          <a:rPr lang="en-US" sz="2400" i="1" dirty="0" smtClean="0">
                            <a:latin typeface="Cambria Math" panose="02040503050406030204" pitchFamily="18" charset="0"/>
                          </a:rPr>
                          <m:t>𝑔</m:t>
                        </m:r>
                      </m:sub>
                    </m:sSub>
                    <m:r>
                      <a:rPr lang="en-US" sz="2400" i="1" dirty="0" smtClean="0">
                        <a:latin typeface="Cambria Math" panose="02040503050406030204" pitchFamily="18" charset="0"/>
                      </a:rPr>
                      <m:t> ≠ </m:t>
                    </m:r>
                    <m:sSub>
                      <m:sSubPr>
                        <m:ctrlPr>
                          <a:rPr lang="en-US" sz="2400" i="1" dirty="0" smtClean="0">
                            <a:latin typeface="Cambria Math" panose="02040503050406030204" pitchFamily="18" charset="0"/>
                          </a:rPr>
                        </m:ctrlPr>
                      </m:sSubPr>
                      <m:e>
                        <m:r>
                          <a:rPr lang="en-US" sz="2400" i="1" dirty="0" smtClean="0">
                            <a:latin typeface="Cambria Math" panose="02040503050406030204" pitchFamily="18" charset="0"/>
                          </a:rPr>
                          <m:t>𝜋</m:t>
                        </m:r>
                      </m:e>
                      <m:sub>
                        <m:r>
                          <a:rPr lang="en-US" sz="2400" i="1" dirty="0">
                            <a:latin typeface="Cambria Math" panose="02040503050406030204" pitchFamily="18" charset="0"/>
                          </a:rPr>
                          <m:t>𝑝</m:t>
                        </m:r>
                      </m:sub>
                    </m:sSub>
                  </m:oMath>
                </a14:m>
                <a:r>
                  <a:rPr lang="en-US" sz="2400" dirty="0"/>
                  <a:t>:</a:t>
                </a:r>
              </a:p>
              <a:p>
                <a:pPr/>
                <a:br>
                  <a:rPr lang="en-US" sz="2400" dirty="0"/>
                </a:br>
                <a14:m>
                  <m:oMathPara xmlns:m="http://schemas.openxmlformats.org/officeDocument/2006/math">
                    <m:oMath>
                      <m:r>
                        <a:rPr lang="en-US" sz="2400" b="0" i="1" smtClean="0">
                          <a:latin typeface="Cambria Math" panose="02040503050406030204" pitchFamily="18" charset="0"/>
                        </a:rPr>
                        <m:t>𝑠</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𝑔</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𝑝</m:t>
                              </m:r>
                            </m:sub>
                          </m:sSub>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𝑓</m:t>
                          </m:r>
                        </m:e>
                        <m:sub>
                          <m:r>
                            <a:rPr lang="en-US" sz="2400" b="0" i="1" smtClean="0">
                              <a:latin typeface="Cambria Math" panose="02040503050406030204" pitchFamily="18" charset="0"/>
                            </a:rPr>
                            <m:t>𝜃</m:t>
                          </m:r>
                        </m:sub>
                      </m:sSub>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𝑔</m:t>
                                  </m:r>
                                </m:sub>
                              </m:sSub>
                            </m:e>
                          </m:d>
                        </m:e>
                        <m:sup>
                          <m:r>
                            <a:rPr lang="en-US" sz="2400" b="0" i="1" smtClean="0">
                              <a:latin typeface="Cambria Math" panose="02040503050406030204" pitchFamily="18" charset="0"/>
                            </a:rPr>
                            <m:t>𝑇</m:t>
                          </m:r>
                        </m:sup>
                      </m:sSup>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𝑓</m:t>
                          </m:r>
                        </m:e>
                        <m:sub>
                          <m:r>
                            <a:rPr lang="en-US" sz="2400" b="0" i="1" smtClean="0">
                              <a:latin typeface="Cambria Math" panose="02040503050406030204" pitchFamily="18" charset="0"/>
                            </a:rPr>
                            <m:t>𝜃</m:t>
                          </m:r>
                        </m:sub>
                      </m:sSub>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𝑝</m:t>
                              </m:r>
                            </m:sub>
                          </m:sSub>
                        </m:e>
                      </m:d>
                      <m:r>
                        <a:rPr lang="en-US" sz="2400" b="0" i="1" smtClean="0">
                          <a:latin typeface="Cambria Math" panose="02040503050406030204" pitchFamily="18" charset="0"/>
                        </a:rPr>
                        <m:t>,  </m:t>
                      </m:r>
                    </m:oMath>
                  </m:oMathPara>
                </a14:m>
                <a:endParaRPr lang="en-US" sz="2400" b="0" i="1" dirty="0">
                  <a:latin typeface="Cambria Math" panose="02040503050406030204" pitchFamily="18" charset="0"/>
                </a:endParaRPr>
              </a:p>
              <a:p>
                <a:pP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𝑔</m:t>
                          </m:r>
                        </m:sub>
                      </m:sSub>
                      <m:r>
                        <a:rPr lang="en-US" sz="2400" b="0" i="1" smtClean="0">
                          <a:latin typeface="Cambria Math" panose="02040503050406030204" pitchFamily="18" charset="0"/>
                        </a:rPr>
                        <m:t> ~ </m:t>
                      </m:r>
                      <m:nary>
                        <m:naryPr>
                          <m:subHide m:val="on"/>
                          <m:supHide m:val="on"/>
                          <m:ctrlPr>
                            <a:rPr lang="en-US" sz="2400" b="0" i="1" smtClean="0">
                              <a:latin typeface="Cambria Math" panose="02040503050406030204" pitchFamily="18" charset="0"/>
                            </a:rPr>
                          </m:ctrlPr>
                        </m:naryPr>
                        <m:sub/>
                        <m:sup/>
                        <m:e>
                          <m:r>
                            <a:rPr lang="en-US" sz="2400" b="0" i="1" smtClean="0">
                              <a:latin typeface="Cambria Math" panose="02040503050406030204" pitchFamily="18" charset="0"/>
                            </a:rPr>
                            <m:t>𝑝</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e>
                              <m:r>
                                <a:rPr lang="en-US" sz="2400" b="0" i="1" smtClean="0">
                                  <a:latin typeface="Cambria Math" panose="02040503050406030204" pitchFamily="18" charset="0"/>
                                </a:rPr>
                                <m:t>𝑦</m:t>
                              </m:r>
                              <m:r>
                                <a:rPr lang="en-US" sz="2400" b="0" i="1" smtClean="0">
                                  <a:latin typeface="Cambria Math" panose="02040503050406030204" pitchFamily="18" charset="0"/>
                                </a:rPr>
                                <m:t>,</m:t>
                              </m:r>
                              <m:r>
                                <a:rPr lang="en-US" sz="2400" b="0" i="1" smtClean="0">
                                  <a:latin typeface="Cambria Math" panose="02040503050406030204" pitchFamily="18" charset="0"/>
                                </a:rPr>
                                <m:t>𝑐</m:t>
                              </m:r>
                            </m:e>
                          </m:d>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𝑔</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𝑐</m:t>
                              </m:r>
                            </m:e>
                          </m:d>
                          <m:r>
                            <a:rPr lang="en-US" sz="2400" b="0" i="1" smtClean="0">
                              <a:latin typeface="Cambria Math" panose="02040503050406030204" pitchFamily="18" charset="0"/>
                            </a:rPr>
                            <m:t> </m:t>
                          </m:r>
                          <m:r>
                            <a:rPr lang="en-US" sz="2400" b="0" i="1" smtClean="0">
                              <a:latin typeface="Cambria Math" panose="02040503050406030204" pitchFamily="18" charset="0"/>
                            </a:rPr>
                            <m:t>𝑑𝑐</m:t>
                          </m:r>
                        </m:e>
                      </m:nary>
                      <m:r>
                        <a:rPr lang="en-US" sz="2400" b="0" i="1" smtClean="0">
                          <a:latin typeface="Cambria Math" panose="02040503050406030204" pitchFamily="18" charset="0"/>
                        </a:rPr>
                        <m:t>,      </m:t>
                      </m:r>
                    </m:oMath>
                  </m:oMathPara>
                </a14:m>
                <a:endParaRPr lang="en-US" sz="2400" b="0" i="1" dirty="0">
                  <a:latin typeface="Cambria Math" panose="02040503050406030204" pitchFamily="18" charset="0"/>
                </a:endParaRPr>
              </a:p>
              <a:p>
                <a:pP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𝑝</m:t>
                          </m:r>
                        </m:sub>
                      </m:sSub>
                      <m:r>
                        <a:rPr lang="en-US" sz="2400" b="0" i="1" smtClean="0">
                          <a:latin typeface="Cambria Math" panose="02040503050406030204" pitchFamily="18" charset="0"/>
                        </a:rPr>
                        <m:t> ~ </m:t>
                      </m:r>
                      <m:nary>
                        <m:naryPr>
                          <m:subHide m:val="on"/>
                          <m:supHide m:val="on"/>
                          <m:ctrlPr>
                            <a:rPr lang="en-US" sz="2400" b="0" i="1" smtClean="0">
                              <a:latin typeface="Cambria Math" panose="02040503050406030204" pitchFamily="18" charset="0"/>
                            </a:rPr>
                          </m:ctrlPr>
                        </m:naryPr>
                        <m:sub/>
                        <m:sup/>
                        <m:e>
                          <m:r>
                            <a:rPr lang="en-US" sz="2400" b="0" i="1" smtClean="0">
                              <a:latin typeface="Cambria Math" panose="02040503050406030204" pitchFamily="18" charset="0"/>
                            </a:rPr>
                            <m:t>𝑝</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e>
                              <m:r>
                                <a:rPr lang="en-US" sz="2400" b="0" i="1" smtClean="0">
                                  <a:latin typeface="Cambria Math" panose="02040503050406030204" pitchFamily="18" charset="0"/>
                                </a:rPr>
                                <m:t>𝑦</m:t>
                              </m:r>
                              <m:r>
                                <a:rPr lang="en-US" sz="2400" b="0" i="1" smtClean="0">
                                  <a:latin typeface="Cambria Math" panose="02040503050406030204" pitchFamily="18" charset="0"/>
                                </a:rPr>
                                <m:t>,</m:t>
                              </m:r>
                              <m:r>
                                <a:rPr lang="en-US" sz="2400" b="0" i="1" smtClean="0">
                                  <a:latin typeface="Cambria Math" panose="02040503050406030204" pitchFamily="18" charset="0"/>
                                </a:rPr>
                                <m:t>𝑐</m:t>
                              </m:r>
                            </m:e>
                          </m:d>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𝑝</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𝑐</m:t>
                              </m:r>
                            </m:e>
                          </m:d>
                          <m:r>
                            <a:rPr lang="en-US" sz="2400" b="0" i="1" smtClean="0">
                              <a:latin typeface="Cambria Math" panose="02040503050406030204" pitchFamily="18" charset="0"/>
                            </a:rPr>
                            <m:t> </m:t>
                          </m:r>
                          <m:r>
                            <a:rPr lang="en-US" sz="2400" b="0" i="1" smtClean="0">
                              <a:latin typeface="Cambria Math" panose="02040503050406030204" pitchFamily="18" charset="0"/>
                            </a:rPr>
                            <m:t>𝑑𝑐</m:t>
                          </m:r>
                        </m:e>
                      </m:nary>
                    </m:oMath>
                  </m:oMathPara>
                </a14:m>
                <a:br>
                  <a:rPr lang="en-US" sz="2400" b="1" dirty="0"/>
                </a:br>
                <a:endParaRPr lang="en-US" sz="2400" i="0" dirty="0">
                  <a:solidFill>
                    <a:srgbClr val="161C24"/>
                  </a:solidFill>
                  <a:effectLst/>
                  <a:latin typeface="-apple-system"/>
                </a:endParaRPr>
              </a:p>
            </p:txBody>
          </p:sp>
        </mc:Choice>
        <mc:Fallback xmlns="">
          <p:sp>
            <p:nvSpPr>
              <p:cNvPr id="5" name="TextBox 4">
                <a:extLst>
                  <a:ext uri="{FF2B5EF4-FFF2-40B4-BE49-F238E27FC236}">
                    <a16:creationId xmlns:a16="http://schemas.microsoft.com/office/drawing/2014/main" id="{EC573E86-C6FC-BB92-CA5D-C882D8FE4FAB}"/>
                  </a:ext>
                </a:extLst>
              </p:cNvPr>
              <p:cNvSpPr txBox="1">
                <a:spLocks noRot="1" noChangeAspect="1" noMove="1" noResize="1" noEditPoints="1" noAdjustHandles="1" noChangeArrowheads="1" noChangeShapeType="1" noTextEdit="1"/>
              </p:cNvSpPr>
              <p:nvPr/>
            </p:nvSpPr>
            <p:spPr>
              <a:xfrm>
                <a:off x="590310" y="1457816"/>
                <a:ext cx="10397988" cy="5086392"/>
              </a:xfrm>
              <a:prstGeom prst="rect">
                <a:avLst/>
              </a:prstGeom>
              <a:blipFill>
                <a:blip r:embed="rId3"/>
                <a:stretch>
                  <a:fillRect l="-976" t="-995" r="-122" b="-42537"/>
                </a:stretch>
              </a:blipFill>
            </p:spPr>
            <p:txBody>
              <a:bodyPr/>
              <a:lstStyle/>
              <a:p>
                <a:r>
                  <a:rPr lang="en-US">
                    <a:noFill/>
                  </a:rPr>
                  <a:t> </a:t>
                </a:r>
              </a:p>
            </p:txBody>
          </p:sp>
        </mc:Fallback>
      </mc:AlternateContent>
    </p:spTree>
    <p:extLst>
      <p:ext uri="{BB962C8B-B14F-4D97-AF65-F5344CB8AC3E}">
        <p14:creationId xmlns:p14="http://schemas.microsoft.com/office/powerpoint/2010/main" val="3851462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E0F75-0290-34EB-3CD7-0AD5D2E2B360}"/>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E47ACA92-2777-90D0-4A6C-98FC57990508}"/>
              </a:ext>
            </a:extLst>
          </p:cNvPr>
          <p:cNvSpPr>
            <a:spLocks noGrp="1"/>
          </p:cNvSpPr>
          <p:nvPr>
            <p:ph type="sldNum" sz="quarter" idx="12"/>
          </p:nvPr>
        </p:nvSpPr>
        <p:spPr/>
        <p:txBody>
          <a:bodyPr/>
          <a:lstStyle/>
          <a:p>
            <a:fld id="{659B2F21-D912-7541-8ED2-FD6ABD90B685}" type="slidenum">
              <a:rPr lang="en-US" smtClean="0"/>
              <a:t>9</a:t>
            </a:fld>
            <a:endParaRPr lang="en-US"/>
          </a:p>
        </p:txBody>
      </p:sp>
      <p:sp>
        <p:nvSpPr>
          <p:cNvPr id="2" name="TextBox 1">
            <a:extLst>
              <a:ext uri="{FF2B5EF4-FFF2-40B4-BE49-F238E27FC236}">
                <a16:creationId xmlns:a16="http://schemas.microsoft.com/office/drawing/2014/main" id="{6BE4FD3A-64EC-D4F6-08CE-30460995C505}"/>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Domain Shifts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83C9DAB-60ED-111E-41C3-F15C7B8BD4E1}"/>
                  </a:ext>
                </a:extLst>
              </p:cNvPr>
              <p:cNvSpPr txBox="1"/>
              <p:nvPr/>
            </p:nvSpPr>
            <p:spPr>
              <a:xfrm>
                <a:off x="590310" y="1457816"/>
                <a:ext cx="10397988" cy="3076163"/>
              </a:xfrm>
              <a:prstGeom prst="rect">
                <a:avLst/>
              </a:prstGeom>
              <a:noFill/>
            </p:spPr>
            <p:txBody>
              <a:bodyPr wrap="square">
                <a:spAutoFit/>
              </a:bodyPr>
              <a:lstStyle/>
              <a:p>
                <a:r>
                  <a:rPr lang="en-US" sz="2400" dirty="0"/>
                  <a:t>Let 𝑦 be identity, 𝑐 operational conditions, </a:t>
                </a:r>
                <a14:m>
                  <m:oMath xmlns:m="http://schemas.openxmlformats.org/officeDocument/2006/math">
                    <m:r>
                      <a:rPr lang="en-US" sz="2400" b="0" i="1" smtClean="0">
                        <a:latin typeface="Cambria Math" panose="02040503050406030204" pitchFamily="18" charset="0"/>
                      </a:rPr>
                      <m:t>𝑝</m:t>
                    </m:r>
                    <m:d>
                      <m:dPr>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 </m:t>
                        </m:r>
                      </m:e>
                    </m:d>
                    <m:r>
                      <a:rPr lang="en-US" sz="2400" b="0" i="1" smtClean="0">
                        <a:latin typeface="Cambria Math" panose="02040503050406030204" pitchFamily="18" charset="0"/>
                      </a:rPr>
                      <m:t>𝑦</m:t>
                    </m:r>
                    <m:r>
                      <a:rPr lang="en-US" sz="2400" b="0" i="1" smtClean="0">
                        <a:latin typeface="Cambria Math" panose="02040503050406030204" pitchFamily="18" charset="0"/>
                      </a:rPr>
                      <m:t>, </m:t>
                    </m:r>
                    <m:r>
                      <a:rPr lang="en-US" sz="2400" b="0" i="1" smtClean="0">
                        <a:latin typeface="Cambria Math" panose="02040503050406030204" pitchFamily="18" charset="0"/>
                      </a:rPr>
                      <m:t>𝑐</m:t>
                    </m:r>
                    <m:r>
                      <a:rPr lang="en-US" sz="2400" b="0" i="1" smtClean="0">
                        <a:latin typeface="Cambria Math" panose="02040503050406030204" pitchFamily="18" charset="0"/>
                      </a:rPr>
                      <m:t>)</m:t>
                    </m:r>
                  </m:oMath>
                </a14:m>
                <a:r>
                  <a:rPr lang="en-US" sz="2400" dirty="0"/>
                  <a:t> the shared imaging model, and 𝜋(𝑐) the condition mixture of a given setting. The encoder 𝑓_𝜃 is fit on samples drawn under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𝑡𝑟𝑎𝑖𝑛</m:t>
                        </m:r>
                      </m:sub>
                    </m:sSub>
                  </m:oMath>
                </a14:m>
                <a:r>
                  <a:rPr lang="en-US" sz="2400" dirty="0"/>
                  <a:t> .</a:t>
                </a:r>
              </a:p>
              <a:p>
                <a:endParaRPr lang="en-US" sz="2400" dirty="0"/>
              </a:p>
              <a:p>
                <a:r>
                  <a:rPr lang="en-US" sz="2400" b="1" dirty="0"/>
                  <a:t>	Shift 3 — Population shift</a:t>
                </a:r>
              </a:p>
              <a:p>
                <a:r>
                  <a:rPr lang="en-US" sz="2400" b="1" dirty="0"/>
                  <a:t>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𝑡𝑟𝑎𝑖𝑛</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𝑦</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𝑑𝑒𝑝𝑙𝑜𝑦</m:t>
                        </m:r>
                      </m:sub>
                    </m:sSub>
                    <m:r>
                      <a:rPr lang="en-US" sz="2400" b="0" i="1" smtClean="0">
                        <a:latin typeface="Cambria Math" panose="02040503050406030204" pitchFamily="18" charset="0"/>
                      </a:rPr>
                      <m:t>(</m:t>
                    </m:r>
                    <m:r>
                      <a:rPr lang="en-US" sz="2400" b="0" i="1" smtClean="0">
                        <a:latin typeface="Cambria Math" panose="02040503050406030204" pitchFamily="18" charset="0"/>
                      </a:rPr>
                      <m:t>𝑦</m:t>
                    </m:r>
                    <m:r>
                      <a:rPr lang="en-US" sz="2400" b="0" i="1" smtClean="0">
                        <a:latin typeface="Cambria Math" panose="02040503050406030204" pitchFamily="18" charset="0"/>
                      </a:rPr>
                      <m:t>)</m:t>
                    </m:r>
                  </m:oMath>
                </a14:m>
                <a:r>
                  <a:rPr lang="en-US" sz="2400" dirty="0"/>
                  <a:t> over demographic attributes, plus a changed 	prior on genuine-vs-	impostor trials at the decision stage.</a:t>
                </a:r>
                <a:br>
                  <a:rPr lang="en-US" sz="2400" dirty="0"/>
                </a:br>
                <a:endParaRPr lang="en-US" sz="2400" i="0" dirty="0">
                  <a:solidFill>
                    <a:srgbClr val="161C24"/>
                  </a:solidFill>
                  <a:effectLst/>
                  <a:latin typeface="-apple-system"/>
                </a:endParaRPr>
              </a:p>
            </p:txBody>
          </p:sp>
        </mc:Choice>
        <mc:Fallback xmlns="">
          <p:sp>
            <p:nvSpPr>
              <p:cNvPr id="5" name="TextBox 4">
                <a:extLst>
                  <a:ext uri="{FF2B5EF4-FFF2-40B4-BE49-F238E27FC236}">
                    <a16:creationId xmlns:a16="http://schemas.microsoft.com/office/drawing/2014/main" id="{783C9DAB-60ED-111E-41C3-F15C7B8BD4E1}"/>
                  </a:ext>
                </a:extLst>
              </p:cNvPr>
              <p:cNvSpPr txBox="1">
                <a:spLocks noRot="1" noChangeAspect="1" noMove="1" noResize="1" noEditPoints="1" noAdjustHandles="1" noChangeArrowheads="1" noChangeShapeType="1" noTextEdit="1"/>
              </p:cNvSpPr>
              <p:nvPr/>
            </p:nvSpPr>
            <p:spPr>
              <a:xfrm>
                <a:off x="590310" y="1457816"/>
                <a:ext cx="10397988" cy="3076163"/>
              </a:xfrm>
              <a:prstGeom prst="rect">
                <a:avLst/>
              </a:prstGeom>
              <a:blipFill>
                <a:blip r:embed="rId3"/>
                <a:stretch>
                  <a:fillRect l="-976" t="-1639" r="-122"/>
                </a:stretch>
              </a:blipFill>
            </p:spPr>
            <p:txBody>
              <a:bodyPr/>
              <a:lstStyle/>
              <a:p>
                <a:r>
                  <a:rPr lang="en-US">
                    <a:noFill/>
                  </a:rPr>
                  <a:t> </a:t>
                </a:r>
              </a:p>
            </p:txBody>
          </p:sp>
        </mc:Fallback>
      </mc:AlternateContent>
    </p:spTree>
    <p:extLst>
      <p:ext uri="{BB962C8B-B14F-4D97-AF65-F5344CB8AC3E}">
        <p14:creationId xmlns:p14="http://schemas.microsoft.com/office/powerpoint/2010/main" val="1661227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7641C-4478-2940-9A59-38B4F1F880F4}"/>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BD8744E6-B44D-B3BB-1DD3-EAFBB671DBAE}"/>
              </a:ext>
            </a:extLst>
          </p:cNvPr>
          <p:cNvSpPr>
            <a:spLocks noGrp="1"/>
          </p:cNvSpPr>
          <p:nvPr>
            <p:ph type="sldNum" sz="quarter" idx="12"/>
          </p:nvPr>
        </p:nvSpPr>
        <p:spPr/>
        <p:txBody>
          <a:bodyPr/>
          <a:lstStyle/>
          <a:p>
            <a:fld id="{659B2F21-D912-7541-8ED2-FD6ABD90B685}" type="slidenum">
              <a:rPr lang="en-US" smtClean="0"/>
              <a:t>10</a:t>
            </a:fld>
            <a:endParaRPr lang="en-US"/>
          </a:p>
        </p:txBody>
      </p:sp>
      <p:sp>
        <p:nvSpPr>
          <p:cNvPr id="2" name="TextBox 1">
            <a:extLst>
              <a:ext uri="{FF2B5EF4-FFF2-40B4-BE49-F238E27FC236}">
                <a16:creationId xmlns:a16="http://schemas.microsoft.com/office/drawing/2014/main" id="{0C7D23B2-4C79-1503-329F-0D0655F67A9A}"/>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Domain Shifts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57224B0-494A-7527-FC36-42E11944179A}"/>
                  </a:ext>
                </a:extLst>
              </p:cNvPr>
              <p:cNvSpPr txBox="1"/>
              <p:nvPr/>
            </p:nvSpPr>
            <p:spPr>
              <a:xfrm>
                <a:off x="590310" y="1457816"/>
                <a:ext cx="10397988" cy="3076163"/>
              </a:xfrm>
              <a:prstGeom prst="rect">
                <a:avLst/>
              </a:prstGeom>
              <a:noFill/>
            </p:spPr>
            <p:txBody>
              <a:bodyPr wrap="square">
                <a:spAutoFit/>
              </a:bodyPr>
              <a:lstStyle/>
              <a:p>
                <a:r>
                  <a:rPr lang="en-US" sz="2400" dirty="0"/>
                  <a:t>Let 𝑦 be identity, 𝑐 operational conditions, </a:t>
                </a:r>
                <a14:m>
                  <m:oMath xmlns:m="http://schemas.openxmlformats.org/officeDocument/2006/math">
                    <m:r>
                      <a:rPr lang="en-US" sz="2400" b="0" i="1" smtClean="0">
                        <a:latin typeface="Cambria Math" panose="02040503050406030204" pitchFamily="18" charset="0"/>
                      </a:rPr>
                      <m:t>𝑝</m:t>
                    </m:r>
                    <m:d>
                      <m:dPr>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 </m:t>
                        </m:r>
                      </m:e>
                    </m:d>
                    <m:r>
                      <a:rPr lang="en-US" sz="2400" b="0" i="1" smtClean="0">
                        <a:latin typeface="Cambria Math" panose="02040503050406030204" pitchFamily="18" charset="0"/>
                      </a:rPr>
                      <m:t>𝑦</m:t>
                    </m:r>
                    <m:r>
                      <a:rPr lang="en-US" sz="2400" b="0" i="1" smtClean="0">
                        <a:latin typeface="Cambria Math" panose="02040503050406030204" pitchFamily="18" charset="0"/>
                      </a:rPr>
                      <m:t>, </m:t>
                    </m:r>
                    <m:r>
                      <a:rPr lang="en-US" sz="2400" b="0" i="1" smtClean="0">
                        <a:latin typeface="Cambria Math" panose="02040503050406030204" pitchFamily="18" charset="0"/>
                      </a:rPr>
                      <m:t>𝑐</m:t>
                    </m:r>
                    <m:r>
                      <a:rPr lang="en-US" sz="2400" b="0" i="1" smtClean="0">
                        <a:latin typeface="Cambria Math" panose="02040503050406030204" pitchFamily="18" charset="0"/>
                      </a:rPr>
                      <m:t>)</m:t>
                    </m:r>
                  </m:oMath>
                </a14:m>
                <a:r>
                  <a:rPr lang="en-US" sz="2400" dirty="0"/>
                  <a:t> the shared imaging model, and 𝜋(𝑐) the condition mixture of a given setting. The encoder 𝑓_𝜃 is fit on samples drawn under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𝑡𝑟𝑎𝑖𝑛</m:t>
                        </m:r>
                      </m:sub>
                    </m:sSub>
                  </m:oMath>
                </a14:m>
                <a:r>
                  <a:rPr lang="en-US" sz="2400" dirty="0"/>
                  <a:t> .</a:t>
                </a:r>
              </a:p>
              <a:p>
                <a:endParaRPr lang="en-US" sz="2400" dirty="0"/>
              </a:p>
              <a:p>
                <a:r>
                  <a:rPr lang="en-US" sz="2400" b="1" dirty="0"/>
                  <a:t>	Shift 3 — Population shift</a:t>
                </a:r>
              </a:p>
              <a:p>
                <a:r>
                  <a:rPr lang="en-US" sz="2400" b="1" dirty="0"/>
                  <a:t>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𝑡𝑟𝑎𝑖𝑛</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𝑦</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𝜋</m:t>
                        </m:r>
                      </m:e>
                      <m:sub>
                        <m:r>
                          <a:rPr lang="en-US" sz="2400" b="0" i="1" smtClean="0">
                            <a:latin typeface="Cambria Math" panose="02040503050406030204" pitchFamily="18" charset="0"/>
                          </a:rPr>
                          <m:t>𝑑𝑒𝑝𝑙𝑜𝑦</m:t>
                        </m:r>
                      </m:sub>
                    </m:sSub>
                    <m:r>
                      <a:rPr lang="en-US" sz="2400" b="0" i="1" smtClean="0">
                        <a:latin typeface="Cambria Math" panose="02040503050406030204" pitchFamily="18" charset="0"/>
                      </a:rPr>
                      <m:t>(</m:t>
                    </m:r>
                    <m:r>
                      <a:rPr lang="en-US" sz="2400" b="0" i="1" smtClean="0">
                        <a:latin typeface="Cambria Math" panose="02040503050406030204" pitchFamily="18" charset="0"/>
                      </a:rPr>
                      <m:t>𝑦</m:t>
                    </m:r>
                    <m:r>
                      <a:rPr lang="en-US" sz="2400" b="0" i="1" smtClean="0">
                        <a:latin typeface="Cambria Math" panose="02040503050406030204" pitchFamily="18" charset="0"/>
                      </a:rPr>
                      <m:t>)</m:t>
                    </m:r>
                  </m:oMath>
                </a14:m>
                <a:r>
                  <a:rPr lang="en-US" sz="2400" dirty="0"/>
                  <a:t> over demographic attributes, plus a changed 	prior on genuine-vs-	impostor trials at the decision stage.</a:t>
                </a:r>
                <a:br>
                  <a:rPr lang="en-US" sz="2400" dirty="0"/>
                </a:br>
                <a:endParaRPr lang="en-US" sz="2400" i="0" dirty="0">
                  <a:solidFill>
                    <a:srgbClr val="161C24"/>
                  </a:solidFill>
                  <a:effectLst/>
                  <a:latin typeface="-apple-system"/>
                </a:endParaRPr>
              </a:p>
            </p:txBody>
          </p:sp>
        </mc:Choice>
        <mc:Fallback xmlns="">
          <p:sp>
            <p:nvSpPr>
              <p:cNvPr id="5" name="TextBox 4">
                <a:extLst>
                  <a:ext uri="{FF2B5EF4-FFF2-40B4-BE49-F238E27FC236}">
                    <a16:creationId xmlns:a16="http://schemas.microsoft.com/office/drawing/2014/main" id="{E57224B0-494A-7527-FC36-42E11944179A}"/>
                  </a:ext>
                </a:extLst>
              </p:cNvPr>
              <p:cNvSpPr txBox="1">
                <a:spLocks noRot="1" noChangeAspect="1" noMove="1" noResize="1" noEditPoints="1" noAdjustHandles="1" noChangeArrowheads="1" noChangeShapeType="1" noTextEdit="1"/>
              </p:cNvSpPr>
              <p:nvPr/>
            </p:nvSpPr>
            <p:spPr>
              <a:xfrm>
                <a:off x="590310" y="1457816"/>
                <a:ext cx="10397988" cy="3076163"/>
              </a:xfrm>
              <a:prstGeom prst="rect">
                <a:avLst/>
              </a:prstGeom>
              <a:blipFill>
                <a:blip r:embed="rId3"/>
                <a:stretch>
                  <a:fillRect l="-976" t="-1639" r="-122"/>
                </a:stretch>
              </a:blipFill>
            </p:spPr>
            <p:txBody>
              <a:bodyPr/>
              <a:lstStyle/>
              <a:p>
                <a:r>
                  <a:rPr lang="en-US">
                    <a:noFill/>
                  </a:rPr>
                  <a:t> </a:t>
                </a:r>
              </a:p>
            </p:txBody>
          </p:sp>
        </mc:Fallback>
      </mc:AlternateContent>
    </p:spTree>
    <p:extLst>
      <p:ext uri="{BB962C8B-B14F-4D97-AF65-F5344CB8AC3E}">
        <p14:creationId xmlns:p14="http://schemas.microsoft.com/office/powerpoint/2010/main" val="2023743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5A1A3-6AC1-57BA-016B-25BF01306F8E}"/>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82E637B3-95AB-0554-A89C-8896D7327F6A}"/>
              </a:ext>
            </a:extLst>
          </p:cNvPr>
          <p:cNvSpPr>
            <a:spLocks noGrp="1"/>
          </p:cNvSpPr>
          <p:nvPr>
            <p:ph type="sldNum" sz="quarter" idx="12"/>
          </p:nvPr>
        </p:nvSpPr>
        <p:spPr/>
        <p:txBody>
          <a:bodyPr/>
          <a:lstStyle/>
          <a:p>
            <a:fld id="{659B2F21-D912-7541-8ED2-FD6ABD90B685}" type="slidenum">
              <a:rPr lang="en-US" smtClean="0"/>
              <a:t>11</a:t>
            </a:fld>
            <a:endParaRPr lang="en-US"/>
          </a:p>
        </p:txBody>
      </p:sp>
      <p:sp>
        <p:nvSpPr>
          <p:cNvPr id="2" name="TextBox 1">
            <a:extLst>
              <a:ext uri="{FF2B5EF4-FFF2-40B4-BE49-F238E27FC236}">
                <a16:creationId xmlns:a16="http://schemas.microsoft.com/office/drawing/2014/main" id="{34B75589-4D1A-872F-485C-3957C0458D3D}"/>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Defining Domain Shift </a:t>
            </a:r>
          </a:p>
        </p:txBody>
      </p:sp>
      <p:sp>
        <p:nvSpPr>
          <p:cNvPr id="5" name="TextBox 4">
            <a:extLst>
              <a:ext uri="{FF2B5EF4-FFF2-40B4-BE49-F238E27FC236}">
                <a16:creationId xmlns:a16="http://schemas.microsoft.com/office/drawing/2014/main" id="{4E83650D-78DC-7D37-44A5-E61B9252BBA0}"/>
              </a:ext>
            </a:extLst>
          </p:cNvPr>
          <p:cNvSpPr txBox="1"/>
          <p:nvPr/>
        </p:nvSpPr>
        <p:spPr>
          <a:xfrm>
            <a:off x="590310" y="1457816"/>
            <a:ext cx="10397988" cy="461665"/>
          </a:xfrm>
          <a:prstGeom prst="rect">
            <a:avLst/>
          </a:prstGeom>
          <a:noFill/>
        </p:spPr>
        <p:txBody>
          <a:bodyPr wrap="square">
            <a:spAutoFit/>
          </a:bodyPr>
          <a:lstStyle/>
          <a:p>
            <a:r>
              <a:rPr lang="en-US" sz="2400" i="1" dirty="0"/>
              <a:t>See notes from class...</a:t>
            </a:r>
            <a:endParaRPr lang="en-US" sz="2400" i="0" dirty="0">
              <a:solidFill>
                <a:srgbClr val="161C24"/>
              </a:solidFill>
              <a:effectLst/>
              <a:latin typeface="-apple-system"/>
            </a:endParaRPr>
          </a:p>
        </p:txBody>
      </p:sp>
    </p:spTree>
    <p:extLst>
      <p:ext uri="{BB962C8B-B14F-4D97-AF65-F5344CB8AC3E}">
        <p14:creationId xmlns:p14="http://schemas.microsoft.com/office/powerpoint/2010/main" val="102002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B233E-9A99-71F2-F3F2-95C27B0E008B}"/>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C4C90FB1-FBF1-AEE9-67CF-4F58096D1627}"/>
              </a:ext>
            </a:extLst>
          </p:cNvPr>
          <p:cNvSpPr>
            <a:spLocks noGrp="1"/>
          </p:cNvSpPr>
          <p:nvPr>
            <p:ph type="sldNum" sz="quarter" idx="12"/>
          </p:nvPr>
        </p:nvSpPr>
        <p:spPr/>
        <p:txBody>
          <a:bodyPr/>
          <a:lstStyle/>
          <a:p>
            <a:fld id="{659B2F21-D912-7541-8ED2-FD6ABD90B685}" type="slidenum">
              <a:rPr lang="en-US" smtClean="0"/>
              <a:t>12</a:t>
            </a:fld>
            <a:endParaRPr lang="en-US"/>
          </a:p>
        </p:txBody>
      </p:sp>
      <p:sp>
        <p:nvSpPr>
          <p:cNvPr id="2" name="TextBox 1">
            <a:extLst>
              <a:ext uri="{FF2B5EF4-FFF2-40B4-BE49-F238E27FC236}">
                <a16:creationId xmlns:a16="http://schemas.microsoft.com/office/drawing/2014/main" id="{C66EC4FA-34F0-D0CD-B0B4-781EB78E6608}"/>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Effect on Calibrated Thresholds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CD25886-5EA7-6334-3351-20FF292AA598}"/>
                  </a:ext>
                </a:extLst>
              </p:cNvPr>
              <p:cNvSpPr txBox="1"/>
              <p:nvPr/>
            </p:nvSpPr>
            <p:spPr>
              <a:xfrm>
                <a:off x="590310" y="1457816"/>
                <a:ext cx="10397988" cy="1569660"/>
              </a:xfrm>
              <a:prstGeom prst="rect">
                <a:avLst/>
              </a:prstGeom>
              <a:noFill/>
            </p:spPr>
            <p:txBody>
              <a:bodyPr wrap="square">
                <a:spAutoFit/>
              </a:bodyPr>
              <a:lstStyle/>
              <a:p>
                <a:r>
                  <a:rPr lang="en-US" sz="2400" i="1" dirty="0"/>
                  <a:t>Suppose that you choose</a:t>
                </a:r>
                <a:r>
                  <a:rPr lang="en-US" sz="2400" i="1" dirty="0">
                    <a:solidFill>
                      <a:srgbClr val="161C24"/>
                    </a:solidFill>
                    <a:latin typeface="-apple-system"/>
                  </a:rPr>
                  <a:t> </a:t>
                </a:r>
                <a14:m>
                  <m:oMath xmlns:m="http://schemas.openxmlformats.org/officeDocument/2006/math">
                    <m:sSup>
                      <m:sSupPr>
                        <m:ctrlPr>
                          <a:rPr lang="en-US" sz="2400" b="0" i="1" smtClean="0">
                            <a:solidFill>
                              <a:srgbClr val="161C24"/>
                            </a:solidFill>
                            <a:latin typeface="Cambria Math" panose="02040503050406030204" pitchFamily="18" charset="0"/>
                          </a:rPr>
                        </m:ctrlPr>
                      </m:sSupPr>
                      <m:e>
                        <m:r>
                          <a:rPr lang="en-US" sz="2400" b="0" i="1" smtClean="0">
                            <a:solidFill>
                              <a:srgbClr val="161C24"/>
                            </a:solidFill>
                            <a:latin typeface="Cambria Math" panose="02040503050406030204" pitchFamily="18" charset="0"/>
                          </a:rPr>
                          <m:t>𝜏</m:t>
                        </m:r>
                      </m:e>
                      <m:sup>
                        <m:r>
                          <a:rPr lang="en-US" sz="2400" b="0" i="1" smtClean="0">
                            <a:solidFill>
                              <a:srgbClr val="161C24"/>
                            </a:solidFill>
                            <a:latin typeface="Cambria Math" panose="02040503050406030204" pitchFamily="18" charset="0"/>
                          </a:rPr>
                          <m:t>∗</m:t>
                        </m:r>
                      </m:sup>
                    </m:sSup>
                  </m:oMath>
                </a14:m>
                <a:r>
                  <a:rPr lang="en-US" sz="2400" i="1" dirty="0"/>
                  <a:t> such that </a:t>
                </a:r>
                <a14:m>
                  <m:oMath xmlns:m="http://schemas.openxmlformats.org/officeDocument/2006/math">
                    <m:r>
                      <a:rPr lang="en-US" sz="2400" b="0" i="1" smtClean="0">
                        <a:latin typeface="Cambria Math" panose="02040503050406030204" pitchFamily="18" charset="0"/>
                      </a:rPr>
                      <m:t>𝐹𝐴𝑅</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𝜏</m:t>
                            </m:r>
                          </m:e>
                          <m:sup>
                            <m:r>
                              <a:rPr lang="en-US" sz="2400" b="0" i="1" smtClean="0">
                                <a:latin typeface="Cambria Math" panose="02040503050406030204" pitchFamily="18" charset="0"/>
                              </a:rPr>
                              <m:t>∗</m:t>
                            </m:r>
                          </m:sup>
                        </m:sSup>
                      </m:e>
                    </m:d>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−6</m:t>
                        </m:r>
                      </m:sup>
                    </m:sSup>
                  </m:oMath>
                </a14:m>
                <a:endParaRPr lang="en-US" sz="2400" i="1" dirty="0"/>
              </a:p>
              <a:p>
                <a:endParaRPr lang="en-US" sz="2400" i="1" dirty="0"/>
              </a:p>
              <a:p>
                <a:pPr marL="342900" indent="-342900">
                  <a:buFont typeface="Arial" panose="020B0604020202020204" pitchFamily="34" charset="0"/>
                  <a:buChar char="•"/>
                </a:pPr>
                <a:r>
                  <a:rPr lang="en-US" sz="2400" dirty="0"/>
                  <a:t>Under deployment conditions, the realized value is </a:t>
                </a:r>
                <a14:m>
                  <m:oMath xmlns:m="http://schemas.openxmlformats.org/officeDocument/2006/math">
                    <m:r>
                      <a:rPr lang="en-US" sz="2400" b="0" i="1" smtClean="0">
                        <a:latin typeface="Cambria Math" panose="02040503050406030204" pitchFamily="18" charset="0"/>
                      </a:rPr>
                      <m:t>𝐹𝐴𝑅</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𝜏</m:t>
                            </m:r>
                          </m:e>
                          <m:sup>
                            <m:r>
                              <a:rPr lang="en-US" sz="2400" b="0" i="1" smtClean="0">
                                <a:latin typeface="Cambria Math" panose="02040503050406030204" pitchFamily="18" charset="0"/>
                              </a:rPr>
                              <m:t>∗</m:t>
                            </m:r>
                          </m:sup>
                        </m:sSup>
                      </m:e>
                    </m:d>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−6</m:t>
                        </m:r>
                      </m:sup>
                    </m:sSup>
                  </m:oMath>
                </a14:m>
                <a:r>
                  <a:rPr lang="en-US" sz="2400" dirty="0"/>
                  <a:t> </a:t>
                </a:r>
              </a:p>
              <a:p>
                <a:pPr marL="342900" indent="-342900">
                  <a:buFont typeface="Arial" panose="020B0604020202020204" pitchFamily="34" charset="0"/>
                  <a:buChar char="•"/>
                </a:pPr>
                <a:r>
                  <a:rPr lang="en-US" sz="2400" dirty="0"/>
                  <a:t>Generally, the deploy </a:t>
                </a:r>
                <a14:m>
                  <m:oMath xmlns:m="http://schemas.openxmlformats.org/officeDocument/2006/math">
                    <m:r>
                      <a:rPr lang="en-US" sz="2400" i="1">
                        <a:latin typeface="Cambria Math" panose="02040503050406030204" pitchFamily="18" charset="0"/>
                      </a:rPr>
                      <m:t>𝐹𝐴𝑅</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𝜏</m:t>
                            </m:r>
                          </m:e>
                          <m:sup>
                            <m:r>
                              <a:rPr lang="en-US" sz="2400" i="1">
                                <a:latin typeface="Cambria Math" panose="02040503050406030204" pitchFamily="18" charset="0"/>
                              </a:rPr>
                              <m:t>∗</m:t>
                            </m:r>
                          </m:sup>
                        </m:sSup>
                      </m:e>
                    </m:d>
                    <m:r>
                      <a:rPr lang="en-US" sz="2400" b="0" i="1" smtClean="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10</m:t>
                        </m:r>
                      </m:e>
                      <m:sup>
                        <m:r>
                          <a:rPr lang="en-US" sz="2400" i="1">
                            <a:latin typeface="Cambria Math" panose="02040503050406030204" pitchFamily="18" charset="0"/>
                          </a:rPr>
                          <m:t>−6</m:t>
                        </m:r>
                      </m:sup>
                    </m:sSup>
                  </m:oMath>
                </a14:m>
                <a:endParaRPr lang="en-US" sz="2400" dirty="0"/>
              </a:p>
            </p:txBody>
          </p:sp>
        </mc:Choice>
        <mc:Fallback xmlns="">
          <p:sp>
            <p:nvSpPr>
              <p:cNvPr id="5" name="TextBox 4">
                <a:extLst>
                  <a:ext uri="{FF2B5EF4-FFF2-40B4-BE49-F238E27FC236}">
                    <a16:creationId xmlns:a16="http://schemas.microsoft.com/office/drawing/2014/main" id="{5CD25886-5EA7-6334-3351-20FF292AA598}"/>
                  </a:ext>
                </a:extLst>
              </p:cNvPr>
              <p:cNvSpPr txBox="1">
                <a:spLocks noRot="1" noChangeAspect="1" noMove="1" noResize="1" noEditPoints="1" noAdjustHandles="1" noChangeArrowheads="1" noChangeShapeType="1" noTextEdit="1"/>
              </p:cNvSpPr>
              <p:nvPr/>
            </p:nvSpPr>
            <p:spPr>
              <a:xfrm>
                <a:off x="590310" y="1457816"/>
                <a:ext cx="10397988" cy="1569660"/>
              </a:xfrm>
              <a:prstGeom prst="rect">
                <a:avLst/>
              </a:prstGeom>
              <a:blipFill>
                <a:blip r:embed="rId3"/>
                <a:stretch>
                  <a:fillRect l="-976" t="-3200" b="-8800"/>
                </a:stretch>
              </a:blipFill>
            </p:spPr>
            <p:txBody>
              <a:bodyPr/>
              <a:lstStyle/>
              <a:p>
                <a:r>
                  <a:rPr lang="en-US">
                    <a:noFill/>
                  </a:rPr>
                  <a:t> </a:t>
                </a:r>
              </a:p>
            </p:txBody>
          </p:sp>
        </mc:Fallback>
      </mc:AlternateContent>
      <p:sp>
        <p:nvSpPr>
          <p:cNvPr id="3" name="Rounded Rectangle 2">
            <a:extLst>
              <a:ext uri="{FF2B5EF4-FFF2-40B4-BE49-F238E27FC236}">
                <a16:creationId xmlns:a16="http://schemas.microsoft.com/office/drawing/2014/main" id="{032F9D2B-00E0-D7A4-707A-7A5C95B742D8}"/>
              </a:ext>
            </a:extLst>
          </p:cNvPr>
          <p:cNvSpPr/>
          <p:nvPr/>
        </p:nvSpPr>
        <p:spPr>
          <a:xfrm>
            <a:off x="590310" y="3737939"/>
            <a:ext cx="10995948" cy="1569660"/>
          </a:xfrm>
          <a:prstGeom prst="roundRect">
            <a:avLst/>
          </a:prstGeom>
          <a:solidFill>
            <a:schemeClr val="bg1">
              <a:lumMod val="85000"/>
            </a:schemeClr>
          </a:solidFill>
          <a:ln>
            <a:solidFill>
              <a:schemeClr val="tx1"/>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b="1" dirty="0">
                <a:solidFill>
                  <a:schemeClr val="tx1"/>
                </a:solidFill>
              </a:rPr>
              <a:t>Problem: </a:t>
            </a:r>
            <a:r>
              <a:rPr lang="en-US" sz="3200" dirty="0">
                <a:solidFill>
                  <a:schemeClr val="tx1"/>
                </a:solidFill>
              </a:rPr>
              <a:t>The system does not know this ahead of time when calibrating the threshold</a:t>
            </a:r>
            <a:endParaRPr lang="en-US" sz="3200" dirty="0"/>
          </a:p>
        </p:txBody>
      </p:sp>
    </p:spTree>
    <p:extLst>
      <p:ext uri="{BB962C8B-B14F-4D97-AF65-F5344CB8AC3E}">
        <p14:creationId xmlns:p14="http://schemas.microsoft.com/office/powerpoint/2010/main" val="2928713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E5132-844C-A550-9972-001668EB08FC}"/>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A9FB0368-A946-69AD-2C81-3B5824898BC0}"/>
              </a:ext>
            </a:extLst>
          </p:cNvPr>
          <p:cNvSpPr>
            <a:spLocks noGrp="1"/>
          </p:cNvSpPr>
          <p:nvPr>
            <p:ph type="sldNum" sz="quarter" idx="12"/>
          </p:nvPr>
        </p:nvSpPr>
        <p:spPr/>
        <p:txBody>
          <a:bodyPr/>
          <a:lstStyle/>
          <a:p>
            <a:fld id="{659B2F21-D912-7541-8ED2-FD6ABD90B685}" type="slidenum">
              <a:rPr lang="en-US" smtClean="0"/>
              <a:t>13</a:t>
            </a:fld>
            <a:endParaRPr lang="en-US"/>
          </a:p>
        </p:txBody>
      </p:sp>
      <p:sp>
        <p:nvSpPr>
          <p:cNvPr id="2" name="TextBox 1">
            <a:extLst>
              <a:ext uri="{FF2B5EF4-FFF2-40B4-BE49-F238E27FC236}">
                <a16:creationId xmlns:a16="http://schemas.microsoft.com/office/drawing/2014/main" id="{A0CFBCDB-B7F5-EE9B-D77E-1F613EECD647}"/>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Effect on Calibrated Thresholds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1B6D8F9-1B71-54B5-A812-06C09F53824B}"/>
                  </a:ext>
                </a:extLst>
              </p:cNvPr>
              <p:cNvSpPr txBox="1"/>
              <p:nvPr/>
            </p:nvSpPr>
            <p:spPr>
              <a:xfrm>
                <a:off x="590310" y="1457816"/>
                <a:ext cx="10397988" cy="1569660"/>
              </a:xfrm>
              <a:prstGeom prst="rect">
                <a:avLst/>
              </a:prstGeom>
              <a:noFill/>
            </p:spPr>
            <p:txBody>
              <a:bodyPr wrap="square">
                <a:spAutoFit/>
              </a:bodyPr>
              <a:lstStyle/>
              <a:p>
                <a:r>
                  <a:rPr lang="en-US" sz="2400" i="1" dirty="0"/>
                  <a:t>Suppose that you choose</a:t>
                </a:r>
                <a:r>
                  <a:rPr lang="en-US" sz="2400" i="1" dirty="0">
                    <a:solidFill>
                      <a:srgbClr val="161C24"/>
                    </a:solidFill>
                    <a:latin typeface="-apple-system"/>
                  </a:rPr>
                  <a:t> </a:t>
                </a:r>
                <a14:m>
                  <m:oMath xmlns:m="http://schemas.openxmlformats.org/officeDocument/2006/math">
                    <m:sSup>
                      <m:sSupPr>
                        <m:ctrlPr>
                          <a:rPr lang="en-US" sz="2400" b="0" i="1" smtClean="0">
                            <a:solidFill>
                              <a:srgbClr val="161C24"/>
                            </a:solidFill>
                            <a:latin typeface="Cambria Math" panose="02040503050406030204" pitchFamily="18" charset="0"/>
                          </a:rPr>
                        </m:ctrlPr>
                      </m:sSupPr>
                      <m:e>
                        <m:r>
                          <a:rPr lang="en-US" sz="2400" b="0" i="1" smtClean="0">
                            <a:solidFill>
                              <a:srgbClr val="161C24"/>
                            </a:solidFill>
                            <a:latin typeface="Cambria Math" panose="02040503050406030204" pitchFamily="18" charset="0"/>
                          </a:rPr>
                          <m:t>𝜏</m:t>
                        </m:r>
                      </m:e>
                      <m:sup>
                        <m:r>
                          <a:rPr lang="en-US" sz="2400" b="0" i="1" smtClean="0">
                            <a:solidFill>
                              <a:srgbClr val="161C24"/>
                            </a:solidFill>
                            <a:latin typeface="Cambria Math" panose="02040503050406030204" pitchFamily="18" charset="0"/>
                          </a:rPr>
                          <m:t>∗</m:t>
                        </m:r>
                      </m:sup>
                    </m:sSup>
                  </m:oMath>
                </a14:m>
                <a:r>
                  <a:rPr lang="en-US" sz="2400" i="1" dirty="0"/>
                  <a:t> such that </a:t>
                </a:r>
                <a14:m>
                  <m:oMath xmlns:m="http://schemas.openxmlformats.org/officeDocument/2006/math">
                    <m:r>
                      <a:rPr lang="en-US" sz="2400" b="0" i="1" smtClean="0">
                        <a:latin typeface="Cambria Math" panose="02040503050406030204" pitchFamily="18" charset="0"/>
                      </a:rPr>
                      <m:t>𝐹𝐴𝑅</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𝜏</m:t>
                            </m:r>
                          </m:e>
                          <m:sup>
                            <m:r>
                              <a:rPr lang="en-US" sz="2400" b="0" i="1" smtClean="0">
                                <a:latin typeface="Cambria Math" panose="02040503050406030204" pitchFamily="18" charset="0"/>
                              </a:rPr>
                              <m:t>∗</m:t>
                            </m:r>
                          </m:sup>
                        </m:sSup>
                      </m:e>
                    </m:d>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−6</m:t>
                        </m:r>
                      </m:sup>
                    </m:sSup>
                  </m:oMath>
                </a14:m>
                <a:endParaRPr lang="en-US" sz="2400" i="1" dirty="0"/>
              </a:p>
              <a:p>
                <a:endParaRPr lang="en-US" sz="2400" i="1" dirty="0"/>
              </a:p>
              <a:p>
                <a:pPr marL="342900" indent="-342900">
                  <a:buFont typeface="Arial" panose="020B0604020202020204" pitchFamily="34" charset="0"/>
                  <a:buChar char="•"/>
                </a:pPr>
                <a:r>
                  <a:rPr lang="en-US" sz="2400" dirty="0"/>
                  <a:t>Under deployment conditions, the realized value is </a:t>
                </a:r>
                <a14:m>
                  <m:oMath xmlns:m="http://schemas.openxmlformats.org/officeDocument/2006/math">
                    <m:r>
                      <a:rPr lang="en-US" sz="2400" b="0" i="1" smtClean="0">
                        <a:latin typeface="Cambria Math" panose="02040503050406030204" pitchFamily="18" charset="0"/>
                      </a:rPr>
                      <m:t>𝐹𝐴𝑅</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𝜏</m:t>
                            </m:r>
                          </m:e>
                          <m:sup>
                            <m:r>
                              <a:rPr lang="en-US" sz="2400" b="0" i="1" smtClean="0">
                                <a:latin typeface="Cambria Math" panose="02040503050406030204" pitchFamily="18" charset="0"/>
                              </a:rPr>
                              <m:t>∗</m:t>
                            </m:r>
                          </m:sup>
                        </m:sSup>
                      </m:e>
                    </m:d>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10</m:t>
                        </m:r>
                      </m:e>
                      <m:sup>
                        <m:r>
                          <a:rPr lang="en-US" sz="2400" b="0" i="1" smtClean="0">
                            <a:latin typeface="Cambria Math" panose="02040503050406030204" pitchFamily="18" charset="0"/>
                          </a:rPr>
                          <m:t>−6</m:t>
                        </m:r>
                      </m:sup>
                    </m:sSup>
                  </m:oMath>
                </a14:m>
                <a:r>
                  <a:rPr lang="en-US" sz="2400" dirty="0"/>
                  <a:t> </a:t>
                </a:r>
              </a:p>
              <a:p>
                <a:pPr marL="342900" indent="-342900">
                  <a:buFont typeface="Arial" panose="020B0604020202020204" pitchFamily="34" charset="0"/>
                  <a:buChar char="•"/>
                </a:pPr>
                <a:r>
                  <a:rPr lang="en-US" sz="2400" dirty="0"/>
                  <a:t>Generally, the deploy </a:t>
                </a:r>
                <a14:m>
                  <m:oMath xmlns:m="http://schemas.openxmlformats.org/officeDocument/2006/math">
                    <m:r>
                      <a:rPr lang="en-US" sz="2400" i="1">
                        <a:latin typeface="Cambria Math" panose="02040503050406030204" pitchFamily="18" charset="0"/>
                      </a:rPr>
                      <m:t>𝐹𝐴𝑅</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𝜏</m:t>
                            </m:r>
                          </m:e>
                          <m:sup>
                            <m:r>
                              <a:rPr lang="en-US" sz="2400" i="1">
                                <a:latin typeface="Cambria Math" panose="02040503050406030204" pitchFamily="18" charset="0"/>
                              </a:rPr>
                              <m:t>∗</m:t>
                            </m:r>
                          </m:sup>
                        </m:sSup>
                      </m:e>
                    </m:d>
                    <m:r>
                      <a:rPr lang="en-US" sz="2400" b="0" i="1" smtClean="0">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10</m:t>
                        </m:r>
                      </m:e>
                      <m:sup>
                        <m:r>
                          <a:rPr lang="en-US" sz="2400" i="1">
                            <a:latin typeface="Cambria Math" panose="02040503050406030204" pitchFamily="18" charset="0"/>
                          </a:rPr>
                          <m:t>−6</m:t>
                        </m:r>
                      </m:sup>
                    </m:sSup>
                  </m:oMath>
                </a14:m>
                <a:endParaRPr lang="en-US" sz="2400" dirty="0"/>
              </a:p>
            </p:txBody>
          </p:sp>
        </mc:Choice>
        <mc:Fallback xmlns="">
          <p:sp>
            <p:nvSpPr>
              <p:cNvPr id="5" name="TextBox 4">
                <a:extLst>
                  <a:ext uri="{FF2B5EF4-FFF2-40B4-BE49-F238E27FC236}">
                    <a16:creationId xmlns:a16="http://schemas.microsoft.com/office/drawing/2014/main" id="{21B6D8F9-1B71-54B5-A812-06C09F53824B}"/>
                  </a:ext>
                </a:extLst>
              </p:cNvPr>
              <p:cNvSpPr txBox="1">
                <a:spLocks noRot="1" noChangeAspect="1" noMove="1" noResize="1" noEditPoints="1" noAdjustHandles="1" noChangeArrowheads="1" noChangeShapeType="1" noTextEdit="1"/>
              </p:cNvSpPr>
              <p:nvPr/>
            </p:nvSpPr>
            <p:spPr>
              <a:xfrm>
                <a:off x="590310" y="1457816"/>
                <a:ext cx="10397988" cy="1569660"/>
              </a:xfrm>
              <a:prstGeom prst="rect">
                <a:avLst/>
              </a:prstGeom>
              <a:blipFill>
                <a:blip r:embed="rId3"/>
                <a:stretch>
                  <a:fillRect l="-976" t="-3200" b="-8800"/>
                </a:stretch>
              </a:blipFill>
            </p:spPr>
            <p:txBody>
              <a:bodyPr/>
              <a:lstStyle/>
              <a:p>
                <a:r>
                  <a:rPr lang="en-US">
                    <a:noFill/>
                  </a:rPr>
                  <a:t> </a:t>
                </a:r>
              </a:p>
            </p:txBody>
          </p:sp>
        </mc:Fallback>
      </mc:AlternateContent>
      <p:sp>
        <p:nvSpPr>
          <p:cNvPr id="3" name="Rounded Rectangle 2">
            <a:extLst>
              <a:ext uri="{FF2B5EF4-FFF2-40B4-BE49-F238E27FC236}">
                <a16:creationId xmlns:a16="http://schemas.microsoft.com/office/drawing/2014/main" id="{6F9ECAEF-99CA-96E1-2D36-1ED62E6EB652}"/>
              </a:ext>
            </a:extLst>
          </p:cNvPr>
          <p:cNvSpPr/>
          <p:nvPr/>
        </p:nvSpPr>
        <p:spPr>
          <a:xfrm>
            <a:off x="590310" y="3737939"/>
            <a:ext cx="10995948" cy="1569660"/>
          </a:xfrm>
          <a:prstGeom prst="roundRect">
            <a:avLst/>
          </a:prstGeom>
          <a:solidFill>
            <a:schemeClr val="bg1">
              <a:lumMod val="85000"/>
            </a:schemeClr>
          </a:solidFill>
          <a:ln>
            <a:solidFill>
              <a:schemeClr val="tx1"/>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b="1" dirty="0">
                <a:solidFill>
                  <a:schemeClr val="tx1"/>
                </a:solidFill>
              </a:rPr>
              <a:t>Problem: </a:t>
            </a:r>
            <a:r>
              <a:rPr lang="en-US" sz="3200" dirty="0">
                <a:solidFill>
                  <a:schemeClr val="tx1"/>
                </a:solidFill>
              </a:rPr>
              <a:t>The system does not know this ahead of time when calibrating the threshold</a:t>
            </a:r>
            <a:endParaRPr lang="en-US" sz="3200" dirty="0"/>
          </a:p>
        </p:txBody>
      </p:sp>
    </p:spTree>
    <p:extLst>
      <p:ext uri="{BB962C8B-B14F-4D97-AF65-F5344CB8AC3E}">
        <p14:creationId xmlns:p14="http://schemas.microsoft.com/office/powerpoint/2010/main" val="2309634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555AC-0A14-AC53-5D67-E70732CC8E44}"/>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169AF5D4-B4F0-9DC5-644E-C55397A50C3B}"/>
              </a:ext>
            </a:extLst>
          </p:cNvPr>
          <p:cNvSpPr>
            <a:spLocks noGrp="1"/>
          </p:cNvSpPr>
          <p:nvPr>
            <p:ph type="sldNum" sz="quarter" idx="12"/>
          </p:nvPr>
        </p:nvSpPr>
        <p:spPr/>
        <p:txBody>
          <a:bodyPr/>
          <a:lstStyle/>
          <a:p>
            <a:fld id="{659B2F21-D912-7541-8ED2-FD6ABD90B685}" type="slidenum">
              <a:rPr lang="en-US" smtClean="0"/>
              <a:t>14</a:t>
            </a:fld>
            <a:endParaRPr lang="en-US"/>
          </a:p>
        </p:txBody>
      </p:sp>
      <p:sp>
        <p:nvSpPr>
          <p:cNvPr id="2" name="TextBox 1">
            <a:extLst>
              <a:ext uri="{FF2B5EF4-FFF2-40B4-BE49-F238E27FC236}">
                <a16:creationId xmlns:a16="http://schemas.microsoft.com/office/drawing/2014/main" id="{B3730FE3-6AB7-6458-DAEE-B4057C360CC5}"/>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Acquisition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9FB46DA-E479-A239-0FF4-3A01DB5B56D9}"/>
                  </a:ext>
                </a:extLst>
              </p:cNvPr>
              <p:cNvSpPr txBox="1"/>
              <p:nvPr/>
            </p:nvSpPr>
            <p:spPr>
              <a:xfrm>
                <a:off x="590310" y="1457816"/>
                <a:ext cx="10397988" cy="3160737"/>
              </a:xfrm>
              <a:prstGeom prst="rect">
                <a:avLst/>
              </a:prstGeom>
              <a:noFill/>
            </p:spPr>
            <p:txBody>
              <a:bodyPr wrap="square">
                <a:spAutoFit/>
              </a:bodyPr>
              <a:lstStyle/>
              <a:p>
                <a:r>
                  <a:rPr lang="en-US" sz="2000" i="1" dirty="0"/>
                  <a:t>Some degradation is information-theoretic, not algorithmic</a:t>
                </a:r>
              </a:p>
              <a:p>
                <a:endParaRPr lang="en-US" sz="600" i="1" dirty="0"/>
              </a:p>
              <a:p>
                <a:r>
                  <a:rPr lang="en-US" sz="2000" b="1" dirty="0"/>
                  <a:t>Optics</a:t>
                </a:r>
                <a:endParaRPr lang="en-US" sz="2000" dirty="0"/>
              </a:p>
              <a:p>
                <a:endParaRPr lang="en-US" sz="600" i="1" dirty="0"/>
              </a:p>
              <a:p>
                <a:pPr/>
                <a14:m>
                  <m:oMathPara xmlns:m="http://schemas.openxmlformats.org/officeDocument/2006/math">
                    <m:o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ℎ</m:t>
                          </m:r>
                        </m:e>
                        <m:sub>
                          <m:r>
                            <a:rPr lang="en-US" sz="2000" b="0" i="1" smtClean="0">
                              <a:latin typeface="Cambria Math" panose="02040503050406030204" pitchFamily="18" charset="0"/>
                            </a:rPr>
                            <m:t>𝑝𝑥</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𝐻𝑓</m:t>
                          </m:r>
                        </m:num>
                        <m:den>
                          <m:r>
                            <a:rPr lang="en-US" sz="2000" b="0" i="1" smtClean="0">
                              <a:latin typeface="Cambria Math" panose="02040503050406030204" pitchFamily="18" charset="0"/>
                            </a:rPr>
                            <m:t>𝑅𝑝</m:t>
                          </m:r>
                        </m:den>
                      </m:f>
                      <m:r>
                        <a:rPr lang="en-US" sz="2000" b="0" i="1" smtClean="0">
                          <a:latin typeface="Cambria Math" panose="02040503050406030204" pitchFamily="18" charset="0"/>
                        </a:rPr>
                        <m:t>,</m:t>
                      </m:r>
                    </m:oMath>
                  </m:oMathPara>
                </a14:m>
                <a:endParaRPr lang="en-US" sz="2000" i="1" dirty="0"/>
              </a:p>
              <a:p>
                <a:r>
                  <a:rPr lang="en-US" sz="2000" dirty="0"/>
                  <a:t>where</a:t>
                </a:r>
              </a:p>
              <a:p>
                <a:endParaRPr lang="en-US" sz="600" dirty="0"/>
              </a:p>
              <a:p>
                <a:pPr marL="342900" indent="-342900">
                  <a:buFont typeface="Arial" panose="020B0604020202020204" pitchFamily="34" charset="0"/>
                  <a:buChar char="•"/>
                </a:pPr>
                <a:r>
                  <a:rPr lang="en-US" sz="2000" dirty="0"/>
                  <a:t>Physical head height (</a:t>
                </a:r>
                <a14:m>
                  <m:oMath xmlns:m="http://schemas.openxmlformats.org/officeDocument/2006/math">
                    <m:r>
                      <a:rPr lang="en-US" sz="2000" b="0" i="1" smtClean="0">
                        <a:latin typeface="Cambria Math" panose="02040503050406030204" pitchFamily="18" charset="0"/>
                      </a:rPr>
                      <m:t>𝐻</m:t>
                    </m:r>
                  </m:oMath>
                </a14:m>
                <a:r>
                  <a:rPr lang="en-US" sz="2000" dirty="0"/>
                  <a:t>)</a:t>
                </a:r>
              </a:p>
              <a:p>
                <a:pPr marL="342900" indent="-342900">
                  <a:buFont typeface="Arial" panose="020B0604020202020204" pitchFamily="34" charset="0"/>
                  <a:buChar char="•"/>
                </a:pPr>
                <a:r>
                  <a:rPr lang="en-US" sz="2000" dirty="0"/>
                  <a:t>Focal length (</a:t>
                </a:r>
                <a14:m>
                  <m:oMath xmlns:m="http://schemas.openxmlformats.org/officeDocument/2006/math">
                    <m:r>
                      <a:rPr lang="en-US" sz="2000" i="1" dirty="0" smtClean="0">
                        <a:latin typeface="Cambria Math" panose="02040503050406030204" pitchFamily="18" charset="0"/>
                      </a:rPr>
                      <m:t>𝑓</m:t>
                    </m:r>
                  </m:oMath>
                </a14:m>
                <a:r>
                  <a:rPr lang="en-US" sz="2000" dirty="0"/>
                  <a:t>)</a:t>
                </a:r>
              </a:p>
              <a:p>
                <a:pPr marL="342900" indent="-342900">
                  <a:buFont typeface="Arial" panose="020B0604020202020204" pitchFamily="34" charset="0"/>
                  <a:buChar char="•"/>
                </a:pPr>
                <a:r>
                  <a:rPr lang="en-US" sz="2000" dirty="0"/>
                  <a:t>Pixel pitch (</a:t>
                </a:r>
                <a14:m>
                  <m:oMath xmlns:m="http://schemas.openxmlformats.org/officeDocument/2006/math">
                    <m:r>
                      <a:rPr lang="en-US" sz="2000" i="1" dirty="0" smtClean="0">
                        <a:latin typeface="Cambria Math" panose="02040503050406030204" pitchFamily="18" charset="0"/>
                      </a:rPr>
                      <m:t>𝑝</m:t>
                    </m:r>
                  </m:oMath>
                </a14:m>
                <a:r>
                  <a:rPr lang="en-US" sz="2000" dirty="0"/>
                  <a:t>)</a:t>
                </a:r>
              </a:p>
              <a:p>
                <a:pPr marL="342900" indent="-342900">
                  <a:buFont typeface="Arial" panose="020B0604020202020204" pitchFamily="34" charset="0"/>
                  <a:buChar char="•"/>
                </a:pPr>
                <a:r>
                  <a:rPr lang="en-US" sz="2000" dirty="0"/>
                  <a:t>Physical distance / range (</a:t>
                </a:r>
                <a14:m>
                  <m:oMath xmlns:m="http://schemas.openxmlformats.org/officeDocument/2006/math">
                    <m:r>
                      <a:rPr lang="en-US" sz="2000" i="1" dirty="0" smtClean="0">
                        <a:latin typeface="Cambria Math" panose="02040503050406030204" pitchFamily="18" charset="0"/>
                      </a:rPr>
                      <m:t>𝑅</m:t>
                    </m:r>
                  </m:oMath>
                </a14:m>
                <a:r>
                  <a:rPr lang="en-US" sz="2000" dirty="0"/>
                  <a:t>)</a:t>
                </a:r>
              </a:p>
            </p:txBody>
          </p:sp>
        </mc:Choice>
        <mc:Fallback xmlns="">
          <p:sp>
            <p:nvSpPr>
              <p:cNvPr id="5" name="TextBox 4">
                <a:extLst>
                  <a:ext uri="{FF2B5EF4-FFF2-40B4-BE49-F238E27FC236}">
                    <a16:creationId xmlns:a16="http://schemas.microsoft.com/office/drawing/2014/main" id="{B9FB46DA-E479-A239-0FF4-3A01DB5B56D9}"/>
                  </a:ext>
                </a:extLst>
              </p:cNvPr>
              <p:cNvSpPr txBox="1">
                <a:spLocks noRot="1" noChangeAspect="1" noMove="1" noResize="1" noEditPoints="1" noAdjustHandles="1" noChangeArrowheads="1" noChangeShapeType="1" noTextEdit="1"/>
              </p:cNvSpPr>
              <p:nvPr/>
            </p:nvSpPr>
            <p:spPr>
              <a:xfrm>
                <a:off x="590310" y="1457816"/>
                <a:ext cx="10397988" cy="3160737"/>
              </a:xfrm>
              <a:prstGeom prst="rect">
                <a:avLst/>
              </a:prstGeom>
              <a:blipFill>
                <a:blip r:embed="rId3"/>
                <a:stretch>
                  <a:fillRect l="-610" t="-800" b="-2800"/>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DD56AECC-8536-52EB-2C89-65F2B6BBF058}"/>
              </a:ext>
            </a:extLst>
          </p:cNvPr>
          <p:cNvPicPr>
            <a:picLocks noChangeAspect="1"/>
          </p:cNvPicPr>
          <p:nvPr/>
        </p:nvPicPr>
        <p:blipFill>
          <a:blip r:embed="rId4"/>
          <a:stretch>
            <a:fillRect/>
          </a:stretch>
        </p:blipFill>
        <p:spPr>
          <a:xfrm>
            <a:off x="4347275" y="3429000"/>
            <a:ext cx="7006525" cy="3059577"/>
          </a:xfrm>
          <a:prstGeom prst="rect">
            <a:avLst/>
          </a:prstGeom>
        </p:spPr>
      </p:pic>
    </p:spTree>
    <p:extLst>
      <p:ext uri="{BB962C8B-B14F-4D97-AF65-F5344CB8AC3E}">
        <p14:creationId xmlns:p14="http://schemas.microsoft.com/office/powerpoint/2010/main" val="992922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AFBB5-8295-CF1E-2CF4-A917EEC74639}"/>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32C686E1-AB79-A1E8-72B2-967012A4E729}"/>
              </a:ext>
            </a:extLst>
          </p:cNvPr>
          <p:cNvSpPr>
            <a:spLocks noGrp="1"/>
          </p:cNvSpPr>
          <p:nvPr>
            <p:ph type="sldNum" sz="quarter" idx="12"/>
          </p:nvPr>
        </p:nvSpPr>
        <p:spPr/>
        <p:txBody>
          <a:bodyPr/>
          <a:lstStyle/>
          <a:p>
            <a:fld id="{659B2F21-D912-7541-8ED2-FD6ABD90B685}" type="slidenum">
              <a:rPr lang="en-US" smtClean="0"/>
              <a:t>15</a:t>
            </a:fld>
            <a:endParaRPr lang="en-US"/>
          </a:p>
        </p:txBody>
      </p:sp>
      <p:sp>
        <p:nvSpPr>
          <p:cNvPr id="2" name="TextBox 1">
            <a:extLst>
              <a:ext uri="{FF2B5EF4-FFF2-40B4-BE49-F238E27FC236}">
                <a16:creationId xmlns:a16="http://schemas.microsoft.com/office/drawing/2014/main" id="{FE2B3BBC-0753-1BF8-F43B-B91AB8B03A55}"/>
              </a:ext>
            </a:extLst>
          </p:cNvPr>
          <p:cNvSpPr txBox="1"/>
          <p:nvPr/>
        </p:nvSpPr>
        <p:spPr>
          <a:xfrm>
            <a:off x="745293" y="3075057"/>
            <a:ext cx="10995948" cy="707886"/>
          </a:xfrm>
          <a:prstGeom prst="rect">
            <a:avLst/>
          </a:prstGeom>
          <a:noFill/>
        </p:spPr>
        <p:txBody>
          <a:bodyPr wrap="square" rtlCol="0">
            <a:spAutoFit/>
          </a:bodyPr>
          <a:lstStyle/>
          <a:p>
            <a:pPr algn="ctr"/>
            <a:r>
              <a:rPr lang="en-US" sz="4000" b="1" dirty="0">
                <a:solidFill>
                  <a:srgbClr val="0070C0"/>
                </a:solidFill>
              </a:rPr>
              <a:t>Representation as the Locus of Failure</a:t>
            </a:r>
          </a:p>
        </p:txBody>
      </p:sp>
    </p:spTree>
    <p:extLst>
      <p:ext uri="{BB962C8B-B14F-4D97-AF65-F5344CB8AC3E}">
        <p14:creationId xmlns:p14="http://schemas.microsoft.com/office/powerpoint/2010/main" val="2048297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96D24-111B-BA99-B09F-6F3635ADCEC3}"/>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7D776666-3B36-54CA-7D1B-4C3951E3BC98}"/>
              </a:ext>
            </a:extLst>
          </p:cNvPr>
          <p:cNvSpPr>
            <a:spLocks noGrp="1"/>
          </p:cNvSpPr>
          <p:nvPr>
            <p:ph type="sldNum" sz="quarter" idx="12"/>
          </p:nvPr>
        </p:nvSpPr>
        <p:spPr/>
        <p:txBody>
          <a:bodyPr/>
          <a:lstStyle/>
          <a:p>
            <a:fld id="{659B2F21-D912-7541-8ED2-FD6ABD90B685}" type="slidenum">
              <a:rPr lang="en-US" smtClean="0"/>
              <a:t>16</a:t>
            </a:fld>
            <a:endParaRPr lang="en-US"/>
          </a:p>
        </p:txBody>
      </p:sp>
      <p:sp>
        <p:nvSpPr>
          <p:cNvPr id="2" name="TextBox 1">
            <a:extLst>
              <a:ext uri="{FF2B5EF4-FFF2-40B4-BE49-F238E27FC236}">
                <a16:creationId xmlns:a16="http://schemas.microsoft.com/office/drawing/2014/main" id="{5706D02C-0932-39BD-11EF-1AD4122AA351}"/>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What we actually ask the embedding to do</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7DD400D-D61B-3EA0-7A0E-6FF111049C25}"/>
                  </a:ext>
                </a:extLst>
              </p:cNvPr>
              <p:cNvSpPr txBox="1"/>
              <p:nvPr/>
            </p:nvSpPr>
            <p:spPr>
              <a:xfrm>
                <a:off x="590310" y="1659293"/>
                <a:ext cx="10397988" cy="4530856"/>
              </a:xfrm>
              <a:prstGeom prst="rect">
                <a:avLst/>
              </a:prstGeom>
              <a:noFill/>
            </p:spPr>
            <p:txBody>
              <a:bodyPr wrap="square">
                <a:spAutoFit/>
              </a:bodyPr>
              <a:lstStyle/>
              <a:p>
                <a:r>
                  <a:rPr lang="en-US" sz="2400" b="1" dirty="0"/>
                  <a:t>Embedding / Match Scores:</a:t>
                </a:r>
                <a:br>
                  <a:rPr lang="en-US" sz="2400" b="1" dirty="0"/>
                </a:br>
                <a:endParaRPr lang="en-US" sz="2400" b="1" dirty="0"/>
              </a:p>
              <a:p>
                <a:pP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𝑓</m:t>
                          </m:r>
                        </m:e>
                        <m:sub>
                          <m:r>
                            <a:rPr lang="en-US" sz="2400" b="0" i="1" smtClean="0">
                              <a:latin typeface="Cambria Math" panose="02040503050406030204" pitchFamily="18" charset="0"/>
                            </a:rPr>
                            <m:t>𝜃</m:t>
                          </m:r>
                        </m:sub>
                      </m:sSub>
                      <m:r>
                        <a:rPr lang="en-US" sz="2400" b="0" i="1" smtClean="0">
                          <a:latin typeface="Cambria Math" panose="02040503050406030204" pitchFamily="18" charset="0"/>
                        </a:rPr>
                        <m:t>:</m:t>
                      </m:r>
                      <m:r>
                        <a:rPr lang="en-US" sz="2400" b="0" i="1" smtClean="0">
                          <a:latin typeface="Cambria Math" panose="02040503050406030204" pitchFamily="18" charset="0"/>
                        </a:rPr>
                        <m:t>𝒳</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ℝ</m:t>
                          </m:r>
                        </m:e>
                        <m:sup>
                          <m:r>
                            <a:rPr lang="en-US" sz="2400" b="0" i="1" smtClean="0">
                              <a:latin typeface="Cambria Math" panose="02040503050406030204" pitchFamily="18" charset="0"/>
                            </a:rPr>
                            <m:t>𝑑</m:t>
                          </m:r>
                        </m:sup>
                      </m:sSup>
                      <m:r>
                        <a:rPr lang="en-US" sz="2400" b="0" i="1" smtClean="0">
                          <a:latin typeface="Cambria Math" panose="02040503050406030204" pitchFamily="18" charset="0"/>
                        </a:rPr>
                        <m:t>,  </m:t>
                      </m:r>
                      <m:r>
                        <a:rPr lang="en-US" sz="2400" b="0" i="1" smtClean="0">
                          <a:latin typeface="Cambria Math" panose="02040503050406030204" pitchFamily="18" charset="0"/>
                        </a:rPr>
                        <m:t>𝑠</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𝑓</m:t>
                          </m:r>
                        </m:e>
                        <m:sub>
                          <m:r>
                            <a:rPr lang="en-US" sz="2400" b="0" i="1" smtClean="0">
                              <a:latin typeface="Cambria Math" panose="02040503050406030204" pitchFamily="18" charset="0"/>
                            </a:rPr>
                            <m:t>𝜃</m:t>
                          </m:r>
                        </m:sub>
                      </m:sSub>
                      <m:sSup>
                        <m:sSupPr>
                          <m:ctrlPr>
                            <a:rPr lang="en-US" sz="2400" b="0" i="1" smtClean="0">
                              <a:latin typeface="Cambria Math" panose="02040503050406030204" pitchFamily="18" charset="0"/>
                            </a:rPr>
                          </m:ctrlPr>
                        </m:sSupPr>
                        <m:e>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e>
                          </m:d>
                        </m:e>
                        <m:sup>
                          <m:r>
                            <a:rPr lang="en-US" sz="2400" b="0" i="1" smtClean="0">
                              <a:latin typeface="Cambria Math" panose="02040503050406030204" pitchFamily="18" charset="0"/>
                            </a:rPr>
                            <m:t>𝑇</m:t>
                          </m:r>
                        </m:sup>
                      </m:sSup>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𝑓</m:t>
                          </m:r>
                        </m:e>
                        <m:sub>
                          <m:r>
                            <a:rPr lang="en-US" sz="2400" b="0" i="1" smtClean="0">
                              <a:latin typeface="Cambria Math" panose="02040503050406030204" pitchFamily="18" charset="0"/>
                            </a:rPr>
                            <m:t>𝜃</m:t>
                          </m:r>
                        </m:sub>
                      </m:sSub>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e>
                      </m:d>
                    </m:oMath>
                  </m:oMathPara>
                </a14:m>
                <a:endParaRPr lang="en-US" sz="2400" dirty="0"/>
              </a:p>
              <a:p>
                <a:endParaRPr lang="en-US" sz="2400" b="1" dirty="0"/>
              </a:p>
              <a:p>
                <a:r>
                  <a:rPr lang="en-US" sz="2400" b="1" dirty="0"/>
                  <a:t>The invariance we want:</a:t>
                </a:r>
                <a:r>
                  <a:rPr lang="en-US" sz="2400" dirty="0"/>
                  <a:t> </a:t>
                </a:r>
                <a:br>
                  <a:rPr lang="en-US" sz="2400" dirty="0"/>
                </a:br>
                <a:r>
                  <a:rPr lang="en-US" sz="2400" dirty="0"/>
                  <a:t>for identity </a:t>
                </a:r>
                <a14:m>
                  <m:oMath xmlns:m="http://schemas.openxmlformats.org/officeDocument/2006/math">
                    <m:r>
                      <a:rPr lang="en-US" sz="2400" i="1">
                        <a:latin typeface="Cambria Math" panose="02040503050406030204" pitchFamily="18" charset="0"/>
                      </a:rPr>
                      <m:t>𝑦</m:t>
                    </m:r>
                  </m:oMath>
                </a14:m>
                <a:r>
                  <a:rPr lang="en-US" sz="2400" dirty="0"/>
                  <a:t> and nuisance </a:t>
                </a:r>
                <a14:m>
                  <m:oMath xmlns:m="http://schemas.openxmlformats.org/officeDocument/2006/math">
                    <m:r>
                      <a:rPr lang="en-US" sz="2400" b="0" i="1" smtClean="0">
                        <a:latin typeface="Cambria Math" panose="02040503050406030204" pitchFamily="18" charset="0"/>
                      </a:rPr>
                      <m:t>𝜖</m:t>
                    </m:r>
                  </m:oMath>
                </a14:m>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𝜃</m:t>
                        </m:r>
                      </m:sub>
                    </m:sSub>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a:latin typeface="Cambria Math" panose="02040503050406030204" pitchFamily="18" charset="0"/>
                      </a:rPr>
                      <m:t>=</m:t>
                    </m:r>
                    <m:r>
                      <a:rPr lang="en-US" sz="2400" i="1">
                        <a:latin typeface="Cambria Math" panose="02040503050406030204" pitchFamily="18" charset="0"/>
                      </a:rPr>
                      <m:t>𝑔</m:t>
                    </m:r>
                    <m:d>
                      <m:dPr>
                        <m:ctrlPr>
                          <a:rPr lang="en-US" sz="2400" i="1">
                            <a:latin typeface="Cambria Math" panose="02040503050406030204" pitchFamily="18" charset="0"/>
                          </a:rPr>
                        </m:ctrlPr>
                      </m:dPr>
                      <m:e>
                        <m:r>
                          <a:rPr lang="en-US" sz="2400" i="1">
                            <a:latin typeface="Cambria Math" panose="02040503050406030204" pitchFamily="18" charset="0"/>
                          </a:rPr>
                          <m:t>𝑦</m:t>
                        </m:r>
                      </m:e>
                    </m:d>
                    <m:r>
                      <a:rPr lang="en-US" sz="2400">
                        <a:latin typeface="Cambria Math" panose="02040503050406030204" pitchFamily="18" charset="0"/>
                      </a:rPr>
                      <m:t> </m:t>
                    </m:r>
                    <m:r>
                      <m:rPr>
                        <m:nor/>
                      </m:rPr>
                      <a:rPr lang="en-US" sz="2400" i="0"/>
                      <m:t>— independent of </m:t>
                    </m:r>
                    <m:r>
                      <m:rPr>
                        <m:sty m:val="p"/>
                      </m:rPr>
                      <a:rPr lang="en-US" sz="2400" b="0" i="1" smtClean="0">
                        <a:latin typeface="Cambria Math" panose="02040503050406030204" pitchFamily="18" charset="0"/>
                      </a:rPr>
                      <m:t>ϵ</m:t>
                    </m:r>
                  </m:oMath>
                </a14:m>
                <a:endParaRPr lang="en-US" sz="2400" dirty="0"/>
              </a:p>
              <a:p>
                <a:endParaRPr lang="en-US" sz="2400" b="1" dirty="0"/>
              </a:p>
              <a:p>
                <a:r>
                  <a:rPr lang="en-US" sz="2400" b="1" dirty="0"/>
                  <a:t>What we actually get:</a:t>
                </a:r>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𝜃</m:t>
                        </m:r>
                      </m:sub>
                    </m:sSub>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a:latin typeface="Cambria Math" panose="02040503050406030204" pitchFamily="18" charset="0"/>
                      </a:rPr>
                      <m:t>=</m:t>
                    </m:r>
                    <m:r>
                      <a:rPr lang="en-US" sz="2400" i="1">
                        <a:latin typeface="Cambria Math" panose="02040503050406030204" pitchFamily="18" charset="0"/>
                      </a:rPr>
                      <m:t>𝑔</m:t>
                    </m:r>
                    <m:d>
                      <m:dPr>
                        <m:sepChr m:val=","/>
                        <m:ctrlPr>
                          <a:rPr lang="en-US" sz="2400" i="1">
                            <a:latin typeface="Cambria Math" panose="02040503050406030204" pitchFamily="18" charset="0"/>
                          </a:rPr>
                        </m:ctrlPr>
                      </m:dPr>
                      <m:e>
                        <m:r>
                          <a:rPr lang="en-US" sz="2400" i="1">
                            <a:latin typeface="Cambria Math" panose="02040503050406030204" pitchFamily="18" charset="0"/>
                          </a:rPr>
                          <m:t>𝑦</m:t>
                        </m:r>
                      </m:e>
                      <m:e>
                        <m:r>
                          <a:rPr lang="en-US" sz="2400" b="0" i="1" smtClean="0">
                            <a:latin typeface="Cambria Math" panose="02040503050406030204" pitchFamily="18" charset="0"/>
                          </a:rPr>
                          <m:t>𝜖</m:t>
                        </m:r>
                      </m:e>
                    </m:d>
                  </m:oMath>
                </a14:m>
                <a:endParaRPr lang="en-US" sz="2400" dirty="0"/>
              </a:p>
              <a:p>
                <a:endParaRPr lang="en-US" sz="2400" dirty="0"/>
              </a:p>
              <a:p>
                <a:pPr marL="342900" indent="-342900">
                  <a:buFont typeface="Arial" panose="020B0604020202020204" pitchFamily="34" charset="0"/>
                  <a:buChar char="•"/>
                </a:pPr>
                <a:r>
                  <a:rPr lang="en-US" sz="2400" dirty="0"/>
                  <a:t>The entire field of robust biometrics is the project of shrinking the </a:t>
                </a:r>
                <a14:m>
                  <m:oMath xmlns:m="http://schemas.openxmlformats.org/officeDocument/2006/math">
                    <m:r>
                      <a:rPr lang="en-US" sz="2400" b="0" i="1" smtClean="0">
                        <a:latin typeface="Cambria Math" panose="02040503050406030204" pitchFamily="18" charset="0"/>
                      </a:rPr>
                      <m:t>𝜖</m:t>
                    </m:r>
                  </m:oMath>
                </a14:m>
                <a:r>
                  <a:rPr lang="en-US" sz="2400" dirty="0"/>
                  <a:t>-dependence. </a:t>
                </a:r>
              </a:p>
              <a:p>
                <a:pPr marL="342900" indent="-342900">
                  <a:buFont typeface="Arial" panose="020B0604020202020204" pitchFamily="34" charset="0"/>
                  <a:buChar char="•"/>
                </a:pPr>
                <a:r>
                  <a:rPr lang="en-US" sz="2400" dirty="0"/>
                  <a:t>In the following weeks, we will investigate attacks on this term.</a:t>
                </a:r>
              </a:p>
            </p:txBody>
          </p:sp>
        </mc:Choice>
        <mc:Fallback xmlns="">
          <p:sp>
            <p:nvSpPr>
              <p:cNvPr id="5" name="TextBox 4">
                <a:extLst>
                  <a:ext uri="{FF2B5EF4-FFF2-40B4-BE49-F238E27FC236}">
                    <a16:creationId xmlns:a16="http://schemas.microsoft.com/office/drawing/2014/main" id="{C7DD400D-D61B-3EA0-7A0E-6FF111049C25}"/>
                  </a:ext>
                </a:extLst>
              </p:cNvPr>
              <p:cNvSpPr txBox="1">
                <a:spLocks noRot="1" noChangeAspect="1" noMove="1" noResize="1" noEditPoints="1" noAdjustHandles="1" noChangeArrowheads="1" noChangeShapeType="1" noTextEdit="1"/>
              </p:cNvSpPr>
              <p:nvPr/>
            </p:nvSpPr>
            <p:spPr>
              <a:xfrm>
                <a:off x="590310" y="1659293"/>
                <a:ext cx="10397988" cy="4530856"/>
              </a:xfrm>
              <a:prstGeom prst="rect">
                <a:avLst/>
              </a:prstGeom>
              <a:blipFill>
                <a:blip r:embed="rId3"/>
                <a:stretch>
                  <a:fillRect l="-976" t="-1117" b="-1955"/>
                </a:stretch>
              </a:blipFill>
            </p:spPr>
            <p:txBody>
              <a:bodyPr/>
              <a:lstStyle/>
              <a:p>
                <a:r>
                  <a:rPr lang="en-US">
                    <a:noFill/>
                  </a:rPr>
                  <a:t> </a:t>
                </a:r>
              </a:p>
            </p:txBody>
          </p:sp>
        </mc:Fallback>
      </mc:AlternateContent>
    </p:spTree>
    <p:extLst>
      <p:ext uri="{BB962C8B-B14F-4D97-AF65-F5344CB8AC3E}">
        <p14:creationId xmlns:p14="http://schemas.microsoft.com/office/powerpoint/2010/main" val="695322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C246A-FC18-FD8B-DE62-91029448CC0C}"/>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D3F8479F-877B-C23B-E0D3-6C8475B2B51C}"/>
              </a:ext>
            </a:extLst>
          </p:cNvPr>
          <p:cNvSpPr>
            <a:spLocks noGrp="1"/>
          </p:cNvSpPr>
          <p:nvPr>
            <p:ph type="sldNum" sz="quarter" idx="12"/>
          </p:nvPr>
        </p:nvSpPr>
        <p:spPr/>
        <p:txBody>
          <a:bodyPr/>
          <a:lstStyle/>
          <a:p>
            <a:fld id="{659B2F21-D912-7541-8ED2-FD6ABD90B685}" type="slidenum">
              <a:rPr lang="en-US" smtClean="0"/>
              <a:t>17</a:t>
            </a:fld>
            <a:endParaRPr lang="en-US"/>
          </a:p>
        </p:txBody>
      </p:sp>
      <p:sp>
        <p:nvSpPr>
          <p:cNvPr id="2" name="TextBox 1">
            <a:extLst>
              <a:ext uri="{FF2B5EF4-FFF2-40B4-BE49-F238E27FC236}">
                <a16:creationId xmlns:a16="http://schemas.microsoft.com/office/drawing/2014/main" id="{730597F3-6F15-B8EC-2447-2451249EE883}"/>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 The Two Failure Modes</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E38D675C-0D6B-A844-D13F-0D2F9D6215C6}"/>
                  </a:ext>
                </a:extLst>
              </p:cNvPr>
              <p:cNvGraphicFramePr>
                <a:graphicFrameLocks noGrp="1"/>
              </p:cNvGraphicFramePr>
              <p:nvPr>
                <p:extLst>
                  <p:ext uri="{D42A27DB-BD31-4B8C-83A1-F6EECF244321}">
                    <p14:modId xmlns:p14="http://schemas.microsoft.com/office/powerpoint/2010/main" val="17450197"/>
                  </p:ext>
                </p:extLst>
              </p:nvPr>
            </p:nvGraphicFramePr>
            <p:xfrm>
              <a:off x="590309" y="1321482"/>
              <a:ext cx="11141907" cy="4297680"/>
            </p:xfrm>
            <a:graphic>
              <a:graphicData uri="http://schemas.openxmlformats.org/drawingml/2006/table">
                <a:tbl>
                  <a:tblPr firstRow="1" bandRow="1">
                    <a:tableStyleId>{5C22544A-7EE6-4342-B048-85BDC9FD1C3A}</a:tableStyleId>
                  </a:tblPr>
                  <a:tblGrid>
                    <a:gridCol w="3713969">
                      <a:extLst>
                        <a:ext uri="{9D8B030D-6E8A-4147-A177-3AD203B41FA5}">
                          <a16:colId xmlns:a16="http://schemas.microsoft.com/office/drawing/2014/main" val="3342070200"/>
                        </a:ext>
                      </a:extLst>
                    </a:gridCol>
                    <a:gridCol w="3713969">
                      <a:extLst>
                        <a:ext uri="{9D8B030D-6E8A-4147-A177-3AD203B41FA5}">
                          <a16:colId xmlns:a16="http://schemas.microsoft.com/office/drawing/2014/main" val="3894307511"/>
                        </a:ext>
                      </a:extLst>
                    </a:gridCol>
                    <a:gridCol w="3713969">
                      <a:extLst>
                        <a:ext uri="{9D8B030D-6E8A-4147-A177-3AD203B41FA5}">
                          <a16:colId xmlns:a16="http://schemas.microsoft.com/office/drawing/2014/main" val="3413918700"/>
                        </a:ext>
                      </a:extLst>
                    </a:gridCol>
                  </a:tblGrid>
                  <a:tr h="370840">
                    <a:tc>
                      <a:txBody>
                        <a:bodyPr/>
                        <a:lstStyle/>
                        <a:p>
                          <a:endParaRPr lang="en-US" sz="2000" dirty="0"/>
                        </a:p>
                      </a:txBody>
                      <a:tcPr/>
                    </a:tc>
                    <a:tc>
                      <a:txBody>
                        <a:bodyPr/>
                        <a:lstStyle/>
                        <a:p>
                          <a:pPr algn="ctr"/>
                          <a:r>
                            <a:rPr lang="en-US" sz="2000" dirty="0"/>
                            <a:t>Signal Loss</a:t>
                          </a:r>
                        </a:p>
                      </a:txBody>
                      <a:tcPr/>
                    </a:tc>
                    <a:tc>
                      <a:txBody>
                        <a:bodyPr/>
                        <a:lstStyle/>
                        <a:p>
                          <a:pPr algn="ctr"/>
                          <a:r>
                            <a:rPr lang="en-US" sz="2000" dirty="0"/>
                            <a:t>Nuisance Entanglement</a:t>
                          </a:r>
                        </a:p>
                      </a:txBody>
                      <a:tcPr/>
                    </a:tc>
                    <a:extLst>
                      <a:ext uri="{0D108BD9-81ED-4DB2-BD59-A6C34878D82A}">
                        <a16:rowId xmlns:a16="http://schemas.microsoft.com/office/drawing/2014/main" val="4064523711"/>
                      </a:ext>
                    </a:extLst>
                  </a:tr>
                  <a:tr h="370840">
                    <a:tc>
                      <a:txBody>
                        <a:bodyPr/>
                        <a:lstStyle/>
                        <a:p>
                          <a:r>
                            <a:rPr lang="en-US" sz="2000" dirty="0"/>
                            <a:t>What happened</a:t>
                          </a:r>
                        </a:p>
                      </a:txBody>
                      <a:tcPr/>
                    </a:tc>
                    <a:tc>
                      <a:txBody>
                        <a:bodyPr/>
                        <a:lstStyle/>
                        <a:p>
                          <a:r>
                            <a:rPr lang="en-US" sz="2000" dirty="0"/>
                            <a:t>Identity information </a:t>
                          </a:r>
                          <a:r>
                            <a:rPr lang="en-US" sz="2000" b="1" dirty="0"/>
                            <a:t>is not in the pixels</a:t>
                          </a:r>
                        </a:p>
                      </a:txBody>
                      <a:tcPr/>
                    </a:tc>
                    <a:tc>
                      <a:txBody>
                        <a:bodyPr/>
                        <a:lstStyle/>
                        <a:p>
                          <a:r>
                            <a:rPr lang="en-US" sz="2000" dirty="0"/>
                            <a:t>Information is present,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𝜃</m:t>
                                  </m:r>
                                </m:sub>
                              </m:sSub>
                            </m:oMath>
                          </a14:m>
                          <a:r>
                            <a:rPr lang="en-US" sz="2000" dirty="0"/>
                            <a:t> maps it into a domain-specific</a:t>
                          </a:r>
                          <a:r>
                            <a:rPr lang="en-US" sz="2000" baseline="0" dirty="0"/>
                            <a:t> region</a:t>
                          </a:r>
                          <a:endParaRPr lang="en-US" sz="2000" dirty="0"/>
                        </a:p>
                      </a:txBody>
                      <a:tcPr/>
                    </a:tc>
                    <a:extLst>
                      <a:ext uri="{0D108BD9-81ED-4DB2-BD59-A6C34878D82A}">
                        <a16:rowId xmlns:a16="http://schemas.microsoft.com/office/drawing/2014/main" val="1684690695"/>
                      </a:ext>
                    </a:extLst>
                  </a:tr>
                  <a:tr h="370840">
                    <a:tc>
                      <a:txBody>
                        <a:bodyPr/>
                        <a:lstStyle/>
                        <a:p>
                          <a:r>
                            <a:rPr lang="en-US" sz="2000" dirty="0"/>
                            <a:t>Where problem originates</a:t>
                          </a:r>
                        </a:p>
                      </a:txBody>
                      <a:tcPr/>
                    </a:tc>
                    <a:tc>
                      <a:txBody>
                        <a:bodyPr/>
                        <a:lstStyle/>
                        <a:p>
                          <a:r>
                            <a:rPr lang="en-US" sz="2000" dirty="0"/>
                            <a:t>Acquisition</a:t>
                          </a:r>
                        </a:p>
                      </a:txBody>
                      <a:tcPr/>
                    </a:tc>
                    <a:tc>
                      <a:txBody>
                        <a:bodyPr/>
                        <a:lstStyle/>
                        <a:p>
                          <a:r>
                            <a:rPr lang="en-US" sz="2000" dirty="0"/>
                            <a:t>Representation</a:t>
                          </a:r>
                        </a:p>
                      </a:txBody>
                      <a:tcPr/>
                    </a:tc>
                    <a:extLst>
                      <a:ext uri="{0D108BD9-81ED-4DB2-BD59-A6C34878D82A}">
                        <a16:rowId xmlns:a16="http://schemas.microsoft.com/office/drawing/2014/main" val="3119859173"/>
                      </a:ext>
                    </a:extLst>
                  </a:tr>
                  <a:tr h="370840">
                    <a:tc>
                      <a:txBody>
                        <a:bodyPr/>
                        <a:lstStyle/>
                        <a:p>
                          <a:r>
                            <a:rPr lang="en-US" sz="2000" dirty="0"/>
                            <a:t>Example</a:t>
                          </a:r>
                        </a:p>
                      </a:txBody>
                      <a:tcPr/>
                    </a:tc>
                    <a:tc>
                      <a:txBody>
                        <a:bodyPr/>
                        <a:lstStyle/>
                        <a:p>
                          <a:r>
                            <a:rPr lang="en-US" sz="2000" dirty="0"/>
                            <a:t>1-5 pixel face, motion blurred beyond recovery</a:t>
                          </a:r>
                        </a:p>
                      </a:txBody>
                      <a:tcPr/>
                    </a:tc>
                    <a:tc>
                      <a:txBody>
                        <a:bodyPr/>
                        <a:lstStyle/>
                        <a:p>
                          <a:r>
                            <a:rPr lang="en-US" sz="2000" b="0" i="0" kern="1200" dirty="0">
                              <a:solidFill>
                                <a:schemeClr val="dk1"/>
                              </a:solidFill>
                              <a:effectLst/>
                              <a:latin typeface="+mn-lt"/>
                              <a:ea typeface="+mn-ea"/>
                              <a:cs typeface="+mn-cs"/>
                            </a:rPr>
                            <a:t>Same person, sharp, but thermal instead of visible</a:t>
                          </a:r>
                          <a:endParaRPr lang="en-US" sz="2000" dirty="0"/>
                        </a:p>
                      </a:txBody>
                      <a:tcPr/>
                    </a:tc>
                    <a:extLst>
                      <a:ext uri="{0D108BD9-81ED-4DB2-BD59-A6C34878D82A}">
                        <a16:rowId xmlns:a16="http://schemas.microsoft.com/office/drawing/2014/main" val="876369925"/>
                      </a:ext>
                    </a:extLst>
                  </a:tr>
                  <a:tr h="370840">
                    <a:tc>
                      <a:txBody>
                        <a:bodyPr/>
                        <a:lstStyle/>
                        <a:p>
                          <a:r>
                            <a:rPr lang="en-US" sz="2000" dirty="0"/>
                            <a:t>Fixable by better training</a:t>
                          </a:r>
                        </a:p>
                      </a:txBody>
                      <a:tcPr/>
                    </a:tc>
                    <a:tc>
                      <a:txBody>
                        <a:bodyPr/>
                        <a:lstStyle/>
                        <a:p>
                          <a:r>
                            <a:rPr lang="en-US" sz="2000" b="1" dirty="0"/>
                            <a:t>No </a:t>
                          </a:r>
                          <a:r>
                            <a:rPr lang="en-US" sz="2000" b="0" dirty="0"/>
                            <a:t>— information-theoretic floor</a:t>
                          </a:r>
                        </a:p>
                      </a:txBody>
                      <a:tcPr/>
                    </a:tc>
                    <a:tc>
                      <a:txBody>
                        <a:bodyPr/>
                        <a:lstStyle/>
                        <a:p>
                          <a:r>
                            <a:rPr lang="en-US" sz="2000" b="1" i="0" kern="1200" dirty="0">
                              <a:solidFill>
                                <a:schemeClr val="dk1"/>
                              </a:solidFill>
                              <a:effectLst/>
                              <a:latin typeface="+mn-lt"/>
                              <a:ea typeface="+mn-ea"/>
                              <a:cs typeface="+mn-cs"/>
                            </a:rPr>
                            <a:t>Yes, in principle</a:t>
                          </a:r>
                          <a:r>
                            <a:rPr lang="en-US" sz="2000" b="0" i="0" kern="1200" dirty="0">
                              <a:solidFill>
                                <a:schemeClr val="dk1"/>
                              </a:solidFill>
                              <a:effectLst/>
                              <a:latin typeface="+mn-lt"/>
                              <a:ea typeface="+mn-ea"/>
                              <a:cs typeface="+mn-cs"/>
                            </a:rPr>
                            <a:t> — Week 8</a:t>
                          </a:r>
                          <a:endParaRPr lang="en-US" sz="2000" dirty="0"/>
                        </a:p>
                      </a:txBody>
                      <a:tcPr/>
                    </a:tc>
                    <a:extLst>
                      <a:ext uri="{0D108BD9-81ED-4DB2-BD59-A6C34878D82A}">
                        <a16:rowId xmlns:a16="http://schemas.microsoft.com/office/drawing/2014/main" val="367548698"/>
                      </a:ext>
                    </a:extLst>
                  </a:tr>
                  <a:tr h="370840">
                    <a:tc>
                      <a:txBody>
                        <a:bodyPr/>
                        <a:lstStyle/>
                        <a:p>
                          <a:r>
                            <a:rPr lang="en-US" sz="2000" dirty="0"/>
                            <a:t>Diagnostic </a:t>
                          </a:r>
                        </a:p>
                      </a:txBody>
                      <a:tcPr/>
                    </a:tc>
                    <a:tc>
                      <a:txBody>
                        <a:bodyPr/>
                        <a:lstStyle/>
                        <a:p>
                          <a:r>
                            <a:rPr lang="en-US" sz="2000" dirty="0"/>
                            <a:t>Human experts fail, AI/ML algorithms overfit garbage/noise</a:t>
                          </a:r>
                        </a:p>
                      </a:txBody>
                      <a:tcPr/>
                    </a:tc>
                    <a:tc>
                      <a:txBody>
                        <a:bodyPr/>
                        <a:lstStyle/>
                        <a:p>
                          <a:r>
                            <a:rPr lang="en-US" sz="2000" dirty="0"/>
                            <a:t>A human expert or oracle model may be capable of success</a:t>
                          </a:r>
                        </a:p>
                      </a:txBody>
                      <a:tcPr/>
                    </a:tc>
                    <a:extLst>
                      <a:ext uri="{0D108BD9-81ED-4DB2-BD59-A6C34878D82A}">
                        <a16:rowId xmlns:a16="http://schemas.microsoft.com/office/drawing/2014/main" val="976865607"/>
                      </a:ext>
                    </a:extLst>
                  </a:tr>
                  <a:tr h="370840">
                    <a:tc>
                      <a:txBody>
                        <a:bodyPr/>
                        <a:lstStyle/>
                        <a:p>
                          <a:r>
                            <a:rPr lang="en-US" sz="2000" dirty="0"/>
                            <a:t>Right response</a:t>
                          </a:r>
                        </a:p>
                      </a:txBody>
                      <a:tcPr/>
                    </a:tc>
                    <a:tc>
                      <a:txBody>
                        <a:bodyPr/>
                        <a:lstStyle/>
                        <a:p>
                          <a:r>
                            <a:rPr lang="en-US" sz="2000" dirty="0"/>
                            <a:t>Change the sensor, the geometry, or the CONOPS</a:t>
                          </a:r>
                        </a:p>
                      </a:txBody>
                      <a:tcPr/>
                    </a:tc>
                    <a:tc>
                      <a:txBody>
                        <a:bodyPr/>
                        <a:lstStyle/>
                        <a:p>
                          <a:r>
                            <a:rPr lang="en-US" sz="2000" b="1" dirty="0"/>
                            <a:t>Change the representation</a:t>
                          </a:r>
                        </a:p>
                      </a:txBody>
                      <a:tcPr/>
                    </a:tc>
                    <a:extLst>
                      <a:ext uri="{0D108BD9-81ED-4DB2-BD59-A6C34878D82A}">
                        <a16:rowId xmlns:a16="http://schemas.microsoft.com/office/drawing/2014/main" val="52650716"/>
                      </a:ext>
                    </a:extLst>
                  </a:tr>
                </a:tbl>
              </a:graphicData>
            </a:graphic>
          </p:graphicFrame>
        </mc:Choice>
        <mc:Fallback xmlns="">
          <p:graphicFrame>
            <p:nvGraphicFramePr>
              <p:cNvPr id="3" name="Table 2">
                <a:extLst>
                  <a:ext uri="{FF2B5EF4-FFF2-40B4-BE49-F238E27FC236}">
                    <a16:creationId xmlns:a16="http://schemas.microsoft.com/office/drawing/2014/main" id="{E38D675C-0D6B-A844-D13F-0D2F9D6215C6}"/>
                  </a:ext>
                </a:extLst>
              </p:cNvPr>
              <p:cNvGraphicFramePr>
                <a:graphicFrameLocks noGrp="1"/>
              </p:cNvGraphicFramePr>
              <p:nvPr>
                <p:extLst>
                  <p:ext uri="{D42A27DB-BD31-4B8C-83A1-F6EECF244321}">
                    <p14:modId xmlns:p14="http://schemas.microsoft.com/office/powerpoint/2010/main" val="17450197"/>
                  </p:ext>
                </p:extLst>
              </p:nvPr>
            </p:nvGraphicFramePr>
            <p:xfrm>
              <a:off x="590309" y="1321482"/>
              <a:ext cx="11141907" cy="4297680"/>
            </p:xfrm>
            <a:graphic>
              <a:graphicData uri="http://schemas.openxmlformats.org/drawingml/2006/table">
                <a:tbl>
                  <a:tblPr firstRow="1" bandRow="1">
                    <a:tableStyleId>{5C22544A-7EE6-4342-B048-85BDC9FD1C3A}</a:tableStyleId>
                  </a:tblPr>
                  <a:tblGrid>
                    <a:gridCol w="3713969">
                      <a:extLst>
                        <a:ext uri="{9D8B030D-6E8A-4147-A177-3AD203B41FA5}">
                          <a16:colId xmlns:a16="http://schemas.microsoft.com/office/drawing/2014/main" val="3342070200"/>
                        </a:ext>
                      </a:extLst>
                    </a:gridCol>
                    <a:gridCol w="3713969">
                      <a:extLst>
                        <a:ext uri="{9D8B030D-6E8A-4147-A177-3AD203B41FA5}">
                          <a16:colId xmlns:a16="http://schemas.microsoft.com/office/drawing/2014/main" val="3894307511"/>
                        </a:ext>
                      </a:extLst>
                    </a:gridCol>
                    <a:gridCol w="3713969">
                      <a:extLst>
                        <a:ext uri="{9D8B030D-6E8A-4147-A177-3AD203B41FA5}">
                          <a16:colId xmlns:a16="http://schemas.microsoft.com/office/drawing/2014/main" val="3413918700"/>
                        </a:ext>
                      </a:extLst>
                    </a:gridCol>
                  </a:tblGrid>
                  <a:tr h="396240">
                    <a:tc>
                      <a:txBody>
                        <a:bodyPr/>
                        <a:lstStyle/>
                        <a:p>
                          <a:endParaRPr lang="en-US" sz="2000" dirty="0"/>
                        </a:p>
                      </a:txBody>
                      <a:tcPr/>
                    </a:tc>
                    <a:tc>
                      <a:txBody>
                        <a:bodyPr/>
                        <a:lstStyle/>
                        <a:p>
                          <a:pPr algn="ctr"/>
                          <a:r>
                            <a:rPr lang="en-US" sz="2000" dirty="0"/>
                            <a:t>Signal Loss</a:t>
                          </a:r>
                        </a:p>
                      </a:txBody>
                      <a:tcPr/>
                    </a:tc>
                    <a:tc>
                      <a:txBody>
                        <a:bodyPr/>
                        <a:lstStyle/>
                        <a:p>
                          <a:pPr algn="ctr"/>
                          <a:r>
                            <a:rPr lang="en-US" sz="2000" dirty="0"/>
                            <a:t>Nuisance Entanglement</a:t>
                          </a:r>
                        </a:p>
                      </a:txBody>
                      <a:tcPr/>
                    </a:tc>
                    <a:extLst>
                      <a:ext uri="{0D108BD9-81ED-4DB2-BD59-A6C34878D82A}">
                        <a16:rowId xmlns:a16="http://schemas.microsoft.com/office/drawing/2014/main" val="4064523711"/>
                      </a:ext>
                    </a:extLst>
                  </a:tr>
                  <a:tr h="701040">
                    <a:tc>
                      <a:txBody>
                        <a:bodyPr/>
                        <a:lstStyle/>
                        <a:p>
                          <a:r>
                            <a:rPr lang="en-US" sz="2000" dirty="0"/>
                            <a:t>What happened</a:t>
                          </a:r>
                        </a:p>
                      </a:txBody>
                      <a:tcPr/>
                    </a:tc>
                    <a:tc>
                      <a:txBody>
                        <a:bodyPr/>
                        <a:lstStyle/>
                        <a:p>
                          <a:r>
                            <a:rPr lang="en-US" sz="2000" dirty="0"/>
                            <a:t>Identity information </a:t>
                          </a:r>
                          <a:r>
                            <a:rPr lang="en-US" sz="2000" b="1" dirty="0"/>
                            <a:t>is not in the pixels</a:t>
                          </a:r>
                        </a:p>
                      </a:txBody>
                      <a:tcPr/>
                    </a:tc>
                    <a:tc>
                      <a:txBody>
                        <a:bodyPr/>
                        <a:lstStyle/>
                        <a:p>
                          <a:endParaRPr lang="en-US"/>
                        </a:p>
                      </a:txBody>
                      <a:tcPr>
                        <a:blipFill>
                          <a:blip r:embed="rId3"/>
                          <a:stretch>
                            <a:fillRect l="-200000" t="-60714" r="-683" b="-466071"/>
                          </a:stretch>
                        </a:blipFill>
                      </a:tcPr>
                    </a:tc>
                    <a:extLst>
                      <a:ext uri="{0D108BD9-81ED-4DB2-BD59-A6C34878D82A}">
                        <a16:rowId xmlns:a16="http://schemas.microsoft.com/office/drawing/2014/main" val="1684690695"/>
                      </a:ext>
                    </a:extLst>
                  </a:tr>
                  <a:tr h="396240">
                    <a:tc>
                      <a:txBody>
                        <a:bodyPr/>
                        <a:lstStyle/>
                        <a:p>
                          <a:r>
                            <a:rPr lang="en-US" sz="2000" dirty="0"/>
                            <a:t>Where problem originates</a:t>
                          </a:r>
                        </a:p>
                      </a:txBody>
                      <a:tcPr/>
                    </a:tc>
                    <a:tc>
                      <a:txBody>
                        <a:bodyPr/>
                        <a:lstStyle/>
                        <a:p>
                          <a:r>
                            <a:rPr lang="en-US" sz="2000" dirty="0"/>
                            <a:t>Acquisition</a:t>
                          </a:r>
                        </a:p>
                      </a:txBody>
                      <a:tcPr/>
                    </a:tc>
                    <a:tc>
                      <a:txBody>
                        <a:bodyPr/>
                        <a:lstStyle/>
                        <a:p>
                          <a:r>
                            <a:rPr lang="en-US" sz="2000" dirty="0"/>
                            <a:t>Representation</a:t>
                          </a:r>
                        </a:p>
                      </a:txBody>
                      <a:tcPr/>
                    </a:tc>
                    <a:extLst>
                      <a:ext uri="{0D108BD9-81ED-4DB2-BD59-A6C34878D82A}">
                        <a16:rowId xmlns:a16="http://schemas.microsoft.com/office/drawing/2014/main" val="3119859173"/>
                      </a:ext>
                    </a:extLst>
                  </a:tr>
                  <a:tr h="701040">
                    <a:tc>
                      <a:txBody>
                        <a:bodyPr/>
                        <a:lstStyle/>
                        <a:p>
                          <a:r>
                            <a:rPr lang="en-US" sz="2000" dirty="0"/>
                            <a:t>Example</a:t>
                          </a:r>
                        </a:p>
                      </a:txBody>
                      <a:tcPr/>
                    </a:tc>
                    <a:tc>
                      <a:txBody>
                        <a:bodyPr/>
                        <a:lstStyle/>
                        <a:p>
                          <a:r>
                            <a:rPr lang="en-US" sz="2000" dirty="0"/>
                            <a:t>1-5 pixel face, motion blurred beyond recovery</a:t>
                          </a:r>
                        </a:p>
                      </a:txBody>
                      <a:tcPr/>
                    </a:tc>
                    <a:tc>
                      <a:txBody>
                        <a:bodyPr/>
                        <a:lstStyle/>
                        <a:p>
                          <a:r>
                            <a:rPr lang="en-US" sz="2000" b="0" i="0" kern="1200" dirty="0">
                              <a:solidFill>
                                <a:schemeClr val="dk1"/>
                              </a:solidFill>
                              <a:effectLst/>
                              <a:latin typeface="+mn-lt"/>
                              <a:ea typeface="+mn-ea"/>
                              <a:cs typeface="+mn-cs"/>
                            </a:rPr>
                            <a:t>Same person, sharp, but thermal instead of visible</a:t>
                          </a:r>
                          <a:endParaRPr lang="en-US" sz="2000" dirty="0"/>
                        </a:p>
                      </a:txBody>
                      <a:tcPr/>
                    </a:tc>
                    <a:extLst>
                      <a:ext uri="{0D108BD9-81ED-4DB2-BD59-A6C34878D82A}">
                        <a16:rowId xmlns:a16="http://schemas.microsoft.com/office/drawing/2014/main" val="876369925"/>
                      </a:ext>
                    </a:extLst>
                  </a:tr>
                  <a:tr h="701040">
                    <a:tc>
                      <a:txBody>
                        <a:bodyPr/>
                        <a:lstStyle/>
                        <a:p>
                          <a:r>
                            <a:rPr lang="en-US" sz="2000" dirty="0"/>
                            <a:t>Fixable by better training</a:t>
                          </a:r>
                        </a:p>
                      </a:txBody>
                      <a:tcPr/>
                    </a:tc>
                    <a:tc>
                      <a:txBody>
                        <a:bodyPr/>
                        <a:lstStyle/>
                        <a:p>
                          <a:r>
                            <a:rPr lang="en-US" sz="2000" b="1" dirty="0"/>
                            <a:t>No </a:t>
                          </a:r>
                          <a:r>
                            <a:rPr lang="en-US" sz="2000" b="0" dirty="0"/>
                            <a:t>— information-theoretic floor</a:t>
                          </a:r>
                        </a:p>
                      </a:txBody>
                      <a:tcPr/>
                    </a:tc>
                    <a:tc>
                      <a:txBody>
                        <a:bodyPr/>
                        <a:lstStyle/>
                        <a:p>
                          <a:r>
                            <a:rPr lang="en-US" sz="2000" b="1" i="0" kern="1200" dirty="0">
                              <a:solidFill>
                                <a:schemeClr val="dk1"/>
                              </a:solidFill>
                              <a:effectLst/>
                              <a:latin typeface="+mn-lt"/>
                              <a:ea typeface="+mn-ea"/>
                              <a:cs typeface="+mn-cs"/>
                            </a:rPr>
                            <a:t>Yes, in principle</a:t>
                          </a:r>
                          <a:r>
                            <a:rPr lang="en-US" sz="2000" b="0" i="0" kern="1200" dirty="0">
                              <a:solidFill>
                                <a:schemeClr val="dk1"/>
                              </a:solidFill>
                              <a:effectLst/>
                              <a:latin typeface="+mn-lt"/>
                              <a:ea typeface="+mn-ea"/>
                              <a:cs typeface="+mn-cs"/>
                            </a:rPr>
                            <a:t> — Week 8</a:t>
                          </a:r>
                          <a:endParaRPr lang="en-US" sz="2000" dirty="0"/>
                        </a:p>
                      </a:txBody>
                      <a:tcPr/>
                    </a:tc>
                    <a:extLst>
                      <a:ext uri="{0D108BD9-81ED-4DB2-BD59-A6C34878D82A}">
                        <a16:rowId xmlns:a16="http://schemas.microsoft.com/office/drawing/2014/main" val="367548698"/>
                      </a:ext>
                    </a:extLst>
                  </a:tr>
                  <a:tr h="701040">
                    <a:tc>
                      <a:txBody>
                        <a:bodyPr/>
                        <a:lstStyle/>
                        <a:p>
                          <a:r>
                            <a:rPr lang="en-US" sz="2000" dirty="0"/>
                            <a:t>Diagnostic </a:t>
                          </a:r>
                        </a:p>
                      </a:txBody>
                      <a:tcPr/>
                    </a:tc>
                    <a:tc>
                      <a:txBody>
                        <a:bodyPr/>
                        <a:lstStyle/>
                        <a:p>
                          <a:r>
                            <a:rPr lang="en-US" sz="2000" dirty="0"/>
                            <a:t>Human experts fail, AI/ML algorithms overfit garbage/noise</a:t>
                          </a:r>
                        </a:p>
                      </a:txBody>
                      <a:tcPr/>
                    </a:tc>
                    <a:tc>
                      <a:txBody>
                        <a:bodyPr/>
                        <a:lstStyle/>
                        <a:p>
                          <a:r>
                            <a:rPr lang="en-US" sz="2000" dirty="0"/>
                            <a:t>A human expert or oracle model may be capable of success</a:t>
                          </a:r>
                        </a:p>
                      </a:txBody>
                      <a:tcPr/>
                    </a:tc>
                    <a:extLst>
                      <a:ext uri="{0D108BD9-81ED-4DB2-BD59-A6C34878D82A}">
                        <a16:rowId xmlns:a16="http://schemas.microsoft.com/office/drawing/2014/main" val="976865607"/>
                      </a:ext>
                    </a:extLst>
                  </a:tr>
                  <a:tr h="701040">
                    <a:tc>
                      <a:txBody>
                        <a:bodyPr/>
                        <a:lstStyle/>
                        <a:p>
                          <a:r>
                            <a:rPr lang="en-US" sz="2000" dirty="0"/>
                            <a:t>Right response</a:t>
                          </a:r>
                        </a:p>
                      </a:txBody>
                      <a:tcPr/>
                    </a:tc>
                    <a:tc>
                      <a:txBody>
                        <a:bodyPr/>
                        <a:lstStyle/>
                        <a:p>
                          <a:r>
                            <a:rPr lang="en-US" sz="2000" dirty="0"/>
                            <a:t>Change the sensor, the geometry, or the CONOPS</a:t>
                          </a:r>
                        </a:p>
                      </a:txBody>
                      <a:tcPr/>
                    </a:tc>
                    <a:tc>
                      <a:txBody>
                        <a:bodyPr/>
                        <a:lstStyle/>
                        <a:p>
                          <a:r>
                            <a:rPr lang="en-US" sz="2000" b="1" dirty="0"/>
                            <a:t>Change the representation</a:t>
                          </a:r>
                        </a:p>
                      </a:txBody>
                      <a:tcPr/>
                    </a:tc>
                    <a:extLst>
                      <a:ext uri="{0D108BD9-81ED-4DB2-BD59-A6C34878D82A}">
                        <a16:rowId xmlns:a16="http://schemas.microsoft.com/office/drawing/2014/main" val="52650716"/>
                      </a:ext>
                    </a:extLst>
                  </a:tr>
                </a:tbl>
              </a:graphicData>
            </a:graphic>
          </p:graphicFrame>
        </mc:Fallback>
      </mc:AlternateContent>
      <p:sp>
        <p:nvSpPr>
          <p:cNvPr id="4" name="Rectangle 3">
            <a:extLst>
              <a:ext uri="{FF2B5EF4-FFF2-40B4-BE49-F238E27FC236}">
                <a16:creationId xmlns:a16="http://schemas.microsoft.com/office/drawing/2014/main" id="{D8CF5224-3A64-4841-4241-9796F97C3E24}"/>
              </a:ext>
            </a:extLst>
          </p:cNvPr>
          <p:cNvSpPr/>
          <p:nvPr/>
        </p:nvSpPr>
        <p:spPr>
          <a:xfrm>
            <a:off x="8028122" y="1321481"/>
            <a:ext cx="3704094" cy="4297681"/>
          </a:xfrm>
          <a:prstGeom prst="rect">
            <a:avLst/>
          </a:prstGeom>
          <a:solidFill>
            <a:srgbClr val="FFFF00">
              <a:alpha val="4981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3578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60821-D004-37E9-40F9-BC7105F5BFE6}"/>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1A5FFE75-3C97-FE82-446D-33F82663FAA7}"/>
              </a:ext>
            </a:extLst>
          </p:cNvPr>
          <p:cNvSpPr>
            <a:spLocks noGrp="1"/>
          </p:cNvSpPr>
          <p:nvPr>
            <p:ph type="sldNum" sz="quarter" idx="12"/>
          </p:nvPr>
        </p:nvSpPr>
        <p:spPr/>
        <p:txBody>
          <a:bodyPr/>
          <a:lstStyle/>
          <a:p>
            <a:fld id="{659B2F21-D912-7541-8ED2-FD6ABD90B685}" type="slidenum">
              <a:rPr lang="en-US" smtClean="0"/>
              <a:t>18</a:t>
            </a:fld>
            <a:endParaRPr lang="en-US"/>
          </a:p>
        </p:txBody>
      </p:sp>
      <p:sp>
        <p:nvSpPr>
          <p:cNvPr id="2" name="TextBox 1">
            <a:extLst>
              <a:ext uri="{FF2B5EF4-FFF2-40B4-BE49-F238E27FC236}">
                <a16:creationId xmlns:a16="http://schemas.microsoft.com/office/drawing/2014/main" id="{DFFFC472-58B5-7F89-BE5F-296B9C6E155C}"/>
              </a:ext>
            </a:extLst>
          </p:cNvPr>
          <p:cNvSpPr txBox="1"/>
          <p:nvPr/>
        </p:nvSpPr>
        <p:spPr>
          <a:xfrm>
            <a:off x="590310" y="486009"/>
            <a:ext cx="10995948" cy="1323439"/>
          </a:xfrm>
          <a:prstGeom prst="rect">
            <a:avLst/>
          </a:prstGeom>
          <a:noFill/>
        </p:spPr>
        <p:txBody>
          <a:bodyPr wrap="square" rtlCol="0">
            <a:spAutoFit/>
          </a:bodyPr>
          <a:lstStyle/>
          <a:p>
            <a:r>
              <a:rPr lang="en-US" sz="4000" b="1" dirty="0">
                <a:solidFill>
                  <a:srgbClr val="0070C0"/>
                </a:solidFill>
              </a:rPr>
              <a:t>Counter-Intuitive: Degradation Creates Spurious Clusters</a:t>
            </a:r>
          </a:p>
        </p:txBody>
      </p:sp>
      <p:sp>
        <p:nvSpPr>
          <p:cNvPr id="5" name="TextBox 4">
            <a:extLst>
              <a:ext uri="{FF2B5EF4-FFF2-40B4-BE49-F238E27FC236}">
                <a16:creationId xmlns:a16="http://schemas.microsoft.com/office/drawing/2014/main" id="{799A33EA-99F4-1563-57CE-904A7DDD62C3}"/>
              </a:ext>
            </a:extLst>
          </p:cNvPr>
          <p:cNvSpPr txBox="1"/>
          <p:nvPr/>
        </p:nvSpPr>
        <p:spPr>
          <a:xfrm>
            <a:off x="590310" y="2010926"/>
            <a:ext cx="7279072" cy="830997"/>
          </a:xfrm>
          <a:prstGeom prst="rect">
            <a:avLst/>
          </a:prstGeom>
          <a:noFill/>
        </p:spPr>
        <p:txBody>
          <a:bodyPr wrap="square">
            <a:spAutoFit/>
          </a:bodyPr>
          <a:lstStyle/>
          <a:p>
            <a:r>
              <a:rPr lang="en-US" sz="2400" dirty="0">
                <a:solidFill>
                  <a:srgbClr val="0070C0"/>
                </a:solidFill>
              </a:rPr>
              <a:t>Naive intuition</a:t>
            </a:r>
            <a:r>
              <a:rPr lang="en-US" sz="2400" dirty="0"/>
              <a:t>: degradation adds noise, embeddings scatter randomly, genuine scores fall. </a:t>
            </a:r>
            <a:r>
              <a:rPr lang="en-US" sz="2400" b="1" i="1" dirty="0"/>
              <a:t>Only half right</a:t>
            </a:r>
            <a:r>
              <a:rPr lang="en-US" sz="2400" b="1" dirty="0"/>
              <a:t>.</a:t>
            </a:r>
            <a:endParaRPr lang="en-US" sz="2400" b="1" i="0" dirty="0">
              <a:solidFill>
                <a:srgbClr val="161C24"/>
              </a:solidFill>
              <a:effectLst/>
              <a:latin typeface="-apple-system"/>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AD7DBFD-BD8B-1251-41CE-F25C5E9B4456}"/>
                  </a:ext>
                </a:extLst>
              </p:cNvPr>
              <p:cNvSpPr txBox="1"/>
              <p:nvPr/>
            </p:nvSpPr>
            <p:spPr>
              <a:xfrm>
                <a:off x="590310" y="3429000"/>
                <a:ext cx="7127846" cy="2308324"/>
              </a:xfrm>
              <a:prstGeom prst="rect">
                <a:avLst/>
              </a:prstGeom>
              <a:noFill/>
            </p:spPr>
            <p:txBody>
              <a:bodyPr wrap="square">
                <a:spAutoFit/>
              </a:bodyPr>
              <a:lstStyle/>
              <a:p>
                <a:r>
                  <a:rPr lang="en-US" sz="2400" b="0" i="0" dirty="0">
                    <a:solidFill>
                      <a:srgbClr val="0070C0"/>
                    </a:solidFill>
                    <a:effectLst/>
                  </a:rPr>
                  <a:t>What actually happens</a:t>
                </a:r>
                <a:r>
                  <a:rPr lang="en-US" sz="2400" b="0" i="0" dirty="0">
                    <a:solidFill>
                      <a:schemeClr val="tx1"/>
                    </a:solidFill>
                    <a:effectLst/>
                  </a:rPr>
                  <a:t>: degraded images of </a:t>
                </a:r>
                <a:r>
                  <a:rPr lang="en-US" sz="2400" b="0" i="1" dirty="0">
                    <a:solidFill>
                      <a:schemeClr val="tx1"/>
                    </a:solidFill>
                    <a:effectLst/>
                  </a:rPr>
                  <a:t>different people</a:t>
                </a:r>
                <a:r>
                  <a:rPr lang="en-US" sz="2400" b="0" i="0" dirty="0">
                    <a:solidFill>
                      <a:schemeClr val="tx1"/>
                    </a:solidFill>
                    <a:effectLst/>
                  </a:rPr>
                  <a:t> collapse toward a shared region of embedding space — a "low-quality manifold." </a:t>
                </a:r>
                <a:br>
                  <a:rPr lang="en-US" sz="2400" b="0" i="0" dirty="0">
                    <a:solidFill>
                      <a:schemeClr val="tx1"/>
                    </a:solidFill>
                    <a:effectLst/>
                  </a:rPr>
                </a:br>
                <a:br>
                  <a:rPr lang="en-US" sz="2400" b="0" i="0" dirty="0">
                    <a:solidFill>
                      <a:schemeClr val="tx1"/>
                    </a:solidFill>
                    <a:effectLst/>
                  </a:rPr>
                </a:br>
                <a:r>
                  <a:rPr lang="en-US" sz="2400" b="0" i="0" dirty="0">
                    <a:solidFill>
                      <a:schemeClr val="tx1"/>
                    </a:solidFill>
                    <a:effectLst/>
                  </a:rPr>
                  <a:t>The dominant variation captured by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i="1">
                            <a:latin typeface="Cambria Math" panose="02040503050406030204" pitchFamily="18" charset="0"/>
                          </a:rPr>
                          <m:t>𝜃</m:t>
                        </m:r>
                      </m:sub>
                    </m:sSub>
                  </m:oMath>
                </a14:m>
                <a:r>
                  <a:rPr lang="en-US" sz="2400" b="0" i="0" dirty="0">
                    <a:solidFill>
                      <a:schemeClr val="tx1"/>
                    </a:solidFill>
                    <a:effectLst/>
                  </a:rPr>
                  <a:t> becomes the degradation, not the identity.</a:t>
                </a:r>
                <a:endParaRPr lang="en-US" sz="2400" dirty="0"/>
              </a:p>
            </p:txBody>
          </p:sp>
        </mc:Choice>
        <mc:Fallback xmlns="">
          <p:sp>
            <p:nvSpPr>
              <p:cNvPr id="4" name="TextBox 3">
                <a:extLst>
                  <a:ext uri="{FF2B5EF4-FFF2-40B4-BE49-F238E27FC236}">
                    <a16:creationId xmlns:a16="http://schemas.microsoft.com/office/drawing/2014/main" id="{5AD7DBFD-BD8B-1251-41CE-F25C5E9B4456}"/>
                  </a:ext>
                </a:extLst>
              </p:cNvPr>
              <p:cNvSpPr txBox="1">
                <a:spLocks noRot="1" noChangeAspect="1" noMove="1" noResize="1" noEditPoints="1" noAdjustHandles="1" noChangeArrowheads="1" noChangeShapeType="1" noTextEdit="1"/>
              </p:cNvSpPr>
              <p:nvPr/>
            </p:nvSpPr>
            <p:spPr>
              <a:xfrm>
                <a:off x="590310" y="3429000"/>
                <a:ext cx="7127846" cy="2308324"/>
              </a:xfrm>
              <a:prstGeom prst="rect">
                <a:avLst/>
              </a:prstGeom>
              <a:blipFill>
                <a:blip r:embed="rId3"/>
                <a:stretch>
                  <a:fillRect l="-1423" t="-2747" r="-1601" b="-5495"/>
                </a:stretch>
              </a:blipFill>
            </p:spPr>
            <p:txBody>
              <a:bodyPr/>
              <a:lstStyle/>
              <a:p>
                <a:r>
                  <a:rPr lang="en-US">
                    <a:noFill/>
                  </a:rPr>
                  <a:t> </a:t>
                </a:r>
              </a:p>
            </p:txBody>
          </p:sp>
        </mc:Fallback>
      </mc:AlternateContent>
    </p:spTree>
    <p:extLst>
      <p:ext uri="{BB962C8B-B14F-4D97-AF65-F5344CB8AC3E}">
        <p14:creationId xmlns:p14="http://schemas.microsoft.com/office/powerpoint/2010/main" val="2638998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1F12B-8533-9C9F-288A-6541F8EF8A43}"/>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4544C7DA-6C51-98D7-89EE-0A66B3F0135F}"/>
              </a:ext>
            </a:extLst>
          </p:cNvPr>
          <p:cNvSpPr>
            <a:spLocks noGrp="1"/>
          </p:cNvSpPr>
          <p:nvPr>
            <p:ph type="sldNum" sz="quarter" idx="12"/>
          </p:nvPr>
        </p:nvSpPr>
        <p:spPr/>
        <p:txBody>
          <a:bodyPr/>
          <a:lstStyle/>
          <a:p>
            <a:fld id="{659B2F21-D912-7541-8ED2-FD6ABD90B685}" type="slidenum">
              <a:rPr lang="en-US" smtClean="0"/>
              <a:t>19</a:t>
            </a:fld>
            <a:endParaRPr lang="en-US"/>
          </a:p>
        </p:txBody>
      </p:sp>
      <p:sp>
        <p:nvSpPr>
          <p:cNvPr id="2" name="TextBox 1">
            <a:extLst>
              <a:ext uri="{FF2B5EF4-FFF2-40B4-BE49-F238E27FC236}">
                <a16:creationId xmlns:a16="http://schemas.microsoft.com/office/drawing/2014/main" id="{088BC5A7-79D3-8E17-937D-2E523AA2DBE4}"/>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Enrollment Asymmetry</a:t>
            </a:r>
          </a:p>
        </p:txBody>
      </p:sp>
      <p:sp>
        <p:nvSpPr>
          <p:cNvPr id="5" name="TextBox 4">
            <a:extLst>
              <a:ext uri="{FF2B5EF4-FFF2-40B4-BE49-F238E27FC236}">
                <a16:creationId xmlns:a16="http://schemas.microsoft.com/office/drawing/2014/main" id="{4C6C151D-E9B3-D25B-A3FE-FB15F93667AD}"/>
              </a:ext>
            </a:extLst>
          </p:cNvPr>
          <p:cNvSpPr txBox="1"/>
          <p:nvPr/>
        </p:nvSpPr>
        <p:spPr>
          <a:xfrm>
            <a:off x="514697" y="1344499"/>
            <a:ext cx="10628584" cy="2708434"/>
          </a:xfrm>
          <a:prstGeom prst="rect">
            <a:avLst/>
          </a:prstGeom>
          <a:noFill/>
        </p:spPr>
        <p:txBody>
          <a:bodyPr wrap="square">
            <a:spAutoFit/>
          </a:bodyPr>
          <a:lstStyle/>
          <a:p>
            <a:r>
              <a:rPr lang="en-US" sz="3200" b="1" dirty="0"/>
              <a:t>Operational Geometry</a:t>
            </a:r>
            <a:br>
              <a:rPr lang="en-US" b="1" dirty="0"/>
            </a:br>
            <a:endParaRPr lang="en-US" dirty="0"/>
          </a:p>
          <a:p>
            <a:pPr marL="285750" lvl="0" indent="-285750">
              <a:buFont typeface="Arial" panose="020B0604020202020204" pitchFamily="34" charset="0"/>
              <a:buChar char="•"/>
            </a:pPr>
            <a:r>
              <a:rPr lang="en-US" sz="2400" b="1" dirty="0"/>
              <a:t>Gallery:</a:t>
            </a:r>
            <a:r>
              <a:rPr lang="en-US" sz="2400" dirty="0"/>
              <a:t> indoor, controlled, cooperative, high-resolution, multiple poses, frontal</a:t>
            </a:r>
          </a:p>
          <a:p>
            <a:pPr marL="285750" lvl="0" indent="-285750">
              <a:buFont typeface="Arial" panose="020B0604020202020204" pitchFamily="34" charset="0"/>
              <a:buChar char="•"/>
            </a:pPr>
            <a:r>
              <a:rPr lang="en-US" sz="2400" b="1" dirty="0"/>
              <a:t>Probe:</a:t>
            </a:r>
            <a:r>
              <a:rPr lang="en-US" sz="2400" dirty="0"/>
              <a:t> outdoor, long range, uncooperative, low-resolution, arbitrary pose, possibly airborne</a:t>
            </a:r>
          </a:p>
          <a:p>
            <a:endParaRPr lang="en-US" sz="2400" b="1" i="0" dirty="0">
              <a:solidFill>
                <a:srgbClr val="161C24"/>
              </a:solidFill>
              <a:effectLst/>
              <a:latin typeface="-apple-system"/>
            </a:endParaRPr>
          </a:p>
        </p:txBody>
      </p:sp>
      <p:sp>
        <p:nvSpPr>
          <p:cNvPr id="3" name="Rounded Rectangle 2">
            <a:extLst>
              <a:ext uri="{FF2B5EF4-FFF2-40B4-BE49-F238E27FC236}">
                <a16:creationId xmlns:a16="http://schemas.microsoft.com/office/drawing/2014/main" id="{408F3C5B-FDFC-3D7E-406D-2684FFC1A588}"/>
              </a:ext>
            </a:extLst>
          </p:cNvPr>
          <p:cNvSpPr/>
          <p:nvPr/>
        </p:nvSpPr>
        <p:spPr>
          <a:xfrm>
            <a:off x="821410" y="4339525"/>
            <a:ext cx="9949912" cy="1518834"/>
          </a:xfrm>
          <a:prstGeom prst="roundRect">
            <a:avLst/>
          </a:prstGeom>
          <a:solidFill>
            <a:schemeClr val="bg1">
              <a:lumMod val="85000"/>
            </a:schemeClr>
          </a:solidFill>
          <a:ln>
            <a:solidFill>
              <a:schemeClr val="tx1"/>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b="1" dirty="0">
                <a:solidFill>
                  <a:srgbClr val="0070C0"/>
                </a:solidFill>
              </a:rPr>
              <a:t>Is the largest axis of variation between the two embeddings identity, or domain?</a:t>
            </a:r>
            <a:endParaRPr lang="en-US" sz="2800" dirty="0">
              <a:solidFill>
                <a:srgbClr val="0070C0"/>
              </a:solidFill>
            </a:endParaRPr>
          </a:p>
        </p:txBody>
      </p:sp>
    </p:spTree>
    <p:extLst>
      <p:ext uri="{BB962C8B-B14F-4D97-AF65-F5344CB8AC3E}">
        <p14:creationId xmlns:p14="http://schemas.microsoft.com/office/powerpoint/2010/main" val="3812601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29509-8B96-F9F1-9067-E175370370E6}"/>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39F34848-F944-B548-3E9B-CC8888DC2C47}"/>
              </a:ext>
            </a:extLst>
          </p:cNvPr>
          <p:cNvSpPr>
            <a:spLocks noGrp="1"/>
          </p:cNvSpPr>
          <p:nvPr>
            <p:ph type="sldNum" sz="quarter" idx="12"/>
          </p:nvPr>
        </p:nvSpPr>
        <p:spPr/>
        <p:txBody>
          <a:bodyPr/>
          <a:lstStyle/>
          <a:p>
            <a:fld id="{659B2F21-D912-7541-8ED2-FD6ABD90B685}" type="slidenum">
              <a:rPr lang="en-US" smtClean="0"/>
              <a:t>20</a:t>
            </a:fld>
            <a:endParaRPr lang="en-US"/>
          </a:p>
        </p:txBody>
      </p:sp>
      <p:sp>
        <p:nvSpPr>
          <p:cNvPr id="2" name="TextBox 1">
            <a:extLst>
              <a:ext uri="{FF2B5EF4-FFF2-40B4-BE49-F238E27FC236}">
                <a16:creationId xmlns:a16="http://schemas.microsoft.com/office/drawing/2014/main" id="{3FB817D0-71F9-24B1-A49B-3BF7894A9CDD}"/>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Revisit </a:t>
            </a:r>
            <a:r>
              <a:rPr lang="en-US" sz="4000" b="1" dirty="0" err="1">
                <a:solidFill>
                  <a:srgbClr val="0070C0"/>
                </a:solidFill>
              </a:rPr>
              <a:t>FaceNet</a:t>
            </a:r>
            <a:endParaRPr lang="en-US" sz="4000" b="1" dirty="0">
              <a:solidFill>
                <a:srgbClr val="0070C0"/>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F6374B-B846-540E-BDEC-2F84D8790295}"/>
                  </a:ext>
                </a:extLst>
              </p:cNvPr>
              <p:cNvSpPr txBox="1"/>
              <p:nvPr/>
            </p:nvSpPr>
            <p:spPr>
              <a:xfrm>
                <a:off x="514697" y="1344499"/>
                <a:ext cx="10628584" cy="4479431"/>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sz="2400" dirty="0"/>
                  <a:t>Triplet loss with hard negative mining: </a:t>
                </a:r>
                <a14:m>
                  <m:oMath xmlns:m="http://schemas.openxmlformats.org/officeDocument/2006/math">
                    <m:r>
                      <a:rPr lang="en-US" sz="2400">
                        <a:latin typeface="Cambria Math" panose="02040503050406030204" pitchFamily="18" charset="0"/>
                      </a:rPr>
                      <m:t>∥</m:t>
                    </m:r>
                    <m:r>
                      <a:rPr lang="en-US" sz="2400" i="1">
                        <a:latin typeface="Cambria Math" panose="02040503050406030204" pitchFamily="18" charset="0"/>
                      </a:rPr>
                      <m:t>𝑓</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𝑎</m:t>
                            </m:r>
                          </m:sup>
                        </m:sSup>
                      </m:e>
                    </m:d>
                    <m:r>
                      <a:rPr lang="en-US" sz="2400">
                        <a:latin typeface="Cambria Math" panose="02040503050406030204" pitchFamily="18" charset="0"/>
                      </a:rPr>
                      <m:t>−</m:t>
                    </m:r>
                    <m:r>
                      <a:rPr lang="en-US" sz="2400" i="1">
                        <a:latin typeface="Cambria Math" panose="02040503050406030204" pitchFamily="18" charset="0"/>
                      </a:rPr>
                      <m:t>𝑓</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𝑝</m:t>
                            </m:r>
                          </m:sup>
                        </m:sSup>
                      </m:e>
                    </m:d>
                    <m:sSup>
                      <m:sSupPr>
                        <m:ctrlPr>
                          <a:rPr lang="en-US" sz="2400">
                            <a:latin typeface="Cambria Math" panose="02040503050406030204" pitchFamily="18" charset="0"/>
                          </a:rPr>
                        </m:ctrlPr>
                      </m:sSupPr>
                      <m:e>
                        <m:r>
                          <a:rPr lang="en-US" sz="2400">
                            <a:latin typeface="Cambria Math" panose="02040503050406030204" pitchFamily="18" charset="0"/>
                          </a:rPr>
                          <m:t>∥</m:t>
                        </m:r>
                      </m:e>
                      <m:sup>
                        <m:r>
                          <a:rPr lang="en-US" sz="2400">
                            <a:latin typeface="Cambria Math" panose="02040503050406030204" pitchFamily="18" charset="0"/>
                          </a:rPr>
                          <m:t>2</m:t>
                        </m:r>
                      </m:sup>
                    </m:sSup>
                    <m:r>
                      <a:rPr lang="en-US" sz="2400">
                        <a:latin typeface="Cambria Math" panose="02040503050406030204" pitchFamily="18" charset="0"/>
                      </a:rPr>
                      <m:t>+</m:t>
                    </m:r>
                    <m:r>
                      <a:rPr lang="en-US" sz="2400" i="1">
                        <a:latin typeface="Cambria Math" panose="02040503050406030204" pitchFamily="18" charset="0"/>
                      </a:rPr>
                      <m:t>𝛼</m:t>
                    </m:r>
                    <m:r>
                      <a:rPr lang="en-US" sz="2400">
                        <a:latin typeface="Cambria Math" panose="02040503050406030204" pitchFamily="18" charset="0"/>
                      </a:rPr>
                      <m:t>&lt;∥</m:t>
                    </m:r>
                    <m:r>
                      <a:rPr lang="en-US" sz="2400" i="1">
                        <a:latin typeface="Cambria Math" panose="02040503050406030204" pitchFamily="18" charset="0"/>
                      </a:rPr>
                      <m:t>𝑓</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𝑎</m:t>
                            </m:r>
                          </m:sup>
                        </m:sSup>
                      </m:e>
                    </m:d>
                    <m:r>
                      <a:rPr lang="en-US" sz="2400">
                        <a:latin typeface="Cambria Math" panose="02040503050406030204" pitchFamily="18" charset="0"/>
                      </a:rPr>
                      <m:t>−</m:t>
                    </m:r>
                    <m:r>
                      <a:rPr lang="en-US" sz="2400" i="1">
                        <a:latin typeface="Cambria Math" panose="02040503050406030204" pitchFamily="18" charset="0"/>
                      </a:rPr>
                      <m:t>𝑓</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𝑥</m:t>
                            </m:r>
                          </m:e>
                          <m:sup>
                            <m:r>
                              <a:rPr lang="en-US" sz="2400" i="1">
                                <a:latin typeface="Cambria Math" panose="02040503050406030204" pitchFamily="18" charset="0"/>
                              </a:rPr>
                              <m:t>𝑛</m:t>
                            </m:r>
                          </m:sup>
                        </m:sSup>
                      </m:e>
                    </m:d>
                    <m:sSup>
                      <m:sSupPr>
                        <m:ctrlPr>
                          <a:rPr lang="en-US" sz="2400">
                            <a:latin typeface="Cambria Math" panose="02040503050406030204" pitchFamily="18" charset="0"/>
                          </a:rPr>
                        </m:ctrlPr>
                      </m:sSupPr>
                      <m:e>
                        <m:r>
                          <a:rPr lang="en-US" sz="2400">
                            <a:latin typeface="Cambria Math" panose="02040503050406030204" pitchFamily="18" charset="0"/>
                          </a:rPr>
                          <m:t>∥</m:t>
                        </m:r>
                      </m:e>
                      <m:sup>
                        <m:r>
                          <a:rPr lang="en-US" sz="2400">
                            <a:latin typeface="Cambria Math" panose="02040503050406030204" pitchFamily="18" charset="0"/>
                          </a:rPr>
                          <m:t>2</m:t>
                        </m:r>
                      </m:sup>
                    </m:sSup>
                  </m:oMath>
                </a14:m>
                <a:endParaRPr lang="en-US" sz="2400" dirty="0"/>
              </a:p>
              <a:p>
                <a:pPr marL="285750" indent="-285750">
                  <a:spcAft>
                    <a:spcPts val="600"/>
                  </a:spcAft>
                  <a:buFont typeface="Arial" panose="020B0604020202020204" pitchFamily="34" charset="0"/>
                  <a:buChar char="•"/>
                </a:pPr>
                <a:r>
                  <a:rPr lang="en-US" sz="2400" b="1" dirty="0"/>
                  <a:t>"Hard" is defined relative to the training distribution.</a:t>
                </a:r>
                <a:r>
                  <a:rPr lang="en-US" sz="2400" dirty="0"/>
                  <a:t> Mining selects the hardest triplets </a:t>
                </a:r>
                <a:r>
                  <a:rPr lang="en-US" sz="2400" i="1" dirty="0"/>
                  <a:t>available in the batch</a:t>
                </a:r>
                <a:r>
                  <a:rPr lang="en-US" sz="2400" dirty="0"/>
                  <a:t> — which come from web-scraped, mostly frontal, mostly well-lit, mostly cooperative imagery.</a:t>
                </a:r>
              </a:p>
              <a:p>
                <a:pPr marL="285750" indent="-285750">
                  <a:spcAft>
                    <a:spcPts val="600"/>
                  </a:spcAft>
                  <a:buFont typeface="Arial" panose="020B0604020202020204" pitchFamily="34" charset="0"/>
                  <a:buChar char="•"/>
                </a:pPr>
                <a:r>
                  <a:rPr lang="en-US" sz="2400" dirty="0"/>
                  <a:t>If deployment hardness is </a:t>
                </a:r>
                <a:r>
                  <a:rPr lang="en-US" sz="2400" b="1" dirty="0"/>
                  <a:t>different in kind</a:t>
                </a:r>
                <a:r>
                  <a:rPr lang="en-US" sz="2400" dirty="0"/>
                  <a:t> rather than merely more extreme, then no amount of mining ever exposed the model to it. The invariances were never requested, so they were never learned.</a:t>
                </a:r>
              </a:p>
              <a:p>
                <a:pPr marL="285750" indent="-285750">
                  <a:spcAft>
                    <a:spcPts val="600"/>
                  </a:spcAft>
                  <a:buFont typeface="Arial" panose="020B0604020202020204" pitchFamily="34" charset="0"/>
                  <a:buChar char="•"/>
                </a:pPr>
                <a:r>
                  <a:rPr lang="en-US" sz="2400" b="1" dirty="0"/>
                  <a:t>Generalized:</a:t>
                </a:r>
                <a:r>
                  <a:rPr lang="en-US" sz="2400" dirty="0"/>
                  <a:t> every learned representation encodes an implicit claim about what varies in the world. Deployment is where that claim gets audited.</a:t>
                </a:r>
              </a:p>
              <a:p>
                <a:endParaRPr lang="en-US" sz="2400" b="1" i="0" dirty="0">
                  <a:solidFill>
                    <a:srgbClr val="161C24"/>
                  </a:solidFill>
                  <a:effectLst/>
                  <a:latin typeface="-apple-system"/>
                </a:endParaRPr>
              </a:p>
            </p:txBody>
          </p:sp>
        </mc:Choice>
        <mc:Fallback xmlns="">
          <p:sp>
            <p:nvSpPr>
              <p:cNvPr id="5" name="TextBox 4">
                <a:extLst>
                  <a:ext uri="{FF2B5EF4-FFF2-40B4-BE49-F238E27FC236}">
                    <a16:creationId xmlns:a16="http://schemas.microsoft.com/office/drawing/2014/main" id="{85F6374B-B846-540E-BDEC-2F84D8790295}"/>
                  </a:ext>
                </a:extLst>
              </p:cNvPr>
              <p:cNvSpPr txBox="1">
                <a:spLocks noRot="1" noChangeAspect="1" noMove="1" noResize="1" noEditPoints="1" noAdjustHandles="1" noChangeArrowheads="1" noChangeShapeType="1" noTextEdit="1"/>
              </p:cNvSpPr>
              <p:nvPr/>
            </p:nvSpPr>
            <p:spPr>
              <a:xfrm>
                <a:off x="514697" y="1344499"/>
                <a:ext cx="10628584" cy="4479431"/>
              </a:xfrm>
              <a:prstGeom prst="rect">
                <a:avLst/>
              </a:prstGeom>
              <a:blipFill>
                <a:blip r:embed="rId3"/>
                <a:stretch>
                  <a:fillRect l="-716" t="-850" r="-239"/>
                </a:stretch>
              </a:blipFill>
            </p:spPr>
            <p:txBody>
              <a:bodyPr/>
              <a:lstStyle/>
              <a:p>
                <a:r>
                  <a:rPr lang="en-US">
                    <a:noFill/>
                  </a:rPr>
                  <a:t> </a:t>
                </a:r>
              </a:p>
            </p:txBody>
          </p:sp>
        </mc:Fallback>
      </mc:AlternateContent>
    </p:spTree>
    <p:extLst>
      <p:ext uri="{BB962C8B-B14F-4D97-AF65-F5344CB8AC3E}">
        <p14:creationId xmlns:p14="http://schemas.microsoft.com/office/powerpoint/2010/main" val="30374766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50A8A-7BB9-BBB8-55D0-D5C3121BAF4D}"/>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C34578A0-1445-D3FF-BA01-2D3709BF607C}"/>
              </a:ext>
            </a:extLst>
          </p:cNvPr>
          <p:cNvSpPr>
            <a:spLocks noGrp="1"/>
          </p:cNvSpPr>
          <p:nvPr>
            <p:ph type="sldNum" sz="quarter" idx="12"/>
          </p:nvPr>
        </p:nvSpPr>
        <p:spPr/>
        <p:txBody>
          <a:bodyPr/>
          <a:lstStyle/>
          <a:p>
            <a:fld id="{659B2F21-D912-7541-8ED2-FD6ABD90B685}" type="slidenum">
              <a:rPr lang="en-US" smtClean="0"/>
              <a:t>21</a:t>
            </a:fld>
            <a:endParaRPr lang="en-US"/>
          </a:p>
        </p:txBody>
      </p:sp>
      <p:sp>
        <p:nvSpPr>
          <p:cNvPr id="2" name="TextBox 1">
            <a:extLst>
              <a:ext uri="{FF2B5EF4-FFF2-40B4-BE49-F238E27FC236}">
                <a16:creationId xmlns:a16="http://schemas.microsoft.com/office/drawing/2014/main" id="{89E17B72-EA5B-650B-693C-6D1F9078D6E0}"/>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Think-Pair-Share</a:t>
            </a:r>
          </a:p>
        </p:txBody>
      </p:sp>
      <p:sp>
        <p:nvSpPr>
          <p:cNvPr id="6" name="TextBox 5">
            <a:extLst>
              <a:ext uri="{FF2B5EF4-FFF2-40B4-BE49-F238E27FC236}">
                <a16:creationId xmlns:a16="http://schemas.microsoft.com/office/drawing/2014/main" id="{128B201D-B10E-3F30-5BDB-BF2D3FA41BF2}"/>
              </a:ext>
            </a:extLst>
          </p:cNvPr>
          <p:cNvSpPr txBox="1"/>
          <p:nvPr/>
        </p:nvSpPr>
        <p:spPr>
          <a:xfrm>
            <a:off x="590310" y="1193895"/>
            <a:ext cx="10995948" cy="5386090"/>
          </a:xfrm>
          <a:prstGeom prst="rect">
            <a:avLst/>
          </a:prstGeom>
          <a:noFill/>
        </p:spPr>
        <p:txBody>
          <a:bodyPr wrap="square" rtlCol="0">
            <a:spAutoFit/>
          </a:bodyPr>
          <a:lstStyle/>
          <a:p>
            <a:r>
              <a:rPr lang="en-US" sz="2800" b="1" dirty="0"/>
              <a:t>Scenario</a:t>
            </a:r>
            <a:br>
              <a:rPr lang="en-US" sz="2800" b="1" dirty="0"/>
            </a:br>
            <a:r>
              <a:rPr lang="en-US" sz="2400" dirty="0"/>
              <a:t>A whole-body biometric system (face + body + gait, score-level fusion) is evaluated as follows:</a:t>
            </a:r>
          </a:p>
          <a:p>
            <a:pPr marL="342900" lvl="0" indent="-342900">
              <a:buFont typeface="Arial" panose="020B0604020202020204" pitchFamily="34" charset="0"/>
              <a:buChar char="•"/>
            </a:pPr>
            <a:r>
              <a:rPr lang="en-US" sz="2400" b="1" dirty="0"/>
              <a:t>Gallery:</a:t>
            </a:r>
            <a:r>
              <a:rPr lang="en-US" sz="2400" dirty="0"/>
              <a:t> controlled indoor imagery — face from 5 angles, whole body from 8 angles, plus walking sequences</a:t>
            </a:r>
          </a:p>
          <a:p>
            <a:pPr marL="342900" lvl="0" indent="-342900">
              <a:buFont typeface="Arial" panose="020B0604020202020204" pitchFamily="34" charset="0"/>
              <a:buChar char="•"/>
            </a:pPr>
            <a:r>
              <a:rPr lang="en-US" sz="2400" b="1" dirty="0"/>
              <a:t>Probes:</a:t>
            </a:r>
            <a:r>
              <a:rPr lang="en-US" sz="2400" dirty="0"/>
              <a:t> 5–15 s outdoor video of subjects performing ordinary activities</a:t>
            </a:r>
          </a:p>
          <a:p>
            <a:pPr marL="342900" lvl="0" indent="-342900">
              <a:buFont typeface="Arial" panose="020B0604020202020204" pitchFamily="34" charset="0"/>
              <a:buChar char="•"/>
            </a:pPr>
            <a:r>
              <a:rPr lang="en-US" sz="2400" b="1" dirty="0"/>
              <a:t>Conditions:</a:t>
            </a:r>
            <a:r>
              <a:rPr lang="en-US" sz="2400" dirty="0"/>
              <a:t> ranges from close-range out to 1000 m; ground-level, mast-elevated, and UAV-mounted cameras; four collection sites across the US, across all seasons</a:t>
            </a:r>
          </a:p>
          <a:p>
            <a:pPr marL="342900" lvl="0" indent="-342900">
              <a:buFont typeface="Arial" panose="020B0604020202020204" pitchFamily="34" charset="0"/>
              <a:buChar char="•"/>
            </a:pPr>
            <a:r>
              <a:rPr lang="en-US" sz="2400" b="1" dirty="0"/>
              <a:t>Systems:</a:t>
            </a:r>
            <a:r>
              <a:rPr lang="en-US" sz="2400" dirty="0"/>
              <a:t> five independently developed state-of-the-art algorithms</a:t>
            </a:r>
          </a:p>
          <a:p>
            <a:br>
              <a:rPr lang="en-US" sz="2400" dirty="0"/>
            </a:br>
            <a:r>
              <a:rPr lang="en-US" sz="2400" dirty="0"/>
              <a:t>Performance is summarized as </a:t>
            </a:r>
            <a:r>
              <a:rPr lang="en-US" sz="2400" b="1" dirty="0"/>
              <a:t>order-of-magnitude change in FAR at fixed TAR.</a:t>
            </a:r>
            <a:r>
              <a:rPr lang="en-US" sz="2400" dirty="0"/>
              <a:t> A change of +1.0 means ten times more false accepts.</a:t>
            </a:r>
          </a:p>
          <a:p>
            <a:endParaRPr lang="en-US" sz="2800" b="1" dirty="0"/>
          </a:p>
        </p:txBody>
      </p:sp>
    </p:spTree>
    <p:extLst>
      <p:ext uri="{BB962C8B-B14F-4D97-AF65-F5344CB8AC3E}">
        <p14:creationId xmlns:p14="http://schemas.microsoft.com/office/powerpoint/2010/main" val="12778193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40F4C-D7C1-0A26-2A45-1440BF1E10D1}"/>
            </a:ext>
          </a:extLst>
        </p:cNvPr>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790CD6D2-135D-5438-ACB2-0B554CBC8413}"/>
              </a:ext>
            </a:extLst>
          </p:cNvPr>
          <p:cNvSpPr>
            <a:spLocks noGrp="1"/>
          </p:cNvSpPr>
          <p:nvPr>
            <p:ph type="sldNum" sz="quarter" idx="12"/>
          </p:nvPr>
        </p:nvSpPr>
        <p:spPr/>
        <p:txBody>
          <a:bodyPr/>
          <a:lstStyle/>
          <a:p>
            <a:fld id="{659B2F21-D912-7541-8ED2-FD6ABD90B685}" type="slidenum">
              <a:rPr lang="en-US" smtClean="0"/>
              <a:t>22</a:t>
            </a:fld>
            <a:endParaRPr lang="en-US"/>
          </a:p>
        </p:txBody>
      </p:sp>
      <p:sp>
        <p:nvSpPr>
          <p:cNvPr id="2" name="TextBox 1">
            <a:extLst>
              <a:ext uri="{FF2B5EF4-FFF2-40B4-BE49-F238E27FC236}">
                <a16:creationId xmlns:a16="http://schemas.microsoft.com/office/drawing/2014/main" id="{A71ECD3B-B7A7-F3DF-C883-4C5E45D59A4D}"/>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Think-Pair-Share</a:t>
            </a:r>
          </a:p>
        </p:txBody>
      </p:sp>
      <p:graphicFrame>
        <p:nvGraphicFramePr>
          <p:cNvPr id="3" name="Table 2">
            <a:extLst>
              <a:ext uri="{FF2B5EF4-FFF2-40B4-BE49-F238E27FC236}">
                <a16:creationId xmlns:a16="http://schemas.microsoft.com/office/drawing/2014/main" id="{B7BB1472-7014-C8A0-7194-EB6521B208D6}"/>
              </a:ext>
            </a:extLst>
          </p:cNvPr>
          <p:cNvGraphicFramePr>
            <a:graphicFrameLocks noGrp="1"/>
          </p:cNvGraphicFramePr>
          <p:nvPr>
            <p:extLst>
              <p:ext uri="{D42A27DB-BD31-4B8C-83A1-F6EECF244321}">
                <p14:modId xmlns:p14="http://schemas.microsoft.com/office/powerpoint/2010/main" val="2686536305"/>
              </p:ext>
            </p:extLst>
          </p:nvPr>
        </p:nvGraphicFramePr>
        <p:xfrm>
          <a:off x="5962973" y="1366694"/>
          <a:ext cx="6229027" cy="4693920"/>
        </p:xfrm>
        <a:graphic>
          <a:graphicData uri="http://schemas.openxmlformats.org/drawingml/2006/table">
            <a:tbl>
              <a:tblPr>
                <a:tableStyleId>{5C22544A-7EE6-4342-B048-85BDC9FD1C3A}</a:tableStyleId>
              </a:tblPr>
              <a:tblGrid>
                <a:gridCol w="677646">
                  <a:extLst>
                    <a:ext uri="{9D8B030D-6E8A-4147-A177-3AD203B41FA5}">
                      <a16:colId xmlns:a16="http://schemas.microsoft.com/office/drawing/2014/main" val="760415552"/>
                    </a:ext>
                  </a:extLst>
                </a:gridCol>
                <a:gridCol w="5551381">
                  <a:extLst>
                    <a:ext uri="{9D8B030D-6E8A-4147-A177-3AD203B41FA5}">
                      <a16:colId xmlns:a16="http://schemas.microsoft.com/office/drawing/2014/main" val="3941053111"/>
                    </a:ext>
                  </a:extLst>
                </a:gridCol>
              </a:tblGrid>
              <a:tr h="0">
                <a:tc>
                  <a:txBody>
                    <a:bodyPr/>
                    <a:lstStyle/>
                    <a:p>
                      <a:pPr algn="l">
                        <a:buNone/>
                      </a:pPr>
                      <a:r>
                        <a:rPr lang="en-US" sz="1800" b="1" dirty="0">
                          <a:effectLst/>
                        </a:rPr>
                        <a:t>#</a:t>
                      </a:r>
                      <a:endParaRPr lang="en-US" sz="1800" b="1" i="0" dirty="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buNone/>
                      </a:pPr>
                      <a:r>
                        <a:rPr lang="en-US" sz="1800" b="1" dirty="0">
                          <a:effectLst/>
                        </a:rPr>
                        <a:t>Factor</a:t>
                      </a:r>
                      <a:endParaRPr lang="en-US" sz="1800" b="1" i="0" dirty="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06301701"/>
                  </a:ext>
                </a:extLst>
              </a:tr>
              <a:tr h="0">
                <a:tc>
                  <a:txBody>
                    <a:bodyPr/>
                    <a:lstStyle/>
                    <a:p>
                      <a:pPr algn="l">
                        <a:buNone/>
                      </a:pPr>
                      <a:r>
                        <a:rPr lang="en-US" sz="1800" dirty="0">
                          <a:effectLst/>
                        </a:rPr>
                        <a:t>A</a:t>
                      </a:r>
                      <a:endParaRPr lang="en-US" sz="1800" b="0" i="0" dirty="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buNone/>
                      </a:pPr>
                      <a:r>
                        <a:rPr lang="en-US" sz="1800" dirty="0">
                          <a:effectLst/>
                        </a:rPr>
                        <a:t>Head height &lt; 30 </a:t>
                      </a:r>
                      <a:r>
                        <a:rPr lang="en-US" sz="1800" dirty="0" err="1">
                          <a:effectLst/>
                        </a:rPr>
                        <a:t>px</a:t>
                      </a:r>
                      <a:r>
                        <a:rPr lang="en-US" sz="1800" dirty="0">
                          <a:effectLst/>
                        </a:rPr>
                        <a:t> (vs. &gt; 90 </a:t>
                      </a:r>
                      <a:r>
                        <a:rPr lang="en-US" sz="1800" dirty="0" err="1">
                          <a:effectLst/>
                        </a:rPr>
                        <a:t>px</a:t>
                      </a:r>
                      <a:r>
                        <a:rPr lang="en-US" sz="1800" dirty="0">
                          <a:effectLst/>
                        </a:rPr>
                        <a:t>)</a:t>
                      </a:r>
                      <a:endParaRPr lang="en-US" sz="1800" b="0" i="0" dirty="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3250996"/>
                  </a:ext>
                </a:extLst>
              </a:tr>
              <a:tr h="0">
                <a:tc>
                  <a:txBody>
                    <a:bodyPr/>
                    <a:lstStyle/>
                    <a:p>
                      <a:pPr algn="l">
                        <a:buNone/>
                      </a:pPr>
                      <a:r>
                        <a:rPr lang="en-US" sz="1800" dirty="0">
                          <a:effectLst/>
                        </a:rPr>
                        <a:t>B</a:t>
                      </a:r>
                      <a:endParaRPr lang="en-US" sz="1800" b="0" i="0" dirty="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buNone/>
                      </a:pPr>
                      <a:r>
                        <a:rPr lang="en-US" sz="1800" dirty="0">
                          <a:effectLst/>
                        </a:rPr>
                        <a:t>Camera at 550–1000 m (vs. close range)</a:t>
                      </a:r>
                      <a:endParaRPr lang="en-US" sz="1800" b="0" i="0" dirty="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78892218"/>
                  </a:ext>
                </a:extLst>
              </a:tr>
              <a:tr h="0">
                <a:tc>
                  <a:txBody>
                    <a:bodyPr/>
                    <a:lstStyle/>
                    <a:p>
                      <a:pPr algn="l">
                        <a:buNone/>
                      </a:pPr>
                      <a:r>
                        <a:rPr lang="en-US" sz="1800">
                          <a:effectLst/>
                        </a:rPr>
                        <a:t>C</a:t>
                      </a:r>
                      <a:endParaRPr lang="en-US" sz="1800" b="0" i="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buNone/>
                      </a:pPr>
                      <a:r>
                        <a:rPr lang="en-US" sz="1800" dirty="0">
                          <a:effectLst/>
                        </a:rPr>
                        <a:t>Camera elevated on a mast (vs. ground level)</a:t>
                      </a:r>
                      <a:endParaRPr lang="en-US" sz="1800" b="0" i="0" dirty="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09106116"/>
                  </a:ext>
                </a:extLst>
              </a:tr>
              <a:tr h="0">
                <a:tc>
                  <a:txBody>
                    <a:bodyPr/>
                    <a:lstStyle/>
                    <a:p>
                      <a:pPr algn="l">
                        <a:buNone/>
                      </a:pPr>
                      <a:r>
                        <a:rPr lang="en-US" sz="1800">
                          <a:effectLst/>
                        </a:rPr>
                        <a:t>D</a:t>
                      </a:r>
                      <a:endParaRPr lang="en-US" sz="1800" b="0" i="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buNone/>
                      </a:pPr>
                      <a:r>
                        <a:rPr lang="en-US" sz="1800" dirty="0">
                          <a:effectLst/>
                        </a:rPr>
                        <a:t>Camera on a UAV platform</a:t>
                      </a:r>
                      <a:endParaRPr lang="en-US" sz="1800" b="0" i="0" dirty="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80568393"/>
                  </a:ext>
                </a:extLst>
              </a:tr>
              <a:tr h="0">
                <a:tc>
                  <a:txBody>
                    <a:bodyPr/>
                    <a:lstStyle/>
                    <a:p>
                      <a:pPr algn="l">
                        <a:buNone/>
                      </a:pPr>
                      <a:r>
                        <a:rPr lang="en-US" sz="1800">
                          <a:effectLst/>
                        </a:rPr>
                        <a:t>E</a:t>
                      </a:r>
                      <a:endParaRPr lang="en-US" sz="1800" b="0" i="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buNone/>
                      </a:pPr>
                      <a:r>
                        <a:rPr lang="en-US" sz="1800" dirty="0">
                          <a:effectLst/>
                        </a:rPr>
                        <a:t>Atmospheric turbulence present</a:t>
                      </a:r>
                      <a:endParaRPr lang="en-US" sz="1800" b="0" i="0" dirty="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50182174"/>
                  </a:ext>
                </a:extLst>
              </a:tr>
              <a:tr h="0">
                <a:tc>
                  <a:txBody>
                    <a:bodyPr/>
                    <a:lstStyle/>
                    <a:p>
                      <a:pPr algn="l">
                        <a:buNone/>
                      </a:pPr>
                      <a:r>
                        <a:rPr lang="en-US" sz="1800">
                          <a:effectLst/>
                        </a:rPr>
                        <a:t>F</a:t>
                      </a:r>
                      <a:endParaRPr lang="en-US" sz="1800" b="0" i="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buNone/>
                      </a:pPr>
                      <a:r>
                        <a:rPr lang="en-US" sz="1800" dirty="0">
                          <a:effectLst/>
                        </a:rPr>
                        <a:t>Direct sunlight / high solar loading (vs. overcast)</a:t>
                      </a:r>
                      <a:endParaRPr lang="en-US" sz="1800" b="0" i="0" dirty="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11003139"/>
                  </a:ext>
                </a:extLst>
              </a:tr>
              <a:tr h="0">
                <a:tc>
                  <a:txBody>
                    <a:bodyPr/>
                    <a:lstStyle/>
                    <a:p>
                      <a:pPr algn="l">
                        <a:buNone/>
                      </a:pPr>
                      <a:r>
                        <a:rPr lang="en-US" sz="1800">
                          <a:effectLst/>
                        </a:rPr>
                        <a:t>G</a:t>
                      </a:r>
                      <a:endParaRPr lang="en-US" sz="1800" b="0" i="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buNone/>
                      </a:pPr>
                      <a:r>
                        <a:rPr lang="en-US" sz="1800" dirty="0">
                          <a:effectLst/>
                        </a:rPr>
                        <a:t>Wind speed 9–12 m/s (vs. calm)</a:t>
                      </a:r>
                      <a:endParaRPr lang="en-US" sz="1800" b="0" i="0" dirty="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87176194"/>
                  </a:ext>
                </a:extLst>
              </a:tr>
              <a:tr h="0">
                <a:tc>
                  <a:txBody>
                    <a:bodyPr/>
                    <a:lstStyle/>
                    <a:p>
                      <a:pPr algn="l">
                        <a:buNone/>
                      </a:pPr>
                      <a:r>
                        <a:rPr lang="en-US" sz="1800">
                          <a:effectLst/>
                        </a:rPr>
                        <a:t>H</a:t>
                      </a:r>
                      <a:endParaRPr lang="en-US" sz="1800" b="0" i="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buNone/>
                      </a:pPr>
                      <a:r>
                        <a:rPr lang="en-US" sz="1800" dirty="0">
                          <a:effectLst/>
                        </a:rPr>
                        <a:t>Ambient temperature below 0 °C (vs. 20–30 °C)</a:t>
                      </a:r>
                      <a:endParaRPr lang="en-US" sz="1800" b="0" i="0" dirty="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08982372"/>
                  </a:ext>
                </a:extLst>
              </a:tr>
              <a:tr h="0">
                <a:tc>
                  <a:txBody>
                    <a:bodyPr/>
                    <a:lstStyle/>
                    <a:p>
                      <a:pPr algn="l">
                        <a:buNone/>
                      </a:pPr>
                      <a:r>
                        <a:rPr lang="en-US" sz="1800">
                          <a:effectLst/>
                        </a:rPr>
                        <a:t>I</a:t>
                      </a:r>
                      <a:endParaRPr lang="en-US" sz="1800" b="0" i="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buNone/>
                      </a:pPr>
                      <a:r>
                        <a:rPr lang="en-US" sz="1800" dirty="0">
                          <a:effectLst/>
                        </a:rPr>
                        <a:t>Gait sequence available in the probe</a:t>
                      </a:r>
                      <a:endParaRPr lang="en-US" sz="1800" b="0" i="0" dirty="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2439821"/>
                  </a:ext>
                </a:extLst>
              </a:tr>
              <a:tr h="0">
                <a:tc>
                  <a:txBody>
                    <a:bodyPr/>
                    <a:lstStyle/>
                    <a:p>
                      <a:pPr algn="l">
                        <a:buNone/>
                      </a:pPr>
                      <a:r>
                        <a:rPr lang="en-US" sz="1800">
                          <a:effectLst/>
                        </a:rPr>
                        <a:t>J</a:t>
                      </a:r>
                      <a:endParaRPr lang="en-US" sz="1800" b="0" i="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buNone/>
                      </a:pPr>
                      <a:r>
                        <a:rPr lang="en-US" sz="1800" dirty="0">
                          <a:effectLst/>
                        </a:rPr>
                        <a:t>Which of the five algorithms you deployed</a:t>
                      </a:r>
                      <a:endParaRPr lang="en-US" sz="1800" b="0" i="0" dirty="0">
                        <a:solidFill>
                          <a:srgbClr val="161C24"/>
                        </a:solidFill>
                        <a:effectLst/>
                        <a:latin typeface="-apple-system"/>
                      </a:endParaRPr>
                    </a:p>
                  </a:txBody>
                  <a:tcPr marL="76200" marR="76200" marT="76200" marB="762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87232647"/>
                  </a:ext>
                </a:extLst>
              </a:tr>
            </a:tbl>
          </a:graphicData>
        </a:graphic>
      </p:graphicFrame>
      <p:sp>
        <p:nvSpPr>
          <p:cNvPr id="4" name="TextBox 3">
            <a:extLst>
              <a:ext uri="{FF2B5EF4-FFF2-40B4-BE49-F238E27FC236}">
                <a16:creationId xmlns:a16="http://schemas.microsoft.com/office/drawing/2014/main" id="{34B362FD-D2AE-3A60-58FA-26E096C8BF4A}"/>
              </a:ext>
            </a:extLst>
          </p:cNvPr>
          <p:cNvSpPr txBox="1"/>
          <p:nvPr/>
        </p:nvSpPr>
        <p:spPr>
          <a:xfrm>
            <a:off x="590310" y="2644170"/>
            <a:ext cx="4787602" cy="1569660"/>
          </a:xfrm>
          <a:prstGeom prst="rect">
            <a:avLst/>
          </a:prstGeom>
          <a:noFill/>
        </p:spPr>
        <p:txBody>
          <a:bodyPr wrap="square" rtlCol="0">
            <a:spAutoFit/>
          </a:bodyPr>
          <a:lstStyle/>
          <a:p>
            <a:r>
              <a:rPr lang="en-US" sz="2400" b="1" dirty="0">
                <a:solidFill>
                  <a:srgbClr val="0070C0"/>
                </a:solidFill>
              </a:rPr>
              <a:t>Consider</a:t>
            </a:r>
          </a:p>
          <a:p>
            <a:endParaRPr lang="en-US" sz="2400" b="1" dirty="0">
              <a:solidFill>
                <a:srgbClr val="0070C0"/>
              </a:solidFill>
            </a:endParaRPr>
          </a:p>
          <a:p>
            <a:pPr marL="457200" indent="-457200">
              <a:buFont typeface="+mj-lt"/>
              <a:buAutoNum type="arabicPeriod"/>
            </a:pPr>
            <a:r>
              <a:rPr lang="en-US" sz="2400" dirty="0">
                <a:solidFill>
                  <a:srgbClr val="0070C0"/>
                </a:solidFill>
              </a:rPr>
              <a:t>Top-3 most damaging</a:t>
            </a:r>
          </a:p>
          <a:p>
            <a:pPr marL="457200" indent="-457200">
              <a:buFont typeface="+mj-lt"/>
              <a:buAutoNum type="arabicPeriod"/>
            </a:pPr>
            <a:r>
              <a:rPr lang="en-US" sz="2400" dirty="0">
                <a:solidFill>
                  <a:srgbClr val="0070C0"/>
                </a:solidFill>
              </a:rPr>
              <a:t>Bottom-3 least damaging</a:t>
            </a:r>
          </a:p>
        </p:txBody>
      </p:sp>
    </p:spTree>
    <p:extLst>
      <p:ext uri="{BB962C8B-B14F-4D97-AF65-F5344CB8AC3E}">
        <p14:creationId xmlns:p14="http://schemas.microsoft.com/office/powerpoint/2010/main" val="3559180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877D530-303B-CAE8-9F69-37E20A4774D2}"/>
              </a:ext>
            </a:extLst>
          </p:cNvPr>
          <p:cNvSpPr>
            <a:spLocks noGrp="1"/>
          </p:cNvSpPr>
          <p:nvPr>
            <p:ph type="sldNum" sz="quarter" idx="12"/>
          </p:nvPr>
        </p:nvSpPr>
        <p:spPr/>
        <p:txBody>
          <a:bodyPr/>
          <a:lstStyle/>
          <a:p>
            <a:fld id="{659B2F21-D912-7541-8ED2-FD6ABD90B685}" type="slidenum">
              <a:rPr lang="en-US" smtClean="0"/>
              <a:t>23</a:t>
            </a:fld>
            <a:endParaRPr lang="en-US"/>
          </a:p>
        </p:txBody>
      </p:sp>
      <p:sp>
        <p:nvSpPr>
          <p:cNvPr id="5" name="TextBox 4">
            <a:extLst>
              <a:ext uri="{FF2B5EF4-FFF2-40B4-BE49-F238E27FC236}">
                <a16:creationId xmlns:a16="http://schemas.microsoft.com/office/drawing/2014/main" id="{EA70448C-22FE-BBAE-B9CD-7CC4E2CFF8CF}"/>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pic>
        <p:nvPicPr>
          <p:cNvPr id="6" name="Picture 5">
            <a:extLst>
              <a:ext uri="{FF2B5EF4-FFF2-40B4-BE49-F238E27FC236}">
                <a16:creationId xmlns:a16="http://schemas.microsoft.com/office/drawing/2014/main" id="{971289AC-DEF8-75D0-6B4E-FC72A76C4A2B}"/>
              </a:ext>
            </a:extLst>
          </p:cNvPr>
          <p:cNvPicPr>
            <a:picLocks noChangeAspect="1"/>
          </p:cNvPicPr>
          <p:nvPr/>
        </p:nvPicPr>
        <p:blipFill>
          <a:blip r:embed="rId2"/>
          <a:srcRect l="367" r="367"/>
          <a:stretch/>
        </p:blipFill>
        <p:spPr>
          <a:xfrm>
            <a:off x="6555403" y="1188629"/>
            <a:ext cx="4110393" cy="5363730"/>
          </a:xfrm>
          <a:prstGeom prst="rect">
            <a:avLst/>
          </a:prstGeom>
        </p:spPr>
      </p:pic>
      <p:sp>
        <p:nvSpPr>
          <p:cNvPr id="7" name="TextBox 6">
            <a:extLst>
              <a:ext uri="{FF2B5EF4-FFF2-40B4-BE49-F238E27FC236}">
                <a16:creationId xmlns:a16="http://schemas.microsoft.com/office/drawing/2014/main" id="{A92910AC-1E89-5025-BA5D-65E2557E22BA}"/>
              </a:ext>
            </a:extLst>
          </p:cNvPr>
          <p:cNvSpPr txBox="1"/>
          <p:nvPr/>
        </p:nvSpPr>
        <p:spPr>
          <a:xfrm>
            <a:off x="590310" y="1859340"/>
            <a:ext cx="5540188" cy="3785652"/>
          </a:xfrm>
          <a:prstGeom prst="rect">
            <a:avLst/>
          </a:prstGeom>
          <a:noFill/>
        </p:spPr>
        <p:txBody>
          <a:bodyPr wrap="square" rtlCol="0">
            <a:spAutoFit/>
          </a:bodyPr>
          <a:lstStyle/>
          <a:p>
            <a:r>
              <a:rPr lang="en-US" sz="2400" dirty="0"/>
              <a:t>From Data to Insights: A Covariate Analysis of the IARPA BRIAR Dataset for Multimodal Biometric Recognition Algorithms at Altitude and Range</a:t>
            </a:r>
            <a:br>
              <a:rPr lang="en-US" sz="2400" dirty="0"/>
            </a:br>
            <a:endParaRPr lang="en-US" sz="2400" dirty="0"/>
          </a:p>
          <a:p>
            <a:pPr marL="342900" indent="-342900">
              <a:buFont typeface="Arial" panose="020B0604020202020204" pitchFamily="34" charset="0"/>
              <a:buChar char="•"/>
            </a:pPr>
            <a:r>
              <a:rPr lang="en-US" sz="2400" dirty="0"/>
              <a:t>International Joint Conference on Biometrics (IJCB) 2024 —</a:t>
            </a:r>
            <a:r>
              <a:rPr lang="en-US" sz="2400" i="1" dirty="0"/>
              <a:t> flagship</a:t>
            </a:r>
          </a:p>
          <a:p>
            <a:endParaRPr lang="en-US" sz="2400" i="1" dirty="0"/>
          </a:p>
          <a:p>
            <a:pPr marL="342900" indent="-342900">
              <a:buFont typeface="Arial" panose="020B0604020202020204" pitchFamily="34" charset="0"/>
              <a:buChar char="•"/>
            </a:pPr>
            <a:r>
              <a:rPr lang="en-US" sz="2400" dirty="0">
                <a:hlinkClick r:id="rId3"/>
              </a:rPr>
              <a:t>IARPA BRIAR Program</a:t>
            </a:r>
            <a:endParaRPr lang="en-US" sz="2400" dirty="0"/>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967284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84533-2D5D-6226-3EF2-76438442CD6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B1CB11A-F8C4-9B1A-5279-FDEA37BB0AC9}"/>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9F084720-9696-2128-9E56-B32E0A92CA3D}"/>
              </a:ext>
            </a:extLst>
          </p:cNvPr>
          <p:cNvSpPr txBox="1"/>
          <p:nvPr/>
        </p:nvSpPr>
        <p:spPr>
          <a:xfrm>
            <a:off x="590310" y="1347401"/>
            <a:ext cx="10955866" cy="1600438"/>
          </a:xfrm>
          <a:prstGeom prst="rect">
            <a:avLst/>
          </a:prstGeom>
          <a:noFill/>
        </p:spPr>
        <p:txBody>
          <a:bodyPr wrap="square">
            <a:spAutoFit/>
          </a:bodyPr>
          <a:lstStyle/>
          <a:p>
            <a:r>
              <a:rPr lang="en-US" sz="4000" dirty="0"/>
              <a:t>What problem is addressed?</a:t>
            </a:r>
          </a:p>
          <a:p>
            <a:r>
              <a:rPr lang="en-US" sz="4000" dirty="0"/>
              <a:t>Why?</a:t>
            </a:r>
            <a:br>
              <a:rPr lang="en-US" sz="3200" dirty="0"/>
            </a:br>
            <a:endParaRPr lang="en-US" dirty="0"/>
          </a:p>
        </p:txBody>
      </p:sp>
      <p:sp>
        <p:nvSpPr>
          <p:cNvPr id="8" name="TextBox 7">
            <a:extLst>
              <a:ext uri="{FF2B5EF4-FFF2-40B4-BE49-F238E27FC236}">
                <a16:creationId xmlns:a16="http://schemas.microsoft.com/office/drawing/2014/main" id="{1F9BDA66-FACE-03E0-4823-88C15FE3A696}"/>
              </a:ext>
            </a:extLst>
          </p:cNvPr>
          <p:cNvSpPr txBox="1"/>
          <p:nvPr/>
        </p:nvSpPr>
        <p:spPr>
          <a:xfrm>
            <a:off x="590310" y="3101345"/>
            <a:ext cx="6149157" cy="2553891"/>
          </a:xfrm>
          <a:prstGeom prst="roundRect">
            <a:avLst/>
          </a:prstGeom>
          <a:solidFill>
            <a:schemeClr val="bg1">
              <a:lumMod val="85000"/>
            </a:schemeClr>
          </a:solidFill>
          <a:ln>
            <a:solidFill>
              <a:schemeClr val="tx1"/>
            </a:solidFill>
          </a:ln>
          <a:effectLst>
            <a:outerShdw blurRad="50800" dist="38100" dir="8100000" algn="tr" rotWithShape="0">
              <a:prstClr val="black">
                <a:alpha val="40000"/>
              </a:prstClr>
            </a:outerShdw>
          </a:effectLst>
        </p:spPr>
        <p:txBody>
          <a:bodyPr wrap="square">
            <a:spAutoFit/>
          </a:bodyPr>
          <a:lstStyle/>
          <a:p>
            <a:r>
              <a:rPr lang="en-US" sz="2400" b="1" dirty="0"/>
              <a:t>Problem</a:t>
            </a:r>
            <a:br>
              <a:rPr lang="en-US" sz="2800" b="1" dirty="0"/>
            </a:br>
            <a:r>
              <a:rPr lang="en-US" sz="2400" dirty="0"/>
              <a:t>Operational biometric systems are deployed into conditions nobody gets to choose, and the field has no quantitative account of which conditions actually cost accuracy.</a:t>
            </a:r>
          </a:p>
        </p:txBody>
      </p:sp>
      <p:pic>
        <p:nvPicPr>
          <p:cNvPr id="2" name="Picture 1">
            <a:extLst>
              <a:ext uri="{FF2B5EF4-FFF2-40B4-BE49-F238E27FC236}">
                <a16:creationId xmlns:a16="http://schemas.microsoft.com/office/drawing/2014/main" id="{45BC7BAB-B14B-31E4-0C8D-B155C8E7D2E2}"/>
              </a:ext>
            </a:extLst>
          </p:cNvPr>
          <p:cNvPicPr>
            <a:picLocks noChangeAspect="1"/>
          </p:cNvPicPr>
          <p:nvPr/>
        </p:nvPicPr>
        <p:blipFill>
          <a:blip r:embed="rId3"/>
          <a:stretch>
            <a:fillRect/>
          </a:stretch>
        </p:blipFill>
        <p:spPr>
          <a:xfrm>
            <a:off x="7820345" y="947674"/>
            <a:ext cx="4371655" cy="2726624"/>
          </a:xfrm>
          <a:prstGeom prst="rect">
            <a:avLst/>
          </a:prstGeom>
        </p:spPr>
      </p:pic>
      <p:sp>
        <p:nvSpPr>
          <p:cNvPr id="7" name="TextBox 6">
            <a:extLst>
              <a:ext uri="{FF2B5EF4-FFF2-40B4-BE49-F238E27FC236}">
                <a16:creationId xmlns:a16="http://schemas.microsoft.com/office/drawing/2014/main" id="{E47EDF98-FE0D-44A0-852D-66365E0912DE}"/>
              </a:ext>
            </a:extLst>
          </p:cNvPr>
          <p:cNvSpPr txBox="1"/>
          <p:nvPr/>
        </p:nvSpPr>
        <p:spPr>
          <a:xfrm>
            <a:off x="8152270" y="486009"/>
            <a:ext cx="3449420" cy="461665"/>
          </a:xfrm>
          <a:prstGeom prst="rect">
            <a:avLst/>
          </a:prstGeom>
          <a:noFill/>
        </p:spPr>
        <p:txBody>
          <a:bodyPr wrap="square" rtlCol="0">
            <a:spAutoFit/>
          </a:bodyPr>
          <a:lstStyle/>
          <a:p>
            <a:r>
              <a:rPr lang="en-US" sz="2400" dirty="0">
                <a:solidFill>
                  <a:srgbClr val="0070C0"/>
                </a:solidFill>
              </a:rPr>
              <a:t>Atmospheric Turbulence</a:t>
            </a:r>
          </a:p>
        </p:txBody>
      </p:sp>
      <p:pic>
        <p:nvPicPr>
          <p:cNvPr id="9" name="Picture 8">
            <a:extLst>
              <a:ext uri="{FF2B5EF4-FFF2-40B4-BE49-F238E27FC236}">
                <a16:creationId xmlns:a16="http://schemas.microsoft.com/office/drawing/2014/main" id="{8C3A27E1-FC2D-602A-09EF-63AAF934A16B}"/>
              </a:ext>
            </a:extLst>
          </p:cNvPr>
          <p:cNvPicPr>
            <a:picLocks noChangeAspect="1"/>
          </p:cNvPicPr>
          <p:nvPr/>
        </p:nvPicPr>
        <p:blipFill>
          <a:blip r:embed="rId4"/>
          <a:stretch>
            <a:fillRect/>
          </a:stretch>
        </p:blipFill>
        <p:spPr>
          <a:xfrm>
            <a:off x="8368423" y="4135728"/>
            <a:ext cx="3017114" cy="2267521"/>
          </a:xfrm>
          <a:prstGeom prst="rect">
            <a:avLst/>
          </a:prstGeom>
        </p:spPr>
      </p:pic>
      <p:sp>
        <p:nvSpPr>
          <p:cNvPr id="10" name="TextBox 9">
            <a:extLst>
              <a:ext uri="{FF2B5EF4-FFF2-40B4-BE49-F238E27FC236}">
                <a16:creationId xmlns:a16="http://schemas.microsoft.com/office/drawing/2014/main" id="{9291ECE5-CBCD-B2C1-9BB0-9DC1A49D1714}"/>
              </a:ext>
            </a:extLst>
          </p:cNvPr>
          <p:cNvSpPr txBox="1"/>
          <p:nvPr/>
        </p:nvSpPr>
        <p:spPr>
          <a:xfrm>
            <a:off x="7806627" y="3674063"/>
            <a:ext cx="4140706" cy="461665"/>
          </a:xfrm>
          <a:prstGeom prst="rect">
            <a:avLst/>
          </a:prstGeom>
          <a:noFill/>
        </p:spPr>
        <p:txBody>
          <a:bodyPr wrap="square" rtlCol="0">
            <a:spAutoFit/>
          </a:bodyPr>
          <a:lstStyle/>
          <a:p>
            <a:r>
              <a:rPr lang="en-US" sz="2400" dirty="0">
                <a:solidFill>
                  <a:srgbClr val="0070C0"/>
                </a:solidFill>
              </a:rPr>
              <a:t>Altitude (Aerial Perspectives) </a:t>
            </a:r>
          </a:p>
        </p:txBody>
      </p:sp>
      <p:sp>
        <p:nvSpPr>
          <p:cNvPr id="11" name="Slide Number Placeholder 10">
            <a:extLst>
              <a:ext uri="{FF2B5EF4-FFF2-40B4-BE49-F238E27FC236}">
                <a16:creationId xmlns:a16="http://schemas.microsoft.com/office/drawing/2014/main" id="{D9AB62FF-CC90-5083-AF2F-BC181EEAB34C}"/>
              </a:ext>
            </a:extLst>
          </p:cNvPr>
          <p:cNvSpPr>
            <a:spLocks noGrp="1"/>
          </p:cNvSpPr>
          <p:nvPr>
            <p:ph type="sldNum" sz="quarter" idx="12"/>
          </p:nvPr>
        </p:nvSpPr>
        <p:spPr/>
        <p:txBody>
          <a:bodyPr/>
          <a:lstStyle/>
          <a:p>
            <a:fld id="{659B2F21-D912-7541-8ED2-FD6ABD90B685}" type="slidenum">
              <a:rPr lang="en-US" smtClean="0"/>
              <a:t>24</a:t>
            </a:fld>
            <a:endParaRPr lang="en-US"/>
          </a:p>
        </p:txBody>
      </p:sp>
    </p:spTree>
    <p:extLst>
      <p:ext uri="{BB962C8B-B14F-4D97-AF65-F5344CB8AC3E}">
        <p14:creationId xmlns:p14="http://schemas.microsoft.com/office/powerpoint/2010/main" val="3699697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7"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D27D3-30F0-74C0-A627-15FDE1982AB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43D0D72-519F-5165-5AF9-F432CD15AFF0}"/>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A6DC58E7-7468-804A-2F7A-1051D65EE5C3}"/>
              </a:ext>
            </a:extLst>
          </p:cNvPr>
          <p:cNvSpPr txBox="1"/>
          <p:nvPr/>
        </p:nvSpPr>
        <p:spPr>
          <a:xfrm>
            <a:off x="590310" y="1347401"/>
            <a:ext cx="10955866" cy="1600438"/>
          </a:xfrm>
          <a:prstGeom prst="rect">
            <a:avLst/>
          </a:prstGeom>
          <a:noFill/>
        </p:spPr>
        <p:txBody>
          <a:bodyPr wrap="square">
            <a:spAutoFit/>
          </a:bodyPr>
          <a:lstStyle/>
          <a:p>
            <a:r>
              <a:rPr lang="en-US" sz="4000" dirty="0"/>
              <a:t>What problem is addressed?</a:t>
            </a:r>
          </a:p>
          <a:p>
            <a:r>
              <a:rPr lang="en-US" sz="4000" dirty="0"/>
              <a:t>Why?</a:t>
            </a:r>
            <a:br>
              <a:rPr lang="en-US" sz="3200" dirty="0"/>
            </a:br>
            <a:endParaRPr lang="en-US" dirty="0"/>
          </a:p>
        </p:txBody>
      </p:sp>
      <p:sp>
        <p:nvSpPr>
          <p:cNvPr id="4" name="TextBox 3">
            <a:extLst>
              <a:ext uri="{FF2B5EF4-FFF2-40B4-BE49-F238E27FC236}">
                <a16:creationId xmlns:a16="http://schemas.microsoft.com/office/drawing/2014/main" id="{189982AC-E4AB-6BF3-4893-198156ED455B}"/>
              </a:ext>
            </a:extLst>
          </p:cNvPr>
          <p:cNvSpPr txBox="1"/>
          <p:nvPr/>
        </p:nvSpPr>
        <p:spPr>
          <a:xfrm>
            <a:off x="378643" y="2672553"/>
            <a:ext cx="11379200" cy="3939540"/>
          </a:xfrm>
          <a:prstGeom prst="rect">
            <a:avLst/>
          </a:prstGeom>
          <a:noFill/>
        </p:spPr>
        <p:txBody>
          <a:bodyPr wrap="square" rtlCol="0">
            <a:spAutoFit/>
          </a:bodyPr>
          <a:lstStyle/>
          <a:p>
            <a:pPr marL="342900" lvl="0" indent="-342900">
              <a:spcAft>
                <a:spcPts val="600"/>
              </a:spcAft>
              <a:buFont typeface="Arial" panose="020B0604020202020204" pitchFamily="34" charset="0"/>
              <a:buChar char="•"/>
            </a:pPr>
            <a:r>
              <a:rPr lang="en-US" sz="2400" b="1" dirty="0"/>
              <a:t>Program-driven</a:t>
            </a:r>
            <a:br>
              <a:rPr lang="en-US" sz="2400" b="1" dirty="0"/>
            </a:br>
            <a:r>
              <a:rPr lang="en-US" sz="2400" dirty="0"/>
              <a:t>IARPA BRIAR exists because face recognition at 10 m does not extrapolate to 500 m. The failure was operationally discovered, not predicted.</a:t>
            </a:r>
          </a:p>
          <a:p>
            <a:pPr marL="342900" lvl="0" indent="-342900">
              <a:spcAft>
                <a:spcPts val="600"/>
              </a:spcAft>
              <a:buFont typeface="Arial" panose="020B0604020202020204" pitchFamily="34" charset="0"/>
              <a:buChar char="•"/>
            </a:pPr>
            <a:r>
              <a:rPr lang="en-US" sz="2400" b="1" dirty="0"/>
              <a:t>Methodological</a:t>
            </a:r>
            <a:br>
              <a:rPr lang="en-US" sz="2400" b="1" dirty="0"/>
            </a:br>
            <a:r>
              <a:rPr lang="en-US" sz="2400" dirty="0"/>
              <a:t>Five independently developed SOTA systems, one common protocol, one normalized score space. This comparison was not previously possible.</a:t>
            </a:r>
          </a:p>
          <a:p>
            <a:pPr marL="342900" lvl="0" indent="-342900">
              <a:spcAft>
                <a:spcPts val="600"/>
              </a:spcAft>
              <a:buFont typeface="Arial" panose="020B0604020202020204" pitchFamily="34" charset="0"/>
              <a:buChar char="•"/>
            </a:pPr>
            <a:r>
              <a:rPr lang="en-US" sz="2400" b="1" dirty="0"/>
              <a:t>Economic</a:t>
            </a:r>
            <a:br>
              <a:rPr lang="en-US" sz="2400" b="1" dirty="0"/>
            </a:br>
            <a:r>
              <a:rPr lang="en-US" sz="2400" dirty="0"/>
              <a:t>If conditions dominate algorithm choice, R&amp;D dollars should move from model architecture toward sensing, geometry, and CONOPS. That is a </a:t>
            </a:r>
            <a:r>
              <a:rPr lang="en-US" sz="2400" i="1" dirty="0"/>
              <a:t>resource allocation</a:t>
            </a:r>
            <a:r>
              <a:rPr lang="en-US" sz="2400" dirty="0"/>
              <a:t> argument, and it needs numbers.</a:t>
            </a:r>
            <a:endParaRPr lang="en-US" dirty="0"/>
          </a:p>
        </p:txBody>
      </p:sp>
      <p:sp>
        <p:nvSpPr>
          <p:cNvPr id="6" name="Slide Number Placeholder 5">
            <a:extLst>
              <a:ext uri="{FF2B5EF4-FFF2-40B4-BE49-F238E27FC236}">
                <a16:creationId xmlns:a16="http://schemas.microsoft.com/office/drawing/2014/main" id="{3EDA0DBB-F74E-C1F9-4705-5DA17011A415}"/>
              </a:ext>
            </a:extLst>
          </p:cNvPr>
          <p:cNvSpPr>
            <a:spLocks noGrp="1"/>
          </p:cNvSpPr>
          <p:nvPr>
            <p:ph type="sldNum" sz="quarter" idx="12"/>
          </p:nvPr>
        </p:nvSpPr>
        <p:spPr/>
        <p:txBody>
          <a:bodyPr/>
          <a:lstStyle/>
          <a:p>
            <a:fld id="{659B2F21-D912-7541-8ED2-FD6ABD90B685}" type="slidenum">
              <a:rPr lang="en-US" smtClean="0"/>
              <a:t>25</a:t>
            </a:fld>
            <a:endParaRPr lang="en-US"/>
          </a:p>
        </p:txBody>
      </p:sp>
    </p:spTree>
    <p:extLst>
      <p:ext uri="{BB962C8B-B14F-4D97-AF65-F5344CB8AC3E}">
        <p14:creationId xmlns:p14="http://schemas.microsoft.com/office/powerpoint/2010/main" val="3460338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71886-AA8D-740D-69BC-8303BC209BE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9AF7967-1F8D-B165-ED59-148D0D4C0673}"/>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28974129-B38B-0C51-ED51-71F64A459139}"/>
              </a:ext>
            </a:extLst>
          </p:cNvPr>
          <p:cNvSpPr txBox="1"/>
          <p:nvPr/>
        </p:nvSpPr>
        <p:spPr>
          <a:xfrm>
            <a:off x="590310" y="1347401"/>
            <a:ext cx="10955866" cy="707886"/>
          </a:xfrm>
          <a:prstGeom prst="rect">
            <a:avLst/>
          </a:prstGeom>
          <a:noFill/>
        </p:spPr>
        <p:txBody>
          <a:bodyPr wrap="square">
            <a:spAutoFit/>
          </a:bodyPr>
          <a:lstStyle/>
          <a:p>
            <a:r>
              <a:rPr lang="en-US" sz="4000" dirty="0"/>
              <a:t>What kind of paper is this?</a:t>
            </a:r>
            <a:endParaRPr lang="en-US" dirty="0"/>
          </a:p>
        </p:txBody>
      </p:sp>
      <p:sp>
        <p:nvSpPr>
          <p:cNvPr id="6" name="Slide Number Placeholder 5">
            <a:extLst>
              <a:ext uri="{FF2B5EF4-FFF2-40B4-BE49-F238E27FC236}">
                <a16:creationId xmlns:a16="http://schemas.microsoft.com/office/drawing/2014/main" id="{811B57DC-DE46-0123-EB3B-06D9CE51E2B4}"/>
              </a:ext>
            </a:extLst>
          </p:cNvPr>
          <p:cNvSpPr>
            <a:spLocks noGrp="1"/>
          </p:cNvSpPr>
          <p:nvPr>
            <p:ph type="sldNum" sz="quarter" idx="12"/>
          </p:nvPr>
        </p:nvSpPr>
        <p:spPr/>
        <p:txBody>
          <a:bodyPr/>
          <a:lstStyle/>
          <a:p>
            <a:fld id="{659B2F21-D912-7541-8ED2-FD6ABD90B685}" type="slidenum">
              <a:rPr lang="en-US" smtClean="0"/>
              <a:t>26</a:t>
            </a:fld>
            <a:endParaRPr lang="en-US"/>
          </a:p>
        </p:txBody>
      </p:sp>
      <p:sp>
        <p:nvSpPr>
          <p:cNvPr id="2" name="TextBox 1">
            <a:extLst>
              <a:ext uri="{FF2B5EF4-FFF2-40B4-BE49-F238E27FC236}">
                <a16:creationId xmlns:a16="http://schemas.microsoft.com/office/drawing/2014/main" id="{2443DE01-80BF-FBD7-FF6B-5382E088E454}"/>
              </a:ext>
            </a:extLst>
          </p:cNvPr>
          <p:cNvSpPr txBox="1"/>
          <p:nvPr/>
        </p:nvSpPr>
        <p:spPr>
          <a:xfrm>
            <a:off x="590310" y="2540000"/>
            <a:ext cx="10763490" cy="3031599"/>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400" b="1" dirty="0"/>
              <a:t>Not a Method / Algorithm Paper</a:t>
            </a:r>
            <a:r>
              <a:rPr lang="en-US" sz="2400" dirty="0"/>
              <a:t> </a:t>
            </a:r>
            <a:br>
              <a:rPr lang="en-US" sz="2400" dirty="0"/>
            </a:br>
            <a:r>
              <a:rPr lang="en-US" sz="2400" dirty="0"/>
              <a:t>It proposes no architecture, beats no baseline, and reports no SOTA. </a:t>
            </a:r>
          </a:p>
          <a:p>
            <a:pPr marL="285750" indent="-285750">
              <a:spcAft>
                <a:spcPts val="600"/>
              </a:spcAft>
              <a:buFont typeface="Arial" panose="020B0604020202020204" pitchFamily="34" charset="0"/>
              <a:buChar char="•"/>
            </a:pPr>
            <a:r>
              <a:rPr lang="en-US" sz="2400" dirty="0"/>
              <a:t>An </a:t>
            </a:r>
            <a:r>
              <a:rPr lang="en-US" sz="2400" b="1" dirty="0"/>
              <a:t>Observational study </a:t>
            </a:r>
            <a:r>
              <a:rPr lang="en-US" sz="2400" dirty="0"/>
              <a:t>— presents summary of findings and comparative analysis</a:t>
            </a:r>
          </a:p>
          <a:p>
            <a:pPr marL="285750" indent="-285750">
              <a:spcAft>
                <a:spcPts val="600"/>
              </a:spcAft>
              <a:buFont typeface="Arial" panose="020B0604020202020204" pitchFamily="34" charset="0"/>
              <a:buChar char="•"/>
            </a:pPr>
            <a:endParaRPr lang="en-US" sz="2400" dirty="0"/>
          </a:p>
          <a:p>
            <a:pPr>
              <a:spcAft>
                <a:spcPts val="600"/>
              </a:spcAft>
            </a:pPr>
            <a:r>
              <a:rPr lang="en-US" sz="2800" dirty="0">
                <a:solidFill>
                  <a:srgbClr val="0070C0"/>
                </a:solidFill>
              </a:rPr>
              <a:t>What are the right evaluation criteria for a paper like this? </a:t>
            </a:r>
            <a:br>
              <a:rPr lang="en-US" sz="2800" dirty="0">
                <a:solidFill>
                  <a:srgbClr val="0070C0"/>
                </a:solidFill>
              </a:rPr>
            </a:br>
            <a:r>
              <a:rPr lang="en-US" sz="2800" dirty="0">
                <a:solidFill>
                  <a:srgbClr val="0070C0"/>
                </a:solidFill>
              </a:rPr>
              <a:t>What would make it </a:t>
            </a:r>
            <a:r>
              <a:rPr lang="en-US" sz="2800" i="1" dirty="0">
                <a:solidFill>
                  <a:srgbClr val="0070C0"/>
                </a:solidFill>
              </a:rPr>
              <a:t>wrong?</a:t>
            </a:r>
            <a:endParaRPr lang="en-US" sz="2800" dirty="0">
              <a:solidFill>
                <a:srgbClr val="0070C0"/>
              </a:solidFill>
            </a:endParaRPr>
          </a:p>
        </p:txBody>
      </p:sp>
    </p:spTree>
    <p:extLst>
      <p:ext uri="{BB962C8B-B14F-4D97-AF65-F5344CB8AC3E}">
        <p14:creationId xmlns:p14="http://schemas.microsoft.com/office/powerpoint/2010/main" val="6995356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9C810-77C3-B76E-68A2-295831212DB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F53D453-84A4-4493-038D-4AB360D09181}"/>
              </a:ext>
            </a:extLst>
          </p:cNvPr>
          <p:cNvSpPr>
            <a:spLocks noGrp="1"/>
          </p:cNvSpPr>
          <p:nvPr>
            <p:ph type="sldNum" sz="quarter" idx="12"/>
          </p:nvPr>
        </p:nvSpPr>
        <p:spPr/>
        <p:txBody>
          <a:bodyPr/>
          <a:lstStyle/>
          <a:p>
            <a:fld id="{659B2F21-D912-7541-8ED2-FD6ABD90B685}" type="slidenum">
              <a:rPr lang="en-US" smtClean="0"/>
              <a:t>27</a:t>
            </a:fld>
            <a:endParaRPr lang="en-US"/>
          </a:p>
        </p:txBody>
      </p:sp>
      <p:sp>
        <p:nvSpPr>
          <p:cNvPr id="5" name="TextBox 4">
            <a:extLst>
              <a:ext uri="{FF2B5EF4-FFF2-40B4-BE49-F238E27FC236}">
                <a16:creationId xmlns:a16="http://schemas.microsoft.com/office/drawing/2014/main" id="{9BD64A02-29CD-FB88-8D37-B6B958200AF7}"/>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588D68B2-85A5-9397-4391-381CCF22EE8E}"/>
              </a:ext>
            </a:extLst>
          </p:cNvPr>
          <p:cNvSpPr txBox="1"/>
          <p:nvPr/>
        </p:nvSpPr>
        <p:spPr>
          <a:xfrm>
            <a:off x="610351" y="1532067"/>
            <a:ext cx="10955866" cy="984885"/>
          </a:xfrm>
          <a:prstGeom prst="rect">
            <a:avLst/>
          </a:prstGeom>
          <a:noFill/>
        </p:spPr>
        <p:txBody>
          <a:bodyPr wrap="square">
            <a:spAutoFit/>
          </a:bodyPr>
          <a:lstStyle/>
          <a:p>
            <a:r>
              <a:rPr lang="en-US" sz="4000" dirty="0"/>
              <a:t>What are some key ideas from the paper?</a:t>
            </a:r>
            <a:br>
              <a:rPr lang="en-US" sz="3200" dirty="0"/>
            </a:br>
            <a:endParaRPr lang="en-US" dirty="0"/>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63E9FAC8-75BD-408E-56B3-C6BECE6E5244}"/>
                  </a:ext>
                </a:extLst>
              </p:cNvPr>
              <p:cNvSpPr txBox="1"/>
              <p:nvPr/>
            </p:nvSpPr>
            <p:spPr>
              <a:xfrm>
                <a:off x="118533" y="2654181"/>
                <a:ext cx="4665133" cy="3204403"/>
              </a:xfrm>
              <a:prstGeom prst="rect">
                <a:avLst/>
              </a:prstGeom>
              <a:noFill/>
            </p:spPr>
            <p:txBody>
              <a:bodyPr wrap="square" rtlCol="0">
                <a:spAutoFit/>
              </a:bodyPr>
              <a:lstStyle/>
              <a:p>
                <a:r>
                  <a:rPr lang="en-US" sz="2400" b="1" dirty="0"/>
                  <a:t>Score Compatibility</a:t>
                </a:r>
              </a:p>
              <a:p>
                <a:endParaRPr lang="en-US" b="1" dirty="0"/>
              </a:p>
              <a:p>
                <a:pPr marL="285750" indent="-285750">
                  <a:buFont typeface="Arial" panose="020B0604020202020204" pitchFamily="34" charset="0"/>
                  <a:buChar char="•"/>
                </a:pPr>
                <a:r>
                  <a:rPr lang="en-US" sz="2000" dirty="0"/>
                  <a:t>Scores from five proprietary systems live on incompatible scales. Fit, per algorithm, in the impostor tail:</a:t>
                </a:r>
              </a:p>
              <a:p>
                <a:pPr marL="285750" indent="-285750">
                  <a:buFont typeface="Arial" panose="020B0604020202020204" pitchFamily="34" charset="0"/>
                  <a:buChar char="•"/>
                </a:pPr>
                <a:endParaRPr lang="en-US" sz="2000" b="1" dirty="0"/>
              </a:p>
              <a:p>
                <a14:m>
                  <m:oMathPara xmlns:m="http://schemas.openxmlformats.org/officeDocument/2006/math">
                    <m:oMath>
                      <m:r>
                        <a:rPr lang="en-US" sz="2000" b="0" i="1" smtClean="0">
                          <a:latin typeface="Cambria Math" panose="02040503050406030204" pitchFamily="18" charset="0"/>
                        </a:rPr>
                        <m:t>𝑙𝑜</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𝑔</m:t>
                          </m:r>
                        </m:e>
                        <m:sub>
                          <m:r>
                            <a:rPr lang="en-US" sz="2000" b="0" i="1" smtClean="0">
                              <a:latin typeface="Cambria Math" panose="02040503050406030204" pitchFamily="18" charset="0"/>
                            </a:rPr>
                            <m:t>10</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𝐹𝐴𝑅</m:t>
                          </m:r>
                        </m:e>
                      </m:d>
                      <m:r>
                        <a:rPr lang="en-US" sz="2000" b="0" i="1" smtClean="0">
                          <a:latin typeface="Cambria Math" panose="02040503050406030204" pitchFamily="18" charset="0"/>
                        </a:rPr>
                        <m:t>=</m:t>
                      </m:r>
                      <m:r>
                        <a:rPr lang="en-US" sz="2000" b="0" i="1" smtClean="0">
                          <a:latin typeface="Cambria Math" panose="02040503050406030204" pitchFamily="18" charset="0"/>
                        </a:rPr>
                        <m:t>𝑚</m:t>
                      </m:r>
                      <m:r>
                        <a:rPr lang="en-US" sz="2000" b="0" i="1" smtClean="0">
                          <a:latin typeface="Cambria Math" panose="02040503050406030204" pitchFamily="18" charset="0"/>
                        </a:rPr>
                        <m:t>× </m:t>
                      </m:r>
                      <m:r>
                        <a:rPr lang="en-US" sz="2000" b="0" i="1" smtClean="0">
                          <a:latin typeface="Cambria Math" panose="02040503050406030204" pitchFamily="18" charset="0"/>
                        </a:rPr>
                        <m:t>𝑠𝑐𝑜𝑟𝑒</m:t>
                      </m:r>
                      <m:r>
                        <a:rPr lang="en-US" sz="2000" b="0" i="1" smtClean="0">
                          <a:latin typeface="Cambria Math" panose="02040503050406030204" pitchFamily="18" charset="0"/>
                        </a:rPr>
                        <m:t>+</m:t>
                      </m:r>
                      <m:r>
                        <a:rPr lang="en-US" sz="2000" b="0" i="1" smtClean="0">
                          <a:latin typeface="Cambria Math" panose="02040503050406030204" pitchFamily="18" charset="0"/>
                        </a:rPr>
                        <m:t>𝑏</m:t>
                      </m:r>
                    </m:oMath>
                  </m:oMathPara>
                </a14:m>
                <a:endParaRPr lang="en-US" sz="2000" dirty="0"/>
              </a:p>
              <a:p>
                <a:endParaRPr lang="en-US" sz="2000" b="1" dirty="0"/>
              </a:p>
              <a:p>
                <a:pPr marL="342900" indent="-342900">
                  <a:buFont typeface="Arial" panose="020B0604020202020204" pitchFamily="34" charset="0"/>
                  <a:buChar char="•"/>
                </a:pPr>
                <a:r>
                  <a:rPr lang="en-US" sz="2000" dirty="0" err="1"/>
                  <a:t>Calbriated</a:t>
                </a:r>
                <a:r>
                  <a:rPr lang="en-US" sz="2000" dirty="0"/>
                  <a:t> at </a:t>
                </a:r>
                <a:br>
                  <a:rPr lang="en-US" sz="2000" b="0" i="1" dirty="0">
                    <a:latin typeface="Cambria Math" panose="02040503050406030204" pitchFamily="18" charset="0"/>
                  </a:rPr>
                </a:br>
                <a14:m>
                  <m:oMath xmlns:m="http://schemas.openxmlformats.org/officeDocument/2006/math">
                    <m:r>
                      <a:rPr lang="en-US" sz="2000" b="0" i="1" smtClean="0">
                        <a:latin typeface="Cambria Math" panose="02040503050406030204" pitchFamily="18" charset="0"/>
                      </a:rPr>
                      <m:t>𝐹𝐴𝑅</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10</m:t>
                            </m:r>
                          </m:e>
                          <m:sup>
                            <m:r>
                              <a:rPr lang="en-US" sz="2000" b="0" i="1" smtClean="0">
                                <a:latin typeface="Cambria Math" panose="02040503050406030204" pitchFamily="18" charset="0"/>
                              </a:rPr>
                              <m:t>−6</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10</m:t>
                            </m:r>
                          </m:e>
                          <m:sup>
                            <m:r>
                              <a:rPr lang="en-US" sz="2000" b="0" i="1" smtClean="0">
                                <a:latin typeface="Cambria Math" panose="02040503050406030204" pitchFamily="18" charset="0"/>
                              </a:rPr>
                              <m:t>−5</m:t>
                            </m:r>
                          </m:sup>
                        </m:sSup>
                        <m:r>
                          <a:rPr lang="en-US" sz="2000" b="0" i="1" smtClean="0">
                            <a:latin typeface="Cambria Math" panose="02040503050406030204" pitchFamily="18" charset="0"/>
                          </a:rPr>
                          <m:t>,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10</m:t>
                            </m:r>
                          </m:e>
                          <m:sup>
                            <m:r>
                              <a:rPr lang="en-US" sz="2000" b="0" i="1" smtClean="0">
                                <a:latin typeface="Cambria Math" panose="02040503050406030204" pitchFamily="18" charset="0"/>
                              </a:rPr>
                              <m:t>−4</m:t>
                            </m:r>
                          </m:sup>
                        </m:sSup>
                        <m:r>
                          <a:rPr lang="en-US" sz="2000" b="0" i="1" smtClean="0">
                            <a:latin typeface="Cambria Math" panose="02040503050406030204" pitchFamily="18" charset="0"/>
                          </a:rPr>
                          <m:t>,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10</m:t>
                            </m:r>
                          </m:e>
                          <m:sup>
                            <m:r>
                              <a:rPr lang="en-US" sz="2000" b="0" i="1" smtClean="0">
                                <a:latin typeface="Cambria Math" panose="02040503050406030204" pitchFamily="18" charset="0"/>
                              </a:rPr>
                              <m:t>−3</m:t>
                            </m:r>
                          </m:sup>
                        </m:sSup>
                        <m:r>
                          <a:rPr lang="en-US" sz="2000" b="0" i="1" smtClean="0">
                            <a:latin typeface="Cambria Math" panose="02040503050406030204" pitchFamily="18" charset="0"/>
                          </a:rPr>
                          <m:t>,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10</m:t>
                            </m:r>
                          </m:e>
                          <m:sup>
                            <m:r>
                              <a:rPr lang="en-US" sz="2000" b="0" i="1" smtClean="0">
                                <a:latin typeface="Cambria Math" panose="02040503050406030204" pitchFamily="18" charset="0"/>
                              </a:rPr>
                              <m:t>−2</m:t>
                            </m:r>
                          </m:sup>
                        </m:sSup>
                      </m:e>
                    </m:d>
                  </m:oMath>
                </a14:m>
                <a:endParaRPr lang="en-US" sz="2000" dirty="0"/>
              </a:p>
            </p:txBody>
          </p:sp>
        </mc:Choice>
        <mc:Fallback>
          <p:sp>
            <p:nvSpPr>
              <p:cNvPr id="2" name="TextBox 1">
                <a:extLst>
                  <a:ext uri="{FF2B5EF4-FFF2-40B4-BE49-F238E27FC236}">
                    <a16:creationId xmlns:a16="http://schemas.microsoft.com/office/drawing/2014/main" id="{63E9FAC8-75BD-408E-56B3-C6BECE6E5244}"/>
                  </a:ext>
                </a:extLst>
              </p:cNvPr>
              <p:cNvSpPr txBox="1">
                <a:spLocks noRot="1" noChangeAspect="1" noMove="1" noResize="1" noEditPoints="1" noAdjustHandles="1" noChangeArrowheads="1" noChangeShapeType="1" noTextEdit="1"/>
              </p:cNvSpPr>
              <p:nvPr/>
            </p:nvSpPr>
            <p:spPr>
              <a:xfrm>
                <a:off x="118533" y="2654181"/>
                <a:ext cx="4665133" cy="3204403"/>
              </a:xfrm>
              <a:prstGeom prst="rect">
                <a:avLst/>
              </a:prstGeom>
              <a:blipFill>
                <a:blip r:embed="rId3"/>
                <a:stretch>
                  <a:fillRect l="-2174" t="-1575"/>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99DF68F9-A4EC-9896-E63C-CFED3D6C3F7D}"/>
              </a:ext>
            </a:extLst>
          </p:cNvPr>
          <p:cNvSpPr txBox="1"/>
          <p:nvPr/>
        </p:nvSpPr>
        <p:spPr>
          <a:xfrm>
            <a:off x="4783666" y="2666762"/>
            <a:ext cx="3615267" cy="3970318"/>
          </a:xfrm>
          <a:prstGeom prst="rect">
            <a:avLst/>
          </a:prstGeom>
          <a:noFill/>
        </p:spPr>
        <p:txBody>
          <a:bodyPr wrap="square" rtlCol="0">
            <a:spAutoFit/>
          </a:bodyPr>
          <a:lstStyle/>
          <a:p>
            <a:r>
              <a:rPr lang="en-US" sz="2400" b="1" dirty="0"/>
              <a:t>Fixed/Static TAR</a:t>
            </a:r>
          </a:p>
          <a:p>
            <a:endParaRPr lang="en-US" sz="2400" dirty="0"/>
          </a:p>
          <a:p>
            <a:pPr marL="342900" indent="-342900">
              <a:buFont typeface="Arial" panose="020B0604020202020204" pitchFamily="34" charset="0"/>
              <a:buChar char="•"/>
            </a:pPr>
            <a:r>
              <a:rPr lang="en-US" sz="2000" dirty="0"/>
              <a:t>Model the </a:t>
            </a:r>
            <a:r>
              <a:rPr lang="en-US" sz="2000" b="1" dirty="0"/>
              <a:t>mean genuine score</a:t>
            </a:r>
            <a:r>
              <a:rPr lang="en-US" sz="2000" dirty="0"/>
              <a:t>. Since that's the center of the genuine distribution, TAR ≈ 50% by construction.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All covariate effects then appear as movement in FAR.</a:t>
            </a:r>
            <a:br>
              <a:rPr lang="en-US" sz="2400" dirty="0"/>
            </a:br>
            <a:endParaRPr lang="en-US" sz="2400" dirty="0"/>
          </a:p>
        </p:txBody>
      </p:sp>
      <p:sp>
        <p:nvSpPr>
          <p:cNvPr id="9" name="TextBox 8">
            <a:extLst>
              <a:ext uri="{FF2B5EF4-FFF2-40B4-BE49-F238E27FC236}">
                <a16:creationId xmlns:a16="http://schemas.microsoft.com/office/drawing/2014/main" id="{43D1D577-94B3-5F40-B414-7EDB056D2B3F}"/>
              </a:ext>
            </a:extLst>
          </p:cNvPr>
          <p:cNvSpPr txBox="1"/>
          <p:nvPr/>
        </p:nvSpPr>
        <p:spPr>
          <a:xfrm>
            <a:off x="8695268" y="2624291"/>
            <a:ext cx="3378199" cy="3600986"/>
          </a:xfrm>
          <a:prstGeom prst="rect">
            <a:avLst/>
          </a:prstGeom>
          <a:noFill/>
        </p:spPr>
        <p:txBody>
          <a:bodyPr wrap="square">
            <a:spAutoFit/>
          </a:bodyPr>
          <a:lstStyle/>
          <a:p>
            <a:pPr indent="0" algn="l">
              <a:buNone/>
            </a:pPr>
            <a:r>
              <a:rPr lang="en-US" sz="2400" b="1" i="0" dirty="0">
                <a:solidFill>
                  <a:schemeClr val="tx1"/>
                </a:solidFill>
                <a:effectLst/>
                <a:latin typeface="+mn-lt"/>
              </a:rPr>
              <a:t>Covariate Regression</a:t>
            </a:r>
          </a:p>
          <a:p>
            <a:pPr indent="0" algn="l">
              <a:buNone/>
            </a:pPr>
            <a:endParaRPr lang="en-US" sz="2400" b="1" dirty="0"/>
          </a:p>
          <a:p>
            <a:pPr marL="342900" indent="-342900">
              <a:buFont typeface="Arial" panose="020B0604020202020204" pitchFamily="34" charset="0"/>
              <a:buChar char="•"/>
            </a:pPr>
            <a:r>
              <a:rPr lang="en-US" dirty="0"/>
              <a:t>Linear mixed model, categorical covariates, with (sensor model × collection id)</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b="1" dirty="0"/>
              <a:t>The interpretive key</a:t>
            </a:r>
            <a:r>
              <a:rPr lang="en-US" dirty="0"/>
              <a:t>  </a:t>
            </a:r>
            <a:r>
              <a:rPr lang="en-US" i="1" dirty="0"/>
              <a:t>each ±1.0 in a coefficient ≈ one order of magnitude change in expected FAR. Positive = harder.</a:t>
            </a:r>
            <a:r>
              <a:rPr lang="en-US" dirty="0"/>
              <a:t> </a:t>
            </a:r>
            <a:endParaRPr lang="en-US" sz="2000" b="1" i="0" dirty="0">
              <a:solidFill>
                <a:srgbClr val="161C24"/>
              </a:solidFill>
              <a:effectLst/>
              <a:latin typeface="-apple-system"/>
            </a:endParaRPr>
          </a:p>
        </p:txBody>
      </p:sp>
    </p:spTree>
    <p:extLst>
      <p:ext uri="{BB962C8B-B14F-4D97-AF65-F5344CB8AC3E}">
        <p14:creationId xmlns:p14="http://schemas.microsoft.com/office/powerpoint/2010/main" val="954452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C4959-0EE9-4608-807A-01E05DB405F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6572E01-6F27-6E76-C58A-3DAB77EC4B53}"/>
              </a:ext>
            </a:extLst>
          </p:cNvPr>
          <p:cNvSpPr>
            <a:spLocks noGrp="1"/>
          </p:cNvSpPr>
          <p:nvPr>
            <p:ph type="sldNum" sz="quarter" idx="12"/>
          </p:nvPr>
        </p:nvSpPr>
        <p:spPr/>
        <p:txBody>
          <a:bodyPr/>
          <a:lstStyle/>
          <a:p>
            <a:fld id="{659B2F21-D912-7541-8ED2-FD6ABD90B685}" type="slidenum">
              <a:rPr lang="en-US" smtClean="0"/>
              <a:t>28</a:t>
            </a:fld>
            <a:endParaRPr lang="en-US"/>
          </a:p>
        </p:txBody>
      </p:sp>
      <p:sp>
        <p:nvSpPr>
          <p:cNvPr id="5" name="TextBox 4">
            <a:extLst>
              <a:ext uri="{FF2B5EF4-FFF2-40B4-BE49-F238E27FC236}">
                <a16:creationId xmlns:a16="http://schemas.microsoft.com/office/drawing/2014/main" id="{85F51059-DA83-CFBC-CD16-2D9B7A227ECD}"/>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Concept I: Mechanism and Magnitude</a:t>
            </a:r>
          </a:p>
        </p:txBody>
      </p:sp>
      <p:sp>
        <p:nvSpPr>
          <p:cNvPr id="3" name="TextBox 2">
            <a:extLst>
              <a:ext uri="{FF2B5EF4-FFF2-40B4-BE49-F238E27FC236}">
                <a16:creationId xmlns:a16="http://schemas.microsoft.com/office/drawing/2014/main" id="{0CC357DC-AE13-1204-A3A3-CE02D3E35173}"/>
              </a:ext>
            </a:extLst>
          </p:cNvPr>
          <p:cNvSpPr txBox="1"/>
          <p:nvPr/>
        </p:nvSpPr>
        <p:spPr>
          <a:xfrm>
            <a:off x="610351" y="1532067"/>
            <a:ext cx="10955866" cy="2677656"/>
          </a:xfrm>
          <a:prstGeom prst="rect">
            <a:avLst/>
          </a:prstGeom>
          <a:noFill/>
        </p:spPr>
        <p:txBody>
          <a:bodyPr wrap="square">
            <a:spAutoFit/>
          </a:bodyPr>
          <a:lstStyle/>
          <a:p>
            <a:r>
              <a:rPr lang="en-US" sz="2400" b="1" dirty="0"/>
              <a:t>Mechanism</a:t>
            </a:r>
          </a:p>
          <a:p>
            <a:endParaRPr lang="en-US" sz="2400" b="1" dirty="0"/>
          </a:p>
          <a:p>
            <a:r>
              <a:rPr lang="en-US" sz="2400" u="sng" dirty="0"/>
              <a:t>Section 3, paragraph 2</a:t>
            </a:r>
            <a:br>
              <a:rPr lang="en-US" sz="2400" b="1" u="sng" dirty="0"/>
            </a:br>
            <a:r>
              <a:rPr lang="en-US" sz="2400" dirty="0"/>
              <a:t>“Because these covariates relate to quality changes in the biometric data, they will shift the match distribution in one direction or the other…</a:t>
            </a:r>
            <a:r>
              <a:rPr lang="en-US" sz="2400" b="1" dirty="0"/>
              <a:t>If the quality of the image goes down, the ROC curve will also shift down</a:t>
            </a:r>
            <a:r>
              <a:rPr lang="en-US" sz="2400" dirty="0"/>
              <a:t>.”</a:t>
            </a:r>
          </a:p>
          <a:p>
            <a:endParaRPr lang="en-US" sz="2400" b="1" dirty="0"/>
          </a:p>
        </p:txBody>
      </p:sp>
    </p:spTree>
    <p:extLst>
      <p:ext uri="{BB962C8B-B14F-4D97-AF65-F5344CB8AC3E}">
        <p14:creationId xmlns:p14="http://schemas.microsoft.com/office/powerpoint/2010/main" val="1925601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A9241-CAAA-F8D3-F587-737D67885EB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2CB3D8-5F3E-0C04-91F2-825189ADB44B}"/>
              </a:ext>
            </a:extLst>
          </p:cNvPr>
          <p:cNvSpPr>
            <a:spLocks noGrp="1"/>
          </p:cNvSpPr>
          <p:nvPr>
            <p:ph type="sldNum" sz="quarter" idx="12"/>
          </p:nvPr>
        </p:nvSpPr>
        <p:spPr/>
        <p:txBody>
          <a:bodyPr/>
          <a:lstStyle/>
          <a:p>
            <a:fld id="{659B2F21-D912-7541-8ED2-FD6ABD90B685}" type="slidenum">
              <a:rPr lang="en-US" smtClean="0"/>
              <a:t>29</a:t>
            </a:fld>
            <a:endParaRPr lang="en-US"/>
          </a:p>
        </p:txBody>
      </p:sp>
      <p:sp>
        <p:nvSpPr>
          <p:cNvPr id="5" name="TextBox 4">
            <a:extLst>
              <a:ext uri="{FF2B5EF4-FFF2-40B4-BE49-F238E27FC236}">
                <a16:creationId xmlns:a16="http://schemas.microsoft.com/office/drawing/2014/main" id="{96873917-CFB9-3109-FA96-44575ED7B520}"/>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Concept I: Mechanism and Magnitude</a:t>
            </a:r>
          </a:p>
        </p:txBody>
      </p:sp>
      <p:sp>
        <p:nvSpPr>
          <p:cNvPr id="3" name="TextBox 2">
            <a:extLst>
              <a:ext uri="{FF2B5EF4-FFF2-40B4-BE49-F238E27FC236}">
                <a16:creationId xmlns:a16="http://schemas.microsoft.com/office/drawing/2014/main" id="{2D728140-4C01-54F4-D732-3EFE92ECF4B0}"/>
              </a:ext>
            </a:extLst>
          </p:cNvPr>
          <p:cNvSpPr txBox="1"/>
          <p:nvPr/>
        </p:nvSpPr>
        <p:spPr>
          <a:xfrm>
            <a:off x="610351" y="1532067"/>
            <a:ext cx="10955866" cy="2677656"/>
          </a:xfrm>
          <a:prstGeom prst="rect">
            <a:avLst/>
          </a:prstGeom>
          <a:noFill/>
        </p:spPr>
        <p:txBody>
          <a:bodyPr wrap="square">
            <a:spAutoFit/>
          </a:bodyPr>
          <a:lstStyle/>
          <a:p>
            <a:r>
              <a:rPr lang="en-US" sz="2400" b="1" dirty="0"/>
              <a:t>Assumption</a:t>
            </a:r>
          </a:p>
          <a:p>
            <a:endParaRPr lang="en-US" sz="2400" b="1" dirty="0"/>
          </a:p>
          <a:p>
            <a:r>
              <a:rPr lang="en-US" sz="2400" u="sng" dirty="0"/>
              <a:t>Section 3, paragraph 2</a:t>
            </a:r>
            <a:br>
              <a:rPr lang="en-US" sz="2400" b="1" u="sng" dirty="0"/>
            </a:br>
            <a:r>
              <a:rPr lang="en-US" sz="2400" dirty="0"/>
              <a:t>“The model will predict the effect of the covariates on the genuine distribution of the biometric match scores, </a:t>
            </a:r>
            <a:r>
              <a:rPr lang="en-US" sz="2400" b="1" dirty="0"/>
              <a:t>while it is assumed that the impostor distribution is essentially stable.</a:t>
            </a:r>
            <a:r>
              <a:rPr lang="en-US" sz="2400" dirty="0"/>
              <a:t>”</a:t>
            </a:r>
          </a:p>
          <a:p>
            <a:endParaRPr lang="en-US" sz="2400" b="1" dirty="0"/>
          </a:p>
        </p:txBody>
      </p:sp>
    </p:spTree>
    <p:extLst>
      <p:ext uri="{BB962C8B-B14F-4D97-AF65-F5344CB8AC3E}">
        <p14:creationId xmlns:p14="http://schemas.microsoft.com/office/powerpoint/2010/main" val="23340472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C5A24-990A-8A0B-05B9-7CB16999585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55D7EEF-175B-2244-3480-9ADAA286BF25}"/>
              </a:ext>
            </a:extLst>
          </p:cNvPr>
          <p:cNvSpPr>
            <a:spLocks noGrp="1"/>
          </p:cNvSpPr>
          <p:nvPr>
            <p:ph type="sldNum" sz="quarter" idx="12"/>
          </p:nvPr>
        </p:nvSpPr>
        <p:spPr/>
        <p:txBody>
          <a:bodyPr/>
          <a:lstStyle/>
          <a:p>
            <a:fld id="{659B2F21-D912-7541-8ED2-FD6ABD90B685}" type="slidenum">
              <a:rPr lang="en-US" smtClean="0"/>
              <a:t>30</a:t>
            </a:fld>
            <a:endParaRPr lang="en-US"/>
          </a:p>
        </p:txBody>
      </p:sp>
      <p:sp>
        <p:nvSpPr>
          <p:cNvPr id="5" name="TextBox 4">
            <a:extLst>
              <a:ext uri="{FF2B5EF4-FFF2-40B4-BE49-F238E27FC236}">
                <a16:creationId xmlns:a16="http://schemas.microsoft.com/office/drawing/2014/main" id="{9B95736A-8C7E-9463-F354-F60BBB895BBA}"/>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Concept I: Mechanism and Magnitude</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A7A03C2F-B1DD-5106-8A5C-DC7FDEDE0B16}"/>
                  </a:ext>
                </a:extLst>
              </p:cNvPr>
              <p:cNvSpPr txBox="1"/>
              <p:nvPr/>
            </p:nvSpPr>
            <p:spPr>
              <a:xfrm>
                <a:off x="610351" y="1532067"/>
                <a:ext cx="10955866" cy="1938992"/>
              </a:xfrm>
              <a:prstGeom prst="rect">
                <a:avLst/>
              </a:prstGeom>
              <a:noFill/>
            </p:spPr>
            <p:txBody>
              <a:bodyPr wrap="square">
                <a:spAutoFit/>
              </a:bodyPr>
              <a:lstStyle/>
              <a:p>
                <a:r>
                  <a:rPr lang="en-US" sz="2400" b="1" dirty="0"/>
                  <a:t>Extrapolation</a:t>
                </a:r>
              </a:p>
              <a:p>
                <a:endParaRPr lang="en-US" sz="2400" b="1" dirty="0"/>
              </a:p>
              <a:p>
                <a:pPr marL="342900" indent="-342900">
                  <a:buFont typeface="Arial" panose="020B0604020202020204" pitchFamily="34" charset="0"/>
                  <a:buChar char="•"/>
                </a:pPr>
                <a:r>
                  <a:rPr lang="en-US" sz="2400" dirty="0"/>
                  <a:t>Score below </a:t>
                </a:r>
                <a14:m>
                  <m:oMath xmlns:m="http://schemas.openxmlformats.org/officeDocument/2006/math">
                    <m:sSup>
                      <m:sSupPr>
                        <m:ctrlPr>
                          <a:rPr lang="en-US" sz="2400" i="1" dirty="0" smtClean="0">
                            <a:latin typeface="Cambria Math" panose="02040503050406030204" pitchFamily="18" charset="0"/>
                          </a:rPr>
                        </m:ctrlPr>
                      </m:sSupPr>
                      <m:e>
                        <m:r>
                          <a:rPr lang="en-US" sz="2400" i="1" dirty="0" smtClean="0">
                            <a:latin typeface="Cambria Math" panose="02040503050406030204" pitchFamily="18" charset="0"/>
                          </a:rPr>
                          <m:t>10</m:t>
                        </m:r>
                      </m:e>
                      <m:sup>
                        <m:r>
                          <a:rPr lang="en-US" sz="2400" i="1" dirty="0" smtClean="0">
                            <a:latin typeface="Cambria Math" panose="02040503050406030204" pitchFamily="18" charset="0"/>
                          </a:rPr>
                          <m:t>−6</m:t>
                        </m:r>
                      </m:sup>
                    </m:sSup>
                  </m:oMath>
                </a14:m>
                <a:r>
                  <a:rPr lang="en-US" sz="2400" dirty="0"/>
                  <a:t> are extrapolated</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intercept is </a:t>
                </a:r>
                <a14:m>
                  <m:oMath xmlns:m="http://schemas.openxmlformats.org/officeDocument/2006/math">
                    <m:sSup>
                      <m:sSupPr>
                        <m:ctrlPr>
                          <a:rPr lang="en-US" sz="2400" i="1" dirty="0" smtClean="0">
                            <a:latin typeface="Cambria Math" panose="02040503050406030204" pitchFamily="18" charset="0"/>
                          </a:rPr>
                        </m:ctrlPr>
                      </m:sSupPr>
                      <m:e>
                        <m:r>
                          <a:rPr lang="en-US" sz="2400" i="1" dirty="0" smtClean="0">
                            <a:latin typeface="Cambria Math" panose="02040503050406030204" pitchFamily="18" charset="0"/>
                          </a:rPr>
                          <m:t>10</m:t>
                        </m:r>
                      </m:e>
                      <m:sup>
                        <m:r>
                          <a:rPr lang="en-US" sz="2400" i="1" dirty="0" smtClean="0">
                            <a:latin typeface="Cambria Math" panose="02040503050406030204" pitchFamily="18" charset="0"/>
                          </a:rPr>
                          <m:t>−7.003</m:t>
                        </m:r>
                      </m:sup>
                    </m:sSup>
                  </m:oMath>
                </a14:m>
                <a:r>
                  <a:rPr lang="en-US" sz="2400" b="1" dirty="0"/>
                  <a:t> </a:t>
                </a:r>
                <a:r>
                  <a:rPr lang="en-US" sz="2400" dirty="0"/>
                  <a:t>— </a:t>
                </a:r>
                <a:r>
                  <a:rPr lang="en-US" sz="2400" b="1" dirty="0"/>
                  <a:t>below the calibration floor </a:t>
                </a:r>
              </a:p>
            </p:txBody>
          </p:sp>
        </mc:Choice>
        <mc:Fallback>
          <p:sp>
            <p:nvSpPr>
              <p:cNvPr id="3" name="TextBox 2">
                <a:extLst>
                  <a:ext uri="{FF2B5EF4-FFF2-40B4-BE49-F238E27FC236}">
                    <a16:creationId xmlns:a16="http://schemas.microsoft.com/office/drawing/2014/main" id="{A7A03C2F-B1DD-5106-8A5C-DC7FDEDE0B16}"/>
                  </a:ext>
                </a:extLst>
              </p:cNvPr>
              <p:cNvSpPr txBox="1">
                <a:spLocks noRot="1" noChangeAspect="1" noMove="1" noResize="1" noEditPoints="1" noAdjustHandles="1" noChangeArrowheads="1" noChangeShapeType="1" noTextEdit="1"/>
              </p:cNvSpPr>
              <p:nvPr/>
            </p:nvSpPr>
            <p:spPr>
              <a:xfrm>
                <a:off x="610351" y="1532067"/>
                <a:ext cx="10955866" cy="1938992"/>
              </a:xfrm>
              <a:prstGeom prst="rect">
                <a:avLst/>
              </a:prstGeom>
              <a:blipFill>
                <a:blip r:embed="rId3"/>
                <a:stretch>
                  <a:fillRect l="-927" t="-2597" b="-7143"/>
                </a:stretch>
              </a:blipFill>
            </p:spPr>
            <p:txBody>
              <a:bodyPr/>
              <a:lstStyle/>
              <a:p>
                <a:r>
                  <a:rPr lang="en-US">
                    <a:noFill/>
                  </a:rPr>
                  <a:t> </a:t>
                </a:r>
              </a:p>
            </p:txBody>
          </p:sp>
        </mc:Fallback>
      </mc:AlternateContent>
    </p:spTree>
    <p:extLst>
      <p:ext uri="{BB962C8B-B14F-4D97-AF65-F5344CB8AC3E}">
        <p14:creationId xmlns:p14="http://schemas.microsoft.com/office/powerpoint/2010/main" val="18394040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BE628-F848-2D1F-3873-EDD6E593290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C91470F-2B1A-FDA8-A148-A1DCFFE186E0}"/>
              </a:ext>
            </a:extLst>
          </p:cNvPr>
          <p:cNvSpPr>
            <a:spLocks noGrp="1"/>
          </p:cNvSpPr>
          <p:nvPr>
            <p:ph type="sldNum" sz="quarter" idx="12"/>
          </p:nvPr>
        </p:nvSpPr>
        <p:spPr/>
        <p:txBody>
          <a:bodyPr/>
          <a:lstStyle/>
          <a:p>
            <a:fld id="{659B2F21-D912-7541-8ED2-FD6ABD90B685}" type="slidenum">
              <a:rPr lang="en-US" smtClean="0"/>
              <a:t>31</a:t>
            </a:fld>
            <a:endParaRPr lang="en-US"/>
          </a:p>
        </p:txBody>
      </p:sp>
      <p:sp>
        <p:nvSpPr>
          <p:cNvPr id="5" name="TextBox 4">
            <a:extLst>
              <a:ext uri="{FF2B5EF4-FFF2-40B4-BE49-F238E27FC236}">
                <a16:creationId xmlns:a16="http://schemas.microsoft.com/office/drawing/2014/main" id="{044552E7-B9E6-D226-0675-64BE5376046E}"/>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Concept I: Mechanism and Magnitude</a:t>
            </a:r>
          </a:p>
        </p:txBody>
      </p:sp>
      <p:graphicFrame>
        <p:nvGraphicFramePr>
          <p:cNvPr id="2" name="Table 1">
            <a:extLst>
              <a:ext uri="{FF2B5EF4-FFF2-40B4-BE49-F238E27FC236}">
                <a16:creationId xmlns:a16="http://schemas.microsoft.com/office/drawing/2014/main" id="{E6CFD028-5B38-D137-93D9-97AE8AD45C8B}"/>
              </a:ext>
            </a:extLst>
          </p:cNvPr>
          <p:cNvGraphicFramePr>
            <a:graphicFrameLocks noGrp="1"/>
          </p:cNvGraphicFramePr>
          <p:nvPr>
            <p:extLst>
              <p:ext uri="{D42A27DB-BD31-4B8C-83A1-F6EECF244321}">
                <p14:modId xmlns:p14="http://schemas.microsoft.com/office/powerpoint/2010/main" val="1415882216"/>
              </p:ext>
            </p:extLst>
          </p:nvPr>
        </p:nvGraphicFramePr>
        <p:xfrm>
          <a:off x="1702550" y="2143499"/>
          <a:ext cx="8771468" cy="3657600"/>
        </p:xfrm>
        <a:graphic>
          <a:graphicData uri="http://schemas.openxmlformats.org/drawingml/2006/table">
            <a:tbl>
              <a:tblPr firstRow="1" bandRow="1">
                <a:tableStyleId>{5C22544A-7EE6-4342-B048-85BDC9FD1C3A}</a:tableStyleId>
              </a:tblPr>
              <a:tblGrid>
                <a:gridCol w="4385734">
                  <a:extLst>
                    <a:ext uri="{9D8B030D-6E8A-4147-A177-3AD203B41FA5}">
                      <a16:colId xmlns:a16="http://schemas.microsoft.com/office/drawing/2014/main" val="802422360"/>
                    </a:ext>
                  </a:extLst>
                </a:gridCol>
                <a:gridCol w="4385734">
                  <a:extLst>
                    <a:ext uri="{9D8B030D-6E8A-4147-A177-3AD203B41FA5}">
                      <a16:colId xmlns:a16="http://schemas.microsoft.com/office/drawing/2014/main" val="1939993707"/>
                    </a:ext>
                  </a:extLst>
                </a:gridCol>
              </a:tblGrid>
              <a:tr h="0">
                <a:tc>
                  <a:txBody>
                    <a:bodyPr/>
                    <a:lstStyle/>
                    <a:p>
                      <a:pPr algn="ctr"/>
                      <a:r>
                        <a:rPr lang="en-US" sz="2400" dirty="0"/>
                        <a:t>Source of Variation</a:t>
                      </a:r>
                    </a:p>
                  </a:txBody>
                  <a:tcPr/>
                </a:tc>
                <a:tc>
                  <a:txBody>
                    <a:bodyPr/>
                    <a:lstStyle/>
                    <a:p>
                      <a:pPr algn="ctr"/>
                      <a:r>
                        <a:rPr lang="en-US" sz="2400" dirty="0"/>
                        <a:t>Range in Coefficients</a:t>
                      </a:r>
                    </a:p>
                  </a:txBody>
                  <a:tcPr/>
                </a:tc>
                <a:extLst>
                  <a:ext uri="{0D108BD9-81ED-4DB2-BD59-A6C34878D82A}">
                    <a16:rowId xmlns:a16="http://schemas.microsoft.com/office/drawing/2014/main" val="2565668969"/>
                  </a:ext>
                </a:extLst>
              </a:tr>
              <a:tr h="370840">
                <a:tc>
                  <a:txBody>
                    <a:bodyPr/>
                    <a:lstStyle/>
                    <a:p>
                      <a:r>
                        <a:rPr lang="en-US" sz="2400" dirty="0"/>
                        <a:t>Algorithm</a:t>
                      </a:r>
                    </a:p>
                  </a:txBody>
                  <a:tcPr/>
                </a:tc>
                <a:tc>
                  <a:txBody>
                    <a:bodyPr/>
                    <a:lstStyle/>
                    <a:p>
                      <a:r>
                        <a:rPr lang="en-US" sz="2400" dirty="0"/>
                        <a:t>0.69</a:t>
                      </a:r>
                    </a:p>
                  </a:txBody>
                  <a:tcPr/>
                </a:tc>
                <a:extLst>
                  <a:ext uri="{0D108BD9-81ED-4DB2-BD59-A6C34878D82A}">
                    <a16:rowId xmlns:a16="http://schemas.microsoft.com/office/drawing/2014/main" val="1549017942"/>
                  </a:ext>
                </a:extLst>
              </a:tr>
              <a:tr h="370840">
                <a:tc>
                  <a:txBody>
                    <a:bodyPr/>
                    <a:lstStyle/>
                    <a:p>
                      <a:r>
                        <a:rPr lang="en-US" sz="2400" dirty="0"/>
                        <a:t>Camera location</a:t>
                      </a:r>
                    </a:p>
                  </a:txBody>
                  <a:tcPr/>
                </a:tc>
                <a:tc>
                  <a:txBody>
                    <a:bodyPr/>
                    <a:lstStyle/>
                    <a:p>
                      <a:r>
                        <a:rPr lang="en-US" sz="2400" b="1" dirty="0"/>
                        <a:t>2.29</a:t>
                      </a:r>
                    </a:p>
                  </a:txBody>
                  <a:tcPr/>
                </a:tc>
                <a:extLst>
                  <a:ext uri="{0D108BD9-81ED-4DB2-BD59-A6C34878D82A}">
                    <a16:rowId xmlns:a16="http://schemas.microsoft.com/office/drawing/2014/main" val="2456086136"/>
                  </a:ext>
                </a:extLst>
              </a:tr>
              <a:tr h="370840">
                <a:tc>
                  <a:txBody>
                    <a:bodyPr/>
                    <a:lstStyle/>
                    <a:p>
                      <a:r>
                        <a:rPr lang="en-US" sz="2400" dirty="0"/>
                        <a:t>Head height</a:t>
                      </a:r>
                    </a:p>
                  </a:txBody>
                  <a:tcPr/>
                </a:tc>
                <a:tc>
                  <a:txBody>
                    <a:bodyPr/>
                    <a:lstStyle/>
                    <a:p>
                      <a:r>
                        <a:rPr lang="en-US" sz="2400" b="1" dirty="0"/>
                        <a:t>2.23</a:t>
                      </a:r>
                    </a:p>
                  </a:txBody>
                  <a:tcPr/>
                </a:tc>
                <a:extLst>
                  <a:ext uri="{0D108BD9-81ED-4DB2-BD59-A6C34878D82A}">
                    <a16:rowId xmlns:a16="http://schemas.microsoft.com/office/drawing/2014/main" val="3250773330"/>
                  </a:ext>
                </a:extLst>
              </a:tr>
              <a:tr h="370840">
                <a:tc>
                  <a:txBody>
                    <a:bodyPr/>
                    <a:lstStyle/>
                    <a:p>
                      <a:r>
                        <a:rPr lang="en-US" sz="2400" dirty="0"/>
                        <a:t>Modality</a:t>
                      </a:r>
                    </a:p>
                  </a:txBody>
                  <a:tcPr/>
                </a:tc>
                <a:tc>
                  <a:txBody>
                    <a:bodyPr/>
                    <a:lstStyle/>
                    <a:p>
                      <a:r>
                        <a:rPr lang="en-US" sz="2400" dirty="0"/>
                        <a:t>0.74</a:t>
                      </a:r>
                    </a:p>
                  </a:txBody>
                  <a:tcPr/>
                </a:tc>
                <a:extLst>
                  <a:ext uri="{0D108BD9-81ED-4DB2-BD59-A6C34878D82A}">
                    <a16:rowId xmlns:a16="http://schemas.microsoft.com/office/drawing/2014/main" val="2913199193"/>
                  </a:ext>
                </a:extLst>
              </a:tr>
              <a:tr h="370840">
                <a:tc>
                  <a:txBody>
                    <a:bodyPr/>
                    <a:lstStyle/>
                    <a:p>
                      <a:r>
                        <a:rPr lang="en-US" sz="2400" dirty="0"/>
                        <a:t>Solar Load</a:t>
                      </a:r>
                    </a:p>
                  </a:txBody>
                  <a:tcPr/>
                </a:tc>
                <a:tc>
                  <a:txBody>
                    <a:bodyPr/>
                    <a:lstStyle/>
                    <a:p>
                      <a:r>
                        <a:rPr lang="en-US" sz="2400" dirty="0"/>
                        <a:t>1.07</a:t>
                      </a:r>
                    </a:p>
                  </a:txBody>
                  <a:tcPr/>
                </a:tc>
                <a:extLst>
                  <a:ext uri="{0D108BD9-81ED-4DB2-BD59-A6C34878D82A}">
                    <a16:rowId xmlns:a16="http://schemas.microsoft.com/office/drawing/2014/main" val="3201535155"/>
                  </a:ext>
                </a:extLst>
              </a:tr>
              <a:tr h="370840">
                <a:tc>
                  <a:txBody>
                    <a:bodyPr/>
                    <a:lstStyle/>
                    <a:p>
                      <a:r>
                        <a:rPr lang="en-US" sz="2400" dirty="0"/>
                        <a:t>Wind Speed</a:t>
                      </a:r>
                    </a:p>
                  </a:txBody>
                  <a:tcPr/>
                </a:tc>
                <a:tc>
                  <a:txBody>
                    <a:bodyPr/>
                    <a:lstStyle/>
                    <a:p>
                      <a:r>
                        <a:rPr lang="en-US" sz="2400" dirty="0"/>
                        <a:t>0.33</a:t>
                      </a:r>
                    </a:p>
                  </a:txBody>
                  <a:tcPr/>
                </a:tc>
                <a:extLst>
                  <a:ext uri="{0D108BD9-81ED-4DB2-BD59-A6C34878D82A}">
                    <a16:rowId xmlns:a16="http://schemas.microsoft.com/office/drawing/2014/main" val="1622366586"/>
                  </a:ext>
                </a:extLst>
              </a:tr>
              <a:tr h="370840">
                <a:tc>
                  <a:txBody>
                    <a:bodyPr/>
                    <a:lstStyle/>
                    <a:p>
                      <a:r>
                        <a:rPr lang="en-US" sz="2400" dirty="0"/>
                        <a:t>Temperature</a:t>
                      </a:r>
                    </a:p>
                  </a:txBody>
                  <a:tcPr/>
                </a:tc>
                <a:tc>
                  <a:txBody>
                    <a:bodyPr/>
                    <a:lstStyle/>
                    <a:p>
                      <a:r>
                        <a:rPr lang="en-US" sz="2400" dirty="0"/>
                        <a:t>0.67</a:t>
                      </a:r>
                    </a:p>
                  </a:txBody>
                  <a:tcPr/>
                </a:tc>
                <a:extLst>
                  <a:ext uri="{0D108BD9-81ED-4DB2-BD59-A6C34878D82A}">
                    <a16:rowId xmlns:a16="http://schemas.microsoft.com/office/drawing/2014/main" val="4137381201"/>
                  </a:ext>
                </a:extLst>
              </a:tr>
            </a:tbl>
          </a:graphicData>
        </a:graphic>
      </p:graphicFrame>
    </p:spTree>
    <p:extLst>
      <p:ext uri="{BB962C8B-B14F-4D97-AF65-F5344CB8AC3E}">
        <p14:creationId xmlns:p14="http://schemas.microsoft.com/office/powerpoint/2010/main" val="37819309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1D631-98F1-9CA5-4405-944113AAF81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5EA104-6AE6-CB47-5353-2AD05AC9BFC7}"/>
              </a:ext>
            </a:extLst>
          </p:cNvPr>
          <p:cNvSpPr>
            <a:spLocks noGrp="1"/>
          </p:cNvSpPr>
          <p:nvPr>
            <p:ph type="sldNum" sz="quarter" idx="12"/>
          </p:nvPr>
        </p:nvSpPr>
        <p:spPr/>
        <p:txBody>
          <a:bodyPr/>
          <a:lstStyle/>
          <a:p>
            <a:fld id="{659B2F21-D912-7541-8ED2-FD6ABD90B685}" type="slidenum">
              <a:rPr lang="en-US" smtClean="0"/>
              <a:t>32</a:t>
            </a:fld>
            <a:endParaRPr lang="en-US"/>
          </a:p>
        </p:txBody>
      </p:sp>
      <p:sp>
        <p:nvSpPr>
          <p:cNvPr id="5" name="TextBox 4">
            <a:extLst>
              <a:ext uri="{FF2B5EF4-FFF2-40B4-BE49-F238E27FC236}">
                <a16:creationId xmlns:a16="http://schemas.microsoft.com/office/drawing/2014/main" id="{6721CC93-85B1-B7CB-3914-6844B031C8EC}"/>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Concept II: Confounding and Absorption</a:t>
            </a:r>
          </a:p>
        </p:txBody>
      </p:sp>
      <p:sp>
        <p:nvSpPr>
          <p:cNvPr id="3" name="TextBox 2">
            <a:extLst>
              <a:ext uri="{FF2B5EF4-FFF2-40B4-BE49-F238E27FC236}">
                <a16:creationId xmlns:a16="http://schemas.microsoft.com/office/drawing/2014/main" id="{4E3EA8A7-DE60-93A0-70DA-12228A855D18}"/>
              </a:ext>
            </a:extLst>
          </p:cNvPr>
          <p:cNvSpPr txBox="1"/>
          <p:nvPr/>
        </p:nvSpPr>
        <p:spPr>
          <a:xfrm>
            <a:off x="618067" y="1490008"/>
            <a:ext cx="10955866" cy="4524315"/>
          </a:xfrm>
          <a:prstGeom prst="rect">
            <a:avLst/>
          </a:prstGeom>
          <a:noFill/>
        </p:spPr>
        <p:txBody>
          <a:bodyPr wrap="square">
            <a:spAutoFit/>
          </a:bodyPr>
          <a:lstStyle/>
          <a:p>
            <a:r>
              <a:rPr lang="en-US" sz="2400" b="1" dirty="0"/>
              <a:t>Entanglement</a:t>
            </a:r>
          </a:p>
          <a:p>
            <a:endParaRPr lang="en-US" sz="2400" b="1" dirty="0"/>
          </a:p>
          <a:p>
            <a:pPr marL="342900" indent="-342900">
              <a:buFont typeface="Arial" panose="020B0604020202020204" pitchFamily="34" charset="0"/>
              <a:buChar char="•"/>
            </a:pPr>
            <a:r>
              <a:rPr lang="en-US" sz="2400" dirty="0"/>
              <a:t>“</a:t>
            </a:r>
            <a:r>
              <a:rPr lang="en-US" sz="2400" b="1" dirty="0"/>
              <a:t>Many of the variables and metadata collected are correlated</a:t>
            </a:r>
            <a:r>
              <a:rPr lang="en-US" sz="2400" dirty="0"/>
              <a:t>, which makes the analysis more </a:t>
            </a:r>
            <a:r>
              <a:rPr lang="en-US" sz="2400" b="1" dirty="0">
                <a:solidFill>
                  <a:srgbClr val="0070C0"/>
                </a:solidFill>
              </a:rPr>
              <a:t>challenging</a:t>
            </a:r>
            <a:r>
              <a:rPr lang="en-US" sz="2400" dirty="0"/>
              <a:t>. To ensure the validity and reliability of the findings, it is essential to account for confounding variables.”</a:t>
            </a:r>
          </a:p>
          <a:p>
            <a:endParaRPr lang="en-US" sz="2400" dirty="0"/>
          </a:p>
          <a:p>
            <a:pPr marL="342900" indent="-342900">
              <a:buFont typeface="Arial" panose="020B0604020202020204" pitchFamily="34" charset="0"/>
              <a:buChar char="•"/>
            </a:pPr>
            <a:r>
              <a:rPr lang="en-US" sz="2400" dirty="0"/>
              <a:t>"By considering all possible combinations of (sensor model × collection id), we arrived at </a:t>
            </a:r>
            <a:r>
              <a:rPr lang="en-US" sz="2400" b="1" dirty="0"/>
              <a:t>63 unique groups </a:t>
            </a:r>
            <a:r>
              <a:rPr lang="en-US" sz="2400" dirty="0"/>
              <a:t>in the mixed-effects model.”</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“...due to the variety of cameras and complexity of modeling the whole camera performance, this selection is represented in our model as a fixed effect and therefore is not shown in the final table of coefficients.” </a:t>
            </a:r>
          </a:p>
        </p:txBody>
      </p:sp>
    </p:spTree>
    <p:extLst>
      <p:ext uri="{BB962C8B-B14F-4D97-AF65-F5344CB8AC3E}">
        <p14:creationId xmlns:p14="http://schemas.microsoft.com/office/powerpoint/2010/main" val="59113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66418-4C5D-0900-6651-68B48AC45C0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5C65E6B-2121-8E08-8DBB-F51FA427F5CC}"/>
              </a:ext>
            </a:extLst>
          </p:cNvPr>
          <p:cNvSpPr>
            <a:spLocks noGrp="1"/>
          </p:cNvSpPr>
          <p:nvPr>
            <p:ph type="sldNum" sz="quarter" idx="12"/>
          </p:nvPr>
        </p:nvSpPr>
        <p:spPr/>
        <p:txBody>
          <a:bodyPr/>
          <a:lstStyle/>
          <a:p>
            <a:fld id="{659B2F21-D912-7541-8ED2-FD6ABD90B685}" type="slidenum">
              <a:rPr lang="en-US" smtClean="0"/>
              <a:t>33</a:t>
            </a:fld>
            <a:endParaRPr lang="en-US"/>
          </a:p>
        </p:txBody>
      </p:sp>
      <p:sp>
        <p:nvSpPr>
          <p:cNvPr id="5" name="TextBox 4">
            <a:extLst>
              <a:ext uri="{FF2B5EF4-FFF2-40B4-BE49-F238E27FC236}">
                <a16:creationId xmlns:a16="http://schemas.microsoft.com/office/drawing/2014/main" id="{C90B8D01-D171-0460-CA4E-69906B4BBCA2}"/>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Concept II: Confounding and Absorption</a:t>
            </a:r>
          </a:p>
        </p:txBody>
      </p:sp>
      <p:sp>
        <p:nvSpPr>
          <p:cNvPr id="3" name="TextBox 2">
            <a:extLst>
              <a:ext uri="{FF2B5EF4-FFF2-40B4-BE49-F238E27FC236}">
                <a16:creationId xmlns:a16="http://schemas.microsoft.com/office/drawing/2014/main" id="{60049B3F-3DDB-7424-87E3-981EFCAA02EC}"/>
              </a:ext>
            </a:extLst>
          </p:cNvPr>
          <p:cNvSpPr txBox="1"/>
          <p:nvPr/>
        </p:nvSpPr>
        <p:spPr>
          <a:xfrm>
            <a:off x="618067" y="1490008"/>
            <a:ext cx="10955866" cy="4247317"/>
          </a:xfrm>
          <a:prstGeom prst="rect">
            <a:avLst/>
          </a:prstGeom>
          <a:noFill/>
        </p:spPr>
        <p:txBody>
          <a:bodyPr wrap="square">
            <a:spAutoFit/>
          </a:bodyPr>
          <a:lstStyle/>
          <a:p>
            <a:r>
              <a:rPr lang="en-US" sz="2400" b="1" dirty="0"/>
              <a:t>Self-Confounding and Acknowledged Correlation</a:t>
            </a:r>
          </a:p>
          <a:p>
            <a:endParaRPr lang="en-US" sz="2400" b="1" dirty="0"/>
          </a:p>
          <a:p>
            <a:pPr marL="342900" indent="-342900">
              <a:buFont typeface="Arial" panose="020B0604020202020204" pitchFamily="34" charset="0"/>
              <a:buChar char="•"/>
            </a:pPr>
            <a:r>
              <a:rPr lang="en-US" sz="2400" dirty="0"/>
              <a:t>“Two related covariates that are two of the strongest predictors of accuracy are </a:t>
            </a:r>
            <a:r>
              <a:rPr lang="en-US" sz="2400" b="1" dirty="0"/>
              <a:t>head height </a:t>
            </a:r>
            <a:r>
              <a:rPr lang="en-US" sz="2400" dirty="0"/>
              <a:t>in pixels, and </a:t>
            </a:r>
            <a:r>
              <a:rPr lang="en-US" sz="2400" b="1" dirty="0"/>
              <a:t>modality</a:t>
            </a:r>
            <a:r>
              <a:rPr lang="en-US" sz="2400" dirty="0"/>
              <a:t>... these likely are correlated since </a:t>
            </a:r>
            <a:r>
              <a:rPr lang="en-US" sz="2400" b="1" dirty="0"/>
              <a:t>modality</a:t>
            </a:r>
            <a:r>
              <a:rPr lang="en-US" sz="2400" dirty="0"/>
              <a:t> relates to how the zoom level of the camera is set</a:t>
            </a:r>
            <a:r>
              <a:rPr lang="en-US" sz="2400" b="1" dirty="0"/>
              <a:t>.</a:t>
            </a:r>
            <a:endParaRPr lang="en-US" sz="2400" dirty="0"/>
          </a:p>
          <a:p>
            <a:endParaRPr lang="en-US" sz="2400" dirty="0"/>
          </a:p>
          <a:p>
            <a:r>
              <a:rPr lang="en-US" sz="2400" b="1" dirty="0"/>
              <a:t>What was dropped?</a:t>
            </a:r>
          </a:p>
          <a:p>
            <a:endParaRPr lang="en-US" sz="2400" b="1" dirty="0"/>
          </a:p>
          <a:p>
            <a:pPr marL="342900" indent="-342900">
              <a:buFont typeface="Arial" panose="020B0604020202020204" pitchFamily="34" charset="0"/>
              <a:buChar char="•"/>
            </a:pPr>
            <a:r>
              <a:rPr lang="en-US" b="1" dirty="0"/>
              <a:t>900 of the 9,215 probes were dropped</a:t>
            </a:r>
            <a:r>
              <a:rPr lang="en-US" dirty="0"/>
              <a:t> from the dataset due to missing weather information... Additionally, </a:t>
            </a:r>
            <a:r>
              <a:rPr lang="en-US" b="1" dirty="0"/>
              <a:t>20 probes associated with one individual were dropped because the individual was labeled as 'Unspecified' sex.</a:t>
            </a:r>
            <a:r>
              <a:rPr lang="en-US" dirty="0"/>
              <a:t>"</a:t>
            </a:r>
            <a:endParaRPr lang="en-US" sz="2400" b="1" dirty="0"/>
          </a:p>
          <a:p>
            <a:endParaRPr lang="en-US" sz="2400" dirty="0"/>
          </a:p>
        </p:txBody>
      </p:sp>
    </p:spTree>
    <p:extLst>
      <p:ext uri="{BB962C8B-B14F-4D97-AF65-F5344CB8AC3E}">
        <p14:creationId xmlns:p14="http://schemas.microsoft.com/office/powerpoint/2010/main" val="398482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FC4B9-DC2E-28B5-8937-E6C3CE3BB8C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CA8733-736D-8A40-10B4-780E511622FE}"/>
              </a:ext>
            </a:extLst>
          </p:cNvPr>
          <p:cNvSpPr>
            <a:spLocks noGrp="1"/>
          </p:cNvSpPr>
          <p:nvPr>
            <p:ph type="sldNum" sz="quarter" idx="12"/>
          </p:nvPr>
        </p:nvSpPr>
        <p:spPr/>
        <p:txBody>
          <a:bodyPr/>
          <a:lstStyle/>
          <a:p>
            <a:fld id="{659B2F21-D912-7541-8ED2-FD6ABD90B685}" type="slidenum">
              <a:rPr lang="en-US" smtClean="0"/>
              <a:t>34</a:t>
            </a:fld>
            <a:endParaRPr lang="en-US"/>
          </a:p>
        </p:txBody>
      </p:sp>
      <p:sp>
        <p:nvSpPr>
          <p:cNvPr id="5" name="TextBox 4">
            <a:extLst>
              <a:ext uri="{FF2B5EF4-FFF2-40B4-BE49-F238E27FC236}">
                <a16:creationId xmlns:a16="http://schemas.microsoft.com/office/drawing/2014/main" id="{65380BAF-AB82-47AD-65FE-701CF6E9EF61}"/>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Paper Discussion</a:t>
            </a:r>
          </a:p>
        </p:txBody>
      </p:sp>
      <p:sp>
        <p:nvSpPr>
          <p:cNvPr id="3" name="TextBox 2">
            <a:extLst>
              <a:ext uri="{FF2B5EF4-FFF2-40B4-BE49-F238E27FC236}">
                <a16:creationId xmlns:a16="http://schemas.microsoft.com/office/drawing/2014/main" id="{DF25A997-68FA-AF9A-E3FB-C1E93111F1A5}"/>
              </a:ext>
            </a:extLst>
          </p:cNvPr>
          <p:cNvSpPr txBox="1"/>
          <p:nvPr/>
        </p:nvSpPr>
        <p:spPr>
          <a:xfrm>
            <a:off x="590310" y="1193895"/>
            <a:ext cx="10955866" cy="984885"/>
          </a:xfrm>
          <a:prstGeom prst="rect">
            <a:avLst/>
          </a:prstGeom>
          <a:noFill/>
        </p:spPr>
        <p:txBody>
          <a:bodyPr wrap="square">
            <a:spAutoFit/>
          </a:bodyPr>
          <a:lstStyle/>
          <a:p>
            <a:r>
              <a:rPr lang="en-US" sz="4000" dirty="0"/>
              <a:t>Where does the paper fall short?</a:t>
            </a:r>
            <a:br>
              <a:rPr lang="en-US" sz="3200" dirty="0"/>
            </a:br>
            <a:endParaRPr lang="en-US" dirty="0"/>
          </a:p>
        </p:txBody>
      </p:sp>
      <p:sp>
        <p:nvSpPr>
          <p:cNvPr id="2" name="TextBox 1">
            <a:extLst>
              <a:ext uri="{FF2B5EF4-FFF2-40B4-BE49-F238E27FC236}">
                <a16:creationId xmlns:a16="http://schemas.microsoft.com/office/drawing/2014/main" id="{02196408-3F11-2067-019A-3277F8D3B1FB}"/>
              </a:ext>
            </a:extLst>
          </p:cNvPr>
          <p:cNvSpPr txBox="1"/>
          <p:nvPr/>
        </p:nvSpPr>
        <p:spPr>
          <a:xfrm>
            <a:off x="838200" y="2005408"/>
            <a:ext cx="10688791" cy="4524315"/>
          </a:xfrm>
          <a:prstGeom prst="rect">
            <a:avLst/>
          </a:prstGeom>
          <a:noFill/>
        </p:spPr>
        <p:txBody>
          <a:bodyPr wrap="square" rtlCol="0">
            <a:spAutoFit/>
          </a:bodyPr>
          <a:lstStyle/>
          <a:p>
            <a:pPr marL="342900" indent="-342900">
              <a:buFont typeface="+mj-lt"/>
              <a:buAutoNum type="arabicPeriod"/>
            </a:pPr>
            <a:r>
              <a:rPr lang="en-US" sz="2400" dirty="0" err="1"/>
              <a:t>Tubulence</a:t>
            </a:r>
            <a:r>
              <a:rPr lang="en-US" sz="2400" dirty="0"/>
              <a:t> Null</a:t>
            </a:r>
          </a:p>
          <a:p>
            <a:pPr marL="342900" indent="-342900">
              <a:buFont typeface="+mj-lt"/>
              <a:buAutoNum type="arabicPeriod"/>
            </a:pPr>
            <a:r>
              <a:rPr lang="en-US" sz="2400" dirty="0"/>
              <a:t>Additivity by assertion</a:t>
            </a:r>
          </a:p>
          <a:p>
            <a:pPr marL="342900" indent="-342900">
              <a:buFont typeface="+mj-lt"/>
              <a:buAutoNum type="arabicPeriod"/>
            </a:pPr>
            <a:r>
              <a:rPr lang="en-US" sz="2400" dirty="0"/>
              <a:t>Binning and the UAV problem</a:t>
            </a:r>
          </a:p>
          <a:p>
            <a:pPr marL="342900" indent="-342900">
              <a:buFont typeface="+mj-lt"/>
              <a:buAutoNum type="arabicPeriod"/>
            </a:pPr>
            <a:r>
              <a:rPr lang="en-US" sz="2400" dirty="0"/>
              <a:t>Anomaly </a:t>
            </a:r>
          </a:p>
          <a:p>
            <a:pPr marL="800100" lvl="1" indent="-342900">
              <a:buFont typeface="Arial" panose="020B0604020202020204" pitchFamily="34" charset="0"/>
              <a:buChar char="•"/>
            </a:pPr>
            <a:r>
              <a:rPr lang="en-US" sz="2400" dirty="0"/>
              <a:t>At 600 m and 1000 m, individuals have distinct features with minimal distortion. However, at 800 m, some turbulence-induced degradation becomes apparent.</a:t>
            </a:r>
          </a:p>
          <a:p>
            <a:pPr marL="342900" indent="-342900">
              <a:buFont typeface="+mj-lt"/>
              <a:buAutoNum type="arabicPeriod"/>
            </a:pPr>
            <a:r>
              <a:rPr lang="en-US" sz="2400" dirty="0"/>
              <a:t>Scope Limits</a:t>
            </a:r>
          </a:p>
          <a:p>
            <a:pPr marL="800100" lvl="1" indent="-342900">
              <a:buFont typeface="Arial" panose="020B0604020202020204" pitchFamily="34" charset="0"/>
              <a:buChar char="•"/>
            </a:pPr>
            <a:r>
              <a:rPr lang="en-US" sz="2400" dirty="0"/>
              <a:t>Fusion only — face, body, and gait components are not </a:t>
            </a:r>
            <a:r>
              <a:rPr lang="en-US" sz="2400" dirty="0" err="1"/>
              <a:t>sepated</a:t>
            </a:r>
            <a:r>
              <a:rPr lang="en-US" sz="2400" dirty="0"/>
              <a:t> out</a:t>
            </a:r>
          </a:p>
          <a:p>
            <a:pPr marL="800100" lvl="1" indent="-342900">
              <a:buFont typeface="Arial" panose="020B0604020202020204" pitchFamily="34" charset="0"/>
              <a:buChar char="•"/>
            </a:pPr>
            <a:r>
              <a:rPr lang="en-US" sz="2400" dirty="0"/>
              <a:t>Demographics absent</a:t>
            </a:r>
          </a:p>
          <a:p>
            <a:pPr marL="800100" lvl="1" indent="-342900">
              <a:buFont typeface="Arial" panose="020B0604020202020204" pitchFamily="34" charset="0"/>
              <a:buChar char="•"/>
            </a:pPr>
            <a:r>
              <a:rPr lang="en-US" sz="2400" dirty="0"/>
              <a:t>Yaw/pitch unmodeled</a:t>
            </a:r>
          </a:p>
          <a:p>
            <a:pPr marL="800100" lvl="1" indent="-342900">
              <a:buFont typeface="Arial" panose="020B0604020202020204" pitchFamily="34" charset="0"/>
              <a:buChar char="•"/>
            </a:pPr>
            <a:r>
              <a:rPr lang="en-US" sz="2400" dirty="0"/>
              <a:t>BRIAR-specific</a:t>
            </a:r>
          </a:p>
        </p:txBody>
      </p:sp>
    </p:spTree>
    <p:extLst>
      <p:ext uri="{BB962C8B-B14F-4D97-AF65-F5344CB8AC3E}">
        <p14:creationId xmlns:p14="http://schemas.microsoft.com/office/powerpoint/2010/main" val="19685919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5A606-570F-589B-B3F3-7F4B7F0D268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9240AEA-CD7F-6E18-1A5A-C03CDC5B2802}"/>
              </a:ext>
            </a:extLst>
          </p:cNvPr>
          <p:cNvSpPr>
            <a:spLocks noGrp="1"/>
          </p:cNvSpPr>
          <p:nvPr>
            <p:ph type="sldNum" sz="quarter" idx="12"/>
          </p:nvPr>
        </p:nvSpPr>
        <p:spPr/>
        <p:txBody>
          <a:bodyPr/>
          <a:lstStyle/>
          <a:p>
            <a:fld id="{659B2F21-D912-7541-8ED2-FD6ABD90B685}" type="slidenum">
              <a:rPr lang="en-US" smtClean="0"/>
              <a:t>35</a:t>
            </a:fld>
            <a:endParaRPr lang="en-US"/>
          </a:p>
        </p:txBody>
      </p:sp>
      <p:sp>
        <p:nvSpPr>
          <p:cNvPr id="5" name="TextBox 4">
            <a:extLst>
              <a:ext uri="{FF2B5EF4-FFF2-40B4-BE49-F238E27FC236}">
                <a16:creationId xmlns:a16="http://schemas.microsoft.com/office/drawing/2014/main" id="{D76FAAB9-BC1C-BC41-19DB-DC06991EA323}"/>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Summary and Review</a:t>
            </a:r>
          </a:p>
        </p:txBody>
      </p:sp>
      <p:sp>
        <p:nvSpPr>
          <p:cNvPr id="6" name="TextBox 5">
            <a:extLst>
              <a:ext uri="{FF2B5EF4-FFF2-40B4-BE49-F238E27FC236}">
                <a16:creationId xmlns:a16="http://schemas.microsoft.com/office/drawing/2014/main" id="{02072D8F-B663-3546-C98F-790483CF10C0}"/>
              </a:ext>
            </a:extLst>
          </p:cNvPr>
          <p:cNvSpPr txBox="1"/>
          <p:nvPr/>
        </p:nvSpPr>
        <p:spPr>
          <a:xfrm>
            <a:off x="711200" y="1778000"/>
            <a:ext cx="9567333" cy="3354765"/>
          </a:xfrm>
          <a:prstGeom prst="rect">
            <a:avLst/>
          </a:prstGeom>
          <a:noFill/>
        </p:spPr>
        <p:txBody>
          <a:bodyPr wrap="square" rtlCol="0">
            <a:spAutoFit/>
          </a:bodyPr>
          <a:lstStyle/>
          <a:p>
            <a:r>
              <a:rPr lang="en-US" sz="2400" b="1" dirty="0"/>
              <a:t>Possible Answers to This Week’s Question:</a:t>
            </a:r>
          </a:p>
          <a:p>
            <a:endParaRPr lang="en-US" sz="2400" b="1" dirty="0"/>
          </a:p>
          <a:p>
            <a:pPr marL="457200" indent="-457200">
              <a:spcAft>
                <a:spcPts val="600"/>
              </a:spcAft>
              <a:buFont typeface="+mj-lt"/>
              <a:buAutoNum type="arabicPeriod"/>
            </a:pPr>
            <a:r>
              <a:rPr lang="en-US" sz="2400" dirty="0"/>
              <a:t>Conditions are inherited, not chosen</a:t>
            </a:r>
          </a:p>
          <a:p>
            <a:pPr marL="457200" indent="-457200">
              <a:spcAft>
                <a:spcPts val="600"/>
              </a:spcAft>
              <a:buFont typeface="+mj-lt"/>
              <a:buAutoNum type="arabicPeriod"/>
            </a:pPr>
            <a:r>
              <a:rPr lang="en-US" sz="2400" dirty="0"/>
              <a:t>Mechanism is distributional — ROC shifts down</a:t>
            </a:r>
          </a:p>
          <a:p>
            <a:pPr marL="457200" indent="-457200">
              <a:spcAft>
                <a:spcPts val="600"/>
              </a:spcAft>
              <a:buFont typeface="+mj-lt"/>
              <a:buAutoNum type="arabicPeriod"/>
            </a:pPr>
            <a:r>
              <a:rPr lang="en-US" sz="2400" dirty="0"/>
              <a:t>Magnitude is enormous and resolution-driven — 4 order of magnitude from 2 covariates</a:t>
            </a:r>
          </a:p>
          <a:p>
            <a:pPr marL="457200" indent="-457200">
              <a:spcAft>
                <a:spcPts val="600"/>
              </a:spcAft>
              <a:buFont typeface="+mj-lt"/>
              <a:buAutoNum type="arabicPeriod"/>
            </a:pPr>
            <a:r>
              <a:rPr lang="en-US" sz="2400" dirty="0"/>
              <a:t>Conditions outweigh algorithm choice — </a:t>
            </a:r>
            <a:r>
              <a:rPr lang="en-US" sz="2400" b="1" dirty="0"/>
              <a:t>All Systems Fail Together</a:t>
            </a:r>
            <a:endParaRPr lang="en-US" sz="2400" dirty="0"/>
          </a:p>
          <a:p>
            <a:pPr marL="457200" indent="-457200">
              <a:spcAft>
                <a:spcPts val="600"/>
              </a:spcAft>
              <a:buFont typeface="+mj-lt"/>
              <a:buAutoNum type="arabicPeriod"/>
            </a:pPr>
            <a:r>
              <a:rPr lang="en-US" sz="2400" dirty="0">
                <a:solidFill>
                  <a:srgbClr val="FF0000"/>
                </a:solidFill>
              </a:rPr>
              <a:t>Attribution is hard!</a:t>
            </a:r>
          </a:p>
        </p:txBody>
      </p:sp>
    </p:spTree>
    <p:extLst>
      <p:ext uri="{BB962C8B-B14F-4D97-AF65-F5344CB8AC3E}">
        <p14:creationId xmlns:p14="http://schemas.microsoft.com/office/powerpoint/2010/main" val="25567074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B5672-5BCE-75A9-E4FD-22C912ECAB4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C8331FB-A2AB-228B-99A9-3BFF7847D9C7}"/>
              </a:ext>
            </a:extLst>
          </p:cNvPr>
          <p:cNvSpPr>
            <a:spLocks noGrp="1"/>
          </p:cNvSpPr>
          <p:nvPr>
            <p:ph type="sldNum" sz="quarter" idx="12"/>
          </p:nvPr>
        </p:nvSpPr>
        <p:spPr/>
        <p:txBody>
          <a:bodyPr/>
          <a:lstStyle/>
          <a:p>
            <a:fld id="{659B2F21-D912-7541-8ED2-FD6ABD90B685}" type="slidenum">
              <a:rPr lang="en-US" smtClean="0"/>
              <a:t>36</a:t>
            </a:fld>
            <a:endParaRPr lang="en-US"/>
          </a:p>
        </p:txBody>
      </p:sp>
      <p:sp>
        <p:nvSpPr>
          <p:cNvPr id="5" name="TextBox 4">
            <a:extLst>
              <a:ext uri="{FF2B5EF4-FFF2-40B4-BE49-F238E27FC236}">
                <a16:creationId xmlns:a16="http://schemas.microsoft.com/office/drawing/2014/main" id="{E0E5B68B-BA25-B0EB-227F-166A1ACE29ED}"/>
              </a:ext>
            </a:extLst>
          </p:cNvPr>
          <p:cNvSpPr txBox="1"/>
          <p:nvPr/>
        </p:nvSpPr>
        <p:spPr>
          <a:xfrm>
            <a:off x="590310" y="486009"/>
            <a:ext cx="10995948" cy="707886"/>
          </a:xfrm>
          <a:prstGeom prst="rect">
            <a:avLst/>
          </a:prstGeom>
          <a:noFill/>
        </p:spPr>
        <p:txBody>
          <a:bodyPr wrap="square" rtlCol="0">
            <a:spAutoFit/>
          </a:bodyPr>
          <a:lstStyle/>
          <a:p>
            <a:r>
              <a:rPr lang="en-US" sz="4000" b="1" dirty="0">
                <a:solidFill>
                  <a:srgbClr val="0070C0"/>
                </a:solidFill>
              </a:rPr>
              <a:t>Summary and Review</a:t>
            </a:r>
          </a:p>
        </p:txBody>
      </p:sp>
      <p:sp>
        <p:nvSpPr>
          <p:cNvPr id="6" name="TextBox 5">
            <a:extLst>
              <a:ext uri="{FF2B5EF4-FFF2-40B4-BE49-F238E27FC236}">
                <a16:creationId xmlns:a16="http://schemas.microsoft.com/office/drawing/2014/main" id="{ACA6D9DE-DEBF-08E6-06C8-576BBAA3EBC3}"/>
              </a:ext>
            </a:extLst>
          </p:cNvPr>
          <p:cNvSpPr txBox="1"/>
          <p:nvPr/>
        </p:nvSpPr>
        <p:spPr>
          <a:xfrm>
            <a:off x="728133" y="1642533"/>
            <a:ext cx="9567333" cy="2985433"/>
          </a:xfrm>
          <a:prstGeom prst="rect">
            <a:avLst/>
          </a:prstGeom>
          <a:noFill/>
        </p:spPr>
        <p:txBody>
          <a:bodyPr wrap="square" rtlCol="0">
            <a:spAutoFit/>
          </a:bodyPr>
          <a:lstStyle/>
          <a:p>
            <a:r>
              <a:rPr lang="en-US" sz="2400" b="1" dirty="0"/>
              <a:t>What have learned about </a:t>
            </a:r>
            <a:r>
              <a:rPr lang="en-US" sz="2400" b="1" i="1" dirty="0"/>
              <a:t>reading</a:t>
            </a:r>
            <a:r>
              <a:rPr lang="en-US" sz="2400" b="1" dirty="0"/>
              <a:t> research?</a:t>
            </a:r>
          </a:p>
          <a:p>
            <a:endParaRPr lang="en-US" sz="2400" b="1" dirty="0"/>
          </a:p>
          <a:p>
            <a:pPr marL="342900" lvl="0" indent="-342900">
              <a:spcAft>
                <a:spcPts val="600"/>
              </a:spcAft>
              <a:buFont typeface="Courier New" panose="02070309020205020404" pitchFamily="49" charset="0"/>
              <a:buChar char="o"/>
            </a:pPr>
            <a:r>
              <a:rPr lang="en-US" sz="2400" dirty="0"/>
              <a:t>A null result is only as strong as its measurement coverage</a:t>
            </a:r>
          </a:p>
          <a:p>
            <a:pPr marL="342900" lvl="0" indent="-342900">
              <a:spcAft>
                <a:spcPts val="600"/>
              </a:spcAft>
              <a:buFont typeface="Courier New" panose="02070309020205020404" pitchFamily="49" charset="0"/>
              <a:buChar char="o"/>
            </a:pPr>
            <a:r>
              <a:rPr lang="en-US" sz="2400" dirty="0"/>
              <a:t>The largest effect may be the one absorbed out of the results table</a:t>
            </a:r>
          </a:p>
          <a:p>
            <a:pPr marL="342900" lvl="0" indent="-342900">
              <a:spcAft>
                <a:spcPts val="600"/>
              </a:spcAft>
              <a:buFont typeface="Courier New" panose="02070309020205020404" pitchFamily="49" charset="0"/>
              <a:buChar char="o"/>
            </a:pPr>
            <a:r>
              <a:rPr lang="en-US" sz="2400" dirty="0"/>
              <a:t>Additivity is a choice, and usually a conservative one</a:t>
            </a:r>
          </a:p>
          <a:p>
            <a:pPr marL="342900" lvl="0" indent="-342900">
              <a:spcAft>
                <a:spcPts val="600"/>
              </a:spcAft>
              <a:buFont typeface="Courier New" panose="02070309020205020404" pitchFamily="49" charset="0"/>
              <a:buChar char="o"/>
            </a:pPr>
            <a:r>
              <a:rPr lang="en-US" sz="2400" dirty="0"/>
              <a:t>The most quotable number is often the least supported</a:t>
            </a:r>
          </a:p>
          <a:p>
            <a:endParaRPr lang="en-US" sz="2400" b="1" dirty="0"/>
          </a:p>
        </p:txBody>
      </p:sp>
      <p:sp>
        <p:nvSpPr>
          <p:cNvPr id="2" name="TextBox 1">
            <a:extLst>
              <a:ext uri="{FF2B5EF4-FFF2-40B4-BE49-F238E27FC236}">
                <a16:creationId xmlns:a16="http://schemas.microsoft.com/office/drawing/2014/main" id="{F5E417EB-A446-434B-E6F0-C348698E9465}"/>
              </a:ext>
            </a:extLst>
          </p:cNvPr>
          <p:cNvSpPr txBox="1"/>
          <p:nvPr/>
        </p:nvSpPr>
        <p:spPr>
          <a:xfrm>
            <a:off x="728132" y="4233333"/>
            <a:ext cx="10858126" cy="2015936"/>
          </a:xfrm>
          <a:prstGeom prst="rect">
            <a:avLst/>
          </a:prstGeom>
          <a:noFill/>
        </p:spPr>
        <p:txBody>
          <a:bodyPr wrap="square" rtlCol="0">
            <a:spAutoFit/>
          </a:bodyPr>
          <a:lstStyle/>
          <a:p>
            <a:r>
              <a:rPr lang="en-US" sz="2400" b="1" dirty="0"/>
              <a:t>Two things this paper establishes but does not solve:</a:t>
            </a:r>
          </a:p>
          <a:p>
            <a:endParaRPr lang="en-US" sz="2400" b="1" dirty="0"/>
          </a:p>
          <a:p>
            <a:pPr marL="342900" lvl="0" indent="-342900">
              <a:spcAft>
                <a:spcPts val="600"/>
              </a:spcAft>
              <a:buFont typeface="Courier New" panose="02070309020205020404" pitchFamily="49" charset="0"/>
              <a:buChar char="o"/>
            </a:pPr>
            <a:r>
              <a:rPr lang="en-US" sz="2400" b="1" dirty="0"/>
              <a:t>Signal loss </a:t>
            </a:r>
            <a:r>
              <a:rPr lang="en-US" sz="2400" dirty="0"/>
              <a:t>— acquisition problem; representation learning cannot fix it</a:t>
            </a:r>
            <a:endParaRPr lang="en-US" sz="2400" b="1" dirty="0"/>
          </a:p>
          <a:p>
            <a:pPr marL="342900" lvl="0" indent="-342900">
              <a:spcAft>
                <a:spcPts val="600"/>
              </a:spcAft>
              <a:buFont typeface="Courier New" panose="02070309020205020404" pitchFamily="49" charset="0"/>
              <a:buChar char="o"/>
            </a:pPr>
            <a:r>
              <a:rPr lang="en-US" sz="2400" b="1" dirty="0"/>
              <a:t>Nuisance entanglement </a:t>
            </a:r>
            <a:r>
              <a:rPr lang="en-US" sz="2400" dirty="0"/>
              <a:t>— the indoor-gallery / outdoor-probe gap may be fixable</a:t>
            </a:r>
            <a:endParaRPr lang="en-US" sz="2400" b="1" dirty="0"/>
          </a:p>
        </p:txBody>
      </p:sp>
    </p:spTree>
    <p:extLst>
      <p:ext uri="{BB962C8B-B14F-4D97-AF65-F5344CB8AC3E}">
        <p14:creationId xmlns:p14="http://schemas.microsoft.com/office/powerpoint/2010/main" val="79865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DEE0E70-4B02-C809-EFDB-23B95BEAFE62}"/>
              </a:ext>
            </a:extLst>
          </p:cNvPr>
          <p:cNvSpPr>
            <a:spLocks noGrp="1"/>
          </p:cNvSpPr>
          <p:nvPr>
            <p:ph type="sldNum" sz="quarter" idx="12"/>
          </p:nvPr>
        </p:nvSpPr>
        <p:spPr/>
        <p:txBody>
          <a:bodyPr/>
          <a:lstStyle/>
          <a:p>
            <a:fld id="{659B2F21-D912-7541-8ED2-FD6ABD90B685}" type="slidenum">
              <a:rPr lang="en-US" smtClean="0"/>
              <a:t>37</a:t>
            </a:fld>
            <a:endParaRPr lang="en-US"/>
          </a:p>
        </p:txBody>
      </p:sp>
      <p:sp>
        <p:nvSpPr>
          <p:cNvPr id="5" name="TextBox 4">
            <a:extLst>
              <a:ext uri="{FF2B5EF4-FFF2-40B4-BE49-F238E27FC236}">
                <a16:creationId xmlns:a16="http://schemas.microsoft.com/office/drawing/2014/main" id="{A8ACD655-8594-A2CE-0479-E2D4BE969C2A}"/>
              </a:ext>
            </a:extLst>
          </p:cNvPr>
          <p:cNvSpPr txBox="1"/>
          <p:nvPr/>
        </p:nvSpPr>
        <p:spPr>
          <a:xfrm>
            <a:off x="590309" y="486009"/>
            <a:ext cx="11337231" cy="707886"/>
          </a:xfrm>
          <a:prstGeom prst="rect">
            <a:avLst/>
          </a:prstGeom>
          <a:noFill/>
        </p:spPr>
        <p:txBody>
          <a:bodyPr wrap="square" rtlCol="0">
            <a:spAutoFit/>
          </a:bodyPr>
          <a:lstStyle/>
          <a:p>
            <a:r>
              <a:rPr lang="en-US" sz="4000" b="1" dirty="0">
                <a:solidFill>
                  <a:srgbClr val="0070C0"/>
                </a:solidFill>
              </a:rPr>
              <a:t>Project 2 (Reproduce + Investigate)  due Oct. 23</a:t>
            </a:r>
          </a:p>
        </p:txBody>
      </p:sp>
      <p:sp>
        <p:nvSpPr>
          <p:cNvPr id="6" name="TextBox 5">
            <a:extLst>
              <a:ext uri="{FF2B5EF4-FFF2-40B4-BE49-F238E27FC236}">
                <a16:creationId xmlns:a16="http://schemas.microsoft.com/office/drawing/2014/main" id="{B9273892-25DA-DE16-BEE8-180DA302D69B}"/>
              </a:ext>
            </a:extLst>
          </p:cNvPr>
          <p:cNvSpPr txBox="1"/>
          <p:nvPr/>
        </p:nvSpPr>
        <p:spPr>
          <a:xfrm>
            <a:off x="590309" y="1839002"/>
            <a:ext cx="11135526" cy="4401205"/>
          </a:xfrm>
          <a:prstGeom prst="rect">
            <a:avLst/>
          </a:prstGeom>
          <a:noFill/>
        </p:spPr>
        <p:txBody>
          <a:bodyPr wrap="square">
            <a:spAutoFit/>
          </a:bodyPr>
          <a:lstStyle/>
          <a:p>
            <a:pPr marR="0" lvl="0"/>
            <a:r>
              <a:rPr lang="en-US" sz="3200" b="1" dirty="0"/>
              <a:t>Objective: </a:t>
            </a:r>
            <a:r>
              <a:rPr lang="en-US" sz="3200" dirty="0"/>
              <a:t>to </a:t>
            </a:r>
            <a:r>
              <a:rPr lang="en-US" sz="3200" dirty="0">
                <a:solidFill>
                  <a:srgbClr val="0070C0"/>
                </a:solidFill>
                <a:effectLst/>
                <a:latin typeface="+mn-lt"/>
              </a:rPr>
              <a:t>reproduce</a:t>
            </a:r>
            <a:r>
              <a:rPr lang="en-US" sz="3200" dirty="0">
                <a:effectLst/>
                <a:latin typeface="+mn-lt"/>
              </a:rPr>
              <a:t> a method from a </a:t>
            </a:r>
            <a:r>
              <a:rPr lang="en-US" sz="3200" u="sng" dirty="0">
                <a:effectLst/>
                <a:latin typeface="+mn-lt"/>
              </a:rPr>
              <a:t>modern</a:t>
            </a:r>
            <a:r>
              <a:rPr lang="en-US" sz="3200" dirty="0">
                <a:effectLst/>
                <a:latin typeface="+mn-lt"/>
              </a:rPr>
              <a:t> biometric journal or conference paper and </a:t>
            </a:r>
            <a:r>
              <a:rPr lang="en-US" sz="3200" dirty="0">
                <a:solidFill>
                  <a:srgbClr val="0070C0"/>
                </a:solidFill>
                <a:effectLst/>
                <a:latin typeface="+mn-lt"/>
              </a:rPr>
              <a:t>investigate</a:t>
            </a:r>
            <a:endParaRPr lang="en-US" sz="3200" dirty="0">
              <a:solidFill>
                <a:srgbClr val="0070C0"/>
              </a:solidFill>
            </a:endParaRPr>
          </a:p>
          <a:p>
            <a:pPr marR="0" lvl="0"/>
            <a:endParaRPr lang="en-US" sz="3200" dirty="0">
              <a:solidFill>
                <a:srgbClr val="0070C0"/>
              </a:solidFill>
              <a:effectLst/>
              <a:latin typeface="Times New Roman" panose="02020603050405020304" pitchFamily="18" charset="0"/>
            </a:endParaRPr>
          </a:p>
          <a:p>
            <a:pPr marL="457200" marR="0" lvl="0" indent="-457200">
              <a:buFont typeface="Arial" panose="020B0604020202020204" pitchFamily="34" charset="0"/>
              <a:buChar char="•"/>
            </a:pPr>
            <a:r>
              <a:rPr lang="en-US" sz="3200" dirty="0">
                <a:effectLst/>
                <a:latin typeface="Times New Roman" panose="02020603050405020304" pitchFamily="18" charset="0"/>
              </a:rPr>
              <a:t>Same problem as Project 1</a:t>
            </a:r>
            <a:endParaRPr lang="en-US" sz="3200" dirty="0">
              <a:latin typeface="Times New Roman" panose="02020603050405020304" pitchFamily="18" charset="0"/>
            </a:endParaRPr>
          </a:p>
          <a:p>
            <a:pPr marL="457200" indent="-457200">
              <a:buFont typeface="Arial" panose="020B0604020202020204" pitchFamily="34" charset="0"/>
              <a:buChar char="•"/>
            </a:pPr>
            <a:r>
              <a:rPr lang="en-US" sz="3200" dirty="0">
                <a:effectLst/>
                <a:latin typeface="Times New Roman" panose="02020603050405020304" pitchFamily="18" charset="0"/>
              </a:rPr>
              <a:t>Consider sources like:</a:t>
            </a:r>
          </a:p>
          <a:p>
            <a:pPr marL="914400" lvl="1" indent="-457200">
              <a:buFont typeface="Courier New" panose="02070309020205020404" pitchFamily="49" charset="0"/>
              <a:buChar char="o"/>
            </a:pPr>
            <a:r>
              <a:rPr lang="en-US" sz="2400" dirty="0">
                <a:solidFill>
                  <a:srgbClr val="0070C0"/>
                </a:solidFill>
                <a:effectLst/>
                <a:latin typeface="Times New Roman" panose="02020603050405020304" pitchFamily="18" charset="0"/>
              </a:rPr>
              <a:t>IEEE Transactions on Biometrics, Behavior, and Identity Science (T-BIOM)</a:t>
            </a:r>
          </a:p>
          <a:p>
            <a:pPr marL="914400" lvl="1" indent="-457200">
              <a:buFont typeface="Courier New" panose="02070309020205020404" pitchFamily="49" charset="0"/>
              <a:buChar char="o"/>
            </a:pPr>
            <a:r>
              <a:rPr lang="en-US" sz="2400" dirty="0">
                <a:solidFill>
                  <a:srgbClr val="0070C0"/>
                </a:solidFill>
                <a:latin typeface="Times New Roman" panose="02020603050405020304" pitchFamily="18" charset="0"/>
              </a:rPr>
              <a:t>IEEE/IAPR Internation Joint Conference on Biometrics</a:t>
            </a:r>
          </a:p>
          <a:p>
            <a:pPr marL="914400" lvl="1" indent="-457200">
              <a:buFont typeface="Courier New" panose="02070309020205020404" pitchFamily="49" charset="0"/>
              <a:buChar char="o"/>
            </a:pPr>
            <a:r>
              <a:rPr lang="en-US" sz="2400" dirty="0">
                <a:effectLst/>
                <a:latin typeface="Times New Roman" panose="02020603050405020304" pitchFamily="18" charset="0"/>
              </a:rPr>
              <a:t>IEEE/CVF Winter Conference on Application of Computer Vision</a:t>
            </a:r>
          </a:p>
          <a:p>
            <a:pPr marL="914400" lvl="1" indent="-457200">
              <a:buFont typeface="Courier New" panose="02070309020205020404" pitchFamily="49" charset="0"/>
              <a:buChar char="o"/>
            </a:pPr>
            <a:r>
              <a:rPr lang="en-US" sz="2400" dirty="0">
                <a:effectLst/>
                <a:latin typeface="Times New Roman" panose="02020603050405020304" pitchFamily="18" charset="0"/>
              </a:rPr>
              <a:t>IEEE/CVF Conference on Computer Vision and Pattern Recognition</a:t>
            </a:r>
          </a:p>
          <a:p>
            <a:pPr lvl="1"/>
            <a:r>
              <a:rPr lang="en-US" sz="2400" i="1" dirty="0">
                <a:latin typeface="Times New Roman" panose="02020603050405020304" pitchFamily="18" charset="0"/>
              </a:rPr>
              <a:t>Not limited to these venues</a:t>
            </a:r>
            <a:endParaRPr lang="en-US" sz="2400" i="1" dirty="0">
              <a:effectLst/>
              <a:latin typeface="Times New Roman" panose="02020603050405020304" pitchFamily="18" charset="0"/>
            </a:endParaRPr>
          </a:p>
        </p:txBody>
      </p:sp>
      <p:sp>
        <p:nvSpPr>
          <p:cNvPr id="7" name="Rounded Rectangle 6">
            <a:extLst>
              <a:ext uri="{FF2B5EF4-FFF2-40B4-BE49-F238E27FC236}">
                <a16:creationId xmlns:a16="http://schemas.microsoft.com/office/drawing/2014/main" id="{070AFA91-F8BD-18EF-518F-5CF82F80F1A7}"/>
              </a:ext>
            </a:extLst>
          </p:cNvPr>
          <p:cNvSpPr/>
          <p:nvPr/>
        </p:nvSpPr>
        <p:spPr>
          <a:xfrm>
            <a:off x="376517" y="1839002"/>
            <a:ext cx="11337231" cy="1079010"/>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5825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41881</TotalTime>
  <Words>6375</Words>
  <Application>Microsoft Macintosh PowerPoint</Application>
  <PresentationFormat>Widescreen</PresentationFormat>
  <Paragraphs>585</Paragraphs>
  <Slides>37</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-apple-system</vt:lpstr>
      <vt:lpstr>Aptos</vt:lpstr>
      <vt:lpstr>Aptos Display</vt:lpstr>
      <vt:lpstr>Arial</vt:lpstr>
      <vt:lpstr>Cambria Math</vt:lpstr>
      <vt:lpstr>Courier New</vt:lpstr>
      <vt:lpstr>Times New Roman</vt:lpstr>
      <vt:lpstr>Office Theme</vt:lpstr>
      <vt:lpstr>Week 7  Why Do Biometric Systems Fail Outside the Laboratory?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Benjamin Riggan</dc:creator>
  <cp:lastModifiedBy>Benjamin Riggan</cp:lastModifiedBy>
  <cp:revision>31</cp:revision>
  <cp:lastPrinted>2026-08-18T04:07:25Z</cp:lastPrinted>
  <dcterms:created xsi:type="dcterms:W3CDTF">2026-08-14T10:03:12Z</dcterms:created>
  <dcterms:modified xsi:type="dcterms:W3CDTF">2026-10-13T16:55:38Z</dcterms:modified>
</cp:coreProperties>
</file>
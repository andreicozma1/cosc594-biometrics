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8" r:id="rId3"/>
    <p:sldId id="259" r:id="rId4"/>
    <p:sldId id="376" r:id="rId5"/>
    <p:sldId id="377" r:id="rId6"/>
    <p:sldId id="378" r:id="rId7"/>
    <p:sldId id="379" r:id="rId8"/>
    <p:sldId id="380" r:id="rId9"/>
    <p:sldId id="381" r:id="rId10"/>
    <p:sldId id="382" r:id="rId11"/>
    <p:sldId id="383" r:id="rId12"/>
    <p:sldId id="384" r:id="rId13"/>
    <p:sldId id="385" r:id="rId14"/>
    <p:sldId id="34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45B263A-3634-4746-B7F1-E27656F98C03}">
          <p14:sldIdLst>
            <p14:sldId id="256"/>
          </p14:sldIdLst>
        </p14:section>
        <p14:section name="Intro" id="{0AB5F8BD-592F-7E48-832C-9830A19D6645}">
          <p14:sldIdLst>
            <p14:sldId id="258"/>
            <p14:sldId id="259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</p14:sldIdLst>
        </p14:section>
        <p14:section name="Concept" id="{DA9AA48A-BF94-1445-B381-729A6E7D522F}">
          <p14:sldIdLst/>
        </p14:section>
        <p14:section name="Discussion" id="{3D959E87-38A9-B348-A864-94621CFDF8CE}">
          <p14:sldIdLst>
            <p14:sldId id="349"/>
          </p14:sldIdLst>
        </p14:section>
        <p14:section name="backup" id="{43E3BE12-2119-1E47-BA96-189CE7CD79B5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99"/>
    <p:restoredTop sz="79315"/>
  </p:normalViewPr>
  <p:slideViewPr>
    <p:cSldViewPr snapToGrid="0">
      <p:cViewPr varScale="1">
        <p:scale>
          <a:sx n="95" d="100"/>
          <a:sy n="95" d="100"/>
        </p:scale>
        <p:origin x="13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4072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15C88B7-C264-7647-9589-53AD6A0F63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A1F27B-3FF1-705C-8E2C-5B60BF9E41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89F5D9-08F9-8545-A07A-A0C0A16AC233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98AE4A-4862-0E87-E51C-2246BB65C7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A82A21-79EB-226D-516C-CABEFDC260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EEDDF4-667D-1547-9AF8-514A0169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574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4269A-2CD6-4441-B83F-9F4344585B8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E7BD1F-0023-244E-A8FD-1ADCC0FAE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264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Question to ask ourselves: </a:t>
            </a:r>
            <a:r>
              <a:rPr lang="en-US" dirty="0"/>
              <a:t>Generalize to what?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BD1F-0023-244E-A8FD-1ADCC0FAE1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953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model trained only on clean, canonical faces, fingerprints, and iris produces a very low similarity scores for these domain shifts. Is that a data problem, a feature problem, or a loss problem?”</a:t>
            </a:r>
            <a:b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BD1F-0023-244E-A8FD-1ADCC0FAE1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804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Testing &amp; Evaluation</a:t>
            </a:r>
            <a:br>
              <a:rPr lang="en-US" dirty="0"/>
            </a:br>
            <a:r>
              <a:rPr lang="en-US" dirty="0"/>
              <a:t>Explainability</a:t>
            </a:r>
            <a:br>
              <a:rPr lang="en-US" dirty="0"/>
            </a:br>
            <a:r>
              <a:rPr lang="en-US" dirty="0"/>
              <a:t>Insanity (?)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BD1F-0023-244E-A8FD-1ADCC0FAE1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72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0D48A-0DE7-DE64-2E14-E379826C9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FFDE58-FA0E-99D3-9668-946EF058C8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16ECB4D6-AB56-3E03-7962-462B9248D0E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Covariate shift is a statement about </a:t>
                </a:r>
                <a:r>
                  <a:rPr 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training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; </a:t>
                </a:r>
                <a:b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Shift 2 is a statement about </a:t>
                </a:r>
                <a:r>
                  <a:rPr 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every single score at test time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Recall </a:t>
                </a:r>
                <a14:m>
                  <m:oMath xmlns:m="http://schemas.openxmlformats.org/officeDocument/2006/math">
                    <m:r>
                      <a:rPr lang="en-US" sz="12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𝑠</m:t>
                    </m:r>
                    <m:r>
                      <a:rPr lang="en-US" sz="12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lang="en-US" sz="1200" b="0" i="1" kern="1200" dirty="0" err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lang="en-US" sz="1200" b="0" i="1" kern="1200" dirty="0" err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_</m:t>
                    </m:r>
                    <m:r>
                      <a:rPr lang="en-US" sz="1200" b="0" i="1" kern="1200" dirty="0" err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𝑔</m:t>
                    </m:r>
                    <m:r>
                      <a:rPr lang="en-US" sz="1200" b="0" i="1" kern="1200" dirty="0" err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lang="en-US" sz="1200" b="0" i="1" kern="1200" dirty="0" err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lang="en-US" sz="1200" b="0" i="1" kern="1200" dirty="0" err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_</m:t>
                    </m:r>
                    <m:r>
                      <a:rPr lang="en-US" sz="1200" b="0" i="1" kern="1200" dirty="0" err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r>
                      <a:rPr lang="en-US" sz="12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 = </m:t>
                    </m:r>
                    <m:sSubSup>
                      <m:sSubSupPr>
                        <m:ctrlP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e>
                      <m:sub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𝜃</m:t>
                        </m:r>
                        <m:d>
                          <m:dPr>
                            <m:ctrlPr>
                              <a:rPr lang="en-US" sz="1200" b="0" i="1" kern="1200" dirty="0" err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b="0" i="1" kern="1200" dirty="0" err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kern="1200" dirty="0" err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200" b="0" i="1" kern="1200" dirty="0" err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𝑔</m:t>
                                </m:r>
                              </m:sub>
                            </m:sSub>
                          </m:e>
                        </m:d>
                      </m:sub>
                      <m:sup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sup>
                    </m:sSubSup>
                    <m:r>
                      <a:rPr lang="en-US" sz="12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sSub>
                      <m:sSubPr>
                        <m:ctrlP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e>
                      <m:sub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𝜃</m:t>
                        </m:r>
                      </m:sub>
                    </m:sSub>
                    <m:r>
                      <a:rPr lang="en-US" sz="12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sSub>
                      <m:sSubPr>
                        <m:ctrlPr>
                          <a:rPr lang="en-US" sz="1200" b="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b="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en-US" sz="1200" b="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sub>
                    </m:sSub>
                    <m:r>
                      <a:rPr lang="en-US" sz="12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𝑔</m:t>
                        </m:r>
                      </m:sub>
                    </m:sSub>
                    <m:r>
                      <a:rPr lang="en-US" sz="12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∼</m:t>
                    </m:r>
                    <m:nary>
                      <m:naryPr>
                        <m:subHide m:val="on"/>
                        <m:supHide m:val="on"/>
                        <m:ctrlP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/>
                      <m:sup/>
                      <m:e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</m:e>
                    </m:nary>
                    <m:r>
                      <a:rPr lang="en-US" sz="12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d>
                      <m:dPr>
                        <m:sepChr m:val="∣"/>
                        <m:ctrlP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e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lang="en-US" sz="1200" b="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  <m:r>
                          <a:rPr lang="en-US" sz="1200" b="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lang="en-US" sz="1200" b="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e>
                    </m:d>
                    <m:sSub>
                      <m:sSubPr>
                        <m:ctrlP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𝜋</m:t>
                        </m:r>
                      </m:e>
                      <m:sub>
                        <m:r>
                          <a:rPr lang="en-US" sz="1200" b="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𝑔</m:t>
                        </m:r>
                      </m:sub>
                    </m:sSub>
                    <m:r>
                      <a:rPr lang="en-US" sz="12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lang="en-US" sz="12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  <m:r>
                      <a:rPr lang="en-US" sz="12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  <m:r>
                      <a:rPr lang="en-US" sz="12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𝑑𝑐</m:t>
                    </m:r>
                    <m:r>
                      <a:rPr lang="en-US" sz="12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sub>
                    </m:sSub>
                    <m:r>
                      <a:rPr lang="en-US" sz="12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∼</m:t>
                    </m:r>
                    <m:nary>
                      <m:naryPr>
                        <m:subHide m:val="on"/>
                        <m:supHide m:val="on"/>
                        <m:ctrlP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/>
                      <m:sup/>
                      <m:e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</m:e>
                    </m:nary>
                    <m:r>
                      <a:rPr lang="en-US" sz="12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d>
                      <m:dPr>
                        <m:sepChr m:val="∣"/>
                        <m:ctrlP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e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lang="en-US" sz="1200" b="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  <m:r>
                          <a:rPr lang="en-US" sz="1200" b="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lang="en-US" sz="1200" b="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e>
                    </m:d>
                    <m:sSub>
                      <m:sSubPr>
                        <m:ctrlP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𝜋</m:t>
                        </m:r>
                      </m:e>
                      <m:sub>
                        <m:r>
                          <a:rPr lang="en-US" sz="1200" b="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sub>
                    </m:sSub>
                    <m:r>
                      <a:rPr lang="en-US" sz="12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lang="en-US" sz="12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  <m:r>
                      <a:rPr lang="en-US" sz="12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  <m:r>
                      <a:rPr lang="en-US" sz="12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𝑑𝑐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A model can be perfectly adapted to the deploy distribution </a:t>
                </a:r>
                <a:r>
                  <a:rPr 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 aggregate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and still fail, because matching is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asymmetric across two mixtures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b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b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Concept shift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is defined as a change in the </a:t>
                </a:r>
                <a:r>
                  <a:rPr 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relationship between representation and labels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with the input space</a:t>
                </a:r>
                <a:r>
                  <a:rPr lang="en-US" sz="1200" b="0" i="0" kern="1200" baseline="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fixed</a:t>
                </a:r>
                <a:b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b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Why the open-set structure bites (2 min)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Test identities are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disjoint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from training identities → you cannot adapt a classifier head; you must adapt the </a:t>
                </a:r>
                <a:r>
                  <a:rPr 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embedding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e>
                      <m:sub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Decisions are threshold-based on </a:t>
                </a:r>
                <a14:m>
                  <m:oMath xmlns:m="http://schemas.openxmlformats.org/officeDocument/2006/math">
                    <m:r>
                      <a:rPr lang="en-US" sz="12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𝑠</m:t>
                    </m:r>
                    <m:r>
                      <a:rPr lang="en-US" sz="12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sSub>
                      <m:sSubPr>
                        <m:ctrlPr>
                          <a:rPr lang="en-US" sz="1200" b="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b="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en-US" sz="1200" b="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𝑔</m:t>
                        </m:r>
                      </m:sub>
                    </m:sSub>
                    <m:r>
                      <a:rPr lang="en-US" sz="1200" b="0" i="1" kern="1200" dirty="0" err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lang="en-US" sz="1200" b="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b="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en-US" sz="1200" b="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sub>
                    </m:sSub>
                    <m:r>
                      <a:rPr lang="en-US" sz="12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→ the gap surfaces as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score-distribution shift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which moves the operating point, not merely accuracy.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Key consequence: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a domain gap is dangerous not because mated scores drop, but because mated and non-mated distributions move by </a:t>
                </a:r>
                <a:r>
                  <a:rPr 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different amounts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𝜋</m:t>
                        </m:r>
                      </m:e>
                      <m:sub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𝑔</m:t>
                        </m:r>
                      </m:sub>
                    </m:sSub>
                    <m:r>
                      <a:rPr lang="en-US" sz="12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≠</m:t>
                    </m:r>
                    <m:sSub>
                      <m:sSubPr>
                        <m:ctrlP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𝜋</m:t>
                        </m:r>
                      </m:e>
                      <m:sub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One global threshold then becomes wrong for one subpopulation. This is precisely the quantity Wu et al. measure.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16ECB4D6-AB56-3E03-7962-462B9248D0E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Covariate shift is a statement about </a:t>
                </a:r>
                <a:r>
                  <a:rPr 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training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; </a:t>
                </a:r>
                <a:b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Shift 2 is a statement about </a:t>
                </a:r>
                <a:r>
                  <a:rPr 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every single score at test time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Recall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𝑠(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𝑥_𝑔,𝑥_𝑝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) = 𝑓_𝜃(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𝑥_𝑔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 )^𝑇  𝑓_𝜃 (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𝑥_𝑝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)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with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𝑥_𝑔∼∫▒  𝑝(𝑥∣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𝑦,𝑐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)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𝜋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_𝑔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 (𝑐)𝑑𝑐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𝑥_𝑝∼∫▒  𝑝(𝑥∣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𝑦,𝑐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)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𝜋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_𝑝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 (𝑐)𝑑𝑐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A model can be perfectly adapted to the deploy distribution </a:t>
                </a:r>
                <a:r>
                  <a:rPr 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 aggregate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and still fail, because matching is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asymmetric across two mixtures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b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b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Concept shift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is defined as a change in the </a:t>
                </a:r>
                <a:r>
                  <a:rPr 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relationship between representation and labels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with the input space</a:t>
                </a:r>
                <a:r>
                  <a:rPr lang="en-US" sz="1200" b="0" i="0" kern="1200" baseline="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fixed</a:t>
                </a:r>
                <a:b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b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Why the open-set structure bites (2 min)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Test identities are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disjoint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from training identities → you cannot adapt a classifier head; you must adapt the </a:t>
                </a:r>
                <a:r>
                  <a:rPr 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embedding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𝑓_𝜃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Decisions are threshold-based on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𝑠(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𝑥_𝑔,𝑥_𝑝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)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→ the gap surfaces as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score-distribution shift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which moves the operating point, not merely accuracy.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Key consequence: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a domain gap is dangerous not because mated scores drop, but because mated and non-mated distributions move by </a:t>
                </a:r>
                <a:r>
                  <a:rPr 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different amounts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under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𝜋_𝑔≠𝜋_𝑝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One global threshold then becomes wrong for one subpopulation. This is precisely the quantity Wu et al. measure.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6F3C-4138-3B81-E74A-A4DD6F1C56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BD1F-0023-244E-A8FD-1ADCC0FAE1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60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F39D6-30ED-8A3E-8D3F-90E473235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F9B4DC-6CDE-ABAC-73EE-F0A548982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1472E27B-D156-BE10-35B3-FC647480DCE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Three points:</a:t>
                </a: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These are not mutually exclusive; most strong systems do two of three. The research question is always </a:t>
                </a:r>
                <a:r>
                  <a:rPr 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which part of the pipeline is the gap actually living in?</a:t>
                </a: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A. inverts the nuisance, B. ignores it, C. supervises through it.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A. needs you to know </a:t>
                </a:r>
                <a14:m>
                  <m:oMath xmlns:m="http://schemas.openxmlformats.org/officeDocument/2006/math">
                    <m:r>
                      <a:rPr lang="en-US" sz="1200" b="0" i="1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; B. needs you to have sampled </a:t>
                </a:r>
                <a14:m>
                  <m:oMath xmlns:m="http://schemas.openxmlformats.org/officeDocument/2006/math">
                    <m:r>
                      <a:rPr lang="en-US" sz="12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; C. needs you to have </a:t>
                </a:r>
                <a:r>
                  <a:rPr 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paired identities across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14:m>
                  <m:oMath xmlns:m="http://schemas.openxmlformats.org/officeDocument/2006/math">
                    <m:r>
                      <a:rPr lang="en-US" sz="12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Your available supervision usually picks the family for you.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Only Family C. addresses Shift 2 directly.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A. and B. both operate on a single marginal at a time, so they can reduce a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train→deploy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gap while leaving the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gallery↔probe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asymmetry untouched. Flag this now; it is the reason §3 spends most of its time on pairwise losses.</a:t>
                </a:r>
              </a:p>
            </p:txBody>
          </p:sp>
        </mc:Choice>
        <mc:Fallback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1472E27B-D156-BE10-35B3-FC647480DCE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Three points:</a:t>
                </a: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These are not mutually exclusive; most strong systems do two of three. The research question is always </a:t>
                </a:r>
                <a:r>
                  <a:rPr 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which part of the pipeline is the gap actually living in?</a:t>
                </a: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A. inverts the nuisance, B. ignores it, C. supervises through it.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A. needs you to know </a:t>
                </a:r>
                <a:r>
                  <a:rPr lang="en-US" sz="1200" b="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𝑐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; B. needs you to have sampled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𝑐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; C. needs you to have </a:t>
                </a:r>
                <a:r>
                  <a:rPr 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paired identities across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𝑐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Your available supervision usually picks the family for you.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Only Family C. addresses Shift 2 directly.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A. and B. both operate on a single marginal at a time, so they can reduce a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train→deploy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gap while leaving the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gallery↔probe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asymmetry untouched. Flag this now; it is the reason §3 spends most of its time on pairwise losses.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3D3E5-D03F-59B6-CBB9-CBC138B8CB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BD1F-0023-244E-A8FD-1ADCC0FAE1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7180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B1779-8EC3-2B17-D304-FA996900D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D9326-1314-F598-CDC4-633786C178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EBFB17-6CCB-889C-14D6-8B81DC41E2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Discuss the catch: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MMD aligns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marginals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only. A degenerate encoder that maps everything to a constant achieves $\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{MMD}=0$. The identity loss is what prevents collapse — alignment terms are never used alone. Mention class-conditional / joint variants as the fix when labels are available.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 to Week 7 (say this explicitly):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MMD matches $\int p_\theta(z\mid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y,c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)\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pi_S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(c),dc$ to the same integral under $\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pi_T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— it operates on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mixture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so it is blind to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$c$ a sample came from. Two consequences: 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it can equalize the two mixtures while leaving individual conditions badly mismatched, and 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(ii)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does nothing for Shift 2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because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gallery↔probe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asymmetry is a property of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not of either marginal. 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MMD is a Shift 1 tool.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1C15F-6796-4F82-9B69-F149147C3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BD1F-0023-244E-A8FD-1ADCC0FAE1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65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9D20F-6CA3-21A2-A5CE-C17E44810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866F9D-E720-207D-7092-A529050B92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35AB6F-115E-1401-1F22-7D55AEF02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741F0-930E-697E-BA83-2C88D94F07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BD1F-0023-244E-A8FD-1ADCC0FAE1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2652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0E40F-7BD7-E391-A6CF-B28DA5E2B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E31F40-B5CC-1627-D0C8-D5B1CF128C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D7C0A-2D18-8ED6-B49A-5F73FAE870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configuration the instructor wants interrogated: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anchor and positive from one domain, negative from the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domain.</a:t>
            </a:r>
          </a:p>
          <a:p>
            <a:pPr lvl="0"/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Board exercise (do this live, it's the pedagogical centerpiece of the section):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ask students what this loss actually optimizes.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model can satisfy it trivially by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pushing all of domain B away from all of domain 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i.e., it can learn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domain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discrimination instead of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identity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discrimination, and the loss will look great.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Contrast with the intended configuration: anchor from A,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positive from B (same ID)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negative from B (different ID) → now identity must beat domain.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8138F-EBA8-0186-7208-7CBADA2B6E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BD1F-0023-244E-A8FD-1ADCC0FAE1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4868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0EBCF-722C-05E8-B84B-A444B35F9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BA6EBE-F9C2-FA78-5DDB-2CD229A037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3ED4F0-7CEB-D0F6-BE0A-358CEF01D7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AE610-92B7-2904-2BBE-CA6AAC7826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BD1F-0023-244E-A8FD-1ADCC0FAE1A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1409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0972F-D4C9-8E10-6A90-DDC2EFB76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9CF2A9-CBB7-7F16-353F-B7F31639CD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E3B7D4-509C-81F7-A955-7D7C622CD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D0B1CB-96EC-CF7F-A1AA-F6E2DEA98E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BD1F-0023-244E-A8FD-1ADCC0FAE1A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429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64327-6198-1CBD-D6B1-204D2C9E8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FCCB91-BF01-3094-0283-E5C473225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02C172-D653-0D0F-86DA-9C04DABA6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781C6-C082-04B4-45EB-5EE70F9C69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BD1F-0023-244E-A8FD-1ADCC0FAE1A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2775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F1552-E4DF-B793-948C-7EA19C012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CB3D59-22B3-A718-AF4D-94DF8DDB42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D80097-9D49-C8F7-D329-DA5FD3C97F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Discussion questions (pick 3, ~3 min each):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Reframe it in our notation: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this a fairness paper or a domain-gap paper? Argue that face-region brightness is a component of $c$ whose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distribution is correlated with $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y$'s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demographic attribute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so it looks like Shift 3 (population shift) but the mechanism is Shift 1/2 acting through $c$. Which family (A/B/C) is their fix? (Answer: Family A, and uniquely at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acquisition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time — they change $\pi$ itself rather than compensating for it, which is the only move that adds information instead of redistributing it.)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Mechanism vs. correlation: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paper moves from "accuracy differs by group" to "brightness is a cause." What evidence makes that a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causal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claim rather than a correlational one, and what would you add to strengthen it?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both-dark/both-bright FMR result is the most interesting finding.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Why would two under-exposed impostors look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similar? What does that tell us about what the embedding is actually encoding at low information content?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Limits of the fix: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Their recommendation requires controlled acquisition. What is the analogue for uncontrolled imagery — and does photometric normalization in software recover the same benefit, or does it fail because information was already lost at capture? (Link to information-theoretic framing: you cannot normalize back information the sensor never recorded.)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Transfer the idea to our three gaps: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there a "brightness" analogue in thermal (temperature/ambient conditions), turbulence (severity/range), or 3D (reconstruction quality)? Should those be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measured and reported per-condition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Project 2?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br>
              <a:rPr lang="en-US" dirty="0"/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83AC9-E468-7D3E-7E1F-51C13D3D77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BD1F-0023-244E-A8FD-1ADCC0FAE1A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4041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51E1E-861A-4222-08D4-14BBFC90F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1AFED0-FEF2-73CC-7461-CEE324867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CD28CF-B423-689E-93C8-D6486368D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four induced gaps (do not print this part — this is the instructor key):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Sub-gap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Physical cause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 in our notation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Information-destroying?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Illumination /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atmospheric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Outdoor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sun angle, haze, long path length, auto-exposure chasing bright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groundShift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in $c$; also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Wu et al. mechanism at altitude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exposure is now set by the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scene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not the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subjectPartly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clipped highlights/shadows are unrecoverable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Motion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ego-motion + vibration + subject motion ⟹ blur and roll/yaw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jitterShift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1; stochastic and time-varying, like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turbulence in §4.2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Yes, where blur exceeds the sampling limit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Perspective / elevation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angle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Oblique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-to-nadir pitch; foreshortening of the body's vertical extent; self-occlusion (head occludes torso at nadir)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Shift 2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permanent $\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pi_g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neq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pi_p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over viewing angle; and 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gap in the §4.3 sense (projection geometry changed, not photometry)No — geometry is transformed, not erased, up to occlusion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Temporal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/lower effective frame rate, dropped frames, short dwell over target, no guaranteed full gait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cycleShift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over temporal support; breaks the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implicit assumption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that a track contains ≥1 gait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periodYes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if dwell &lt; one gait cycle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makes this card pedagogically strong: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gallery constraint makes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Shift 2 non-negotiable.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Groups who propose "just collect aerial enrollment data" have dissolved the problem rather than solved it — a good thing to name explicitly, since in research that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often the right answer and it's worth saying why it's off the table here.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resolution/altitude axis is continuous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so "train one model vs. route by altitude" (the §4.2 prompt) recurs with a measurable control variable.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Face-vs-body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degrade at different rates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forces a quality-weighted fusion discussion and previews Week 11 (multi-modal) and Week 9 (uncertainty/rejection).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within-track score instability is a gift: it points at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frame-level aggregation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as a fix that costs nothing in training.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Expected strong answers (any two of these constitute a good deliverable):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Family A, geometric only: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estimate pitch/altitude from platform telemetry and warp or re-render probes toward the gallery's viewing geometry.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Strength: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attacks the one gap that is not information-destroying.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cannot undo self-occlusion at nadir; and inverse-warping amplifies blur.</a:t>
            </a: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Family C, cross-domain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InfoNCE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the deployment pairing: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positives $= $ (ground gallery view, aerial view) of the same identity, $A \sim \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pi_g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$, $B \sim \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pi_p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— i.e., train on exactly the pairing deployment will score. Requires paired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ground+aerial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collection on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identities only, not on gallery identities. This is the move the card is built to reward.</a:t>
            </a: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Family B with conditioning, not marginal alignment: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align features conditioned on altitude/pitch bins rather than globally; plain MMD on pooled marginals will try to erase a factor that varies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within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probe set.</a:t>
            </a: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Set-based / temporal aggregation: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replace per-frame scoring with a quality-weighted track-level embedding; let predicted uncertainty (the §4.3 entropy-as-selector idea) down-weight blurred or occluded frames rather than averaging uniformly.</a:t>
            </a: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Acquisition-side fix (the Wu et al. move):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constrain the flight profile — altitude ceiling, pitch limits, sun-angle-aware approach, exposure locked on the subject region rather than scene-average.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changes $\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pi_p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itself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is the only intervention that adds information instead of redistributing it.</a:t>
            </a:r>
          </a:p>
          <a:p>
            <a:br>
              <a:rPr lang="en-US" dirty="0"/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F74C8-3CA5-03C0-CA1D-15D16945F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7BD1F-0023-244E-A8FD-1ADCC0FAE1A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490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55BD7-37BF-4E36-8F28-67BD40373D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3ACBF7-D240-A320-978B-7E21B71C29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B2A34-3520-C142-2371-9A000140B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189FA-D012-F74A-85A4-7BDC5A0DCC07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B9F44-3BB6-E725-24EB-941F27C9C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24BD5-3153-0587-36B8-CD91C3703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F21-D912-7541-8ED2-FD6ABD90B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00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E3FE9-A364-D73A-05F6-FFF58EA30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CE305-35F5-5977-7B49-2F2A8ECC2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FE3B5-FE82-2C25-DDE3-47AE2CFAC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57D1-56E3-134F-BEDA-601B842448FF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54B18-4598-3209-5C87-B0577647D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259C2-4D2B-65D3-EC28-6A093F58B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F21-D912-7541-8ED2-FD6ABD90B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792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3D270-ED86-A140-D2D2-6E40EE770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1BFEE-3B5B-8F42-E644-E11232A428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E3541-DCB2-3A84-28A5-55AA090C7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24889-6A33-6C4A-885A-202C4F8C5613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C3851-4B31-8B2D-70B6-C0FC1D883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680C5-9A79-9CF1-B265-3FD1EDCAD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F21-D912-7541-8ED2-FD6ABD90B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75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84A61-1D50-E17A-7E22-578C312D4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6280B-9CD0-9EA9-D5B2-5291E6A070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AEC1E-92A3-F81F-C252-A8FF4F1A03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D603F-FA12-FED1-58D5-6A8BC7178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7F8CA-C602-1143-BC37-691685131BC4}" type="datetime1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826EA-8FB4-C6B9-30B3-2510583EA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D0-A8F1-6023-2FFB-D130171B0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F21-D912-7541-8ED2-FD6ABD90B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85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DEC2B-3E3F-0138-5350-608E24D7F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07462-B5F0-6C22-50CD-5C106C583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6E5DFC-5DBE-20CF-F375-FFEAB8E45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B81173-E1E3-7B84-B402-65A61171CB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126268-0CD1-ACA1-14AB-8ADF04620A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6EFB38-0E1D-E36D-BB00-8C6CE66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CE067-138D-5B43-81DC-9DAB0F0B5506}" type="datetime1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46F722-1880-BC96-896E-EC21AC89A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9DEDEE-16E9-C882-1F36-FD088FDB2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F21-D912-7541-8ED2-FD6ABD90B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051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390D7-4AE0-27F9-D2BB-4D7D49CB2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670660-75F0-0CDD-5F9F-3829800A3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39845-7DD4-DF41-8287-EDB7FDC122CC}" type="datetime1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8BC658-82FA-564A-9F95-B794A7092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FBABAE-8960-26DD-C0AB-2DCC13A2F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F21-D912-7541-8ED2-FD6ABD90B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741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A9F884-98FA-788E-B999-6A02AF64B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62EA6-5930-8A4D-AEF1-EABF7985616A}" type="datetime1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30D628-459C-C358-6CF0-984B7230F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B541A-0371-C571-6FDC-A08FC27F2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F21-D912-7541-8ED2-FD6ABD90B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612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AE166-F8AB-C666-2915-D32D1DB8C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9D79C-7FE7-7EB6-94F7-E67700E11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E0CAAC-0B0D-2303-0A8B-936E8DFFD2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36B8F6-A943-5DDA-083F-63368D42D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A0ADB-7E75-B24E-8874-218BE3090DE3}" type="datetime1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FF915C-6EB4-D110-FA78-79FE9A6BE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2DB6A3-BDF8-29F7-37A1-7D8629195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F21-D912-7541-8ED2-FD6ABD90B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836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C9944-1659-BA22-CE12-045B87F59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BEA263-FFA1-DA08-023D-7E0A161E5E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F6F9F-1567-8C00-C197-57568694A0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F6AD5D-DCC3-871D-FE87-F7F2E18AC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1D44F-1F34-3942-AA2D-B5758A581CC9}" type="datetime1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0417D0-BA01-36B5-653A-A1E9A7E57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259C58-0C4D-0374-B981-57831FBD5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F21-D912-7541-8ED2-FD6ABD90B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496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22CD7-E54F-CD89-7485-5677F839E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D466E9-BB5C-83A8-CF56-D7E21D8005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86D00-F991-E78A-93EE-F68973EBE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1C76E-4CD2-3541-91F7-6CFB112AC445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CA405-E72D-8C54-88CA-BC6B2F35A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4AE63-D71B-CD9C-AFEC-7E890DF29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F21-D912-7541-8ED2-FD6ABD90B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403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A77E43-ACC6-26B0-8AB5-B0B5432A6B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BB03F7-DBAC-4849-A157-459FD38A1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43A34-F2DF-E4D4-43C5-B5B902106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FDC6F-4961-104C-B0C1-DB03E481A001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5EC14-305F-7D57-9D0B-746CE6282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64559-BF47-1AD2-E577-83E2F6E72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F21-D912-7541-8ED2-FD6ABD90B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687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19DD8B-A0D3-DCAC-67BF-1DA87AE35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F0C4E0-63A9-F57B-3913-E42895A20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F23F0-1925-A80E-E6A6-CD06E96B3B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2C4FE2-D0F9-394C-BCBD-D168F4B4D931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E9B10-0740-78EF-0212-FE71B83721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7D157-0278-E6CB-A277-999243C7E9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9B2F21-D912-7541-8ED2-FD6ABD90B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033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gif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136A7-C380-6533-68F7-5FCB253885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t">
            <a:normAutofit fontScale="90000"/>
          </a:bodyPr>
          <a:lstStyle/>
          <a:p>
            <a:r>
              <a:rPr lang="en-US" sz="4000" dirty="0"/>
              <a:t>Week 8</a:t>
            </a:r>
            <a:br>
              <a:rPr lang="en-US" sz="4000" dirty="0"/>
            </a:br>
            <a:br>
              <a:rPr lang="en-US" sz="4000" dirty="0"/>
            </a:br>
            <a:r>
              <a:rPr lang="en-US" sz="3600" b="1" dirty="0">
                <a:solidFill>
                  <a:srgbClr val="0070C0"/>
                </a:solidFill>
              </a:rPr>
              <a:t>Can We Make Representations Generalize?</a:t>
            </a:r>
            <a:br>
              <a:rPr lang="en-US" sz="3200" dirty="0">
                <a:solidFill>
                  <a:srgbClr val="0070C0"/>
                </a:solidFill>
              </a:rPr>
            </a:br>
            <a:br>
              <a:rPr lang="en-US" sz="3200" dirty="0">
                <a:solidFill>
                  <a:srgbClr val="0070C0"/>
                </a:solidFill>
              </a:rPr>
            </a:b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AD4E25-E958-FBCE-E1A7-3803FC37C2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COSC 594-003 Special Topics in Computer Science</a:t>
            </a:r>
          </a:p>
          <a:p>
            <a:r>
              <a:rPr lang="en-US" b="1" dirty="0"/>
              <a:t>Biometrics</a:t>
            </a:r>
          </a:p>
          <a:p>
            <a:r>
              <a:rPr lang="en-US" dirty="0"/>
              <a:t>Benjamin S. Riggan</a:t>
            </a:r>
            <a:br>
              <a:rPr lang="en-US" dirty="0"/>
            </a:br>
            <a:r>
              <a:rPr lang="en-US" dirty="0"/>
              <a:t>Associate Professor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 descr="EECS IT Help">
            <a:extLst>
              <a:ext uri="{FF2B5EF4-FFF2-40B4-BE49-F238E27FC236}">
                <a16:creationId xmlns:a16="http://schemas.microsoft.com/office/drawing/2014/main" id="{C1A58977-E919-897B-53CC-470809EFB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663" y="5013468"/>
            <a:ext cx="2888673" cy="1444337"/>
          </a:xfrm>
          <a:prstGeom prst="rect">
            <a:avLst/>
          </a:prstGeom>
        </p:spPr>
      </p:pic>
      <p:pic>
        <p:nvPicPr>
          <p:cNvPr id="6" name="Picture 5" descr="IEEE Biometrics Council | Welcome To IEEE Biometrics">
            <a:extLst>
              <a:ext uri="{FF2B5EF4-FFF2-40B4-BE49-F238E27FC236}">
                <a16:creationId xmlns:a16="http://schemas.microsoft.com/office/drawing/2014/main" id="{0FDF122F-DF23-DC90-3D7B-1D677CA35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5458" y="5013467"/>
            <a:ext cx="2543317" cy="142673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147458-81C4-53D5-F1DE-6786C4996AC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F21-D912-7541-8ED2-FD6ABD90B6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099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0DCD0-74E7-7EED-EA12-0C52EB33B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3492DB-C6FA-E032-8EBA-3EA23E96D141}"/>
              </a:ext>
            </a:extLst>
          </p:cNvPr>
          <p:cNvSpPr txBox="1"/>
          <p:nvPr/>
        </p:nvSpPr>
        <p:spPr>
          <a:xfrm>
            <a:off x="590310" y="486009"/>
            <a:ext cx="10995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Domain Gaps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FE87CF-4D45-6613-2765-6D7C1DF992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F21-D912-7541-8ED2-FD6ABD90B685}" type="slidenum">
              <a:rPr lang="en-US" smtClean="0"/>
              <a:t>2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E224AB-BFE4-ADCA-7946-9C698D397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445" y="1725481"/>
            <a:ext cx="4301889" cy="22745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FDD9CE-1076-E080-E9E2-3550AC8E61BF}"/>
              </a:ext>
            </a:extLst>
          </p:cNvPr>
          <p:cNvSpPr txBox="1"/>
          <p:nvPr/>
        </p:nvSpPr>
        <p:spPr>
          <a:xfrm>
            <a:off x="1203551" y="1367586"/>
            <a:ext cx="2034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Thermal vs. Visible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AA1A06-7346-4094-1351-0D623BB025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5488" y="1780694"/>
            <a:ext cx="3491314" cy="21641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E452AF-4A9B-0241-C6DD-0A309EF1E4A1}"/>
              </a:ext>
            </a:extLst>
          </p:cNvPr>
          <p:cNvSpPr txBox="1"/>
          <p:nvPr/>
        </p:nvSpPr>
        <p:spPr>
          <a:xfrm>
            <a:off x="5345173" y="1398429"/>
            <a:ext cx="2245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Pristine vs. Turbulent</a:t>
            </a:r>
          </a:p>
        </p:txBody>
      </p:sp>
      <p:pic>
        <p:nvPicPr>
          <p:cNvPr id="11" name="Picture 10" descr="A survey on heterogeneous face recognition: Sketch, infra-red, 3D and  low-resolution - ScienceDirect">
            <a:extLst>
              <a:ext uri="{FF2B5EF4-FFF2-40B4-BE49-F238E27FC236}">
                <a16:creationId xmlns:a16="http://schemas.microsoft.com/office/drawing/2014/main" id="{82096409-9265-E996-AEB2-464B9C8456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310" y="4369375"/>
            <a:ext cx="3060700" cy="2286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3E55C0E-F4DD-18D4-FE1A-0940E0FFF0FE}"/>
              </a:ext>
            </a:extLst>
          </p:cNvPr>
          <p:cNvSpPr txBox="1"/>
          <p:nvPr/>
        </p:nvSpPr>
        <p:spPr>
          <a:xfrm>
            <a:off x="1112446" y="4000043"/>
            <a:ext cx="1820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Sketch vs. Photo</a:t>
            </a:r>
          </a:p>
        </p:txBody>
      </p:sp>
      <p:pic>
        <p:nvPicPr>
          <p:cNvPr id="13" name="Picture 12" descr="Frontal and Profile Images from Celebrity in Frontal Profile (CFP) Dataset.  | Download Scientific Diagram">
            <a:extLst>
              <a:ext uri="{FF2B5EF4-FFF2-40B4-BE49-F238E27FC236}">
                <a16:creationId xmlns:a16="http://schemas.microsoft.com/office/drawing/2014/main" id="{23CFB278-572A-4A15-DEC2-92B432BA0A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5775" y="2008361"/>
            <a:ext cx="3266167" cy="16362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F0BC529-3019-069B-B70E-7B7E7CD53919}"/>
              </a:ext>
            </a:extLst>
          </p:cNvPr>
          <p:cNvSpPr txBox="1"/>
          <p:nvPr/>
        </p:nvSpPr>
        <p:spPr>
          <a:xfrm>
            <a:off x="9251739" y="1367586"/>
            <a:ext cx="1894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Frontal vs. Profile</a:t>
            </a:r>
          </a:p>
        </p:txBody>
      </p:sp>
      <p:pic>
        <p:nvPicPr>
          <p:cNvPr id="15" name="Picture 14" descr="The magic of synthetic data: How nonexistent fingerprints help identify  real criminals - Innovatrics">
            <a:extLst>
              <a:ext uri="{FF2B5EF4-FFF2-40B4-BE49-F238E27FC236}">
                <a16:creationId xmlns:a16="http://schemas.microsoft.com/office/drawing/2014/main" id="{7CEBE570-BCDC-2FA0-6340-A2033E81D46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2891" t="19396" r="58767" b="25265"/>
          <a:stretch>
            <a:fillRect/>
          </a:stretch>
        </p:blipFill>
        <p:spPr>
          <a:xfrm>
            <a:off x="4761761" y="4603665"/>
            <a:ext cx="1257387" cy="1692708"/>
          </a:xfrm>
          <a:prstGeom prst="rect">
            <a:avLst/>
          </a:prstGeom>
        </p:spPr>
      </p:pic>
      <p:pic>
        <p:nvPicPr>
          <p:cNvPr id="16" name="Picture 15" descr="The magic of synthetic data: How nonexistent fingerprints help identify  real criminals - Innovatrics">
            <a:extLst>
              <a:ext uri="{FF2B5EF4-FFF2-40B4-BE49-F238E27FC236}">
                <a16:creationId xmlns:a16="http://schemas.microsoft.com/office/drawing/2014/main" id="{E3B49DCF-3AE7-E34E-2B5F-FDF54EC7F0C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3496" t="12075" r="12182" b="22966"/>
          <a:stretch>
            <a:fillRect/>
          </a:stretch>
        </p:blipFill>
        <p:spPr>
          <a:xfrm>
            <a:off x="6158461" y="4421308"/>
            <a:ext cx="1522704" cy="198697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77560B5-05E2-2A51-7CC0-BB6532383950}"/>
              </a:ext>
            </a:extLst>
          </p:cNvPr>
          <p:cNvSpPr txBox="1"/>
          <p:nvPr/>
        </p:nvSpPr>
        <p:spPr>
          <a:xfrm>
            <a:off x="5345173" y="4000043"/>
            <a:ext cx="1827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Patent vs. Latent</a:t>
            </a:r>
          </a:p>
        </p:txBody>
      </p:sp>
      <p:pic>
        <p:nvPicPr>
          <p:cNvPr id="19" name="Picture 18" descr="A novel framework for cross-spectral iris matching | IPSJ Transactions on  Computer Vision and Applications | Springer Nature Link">
            <a:extLst>
              <a:ext uri="{FF2B5EF4-FFF2-40B4-BE49-F238E27FC236}">
                <a16:creationId xmlns:a16="http://schemas.microsoft.com/office/drawing/2014/main" id="{2E79C56D-63BF-C2A9-9ECD-FA852F5F04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4380" y="4448689"/>
            <a:ext cx="2977310" cy="198697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3516887-4834-F6C5-2FFD-E51219196518}"/>
              </a:ext>
            </a:extLst>
          </p:cNvPr>
          <p:cNvSpPr txBox="1"/>
          <p:nvPr/>
        </p:nvSpPr>
        <p:spPr>
          <a:xfrm>
            <a:off x="8665488" y="3978213"/>
            <a:ext cx="3066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Visible vs. Near Infrared (NIR)</a:t>
            </a:r>
          </a:p>
        </p:txBody>
      </p:sp>
    </p:spTree>
    <p:extLst>
      <p:ext uri="{BB962C8B-B14F-4D97-AF65-F5344CB8AC3E}">
        <p14:creationId xmlns:p14="http://schemas.microsoft.com/office/powerpoint/2010/main" val="3842382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AA31F-5EAB-033B-35CA-1E849C9D1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B728B4-528D-97D1-5AB5-963EF952FE8D}"/>
              </a:ext>
            </a:extLst>
          </p:cNvPr>
          <p:cNvSpPr txBox="1"/>
          <p:nvPr/>
        </p:nvSpPr>
        <p:spPr>
          <a:xfrm>
            <a:off x="605742" y="1125100"/>
            <a:ext cx="109959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LAST WEEK — How do we know whether a biometric system is “good”? </a:t>
            </a:r>
          </a:p>
          <a:p>
            <a:endParaRPr lang="en-US" sz="2400" b="1" dirty="0">
              <a:solidFill>
                <a:srgbClr val="0070C0"/>
              </a:solidFill>
            </a:endParaRPr>
          </a:p>
          <a:p>
            <a:r>
              <a:rPr lang="en-US" sz="2400" b="1" dirty="0">
                <a:solidFill>
                  <a:srgbClr val="0070C0"/>
                </a:solidFill>
              </a:rPr>
              <a:t>THIS WEEK — Can We Make Representations Generalize?</a:t>
            </a:r>
          </a:p>
          <a:p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09AA2BC-369B-13FB-9DED-3098BC380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F21-D912-7541-8ED2-FD6ABD90B685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4282464-FF17-EC95-87AA-6F58F60D65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46057" y="2715316"/>
            <a:ext cx="11299886" cy="31526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878B1F-BA44-18DE-3CB2-1844BE710A4C}"/>
              </a:ext>
            </a:extLst>
          </p:cNvPr>
          <p:cNvSpPr txBox="1"/>
          <p:nvPr/>
        </p:nvSpPr>
        <p:spPr>
          <a:xfrm>
            <a:off x="2647666" y="5103674"/>
            <a:ext cx="148624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i="1" dirty="0"/>
              <a:t>person</a:t>
            </a:r>
          </a:p>
          <a:p>
            <a:pPr marL="285750" indent="-285750">
              <a:buFontTx/>
              <a:buChar char="-"/>
            </a:pPr>
            <a:r>
              <a:rPr lang="en-US" i="1" dirty="0"/>
              <a:t>face</a:t>
            </a:r>
          </a:p>
          <a:p>
            <a:pPr marL="285750" indent="-285750">
              <a:buFontTx/>
              <a:buChar char="-"/>
            </a:pPr>
            <a:r>
              <a:rPr lang="en-US" i="1" dirty="0"/>
              <a:t>fingerprint</a:t>
            </a:r>
          </a:p>
          <a:p>
            <a:pPr marL="285750" indent="-285750">
              <a:buFontTx/>
              <a:buChar char="-"/>
            </a:pPr>
            <a:r>
              <a:rPr lang="en-US" i="1" dirty="0"/>
              <a:t>iris</a:t>
            </a:r>
          </a:p>
          <a:p>
            <a:pPr marL="285750" indent="-285750">
              <a:buFontTx/>
              <a:buChar char="-"/>
            </a:pPr>
            <a:r>
              <a:rPr lang="en-US" i="1" dirty="0"/>
              <a:t>…</a:t>
            </a:r>
          </a:p>
          <a:p>
            <a:endParaRPr lang="en-US" i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9834419-AA21-0EE0-4A76-C32EE7DE7519}"/>
              </a:ext>
            </a:extLst>
          </p:cNvPr>
          <p:cNvCxnSpPr>
            <a:cxnSpLocks/>
          </p:cNvCxnSpPr>
          <p:nvPr/>
        </p:nvCxnSpPr>
        <p:spPr>
          <a:xfrm>
            <a:off x="5216576" y="1535176"/>
            <a:ext cx="0" cy="404734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65EC7A4B-39AB-F59A-4E49-9C73307C1993}"/>
              </a:ext>
            </a:extLst>
          </p:cNvPr>
          <p:cNvSpPr/>
          <p:nvPr/>
        </p:nvSpPr>
        <p:spPr>
          <a:xfrm>
            <a:off x="5501898" y="2715316"/>
            <a:ext cx="1828800" cy="33600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10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5F08C-0C8F-295F-777D-70BCB101A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34215E-DF09-A012-4579-D82430714E91}"/>
                  </a:ext>
                </a:extLst>
              </p:cNvPr>
              <p:cNvSpPr txBox="1"/>
              <p:nvPr/>
            </p:nvSpPr>
            <p:spPr>
              <a:xfrm>
                <a:off x="590310" y="486009"/>
                <a:ext cx="1099594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rgbClr val="0070C0"/>
                    </a:solidFill>
                  </a:rPr>
                  <a:t>Bridge: Domain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4000" b="1" dirty="0">
                    <a:solidFill>
                      <a:srgbClr val="0070C0"/>
                    </a:solidFill>
                  </a:rPr>
                  <a:t> Condition Mixture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34215E-DF09-A012-4579-D82430714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10" y="486009"/>
                <a:ext cx="10995948" cy="707886"/>
              </a:xfrm>
              <a:prstGeom prst="rect">
                <a:avLst/>
              </a:prstGeom>
              <a:blipFill>
                <a:blip r:embed="rId3"/>
                <a:stretch>
                  <a:fillRect l="-1961" t="-15789" b="-35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4EC399-A6D3-2FCE-5A53-58660AD8DB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F21-D912-7541-8ED2-FD6ABD90B685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7096047-670E-DD04-31B2-6149C9C9E74E}"/>
                  </a:ext>
                </a:extLst>
              </p:cNvPr>
              <p:cNvSpPr txBox="1"/>
              <p:nvPr/>
            </p:nvSpPr>
            <p:spPr>
              <a:xfrm>
                <a:off x="1211357" y="1374447"/>
                <a:ext cx="10142443" cy="4845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0" algn="l">
                  <a:buNone/>
                </a:pPr>
                <a:r>
                  <a:rPr lang="en-US" sz="2400" b="0" i="0" dirty="0">
                    <a:solidFill>
                      <a:schemeClr val="tx1"/>
                    </a:solidFill>
                    <a:effectLst/>
                    <a:latin typeface="+mn-lt"/>
                  </a:rPr>
                  <a:t>A </a:t>
                </a:r>
                <a:r>
                  <a:rPr lang="en-US" sz="2400" b="1" i="0" dirty="0">
                    <a:solidFill>
                      <a:schemeClr val="tx1"/>
                    </a:solidFill>
                    <a:effectLst/>
                    <a:latin typeface="+mn-lt"/>
                  </a:rPr>
                  <a:t>domain is not a dataset — it is a condition mixture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sz="2400" b="1" i="1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400" b="1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b="1" i="0" dirty="0">
                    <a:solidFill>
                      <a:schemeClr val="tx1"/>
                    </a:solidFill>
                    <a:effectLst/>
                    <a:latin typeface="+mn-lt"/>
                  </a:rPr>
                  <a:t>over the shared imaging model</a:t>
                </a:r>
                <a:endParaRPr lang="en-US" sz="2400" b="0" i="0" dirty="0">
                  <a:solidFill>
                    <a:schemeClr val="tx1"/>
                  </a:solidFill>
                  <a:effectLst/>
                  <a:latin typeface="+mn-lt"/>
                </a:endParaRPr>
              </a:p>
              <a:p>
                <a:pPr indent="0" algn="l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1">
                              <a:latin typeface="+mn-lt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+mn-lt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latin typeface="+mn-lt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+mn-lt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+mn-lt"/>
                            </a:rPr>
                            <m:t>𝑥</m:t>
                          </m:r>
                          <m:r>
                            <a:rPr lang="en-US" sz="2400" i="0">
                              <a:latin typeface="+mn-lt"/>
                            </a:rPr>
                            <m:t>∣</m:t>
                          </m:r>
                          <m:r>
                            <a:rPr lang="en-US" sz="2400" i="1">
                              <a:latin typeface="+mn-lt"/>
                            </a:rPr>
                            <m:t>𝑦</m:t>
                          </m:r>
                        </m:e>
                      </m:d>
                      <m:r>
                        <a:rPr lang="en-US" sz="2400" i="0">
                          <a:latin typeface="+mn-lt"/>
                        </a:rPr>
                        <m:t>=</m:t>
                      </m:r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en-US" sz="2400" i="1">
                              <a:latin typeface="+mn-lt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i="1">
                              <a:latin typeface="+mn-lt"/>
                            </a:rPr>
                            <m:t>𝑝</m:t>
                          </m:r>
                        </m:e>
                      </m:nary>
                      <m:d>
                        <m:dPr>
                          <m:sepChr m:val=","/>
                          <m:ctrlPr>
                            <a:rPr lang="en-US" sz="2400" i="1">
                              <a:latin typeface="+mn-lt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+mn-lt"/>
                            </a:rPr>
                            <m:t>𝑥</m:t>
                          </m:r>
                        </m:e>
                        <m:e>
                          <m:r>
                            <a:rPr lang="en-US" sz="2400" i="0">
                              <a:latin typeface="+mn-lt"/>
                            </a:rPr>
                            <m:t>∣</m:t>
                          </m:r>
                          <m:r>
                            <a:rPr lang="en-US" sz="2400" i="1">
                              <a:latin typeface="+mn-lt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+mn-lt"/>
                            </a:rPr>
                            <m:t>𝑐</m:t>
                          </m:r>
                        </m:e>
                      </m:d>
                      <m:r>
                        <m:rPr>
                          <m:nor/>
                        </m:rPr>
                        <a:rPr lang="en-US" sz="2400" b="0" i="0">
                          <a:latin typeface="+mn-lt"/>
                        </a:rPr>
                        <m:t> </m:t>
                      </m:r>
                      <m:r>
                        <a:rPr lang="en-US" sz="2400" b="0" i="1">
                          <a:latin typeface="+mn-lt"/>
                        </a:rPr>
                        <m:t>𝜋</m:t>
                      </m:r>
                      <m:d>
                        <m:dPr>
                          <m:ctrlPr>
                            <a:rPr lang="en-US" sz="2400" b="0" i="1">
                              <a:latin typeface="+mn-lt"/>
                            </a:rPr>
                          </m:ctrlPr>
                        </m:dPr>
                        <m:e>
                          <m:r>
                            <a:rPr lang="en-US" sz="2400" b="0" i="1">
                              <a:latin typeface="+mn-lt"/>
                            </a:rPr>
                            <m:t>𝑐</m:t>
                          </m:r>
                        </m:e>
                      </m:d>
                      <m:r>
                        <m:rPr>
                          <m:nor/>
                        </m:rPr>
                        <a:rPr lang="en-US" sz="2400" b="0" i="0">
                          <a:latin typeface="+mn-lt"/>
                        </a:rPr>
                        <m:t> </m:t>
                      </m:r>
                      <m:r>
                        <a:rPr lang="en-US" sz="2400" b="0" i="1">
                          <a:latin typeface="+mn-lt"/>
                        </a:rPr>
                        <m:t>𝑑𝑐</m:t>
                      </m:r>
                    </m:oMath>
                  </m:oMathPara>
                </a14:m>
                <a:endParaRPr lang="en-US" sz="2400" b="0" i="0" dirty="0">
                  <a:solidFill>
                    <a:schemeClr val="tx1"/>
                  </a:solidFill>
                  <a:effectLst/>
                  <a:latin typeface="+mn-lt"/>
                </a:endParaRPr>
              </a:p>
              <a:p>
                <a:pPr indent="0" algn="l">
                  <a:buNone/>
                </a:pPr>
                <a:endParaRPr lang="en-US" sz="1800" b="0" i="0" dirty="0">
                  <a:solidFill>
                    <a:schemeClr val="tx1"/>
                  </a:solidFill>
                  <a:effectLst/>
                  <a:latin typeface="+mn-lt"/>
                </a:endParaRPr>
              </a:p>
              <a:p>
                <a:pPr algn="l"/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|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err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dirty="0" err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dirty="0" err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0" i="0" dirty="0">
                    <a:solidFill>
                      <a:schemeClr val="tx1"/>
                    </a:solidFill>
                    <a:effectLst/>
                  </a:rPr>
                  <a:t> </a:t>
                </a:r>
                <a:r>
                  <a:rPr lang="en-US" sz="2400" b="1" i="0" dirty="0">
                    <a:solidFill>
                      <a:schemeClr val="tx1"/>
                    </a:solidFill>
                    <a:effectLst/>
                  </a:rPr>
                  <a:t>never changes</a:t>
                </a:r>
                <a:r>
                  <a:rPr lang="en-US" sz="2400" b="0" i="0" dirty="0">
                    <a:solidFill>
                      <a:schemeClr val="tx1"/>
                    </a:solidFill>
                    <a:effectLst/>
                  </a:rPr>
                  <a:t> (only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lang="en-US" sz="2400" b="0" i="0" dirty="0">
                    <a:solidFill>
                      <a:schemeClr val="tx1"/>
                    </a:solidFill>
                    <a:effectLst/>
                  </a:rPr>
                  <a:t> changes</a:t>
                </a:r>
                <a:r>
                  <a:rPr lang="en-US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:</a:t>
                </a:r>
              </a:p>
              <a:p>
                <a:pPr marL="342900" lvl="0" indent="-342900" algn="l">
                  <a:buFont typeface="Arial" panose="020B0604020202020204" pitchFamily="34" charset="0"/>
                  <a:buChar char="•"/>
                </a:pPr>
                <a:r>
                  <a:rPr lang="en-US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No </a:t>
                </a:r>
                <a:r>
                  <a:rPr lang="en-US" sz="1800" b="0" i="1" dirty="0">
                    <a:solidFill>
                      <a:schemeClr val="tx1"/>
                    </a:solidFill>
                    <a:effectLst/>
                    <a:latin typeface="+mn-lt"/>
                  </a:rPr>
                  <a:t>new</a:t>
                </a:r>
                <a:r>
                  <a:rPr lang="en-US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 imaging physics to learn — only regions of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 that are </a:t>
                </a:r>
                <a:r>
                  <a:rPr lang="en-US" sz="1800" b="0" i="0" dirty="0" err="1">
                    <a:solidFill>
                      <a:schemeClr val="tx1"/>
                    </a:solidFill>
                    <a:effectLst/>
                    <a:latin typeface="+mn-lt"/>
                  </a:rPr>
                  <a:t>undersampled</a:t>
                </a:r>
                <a:r>
                  <a:rPr lang="en-US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 (or never sampled)</a:t>
                </a:r>
              </a:p>
              <a:p>
                <a:pPr marL="342900" lvl="0" indent="-342900" algn="l">
                  <a:buFont typeface="Arial" panose="020B0604020202020204" pitchFamily="34" charset="0"/>
                  <a:buChar char="•"/>
                </a:pPr>
                <a:r>
                  <a:rPr lang="en-US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"Source" and "target" domains are shorthand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1800" b="0" i="1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sz="1800" b="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800" b="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1800" b="0" i="1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1800" b="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800" b="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 —  </a:t>
                </a:r>
                <a:r>
                  <a:rPr lang="en-US" dirty="0"/>
                  <a:t>t</a:t>
                </a:r>
                <a:r>
                  <a:rPr lang="en-US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hey are </a:t>
                </a:r>
                <a:r>
                  <a:rPr lang="en-US" sz="1800" b="1" i="0" dirty="0">
                    <a:solidFill>
                      <a:schemeClr val="tx1"/>
                    </a:solidFill>
                    <a:effectLst/>
                    <a:latin typeface="+mn-lt"/>
                  </a:rPr>
                  <a:t>mixtures.</a:t>
                </a:r>
              </a:p>
              <a:p>
                <a:pPr marL="342900" lvl="0" indent="-342900" algn="l">
                  <a:buFont typeface="Arial" panose="020B0604020202020204" pitchFamily="34" charset="0"/>
                  <a:buChar char="•"/>
                </a:pPr>
                <a:r>
                  <a:rPr lang="en-US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The induced posterior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800" b="0" i="1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_{</m:t>
                    </m:r>
                    <m:r>
                      <a:rPr lang="en-US" sz="1800" b="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800" b="0" i="1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}(</m:t>
                    </m:r>
                    <m:r>
                      <a:rPr lang="en-US" sz="1800" b="0" i="1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sz="1800" b="0" i="1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800" b="0" i="1" dirty="0">
                    <a:solidFill>
                      <a:schemeClr val="tx1"/>
                    </a:solidFill>
                    <a:effectLst/>
                    <a:latin typeface="+mn-lt"/>
                  </a:rPr>
                  <a:t>does</a:t>
                </a:r>
                <a:r>
                  <a:rPr lang="en-US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 differ between settings (consequence of re-weighting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).</a:t>
                </a:r>
              </a:p>
              <a:p>
                <a:pPr marL="342900" lvl="0" indent="-342900" algn="l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lvl="0" indent="-342900">
                  <a:buAutoNum type="arabicParenR"/>
                </a:pPr>
                <a:r>
                  <a:rPr lang="en-US" sz="1800" b="1" i="0" dirty="0">
                    <a:solidFill>
                      <a:schemeClr val="tx1"/>
                    </a:solidFill>
                    <a:effectLst/>
                    <a:latin typeface="+mn-lt"/>
                  </a:rPr>
                  <a:t>Representations Gap (Covariate Shift):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𝑠𝑢𝑝𝑝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𝑑𝑒𝑝𝑙𝑜𝑦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𝑠𝑢𝑝𝑝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𝑡𝑟𝑎𝑖𝑛</m:t>
                            </m:r>
                          </m:sub>
                        </m:sSub>
                      </m:e>
                    </m:d>
                  </m:oMath>
                </a14:m>
                <a:endParaRPr lang="en-US" sz="1800" b="1" i="0" dirty="0">
                  <a:solidFill>
                    <a:schemeClr val="tx1"/>
                  </a:solidFill>
                  <a:effectLst/>
                  <a:latin typeface="+mn-lt"/>
                </a:endParaRPr>
              </a:p>
              <a:p>
                <a:pPr marL="342900" lvl="0" indent="-342900">
                  <a:buAutoNum type="arabicParenR"/>
                </a:pPr>
                <a:r>
                  <a:rPr lang="en-US" sz="1800" b="1" i="0" dirty="0">
                    <a:solidFill>
                      <a:schemeClr val="tx1"/>
                    </a:solidFill>
                    <a:effectLst/>
                    <a:latin typeface="+mn-lt"/>
                  </a:rPr>
                  <a:t>Enrollment Asymmetry: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≠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1800" b="1" i="0" dirty="0">
                    <a:solidFill>
                      <a:schemeClr val="tx1"/>
                    </a:solidFill>
                    <a:effectLst/>
                    <a:latin typeface="+mn-lt"/>
                  </a:rPr>
                  <a:t> </a:t>
                </a:r>
                <a:r>
                  <a:rPr lang="en-US" sz="1800" i="0" dirty="0">
                    <a:solidFill>
                      <a:schemeClr val="tx1"/>
                    </a:solidFill>
                    <a:effectLst/>
                    <a:latin typeface="+mn-lt"/>
                  </a:rPr>
                  <a:t>during inferences (matching)</a:t>
                </a:r>
              </a:p>
              <a:p>
                <a:pPr marL="342900" lvl="0" indent="-342900">
                  <a:buAutoNum type="arabicParenR"/>
                </a:pPr>
                <a:r>
                  <a:rPr lang="en-US" sz="1800" b="1" i="0" dirty="0">
                    <a:solidFill>
                      <a:schemeClr val="tx1"/>
                    </a:solidFill>
                    <a:effectLst/>
                    <a:latin typeface="+mn-lt"/>
                  </a:rPr>
                  <a:t>Population Shift: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𝑡𝑟𝑎𝑖𝑛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𝑑𝑒𝑝𝑙𝑜𝑦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/>
                      <m:t>, plus changed genuine/impostor prior</m:t>
                    </m:r>
                  </m:oMath>
                </a14:m>
                <a:endParaRPr lang="en-US" b="1" dirty="0"/>
              </a:p>
              <a:p>
                <a:pPr marL="342900" lvl="0" indent="-342900">
                  <a:buAutoNum type="arabicParenR"/>
                </a:pPr>
                <a:endParaRPr lang="en-US" sz="1800" b="1" i="0" dirty="0">
                  <a:solidFill>
                    <a:schemeClr val="tx1"/>
                  </a:solidFill>
                  <a:effectLst/>
                  <a:latin typeface="+mn-lt"/>
                </a:endParaRPr>
              </a:p>
              <a:p>
                <a:pPr marL="342900" lvl="0" indent="-342900">
                  <a:buAutoNum type="arabicParenR"/>
                </a:pPr>
                <a:r>
                  <a:rPr lang="en-US" b="1" dirty="0"/>
                  <a:t>Concept Shift: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∣ 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changes!</a:t>
                </a:r>
                <a:endParaRPr lang="en-US" sz="1800" b="1" i="0" dirty="0"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7096047-670E-DD04-31B2-6149C9C9E7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357" y="1374447"/>
                <a:ext cx="10142443" cy="4845429"/>
              </a:xfrm>
              <a:prstGeom prst="rect">
                <a:avLst/>
              </a:prstGeom>
              <a:blipFill>
                <a:blip r:embed="rId4"/>
                <a:stretch>
                  <a:fillRect l="-1000" t="-17277" b="-10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3558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5B336-D69F-448F-231F-2AD8D0B89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56ADBD-E551-6C20-F8BF-D133E40F97C6}"/>
              </a:ext>
            </a:extLst>
          </p:cNvPr>
          <p:cNvSpPr txBox="1"/>
          <p:nvPr/>
        </p:nvSpPr>
        <p:spPr>
          <a:xfrm>
            <a:off x="590310" y="486009"/>
            <a:ext cx="10995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Domain Gap Mitigation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81BD09-A5A2-D3C4-CE63-E1457FDFBDB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F21-D912-7541-8ED2-FD6ABD90B685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B3CC969-25AF-E4DE-14C0-5EE4A6E90E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6250091"/>
                  </p:ext>
                </p:extLst>
              </p:nvPr>
            </p:nvGraphicFramePr>
            <p:xfrm>
              <a:off x="598026" y="1270000"/>
              <a:ext cx="10995948" cy="5217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62925">
                      <a:extLst>
                        <a:ext uri="{9D8B030D-6E8A-4147-A177-3AD203B41FA5}">
                          <a16:colId xmlns:a16="http://schemas.microsoft.com/office/drawing/2014/main" val="561587190"/>
                        </a:ext>
                      </a:extLst>
                    </a:gridCol>
                    <a:gridCol w="2918012">
                      <a:extLst>
                        <a:ext uri="{9D8B030D-6E8A-4147-A177-3AD203B41FA5}">
                          <a16:colId xmlns:a16="http://schemas.microsoft.com/office/drawing/2014/main" val="732999447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305914966"/>
                        </a:ext>
                      </a:extLst>
                    </a:gridCol>
                    <a:gridCol w="2744221">
                      <a:extLst>
                        <a:ext uri="{9D8B030D-6E8A-4147-A177-3AD203B41FA5}">
                          <a16:colId xmlns:a16="http://schemas.microsoft.com/office/drawing/2014/main" val="3243467496"/>
                        </a:ext>
                      </a:extLst>
                    </a:gridCol>
                    <a:gridCol w="2199190">
                      <a:extLst>
                        <a:ext uri="{9D8B030D-6E8A-4147-A177-3AD203B41FA5}">
                          <a16:colId xmlns:a16="http://schemas.microsoft.com/office/drawing/2014/main" val="36033185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Family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Acts 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Mitigation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Fails when…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53593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342900" indent="-342900">
                            <a:buAutoNum type="alphaUcPeriod"/>
                          </a:pPr>
                          <a:r>
                            <a:rPr lang="en-US" sz="1600" b="1" dirty="0"/>
                            <a:t>Input Level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Encourage similarity between domain early in the pipeline </a:t>
                          </a:r>
                          <a:br>
                            <a:rPr lang="en-US" sz="1600" dirty="0"/>
                          </a:br>
                          <a:r>
                            <a:rPr lang="en-US" sz="1600" dirty="0"/>
                            <a:t>(e.g., sensor/image level)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Pixels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Synthesis/translation,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normalization,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photometric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correction,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restoration/</a:t>
                          </a:r>
                          <a:r>
                            <a:rPr lang="en-US" sz="16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deturbulence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Synthesis hallucinates identity; gallery artifacts are a </a:t>
                          </a:r>
                          <a:r>
                            <a:rPr lang="en-US" sz="1600" b="0" i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new</a:t>
                          </a:r>
                          <a: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 region of c absent from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0" i="1" kern="1200" dirty="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kern="1200" dirty="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sz="1600" b="0" i="1" kern="1200" dirty="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𝑡𝑟𝑎𝑖𝑛</m:t>
                                  </m:r>
                                </m:sub>
                              </m:sSub>
                            </m:oMath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09469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B. Feature Level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Encourage domains to </a:t>
                          </a:r>
                          <a:r>
                            <a:rPr lang="en-US" sz="1600" b="0" i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embed</a:t>
                          </a:r>
                          <a: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 </a:t>
                          </a:r>
                          <a:b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</a:br>
                          <a: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discriminatively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Latent Space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MMD/CORAL alignment, domain confusion,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partial weight sharing with modality-specific early layers,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attention-based part alignment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match marginals of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0" i="1" kern="1200" baseline="0" dirty="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kern="1200" baseline="0" dirty="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sz="1800" b="0" i="1" kern="1200" baseline="0" dirty="0" err="1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𝑆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0" i="1" kern="1200" dirty="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kern="1200" dirty="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sz="1800" b="0" i="1" kern="1200" dirty="0" err="1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while destroying identity separability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25864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C. Objective Level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Identity is the only signal the loss can use</a:t>
                          </a:r>
                          <a:endParaRPr lang="en-US" sz="16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Loss / supervision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Cross-domain triplet,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InfoNCE</a:t>
                          </a:r>
                          <a:r>
                            <a:rPr lang="en-US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,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cross-domain identification,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domain-invariant margin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Sampling is naive; easy negatives make the cross-domain term meaningless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711478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B3CC969-25AF-E4DE-14C0-5EE4A6E90E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6250091"/>
                  </p:ext>
                </p:extLst>
              </p:nvPr>
            </p:nvGraphicFramePr>
            <p:xfrm>
              <a:off x="598026" y="1270000"/>
              <a:ext cx="10995948" cy="5217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62925">
                      <a:extLst>
                        <a:ext uri="{9D8B030D-6E8A-4147-A177-3AD203B41FA5}">
                          <a16:colId xmlns:a16="http://schemas.microsoft.com/office/drawing/2014/main" val="561587190"/>
                        </a:ext>
                      </a:extLst>
                    </a:gridCol>
                    <a:gridCol w="2918012">
                      <a:extLst>
                        <a:ext uri="{9D8B030D-6E8A-4147-A177-3AD203B41FA5}">
                          <a16:colId xmlns:a16="http://schemas.microsoft.com/office/drawing/2014/main" val="732999447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305914966"/>
                        </a:ext>
                      </a:extLst>
                    </a:gridCol>
                    <a:gridCol w="2744221">
                      <a:extLst>
                        <a:ext uri="{9D8B030D-6E8A-4147-A177-3AD203B41FA5}">
                          <a16:colId xmlns:a16="http://schemas.microsoft.com/office/drawing/2014/main" val="3243467496"/>
                        </a:ext>
                      </a:extLst>
                    </a:gridCol>
                    <a:gridCol w="2199190">
                      <a:extLst>
                        <a:ext uri="{9D8B030D-6E8A-4147-A177-3AD203B41FA5}">
                          <a16:colId xmlns:a16="http://schemas.microsoft.com/office/drawing/2014/main" val="36033185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Family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Acts 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Mitigation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Fails when…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5359386"/>
                      </a:ext>
                    </a:extLst>
                  </a:tr>
                  <a:tr h="1310640">
                    <a:tc>
                      <a:txBody>
                        <a:bodyPr/>
                        <a:lstStyle/>
                        <a:p>
                          <a:pPr marL="342900" indent="-342900">
                            <a:buAutoNum type="alphaUcPeriod"/>
                          </a:pPr>
                          <a:r>
                            <a:rPr lang="en-US" sz="1600" b="1" dirty="0"/>
                            <a:t>Input Level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Encourage similarity between domain early in the pipeline </a:t>
                          </a:r>
                          <a:br>
                            <a:rPr lang="en-US" sz="1600" dirty="0"/>
                          </a:br>
                          <a:r>
                            <a:rPr lang="en-US" sz="1600" dirty="0"/>
                            <a:t>(e.g., sensor/image level)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Pixels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Synthesis/translation,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normalization,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photometric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correction,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restoration/</a:t>
                          </a:r>
                          <a:r>
                            <a:rPr lang="en-US" sz="16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deturbulence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1156" t="-31068" r="-1734" b="-2786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0946911"/>
                      </a:ext>
                    </a:extLst>
                  </a:tr>
                  <a:tr h="1798320"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B. Feature Level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Encourage domains to </a:t>
                          </a:r>
                          <a:r>
                            <a:rPr lang="en-US" sz="1600" b="0" i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embed</a:t>
                          </a:r>
                          <a: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 </a:t>
                          </a:r>
                          <a:b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</a:br>
                          <a: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discriminatively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Latent Space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MMD/CORAL alignment, domain confusion,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partial weight sharing with modality-specific early layers,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attention-based part alignment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1156" t="-95070" r="-1734" b="-1021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2586407"/>
                      </a:ext>
                    </a:extLst>
                  </a:tr>
                  <a:tr h="1737360"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C. Objective Level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Identity is the only signal the loss can use</a:t>
                          </a:r>
                          <a:endParaRPr lang="en-US" sz="16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Loss / supervision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Cross-domain triplet,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InfoNCE</a:t>
                          </a:r>
                          <a:r>
                            <a:rPr lang="en-US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,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cross-domain identification,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domain-invariant margin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Sampling is naive; easy negatives make the cross-domain term meaningless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71147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47918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91C45-FEF4-23F9-E1F2-9DFB874D8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E4FB93-B042-E7CC-74C8-536F503E9C8E}"/>
              </a:ext>
            </a:extLst>
          </p:cNvPr>
          <p:cNvSpPr txBox="1"/>
          <p:nvPr/>
        </p:nvSpPr>
        <p:spPr>
          <a:xfrm>
            <a:off x="590310" y="486009"/>
            <a:ext cx="10995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Maximum Mean Discrepancy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6966AF-D015-2328-2AB1-729209DA1D7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F21-D912-7541-8ED2-FD6ABD90B685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8B3CA0-0D84-FE39-87B8-794285781683}"/>
                  </a:ext>
                </a:extLst>
              </p:cNvPr>
              <p:cNvSpPr txBox="1"/>
              <p:nvPr/>
            </p:nvSpPr>
            <p:spPr>
              <a:xfrm>
                <a:off x="590310" y="1407913"/>
                <a:ext cx="10651431" cy="42807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itchFamily="2" charset="2"/>
                  <a:buChar char="q"/>
                </a:pPr>
                <a:r>
                  <a:rPr lang="en-US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Measures distance between two distributions via embeddings into a </a:t>
                </a:r>
                <a:r>
                  <a:rPr lang="en-US" sz="1800" b="0" i="1" dirty="0">
                    <a:solidFill>
                      <a:schemeClr val="tx1"/>
                    </a:solidFill>
                    <a:effectLst/>
                    <a:latin typeface="+mn-lt"/>
                  </a:rPr>
                  <a:t>Reproducing Kernel Hilbert Space (RKHS) — </a:t>
                </a:r>
                <a:r>
                  <a:rPr lang="en-US" sz="1800" b="0" dirty="0">
                    <a:solidFill>
                      <a:schemeClr val="tx1"/>
                    </a:solidFill>
                    <a:effectLst/>
                    <a:latin typeface="+mn-lt"/>
                  </a:rPr>
                  <a:t>evaluating a function is </a:t>
                </a:r>
                <a:r>
                  <a:rPr lang="en-US" dirty="0"/>
                  <a:t>guaranteed to be stable and predictable.</a:t>
                </a:r>
                <a:endParaRPr lang="en-US" sz="1800" b="0" i="1" dirty="0">
                  <a:solidFill>
                    <a:schemeClr val="tx1"/>
                  </a:solidFill>
                  <a:effectLst/>
                  <a:latin typeface="+mn-lt"/>
                </a:endParaRPr>
              </a:p>
              <a:p>
                <a:endParaRPr lang="en-US" i="1" dirty="0"/>
              </a:p>
              <a:p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𝑀𝑀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~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~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ℋ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i="1" dirty="0"/>
              </a:p>
              <a:p>
                <a:endParaRPr lang="en-US" i="1" dirty="0"/>
              </a:p>
              <a:p>
                <a:pPr marL="285750" indent="-285750">
                  <a:buFont typeface="Wingdings" pitchFamily="2" charset="2"/>
                  <a:buChar char="q"/>
                </a:pPr>
                <a:r>
                  <a:rPr lang="en-US" dirty="0"/>
                  <a:t>Empirical, kernelized form used as a training penalty</a:t>
                </a:r>
              </a:p>
              <a:p>
                <a:endParaRPr lang="en-US" i="1" dirty="0"/>
              </a:p>
              <a:p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𝑀𝑀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d>
                        <m:dPr>
                          <m:ctrlPr>
                            <a:rPr lang="en-US" sz="1800" b="0" i="1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sz="1800" b="0" i="1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1800" b="0" i="1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800" b="0" i="1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7"/>
                            </m:rPr>
                            <a:rPr lang="en-US" sz="1800" b="0" i="1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brk m:alnAt="7"/>
                            </m:rPr>
                            <a:rPr lang="en-US" sz="1800" b="0" i="1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1800" b="0" i="1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b="0" i="1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1800" b="0" i="1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0" i="1" dirty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dirty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800" b="0" i="1" dirty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800" b="0" i="1" dirty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dirty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800" b="0" i="1" dirty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1800" b="0" i="1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800" b="0" i="1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𝑛𝑚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1800" b="0" i="1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0" i="1" dirty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dirty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b="0" i="1" dirty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800" b="0" i="1" dirty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dirty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800" b="0" i="1" dirty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i="1" dirty="0"/>
              </a:p>
              <a:p>
                <a:endParaRPr lang="en-US" i="1" dirty="0"/>
              </a:p>
              <a:p>
                <a:endParaRPr lang="en-US" i="1" dirty="0"/>
              </a:p>
              <a:p>
                <a:r>
                  <a:rPr lang="en-US" b="1" dirty="0"/>
                  <a:t>Total Objective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𝐼𝐷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𝜆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𝑀𝑀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</m:e>
                        </m:d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br>
                  <a:rPr lang="en-US" dirty="0"/>
                </a:br>
                <a:br>
                  <a:rPr lang="en-US" dirty="0"/>
                </a:br>
                <a:endParaRPr lang="en-US" i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8B3CA0-0D84-FE39-87B8-794285781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10" y="1407913"/>
                <a:ext cx="10651431" cy="4280787"/>
              </a:xfrm>
              <a:prstGeom prst="rect">
                <a:avLst/>
              </a:prstGeom>
              <a:blipFill>
                <a:blip r:embed="rId3"/>
                <a:stretch>
                  <a:fillRect l="-476" t="-5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9566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37B7A-AB4D-D0D7-6EFA-4D3860498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432A69-B4D8-0395-CC80-5EA5A502D4CA}"/>
              </a:ext>
            </a:extLst>
          </p:cNvPr>
          <p:cNvSpPr txBox="1"/>
          <p:nvPr/>
        </p:nvSpPr>
        <p:spPr>
          <a:xfrm>
            <a:off x="590310" y="486009"/>
            <a:ext cx="10995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>
                <a:solidFill>
                  <a:srgbClr val="0070C0"/>
                </a:solidFill>
              </a:rPr>
              <a:t>InfoNCE</a:t>
            </a:r>
            <a:r>
              <a:rPr lang="en-US" sz="4000" b="1" dirty="0">
                <a:solidFill>
                  <a:srgbClr val="0070C0"/>
                </a:solidFill>
              </a:rPr>
              <a:t>  — Cross-Domain Contrastive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D31C2C-4543-0A5C-43BB-98FB28F7891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F21-D912-7541-8ED2-FD6ABD90B685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EE2E74-6D18-D05C-9341-DA74F1B752B0}"/>
                  </a:ext>
                </a:extLst>
              </p:cNvPr>
              <p:cNvSpPr txBox="1"/>
              <p:nvPr/>
            </p:nvSpPr>
            <p:spPr>
              <a:xfrm>
                <a:off x="590310" y="1407913"/>
                <a:ext cx="10651431" cy="49530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𝐼𝑛𝑓𝑜𝑁𝐶𝐸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US" sz="2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𝑠𝑖𝑚</m:t>
                                      </m:r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</m:e>
                              </m:func>
                            </m:num>
                            <m:den>
                              <m:nary>
                                <m:naryPr>
                                  <m:chr m:val="∑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𝑠𝑖𝑚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Sup>
                                                <m:sSubSupPr>
                                                  <m:ctrlP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𝐴</m:t>
                                                  </m:r>
                                                </m:sup>
                                              </m:sSubSup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𝐵</m:t>
                                                  </m:r>
                                                </m:sup>
                                              </m:sSubSup>
                                            </m:e>
                                          </m:d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/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lvl="0"/>
                <a:endParaRPr lang="en-US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Set A = domain 1, B = domain 2 → positives are the </a:t>
                </a:r>
                <a:r>
                  <a:rPr lang="en-US" i="1" dirty="0"/>
                  <a:t>same identity across the gap and </a:t>
                </a:r>
                <a:r>
                  <a:rPr lang="en-US" dirty="0"/>
                  <a:t>the gap becomes the augmentation.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Week 7 reading:</a:t>
                </a:r>
                <a:r>
                  <a:rPr lang="en-US" dirty="0"/>
                  <a:t> 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∼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and this becomes a direct Shift 2 remedy — you are training on exactly the pairing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that scoring will use at deployment. Unlike MMD, the supervision is </a:t>
                </a:r>
                <a:r>
                  <a:rPr lang="en-US" i="1" dirty="0"/>
                  <a:t>pairwise</a:t>
                </a:r>
                <a:r>
                  <a:rPr lang="en-US" dirty="0"/>
                  <a:t>, so the asymmetry between the two mixtures is in the objective rather than averaged away.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Interpretation: lower bound on mutual information between domain views of the same identity — you are explicitly asking the encoder to keep only what is </a:t>
                </a:r>
                <a:r>
                  <a:rPr lang="en-US" i="1" dirty="0"/>
                  <a:t>shared</a:t>
                </a:r>
                <a:r>
                  <a:rPr lang="en-US" dirty="0"/>
                  <a:t> across domains.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temperature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 (hardness weighting), batch size / negative count, and the role of a projection head.</a:t>
                </a:r>
              </a:p>
              <a:p>
                <a:pPr lvl="0"/>
                <a:br>
                  <a:rPr lang="en-US" dirty="0"/>
                </a:br>
                <a:br>
                  <a:rPr lang="en-US" dirty="0"/>
                </a:br>
                <a:endParaRPr lang="en-US" i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EE2E74-6D18-D05C-9341-DA74F1B75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10" y="1407913"/>
                <a:ext cx="10651431" cy="4953087"/>
              </a:xfrm>
              <a:prstGeom prst="rect">
                <a:avLst/>
              </a:prstGeom>
              <a:blipFill>
                <a:blip r:embed="rId3"/>
                <a:stretch>
                  <a:fillRect l="-357" t="-2046" r="-2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4107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B46F8-59D6-C9C4-2412-93EDB0AC5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223E73-1445-1948-4C79-DA17F8F7687E}"/>
              </a:ext>
            </a:extLst>
          </p:cNvPr>
          <p:cNvSpPr txBox="1"/>
          <p:nvPr/>
        </p:nvSpPr>
        <p:spPr>
          <a:xfrm>
            <a:off x="590310" y="486009"/>
            <a:ext cx="10995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Cross-Domain Triplet Loss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B02AB1-FBBB-1A17-E15B-BD0DD540C9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F21-D912-7541-8ED2-FD6ABD90B685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B1FB92-FB2F-57BF-63DA-B4E7F38FF81D}"/>
                  </a:ext>
                </a:extLst>
              </p:cNvPr>
              <p:cNvSpPr txBox="1"/>
              <p:nvPr/>
            </p:nvSpPr>
            <p:spPr>
              <a:xfrm>
                <a:off x="590310" y="1407913"/>
                <a:ext cx="10651431" cy="60540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𝑡𝑟𝑖𝑝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</m:d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</m: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/>
                <a:endParaRPr lang="en-US" dirty="0"/>
              </a:p>
              <a:p>
                <a:pPr/>
                <a:endParaRPr lang="en-US" dirty="0"/>
              </a:p>
              <a:p>
                <a:pPr/>
                <a:endParaRPr lang="en-US" dirty="0"/>
              </a:p>
              <a:p>
                <a:pPr/>
                <a:endParaRPr lang="en-US" dirty="0"/>
              </a:p>
              <a:p>
                <a:pPr/>
                <a:endParaRPr lang="en-US" dirty="0"/>
              </a:p>
              <a:p>
                <a:pPr/>
                <a:endParaRPr lang="en-US" dirty="0"/>
              </a:p>
              <a:p>
                <a:pPr/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0)</m:t>
                      </m:r>
                    </m:oMath>
                  </m:oMathPara>
                </a14:m>
                <a:endParaRPr lang="en-US" sz="2400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lvl="0"/>
                <a:br>
                  <a:rPr lang="en-US" dirty="0"/>
                </a:br>
                <a:br>
                  <a:rPr lang="en-US" dirty="0"/>
                </a:br>
                <a:endParaRPr lang="en-US" i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B1FB92-FB2F-57BF-63DA-B4E7F38FF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10" y="1407913"/>
                <a:ext cx="10651431" cy="60540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Left Brace 1">
            <a:extLst>
              <a:ext uri="{FF2B5EF4-FFF2-40B4-BE49-F238E27FC236}">
                <a16:creationId xmlns:a16="http://schemas.microsoft.com/office/drawing/2014/main" id="{790556DC-F92D-A09E-1907-FA09609F4CCD}"/>
              </a:ext>
            </a:extLst>
          </p:cNvPr>
          <p:cNvSpPr/>
          <p:nvPr/>
        </p:nvSpPr>
        <p:spPr>
          <a:xfrm rot="16200000">
            <a:off x="4350126" y="2356457"/>
            <a:ext cx="564776" cy="227255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C6964DB6-DBD5-B9CB-1FA9-FC841D098312}"/>
              </a:ext>
            </a:extLst>
          </p:cNvPr>
          <p:cNvSpPr/>
          <p:nvPr/>
        </p:nvSpPr>
        <p:spPr>
          <a:xfrm rot="16200000">
            <a:off x="7086601" y="2292723"/>
            <a:ext cx="564776" cy="227255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AAF8F1BF-318E-E182-E914-3703FF5766D7}"/>
              </a:ext>
            </a:extLst>
          </p:cNvPr>
          <p:cNvSpPr/>
          <p:nvPr/>
        </p:nvSpPr>
        <p:spPr>
          <a:xfrm rot="16200000">
            <a:off x="8773086" y="3223930"/>
            <a:ext cx="564776" cy="41910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65CA78-052D-3293-34DB-15203C6CF43F}"/>
              </a:ext>
            </a:extLst>
          </p:cNvPr>
          <p:cNvSpPr txBox="1"/>
          <p:nvPr/>
        </p:nvSpPr>
        <p:spPr>
          <a:xfrm>
            <a:off x="3234020" y="3989141"/>
            <a:ext cx="27969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Anchor to positive distance (</a:t>
            </a:r>
            <a:r>
              <a:rPr lang="en-US" dirty="0" err="1"/>
              <a:t>differnt</a:t>
            </a:r>
            <a:r>
              <a:rPr lang="en-US" dirty="0"/>
              <a:t> domain)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E6B615-E862-99A4-BEBD-69C4C87150E7}"/>
              </a:ext>
            </a:extLst>
          </p:cNvPr>
          <p:cNvSpPr txBox="1"/>
          <p:nvPr/>
        </p:nvSpPr>
        <p:spPr>
          <a:xfrm>
            <a:off x="6102723" y="3927610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Anchor to negative distance (same domains)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E59157-B211-459B-A815-A2FDD8D95C68}"/>
              </a:ext>
            </a:extLst>
          </p:cNvPr>
          <p:cNvSpPr txBox="1"/>
          <p:nvPr/>
        </p:nvSpPr>
        <p:spPr>
          <a:xfrm>
            <a:off x="8845923" y="3834376"/>
            <a:ext cx="2251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Separability margin</a:t>
            </a:r>
          </a:p>
        </p:txBody>
      </p:sp>
    </p:spTree>
    <p:extLst>
      <p:ext uri="{BB962C8B-B14F-4D97-AF65-F5344CB8AC3E}">
        <p14:creationId xmlns:p14="http://schemas.microsoft.com/office/powerpoint/2010/main" val="3673408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F9ACD-B11E-97F4-F380-8462A31A3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2DBED6-ADBE-6AE6-8282-C34052BEFBD1}"/>
              </a:ext>
            </a:extLst>
          </p:cNvPr>
          <p:cNvSpPr txBox="1"/>
          <p:nvPr/>
        </p:nvSpPr>
        <p:spPr>
          <a:xfrm>
            <a:off x="590310" y="486009"/>
            <a:ext cx="10995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Case Studies—Three Gaps and Mitigations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1F526F-1B7A-90A1-E545-EE778931FF8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F21-D912-7541-8ED2-FD6ABD90B685}" type="slidenum">
              <a:rPr lang="en-US" smtClean="0"/>
              <a:t>9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2051FCA-F1B3-84F8-3A71-8F41C8C57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001" y="1561487"/>
            <a:ext cx="9009998" cy="29319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E920F25-0017-AB23-FFA6-9F9F3F4794C4}"/>
              </a:ext>
            </a:extLst>
          </p:cNvPr>
          <p:cNvSpPr txBox="1"/>
          <p:nvPr/>
        </p:nvSpPr>
        <p:spPr>
          <a:xfrm>
            <a:off x="147919" y="4668229"/>
            <a:ext cx="1143834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200" dirty="0"/>
              <a:t>2015 </a:t>
            </a:r>
            <a:r>
              <a:rPr lang="en-US" sz="1200" b="1" dirty="0"/>
              <a:t>Coupled Auto-Associative Neural Networks for Heterogeneous Face Recognition</a:t>
            </a:r>
            <a:r>
              <a:rPr lang="en-US" sz="1200" dirty="0"/>
              <a:t> — Riggan, Reale, Nasrabadi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2016: </a:t>
            </a:r>
            <a:r>
              <a:rPr lang="en-US" sz="1200" b="1" dirty="0"/>
              <a:t>Optimal Feature Learning and Discriminative Framework for Polarimetric Thermal to Visible Face Recognition</a:t>
            </a:r>
            <a:r>
              <a:rPr lang="en-US" sz="1200" dirty="0"/>
              <a:t> — Riggan, Short, Hu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2016: </a:t>
            </a:r>
            <a:r>
              <a:rPr lang="en-US" sz="1200" b="1" dirty="0"/>
              <a:t>Estimation of Visible Spectrum Faces from Polarimetric Thermal Faces</a:t>
            </a:r>
            <a:r>
              <a:rPr lang="en-US" sz="1200" dirty="0"/>
              <a:t> — Riggan, Short, Hu, Kwon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2016: </a:t>
            </a:r>
            <a:r>
              <a:rPr lang="en-US" sz="1200" b="1" dirty="0"/>
              <a:t>A Polarimetric Thermal Database for Face Recognition Research</a:t>
            </a:r>
            <a:r>
              <a:rPr lang="en-US" sz="1200" dirty="0"/>
              <a:t> — Hu, Short, Riggan et al.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2017: </a:t>
            </a:r>
            <a:r>
              <a:rPr lang="en-US" sz="1200" b="1" dirty="0"/>
              <a:t>Generative Adversarial Network-Based Synthesis of Visible Faces from Polarimetric Thermal Faces</a:t>
            </a:r>
            <a:r>
              <a:rPr lang="en-US" sz="1200" dirty="0"/>
              <a:t> — Zhang, Patel, Riggan, Hu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2018: </a:t>
            </a:r>
            <a:r>
              <a:rPr lang="en-US" sz="1200" b="1" dirty="0"/>
              <a:t>Thermal to Visible Synthesis of Face Images Using Multiple Regions</a:t>
            </a:r>
            <a:r>
              <a:rPr lang="en-US" sz="1200" dirty="0"/>
              <a:t> — Riggan, Short, Hu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2019: </a:t>
            </a:r>
            <a:r>
              <a:rPr lang="en-US" sz="1200" b="1" dirty="0"/>
              <a:t>Synthesis of High-Quality Visible Faces from Polarimetric Thermal Faces Using Generative Adversarial Networks</a:t>
            </a:r>
            <a:r>
              <a:rPr lang="en-US" sz="1200" dirty="0"/>
              <a:t> — Zhang, Riggan, Hu, Short, Patel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2019: </a:t>
            </a:r>
            <a:r>
              <a:rPr lang="en-US" sz="1200" b="1" dirty="0"/>
              <a:t>Polarimetric Thermal to Visible Face Verification via Self-Attention Guided Synthesis</a:t>
            </a:r>
            <a:r>
              <a:rPr lang="en-US" sz="1200" dirty="0"/>
              <a:t> — Di, Riggan, Hu, Short, Patel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2020: </a:t>
            </a:r>
            <a:r>
              <a:rPr lang="en-US" sz="1200" b="1" dirty="0"/>
              <a:t>Cross-Domain Identification for Thermal-to-Visible Face Recognition</a:t>
            </a:r>
            <a:r>
              <a:rPr lang="en-US" sz="1200" dirty="0"/>
              <a:t> — </a:t>
            </a:r>
            <a:r>
              <a:rPr lang="en-US" sz="1200" dirty="0" err="1"/>
              <a:t>Fondje</a:t>
            </a:r>
            <a:r>
              <a:rPr lang="en-US" sz="1200" dirty="0"/>
              <a:t>, Hu, Short, Riggan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2021: </a:t>
            </a:r>
            <a:r>
              <a:rPr lang="en-US" sz="1200" b="1" dirty="0"/>
              <a:t>Multi-Scale Thermal to Visible Face Verification via Attribute Guided Synthesis</a:t>
            </a:r>
            <a:r>
              <a:rPr lang="en-US" sz="1200" dirty="0"/>
              <a:t> — Di, Riggan, Hu, Short, Patel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2023: </a:t>
            </a:r>
            <a:r>
              <a:rPr lang="en-US" sz="1200" b="1" dirty="0"/>
              <a:t>Learning Domain and Pose Invariance for Thermal-to-Visible Face Recognition</a:t>
            </a:r>
            <a:r>
              <a:rPr lang="en-US" sz="1200" dirty="0"/>
              <a:t> — </a:t>
            </a:r>
            <a:r>
              <a:rPr lang="en-US" sz="1200" dirty="0" err="1"/>
              <a:t>Fondje</a:t>
            </a:r>
            <a:r>
              <a:rPr lang="en-US" sz="1200" dirty="0"/>
              <a:t>, Hu, Riggan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19E035-BCF4-B767-5B0E-4B2AF9EC9A56}"/>
              </a:ext>
            </a:extLst>
          </p:cNvPr>
          <p:cNvSpPr txBox="1"/>
          <p:nvPr/>
        </p:nvSpPr>
        <p:spPr>
          <a:xfrm>
            <a:off x="605742" y="1202009"/>
            <a:ext cx="2598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Thermal-to-Visible Gap</a:t>
            </a:r>
          </a:p>
        </p:txBody>
      </p:sp>
    </p:spTree>
    <p:extLst>
      <p:ext uri="{BB962C8B-B14F-4D97-AF65-F5344CB8AC3E}">
        <p14:creationId xmlns:p14="http://schemas.microsoft.com/office/powerpoint/2010/main" val="1776681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C7D36-C014-2A51-FAC3-38DC75CD5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3CE777-AF2A-F3FF-3699-00CC69435AF1}"/>
              </a:ext>
            </a:extLst>
          </p:cNvPr>
          <p:cNvSpPr txBox="1"/>
          <p:nvPr/>
        </p:nvSpPr>
        <p:spPr>
          <a:xfrm>
            <a:off x="590310" y="486009"/>
            <a:ext cx="10995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Case Studies—Three Gaps and Mitigations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6BE541-2115-A04E-00ED-4ED944AA332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F21-D912-7541-8ED2-FD6ABD90B685}" type="slidenum">
              <a:rPr lang="en-US" smtClean="0"/>
              <a:t>10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73319E-74E2-1E01-6AC4-74498E8CE0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45659" y="1398097"/>
            <a:ext cx="7861102" cy="341076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F3928A-D348-AA7E-A580-9EDEAAB0980B}"/>
              </a:ext>
            </a:extLst>
          </p:cNvPr>
          <p:cNvSpPr txBox="1"/>
          <p:nvPr/>
        </p:nvSpPr>
        <p:spPr>
          <a:xfrm>
            <a:off x="590310" y="5103674"/>
            <a:ext cx="102735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K. Nikhal and B. S. Riggan, “Weakly Supervised Face and Whole Body Recognition in Turbulent Environments,” IEEE International Joint Conference on Biometrics (IJCB), 2023.</a:t>
            </a:r>
          </a:p>
          <a:p>
            <a:pPr marL="285750" indent="-285750">
              <a:buFontTx/>
              <a:buChar char="-"/>
            </a:pPr>
            <a:r>
              <a:rPr lang="en-US" dirty="0"/>
              <a:t>C. N. </a:t>
            </a:r>
            <a:r>
              <a:rPr lang="en-US" dirty="0" err="1"/>
              <a:t>Fondje</a:t>
            </a:r>
            <a:r>
              <a:rPr lang="en-US" dirty="0"/>
              <a:t>, K. Nikhal, J. B. Peace, R. Karl, M. Lee, P. Berkowitz, K. </a:t>
            </a:r>
            <a:r>
              <a:rPr lang="en-US" dirty="0" err="1"/>
              <a:t>Gramzinski</a:t>
            </a:r>
            <a:r>
              <a:rPr lang="en-US" dirty="0"/>
              <a:t>, B. Kennedy, N. </a:t>
            </a:r>
            <a:r>
              <a:rPr lang="en-US" dirty="0" err="1"/>
              <a:t>Uzuegbunam</a:t>
            </a:r>
            <a:r>
              <a:rPr lang="en-US" dirty="0"/>
              <a:t>, T. Barrett, O. Arend, W. Liane, S. Semenova, and B. S. Riggan, “HBRC-500: A Long Range Recognition Benchmark Dataset using Face and Whole-body Imagery,” IEEE IJCB, 2023.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0A1EE2-0457-12B9-D1EA-4022BC1FE622}"/>
              </a:ext>
            </a:extLst>
          </p:cNvPr>
          <p:cNvSpPr txBox="1"/>
          <p:nvPr/>
        </p:nvSpPr>
        <p:spPr>
          <a:xfrm>
            <a:off x="605742" y="1202009"/>
            <a:ext cx="1840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Turbulence Gap</a:t>
            </a:r>
          </a:p>
        </p:txBody>
      </p:sp>
    </p:spTree>
    <p:extLst>
      <p:ext uri="{BB962C8B-B14F-4D97-AF65-F5344CB8AC3E}">
        <p14:creationId xmlns:p14="http://schemas.microsoft.com/office/powerpoint/2010/main" val="3964397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12CDE-5D49-7E90-9547-83479E84B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240F68-4D79-4D18-75DF-28A1F31579C6}"/>
              </a:ext>
            </a:extLst>
          </p:cNvPr>
          <p:cNvSpPr txBox="1"/>
          <p:nvPr/>
        </p:nvSpPr>
        <p:spPr>
          <a:xfrm>
            <a:off x="590310" y="486009"/>
            <a:ext cx="10995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Case Studies—Three Gaps and Mitigations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9A22ED-5E5A-EDEE-9CEF-4A4392A577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F21-D912-7541-8ED2-FD6ABD90B685}" type="slidenum">
              <a:rPr lang="en-US" smtClean="0"/>
              <a:t>11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0C2C04-41F5-084B-B4C3-A90264E877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88459" y="1410545"/>
            <a:ext cx="8525324" cy="325558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77E80E9-AD09-AE9E-DCDD-D16C35772179}"/>
              </a:ext>
            </a:extLst>
          </p:cNvPr>
          <p:cNvSpPr txBox="1"/>
          <p:nvPr/>
        </p:nvSpPr>
        <p:spPr>
          <a:xfrm>
            <a:off x="590310" y="5103674"/>
            <a:ext cx="10273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J. B. Peace, S. Hu, and </a:t>
            </a:r>
            <a:r>
              <a:rPr lang="en-US" b="1" dirty="0"/>
              <a:t>B. S. Riggan</a:t>
            </a:r>
            <a:r>
              <a:rPr lang="en-US" dirty="0"/>
              <a:t>, "2D-3D attention and entropy for pose robust facial recognition," IEEE Int'l Conf. on Automatic Face and Gesture Recognition, May 2025.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4E11A4-893F-513F-7FEF-E6C937AC7BFB}"/>
              </a:ext>
            </a:extLst>
          </p:cNvPr>
          <p:cNvSpPr txBox="1"/>
          <p:nvPr/>
        </p:nvSpPr>
        <p:spPr>
          <a:xfrm>
            <a:off x="605742" y="1202009"/>
            <a:ext cx="1713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Structural Gap</a:t>
            </a:r>
          </a:p>
        </p:txBody>
      </p:sp>
    </p:spTree>
    <p:extLst>
      <p:ext uri="{BB962C8B-B14F-4D97-AF65-F5344CB8AC3E}">
        <p14:creationId xmlns:p14="http://schemas.microsoft.com/office/powerpoint/2010/main" val="3854745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059F2-B236-9F7D-4B78-A4F9F31E8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4EEE1F-F02E-F0BB-CA8D-8567CA2F51AD}"/>
              </a:ext>
            </a:extLst>
          </p:cNvPr>
          <p:cNvSpPr txBox="1"/>
          <p:nvPr/>
        </p:nvSpPr>
        <p:spPr>
          <a:xfrm>
            <a:off x="590310" y="486009"/>
            <a:ext cx="10995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Wu et al. CVPRW 2023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83143D-A4BA-6765-FA83-0203869EF15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F21-D912-7541-8ED2-FD6ABD90B685}" type="slidenum">
              <a:rPr lang="en-US" smtClean="0"/>
              <a:t>12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1A036A-AEFE-C0CC-145C-DF7E5129E387}"/>
              </a:ext>
            </a:extLst>
          </p:cNvPr>
          <p:cNvSpPr txBox="1"/>
          <p:nvPr/>
        </p:nvSpPr>
        <p:spPr>
          <a:xfrm>
            <a:off x="295835" y="1089164"/>
            <a:ext cx="1189616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sz="2400" b="1" i="0" dirty="0">
                <a:solidFill>
                  <a:schemeClr val="tx1"/>
                </a:solidFill>
                <a:effectLst/>
                <a:latin typeface="+mn-lt"/>
              </a:rPr>
              <a:t>Core Claims :</a:t>
            </a:r>
            <a:endParaRPr lang="en-US" sz="24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+mn-lt"/>
              </a:rPr>
              <a:t>Differential face recognition accuracy across demographic groups is partly attributable to 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+mn-lt"/>
              </a:rPr>
              <a:t>differences in face-region illumination/brightness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+mn-lt"/>
              </a:rPr>
              <a:t>, not an irreducible property of the groups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+mn-lt"/>
              </a:rPr>
              <a:t>In controlled-acquisition scenarios there is a large face-region brightness difference between African-American and Caucasian subjects, and a smaller male/female difference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+mn-lt"/>
              </a:rPr>
              <a:t>Impostor pairs where 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+mn-lt"/>
              </a:rPr>
              <a:t>both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+mn-lt"/>
              </a:rPr>
              <a:t> faces are under-exposed, or 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+mn-lt"/>
              </a:rPr>
              <a:t>both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+mn-lt"/>
              </a:rPr>
              <a:t> over-exposed, show 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+mn-lt"/>
              </a:rPr>
              <a:t>increased FMR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+mn-lt"/>
              </a:rPr>
              <a:t>; pairs with strongly </a:t>
            </a:r>
            <a:r>
              <a:rPr lang="en-US" sz="2400" b="0" i="1" dirty="0">
                <a:solidFill>
                  <a:schemeClr val="tx1"/>
                </a:solidFill>
                <a:effectLst/>
                <a:latin typeface="+mn-lt"/>
              </a:rPr>
              <a:t>different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+mn-lt"/>
              </a:rPr>
              <a:t> brightness show 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+mn-lt"/>
              </a:rPr>
              <a:t>decreased similarity</a:t>
            </a:r>
            <a:endParaRPr lang="en-US" sz="24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+mn-lt"/>
              </a:rPr>
              <a:t>They propose a 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+mn-lt"/>
              </a:rPr>
              <a:t>brightness information metric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+mn-lt"/>
              </a:rPr>
              <a:t>; too-low or too-high brightness reduces usable information in the face region, giving a mechanism for the accuracy drop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+mn-lt"/>
              </a:rPr>
              <a:t>Operational recommendation: 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+mn-lt"/>
              </a:rPr>
              <a:t>adjust illumination per individual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+mn-lt"/>
              </a:rPr>
              <a:t> during controlled acquisition rather than applying one fixed setting</a:t>
            </a:r>
            <a:endParaRPr lang="en-US" sz="2400" b="0" i="0" dirty="0">
              <a:solidFill>
                <a:srgbClr val="161C24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853650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584EE-C760-72CD-2624-C96FAE8FA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2340F0-BFCE-6CA6-4B5F-69DF2A6F3950}"/>
              </a:ext>
            </a:extLst>
          </p:cNvPr>
          <p:cNvSpPr txBox="1"/>
          <p:nvPr/>
        </p:nvSpPr>
        <p:spPr>
          <a:xfrm>
            <a:off x="590310" y="486009"/>
            <a:ext cx="10995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Activity: Design the Fix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BEABA5-4CBC-12F2-0664-53CE4822D90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F21-D912-7541-8ED2-FD6ABD90B685}" type="slidenum">
              <a:rPr lang="en-US" smtClean="0"/>
              <a:t>13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0CA74C-9CE1-C800-E276-84B73F97420D}"/>
              </a:ext>
            </a:extLst>
          </p:cNvPr>
          <p:cNvSpPr txBox="1"/>
          <p:nvPr/>
        </p:nvSpPr>
        <p:spPr>
          <a:xfrm>
            <a:off x="352425" y="1536609"/>
            <a:ext cx="1183957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sz="2000" b="1" i="0" dirty="0">
                <a:solidFill>
                  <a:schemeClr val="tx1"/>
                </a:solidFill>
                <a:effectLst/>
                <a:latin typeface="+mn-lt"/>
              </a:rPr>
              <a:t>Scenario.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+mn-lt"/>
              </a:rPr>
              <a:t> </a:t>
            </a:r>
            <a:br>
              <a:rPr lang="en-US" sz="2000" b="0" i="0" dirty="0">
                <a:solidFill>
                  <a:schemeClr val="tx1"/>
                </a:solidFill>
                <a:effectLst/>
                <a:latin typeface="+mn-lt"/>
              </a:rPr>
            </a:br>
            <a:br>
              <a:rPr lang="en-US" sz="20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2000" b="0" i="0" dirty="0">
                <a:solidFill>
                  <a:schemeClr val="tx1"/>
                </a:solidFill>
                <a:effectLst/>
                <a:latin typeface="+mn-lt"/>
              </a:rPr>
              <a:t>Your lab's whole-body recognition system was trained and validated on ground-level imagery: fixed tripod cameras, 1–10 m standoff, roughly horizontal optical axis, continuous 30 fps video of subjects walking toward the camera. It performs well. </a:t>
            </a:r>
            <a:br>
              <a:rPr lang="en-US" sz="2000" b="0" i="0" dirty="0">
                <a:solidFill>
                  <a:schemeClr val="tx1"/>
                </a:solidFill>
                <a:effectLst/>
                <a:latin typeface="+mn-lt"/>
              </a:rPr>
            </a:br>
            <a:br>
              <a:rPr lang="en-US" sz="20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2000" b="0" i="0" dirty="0">
                <a:solidFill>
                  <a:schemeClr val="tx1"/>
                </a:solidFill>
                <a:effectLst/>
                <a:latin typeface="+mn-lt"/>
              </a:rPr>
              <a:t>A sponsor now wants the same system fielded on a 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+mn-lt"/>
              </a:rPr>
              <a:t>small UAV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+mn-lt"/>
              </a:rPr>
              <a:t> operating at 50–400 m altitude with oblique-to-near-nadir viewing angles.</a:t>
            </a:r>
          </a:p>
          <a:p>
            <a:pPr indent="0" algn="l">
              <a:buNone/>
            </a:pPr>
            <a:endParaRPr lang="en-US" sz="2000" b="0" i="0" dirty="0">
              <a:solidFill>
                <a:schemeClr val="tx1"/>
              </a:solidFill>
              <a:effectLst/>
              <a:latin typeface="+mn-lt"/>
            </a:endParaRPr>
          </a:p>
          <a:p>
            <a:pPr indent="0" algn="l">
              <a:buNone/>
            </a:pPr>
            <a:r>
              <a:rPr lang="en-US" sz="2000" b="0" i="0" dirty="0">
                <a:solidFill>
                  <a:schemeClr val="tx1"/>
                </a:solidFill>
                <a:effectLst/>
                <a:latin typeface="+mn-lt"/>
              </a:rPr>
              <a:t>The gallery 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+mn-lt"/>
              </a:rPr>
              <a:t>cannot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+mn-lt"/>
              </a:rPr>
              <a:t> be re-collected — enrollment imagery is ground-level and will stay ground-level.</a:t>
            </a:r>
          </a:p>
          <a:p>
            <a:pPr indent="0" algn="l">
              <a:buNone/>
            </a:pPr>
            <a:r>
              <a:rPr lang="en-US" sz="2000" b="0" i="0" dirty="0">
                <a:solidFill>
                  <a:schemeClr val="tx1"/>
                </a:solidFill>
                <a:effectLst/>
                <a:latin typeface="+mn-lt"/>
              </a:rPr>
              <a:t>Pilot results: rank-1 falls from 0.91 (ground) to 0.22 (aerial, 100 m) to near-chance at 300 m. Face is unusable beyond ~50 m. Gait-based matching degrades more gracefully but is unstable: scores for consecutive frames of the </a:t>
            </a:r>
            <a:r>
              <a:rPr lang="en-US" sz="2000" b="0" i="1" dirty="0">
                <a:solidFill>
                  <a:schemeClr val="tx1"/>
                </a:solidFill>
                <a:effectLst/>
                <a:latin typeface="+mn-lt"/>
              </a:rPr>
              <a:t>same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+mn-lt"/>
              </a:rPr>
              <a:t> track vary more than scores between different subjects.</a:t>
            </a:r>
            <a:endParaRPr lang="en-US" sz="2000" b="0" i="0" dirty="0">
              <a:solidFill>
                <a:srgbClr val="637381"/>
              </a:solidFill>
              <a:effectLst/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028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E0E70-4B02-C809-EFDB-23B95BEAF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F21-D912-7541-8ED2-FD6ABD90B685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ACD655-8594-A2CE-0479-E2D4BE969C2A}"/>
              </a:ext>
            </a:extLst>
          </p:cNvPr>
          <p:cNvSpPr txBox="1"/>
          <p:nvPr/>
        </p:nvSpPr>
        <p:spPr>
          <a:xfrm>
            <a:off x="590309" y="486009"/>
            <a:ext cx="113372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Project 2 (Reproduce + Investigate)  due Oct. 23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273892-25DA-DE16-BEE8-180DA302D69B}"/>
              </a:ext>
            </a:extLst>
          </p:cNvPr>
          <p:cNvSpPr txBox="1"/>
          <p:nvPr/>
        </p:nvSpPr>
        <p:spPr>
          <a:xfrm>
            <a:off x="590309" y="1839002"/>
            <a:ext cx="1113552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/>
            <a:r>
              <a:rPr lang="en-US" sz="3200" b="1" dirty="0"/>
              <a:t>Objective: </a:t>
            </a:r>
            <a:r>
              <a:rPr lang="en-US" sz="3200" dirty="0"/>
              <a:t>to </a:t>
            </a:r>
            <a:r>
              <a:rPr lang="en-US" sz="3200" dirty="0">
                <a:solidFill>
                  <a:srgbClr val="0070C0"/>
                </a:solidFill>
                <a:effectLst/>
                <a:latin typeface="+mn-lt"/>
              </a:rPr>
              <a:t>reproduce</a:t>
            </a:r>
            <a:r>
              <a:rPr lang="en-US" sz="3200" dirty="0">
                <a:effectLst/>
                <a:latin typeface="+mn-lt"/>
              </a:rPr>
              <a:t> a method from a </a:t>
            </a:r>
            <a:r>
              <a:rPr lang="en-US" sz="3200" u="sng" dirty="0">
                <a:effectLst/>
                <a:latin typeface="+mn-lt"/>
              </a:rPr>
              <a:t>modern</a:t>
            </a:r>
            <a:r>
              <a:rPr lang="en-US" sz="3200" dirty="0">
                <a:effectLst/>
                <a:latin typeface="+mn-lt"/>
              </a:rPr>
              <a:t> biometric journal or conference paper and </a:t>
            </a:r>
            <a:r>
              <a:rPr lang="en-US" sz="3200" dirty="0">
                <a:solidFill>
                  <a:srgbClr val="0070C0"/>
                </a:solidFill>
                <a:effectLst/>
                <a:latin typeface="+mn-lt"/>
              </a:rPr>
              <a:t>investigate</a:t>
            </a:r>
            <a:endParaRPr lang="en-US" sz="3200" dirty="0">
              <a:solidFill>
                <a:srgbClr val="0070C0"/>
              </a:solidFill>
            </a:endParaRPr>
          </a:p>
          <a:p>
            <a:pPr marR="0" lvl="0"/>
            <a:endParaRPr lang="en-US" sz="3200" dirty="0">
              <a:solidFill>
                <a:srgbClr val="0070C0"/>
              </a:solidFill>
              <a:effectLst/>
              <a:latin typeface="Times New Roman" panose="02020603050405020304" pitchFamily="18" charset="0"/>
            </a:endParaRPr>
          </a:p>
          <a:p>
            <a:pPr marL="457200" marR="0" lvl="0" indent="-457200"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  <a:latin typeface="Times New Roman" panose="02020603050405020304" pitchFamily="18" charset="0"/>
              </a:rPr>
              <a:t>Same problem as Project 1</a:t>
            </a:r>
            <a:endParaRPr lang="en-US" sz="3200" dirty="0">
              <a:latin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  <a:latin typeface="Times New Roman" panose="02020603050405020304" pitchFamily="18" charset="0"/>
              </a:rPr>
              <a:t>Consider sources like: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0070C0"/>
                </a:solidFill>
                <a:effectLst/>
                <a:latin typeface="Times New Roman" panose="02020603050405020304" pitchFamily="18" charset="0"/>
              </a:rPr>
              <a:t>IEEE Transactions on Biometrics, Behavior, and Identity Science (T-BIOM)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</a:rPr>
              <a:t>IEEE/IAPR Internation Joint Conference on Biometrics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effectLst/>
                <a:latin typeface="Times New Roman" panose="02020603050405020304" pitchFamily="18" charset="0"/>
              </a:rPr>
              <a:t>IEEE/CVF Winter Conference on Application of Computer Vision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effectLst/>
                <a:latin typeface="Times New Roman" panose="02020603050405020304" pitchFamily="18" charset="0"/>
              </a:rPr>
              <a:t>IEEE/CVF Conference on Computer Vision and Pattern Recognition</a:t>
            </a:r>
          </a:p>
          <a:p>
            <a:pPr lvl="1"/>
            <a:r>
              <a:rPr lang="en-US" sz="2400" i="1" dirty="0">
                <a:latin typeface="Times New Roman" panose="02020603050405020304" pitchFamily="18" charset="0"/>
              </a:rPr>
              <a:t>Not limited to these venues</a:t>
            </a:r>
            <a:endParaRPr lang="en-US" sz="2400" i="1" dirty="0">
              <a:effectLst/>
              <a:latin typeface="Times New Roman" panose="020206030504050203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70AFA91-F8BD-18EF-518F-5CF82F80F1A7}"/>
              </a:ext>
            </a:extLst>
          </p:cNvPr>
          <p:cNvSpPr/>
          <p:nvPr/>
        </p:nvSpPr>
        <p:spPr>
          <a:xfrm>
            <a:off x="376517" y="1839002"/>
            <a:ext cx="11337231" cy="107901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25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23170</TotalTime>
  <Words>3084</Words>
  <Application>Microsoft Macintosh PowerPoint</Application>
  <PresentationFormat>Widescreen</PresentationFormat>
  <Paragraphs>221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-apple-system</vt:lpstr>
      <vt:lpstr>Aptos</vt:lpstr>
      <vt:lpstr>Aptos Display</vt:lpstr>
      <vt:lpstr>Arial</vt:lpstr>
      <vt:lpstr>Cambria Math</vt:lpstr>
      <vt:lpstr>Courier New</vt:lpstr>
      <vt:lpstr>Georgia</vt:lpstr>
      <vt:lpstr>Times New Roman</vt:lpstr>
      <vt:lpstr>Wingdings</vt:lpstr>
      <vt:lpstr>Office Theme</vt:lpstr>
      <vt:lpstr>Week 8  Can We Make Representations Generalize?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Riggan</dc:creator>
  <cp:lastModifiedBy>Benjamin Riggan</cp:lastModifiedBy>
  <cp:revision>22</cp:revision>
  <cp:lastPrinted>2026-08-18T04:07:25Z</cp:lastPrinted>
  <dcterms:created xsi:type="dcterms:W3CDTF">2026-08-14T10:03:12Z</dcterms:created>
  <dcterms:modified xsi:type="dcterms:W3CDTF">2026-10-13T16:57:49Z</dcterms:modified>
</cp:coreProperties>
</file>
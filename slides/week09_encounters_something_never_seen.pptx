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handoutMasterIdLst>
    <p:handoutMasterId r:id="rId28"/>
  </p:handoutMasterIdLst>
  <p:sldIdLst>
    <p:sldId id="256" r:id="rId2"/>
    <p:sldId id="258" r:id="rId3"/>
    <p:sldId id="259" r:id="rId4"/>
    <p:sldId id="376" r:id="rId5"/>
    <p:sldId id="386" r:id="rId6"/>
    <p:sldId id="387" r:id="rId7"/>
    <p:sldId id="377" r:id="rId8"/>
    <p:sldId id="388" r:id="rId9"/>
    <p:sldId id="389" r:id="rId10"/>
    <p:sldId id="394" r:id="rId11"/>
    <p:sldId id="390" r:id="rId12"/>
    <p:sldId id="391" r:id="rId13"/>
    <p:sldId id="392" r:id="rId14"/>
    <p:sldId id="393" r:id="rId15"/>
    <p:sldId id="290" r:id="rId16"/>
    <p:sldId id="293" r:id="rId17"/>
    <p:sldId id="403" r:id="rId18"/>
    <p:sldId id="367" r:id="rId19"/>
    <p:sldId id="404" r:id="rId20"/>
    <p:sldId id="412" r:id="rId21"/>
    <p:sldId id="405" r:id="rId22"/>
    <p:sldId id="295" r:id="rId23"/>
    <p:sldId id="410" r:id="rId24"/>
    <p:sldId id="413" r:id="rId25"/>
    <p:sldId id="34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45B263A-3634-4746-B7F1-E27656F98C03}">
          <p14:sldIdLst>
            <p14:sldId id="256"/>
          </p14:sldIdLst>
        </p14:section>
        <p14:section name="Intro" id="{0AB5F8BD-592F-7E48-832C-9830A19D6645}">
          <p14:sldIdLst>
            <p14:sldId id="258"/>
            <p14:sldId id="259"/>
          </p14:sldIdLst>
        </p14:section>
        <p14:section name="Concept" id="{DA9AA48A-BF94-1445-B381-729A6E7D522F}">
          <p14:sldIdLst>
            <p14:sldId id="376"/>
            <p14:sldId id="386"/>
            <p14:sldId id="387"/>
            <p14:sldId id="377"/>
            <p14:sldId id="388"/>
            <p14:sldId id="389"/>
            <p14:sldId id="394"/>
            <p14:sldId id="390"/>
            <p14:sldId id="391"/>
            <p14:sldId id="392"/>
            <p14:sldId id="393"/>
          </p14:sldIdLst>
        </p14:section>
        <p14:section name="Discussion" id="{3D959E87-38A9-B348-A864-94621CFDF8CE}">
          <p14:sldIdLst>
            <p14:sldId id="290"/>
            <p14:sldId id="293"/>
            <p14:sldId id="403"/>
            <p14:sldId id="367"/>
            <p14:sldId id="404"/>
            <p14:sldId id="412"/>
            <p14:sldId id="405"/>
            <p14:sldId id="295"/>
            <p14:sldId id="410"/>
            <p14:sldId id="413"/>
            <p14:sldId id="349"/>
          </p14:sldIdLst>
        </p14:section>
        <p14:section name="backup" id="{43E3BE12-2119-1E47-BA96-189CE7CD79B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0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690"/>
    <p:restoredTop sz="79315"/>
  </p:normalViewPr>
  <p:slideViewPr>
    <p:cSldViewPr snapToGrid="0">
      <p:cViewPr varScale="1">
        <p:scale>
          <a:sx n="92" d="100"/>
          <a:sy n="92" d="100"/>
        </p:scale>
        <p:origin x="176" y="240"/>
      </p:cViewPr>
      <p:guideLst/>
    </p:cSldViewPr>
  </p:slideViewPr>
  <p:notesTextViewPr>
    <p:cViewPr>
      <p:scale>
        <a:sx n="1" d="1"/>
        <a:sy n="1" d="1"/>
      </p:scale>
      <p:origin x="0" y="0"/>
    </p:cViewPr>
  </p:notesTextViewPr>
  <p:notesViewPr>
    <p:cSldViewPr snapToGrid="0">
      <p:cViewPr varScale="1">
        <p:scale>
          <a:sx n="92" d="100"/>
          <a:sy n="92" d="100"/>
        </p:scale>
        <p:origin x="4072"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15C88B7-C264-7647-9589-53AD6A0F63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DA1F27B-3FF1-705C-8E2C-5B60BF9E41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589F5D9-08F9-8545-A07A-A0C0A16AC233}" type="datetimeFigureOut">
              <a:rPr lang="en-US" smtClean="0"/>
              <a:t>10/13/26</a:t>
            </a:fld>
            <a:endParaRPr lang="en-US"/>
          </a:p>
        </p:txBody>
      </p:sp>
      <p:sp>
        <p:nvSpPr>
          <p:cNvPr id="4" name="Footer Placeholder 3">
            <a:extLst>
              <a:ext uri="{FF2B5EF4-FFF2-40B4-BE49-F238E27FC236}">
                <a16:creationId xmlns:a16="http://schemas.microsoft.com/office/drawing/2014/main" id="{0D98AE4A-4862-0E87-E51C-2246BB65C7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A82A21-79EB-226D-516C-CABEFDC2602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EEDDF4-667D-1547-9AF8-514A0169605C}" type="slidenum">
              <a:rPr lang="en-US" smtClean="0"/>
              <a:t>‹#›</a:t>
            </a:fld>
            <a:endParaRPr lang="en-US"/>
          </a:p>
        </p:txBody>
      </p:sp>
    </p:spTree>
    <p:extLst>
      <p:ext uri="{BB962C8B-B14F-4D97-AF65-F5344CB8AC3E}">
        <p14:creationId xmlns:p14="http://schemas.microsoft.com/office/powerpoint/2010/main" val="36750574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4269A-2CD6-4441-B83F-9F4344585B8B}" type="datetimeFigureOut">
              <a:rPr lang="en-US" smtClean="0"/>
              <a:t>10/13/26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E7BD1F-0023-244E-A8FD-1ADCC0FAE1A1}" type="slidenum">
              <a:rPr lang="en-US" smtClean="0"/>
              <a:t>‹#›</a:t>
            </a:fld>
            <a:endParaRPr lang="en-US"/>
          </a:p>
        </p:txBody>
      </p:sp>
    </p:spTree>
    <p:extLst>
      <p:ext uri="{BB962C8B-B14F-4D97-AF65-F5344CB8AC3E}">
        <p14:creationId xmlns:p14="http://schemas.microsoft.com/office/powerpoint/2010/main" val="3468264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to ask ourselves: </a:t>
            </a:r>
            <a:r>
              <a:rPr lang="en-US" dirty="0"/>
              <a:t>Generalize to what?</a:t>
            </a:r>
          </a:p>
        </p:txBody>
      </p:sp>
      <p:sp>
        <p:nvSpPr>
          <p:cNvPr id="4" name="Slide Number Placeholder 3"/>
          <p:cNvSpPr>
            <a:spLocks noGrp="1"/>
          </p:cNvSpPr>
          <p:nvPr>
            <p:ph type="sldNum" sz="quarter" idx="5"/>
          </p:nvPr>
        </p:nvSpPr>
        <p:spPr/>
        <p:txBody>
          <a:bodyPr/>
          <a:lstStyle/>
          <a:p>
            <a:fld id="{29E7BD1F-0023-244E-A8FD-1ADCC0FAE1A1}" type="slidenum">
              <a:rPr lang="en-US" smtClean="0"/>
              <a:t>1</a:t>
            </a:fld>
            <a:endParaRPr lang="en-US"/>
          </a:p>
        </p:txBody>
      </p:sp>
    </p:spTree>
    <p:extLst>
      <p:ext uri="{BB962C8B-B14F-4D97-AF65-F5344CB8AC3E}">
        <p14:creationId xmlns:p14="http://schemas.microsoft.com/office/powerpoint/2010/main" val="1252953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0" i="1" kern="1200" dirty="0">
                <a:solidFill>
                  <a:schemeClr val="tx1"/>
                </a:solidFill>
                <a:effectLst/>
                <a:latin typeface="+mn-lt"/>
                <a:ea typeface="+mn-ea"/>
                <a:cs typeface="+mn-cs"/>
              </a:rPr>
              <a:t>Many ID systems that we have discussed so far answers a closed-set question: which of the N identities does the probe/query correspond to the most.</a:t>
            </a:r>
            <a:br>
              <a:rPr lang="en-US" sz="1200" b="0" i="1" kern="1200" dirty="0">
                <a:solidFill>
                  <a:schemeClr val="tx1"/>
                </a:solidFill>
                <a:effectLst/>
                <a:latin typeface="+mn-lt"/>
                <a:ea typeface="+mn-ea"/>
                <a:cs typeface="+mn-cs"/>
              </a:rPr>
            </a:br>
            <a:r>
              <a:rPr lang="en-US" sz="1200" b="1" i="1" kern="1200" dirty="0">
                <a:solidFill>
                  <a:schemeClr val="tx1"/>
                </a:solidFill>
                <a:effectLst/>
                <a:latin typeface="+mn-lt"/>
                <a:ea typeface="+mn-ea"/>
                <a:cs typeface="+mn-cs"/>
              </a:rPr>
              <a:t>Today, we will remove that assumption in two directions:</a:t>
            </a:r>
            <a:br>
              <a:rPr lang="en-US" sz="1200" b="1" i="1" kern="1200" dirty="0">
                <a:solidFill>
                  <a:schemeClr val="tx1"/>
                </a:solidFill>
                <a:effectLst/>
                <a:latin typeface="+mn-lt"/>
                <a:ea typeface="+mn-ea"/>
                <a:cs typeface="+mn-cs"/>
              </a:rPr>
            </a:br>
            <a:r>
              <a:rPr lang="en-US" sz="1200" b="1" i="1" kern="1200" dirty="0">
                <a:solidFill>
                  <a:schemeClr val="tx1"/>
                </a:solidFill>
                <a:effectLst/>
                <a:latin typeface="+mn-lt"/>
                <a:ea typeface="+mn-ea"/>
                <a:cs typeface="+mn-cs"/>
              </a:rPr>
              <a:t>- Open-set Recognition: </a:t>
            </a:r>
            <a:r>
              <a:rPr lang="en-US" sz="1200" b="0" i="1" kern="1200" dirty="0">
                <a:solidFill>
                  <a:schemeClr val="tx1"/>
                </a:solidFill>
                <a:effectLst/>
                <a:latin typeface="+mn-lt"/>
                <a:ea typeface="+mn-ea"/>
                <a:cs typeface="+mn-cs"/>
              </a:rPr>
              <a:t>model must recognize that the probe/query does not belong to an enrolled subject—presumably with access privileges.</a:t>
            </a:r>
            <a:br>
              <a:rPr lang="en-US" sz="1200" b="0" i="1" kern="1200" dirty="0">
                <a:solidFill>
                  <a:schemeClr val="tx1"/>
                </a:solidFill>
                <a:effectLst/>
                <a:latin typeface="+mn-lt"/>
                <a:ea typeface="+mn-ea"/>
                <a:cs typeface="+mn-cs"/>
              </a:rPr>
            </a:br>
            <a:r>
              <a:rPr lang="en-US" sz="1200" b="0" i="1" kern="120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Zero-shot Learning: </a:t>
            </a:r>
            <a:r>
              <a:rPr lang="en-US" sz="1200" b="0" i="1" kern="1200" dirty="0">
                <a:solidFill>
                  <a:schemeClr val="tx1"/>
                </a:solidFill>
                <a:effectLst/>
                <a:latin typeface="+mn-lt"/>
                <a:ea typeface="+mn-ea"/>
                <a:cs typeface="+mn-cs"/>
              </a:rPr>
              <a:t>model must recognize a class that it was never trained on, using side information instead of training examples—a challenging generalization problem (a biometric problem) </a:t>
            </a:r>
            <a:r>
              <a:rPr lang="en-US" sz="1200" b="1" i="1" kern="1200" dirty="0">
                <a:solidFill>
                  <a:schemeClr val="tx1"/>
                </a:solidFill>
                <a:effectLst/>
                <a:latin typeface="+mn-lt"/>
                <a:ea typeface="+mn-ea"/>
                <a:cs typeface="+mn-cs"/>
              </a:rPr>
              <a:t> </a:t>
            </a:r>
            <a:br>
              <a:rPr lang="en-US" sz="1200" b="0" i="1" kern="1200" dirty="0">
                <a:solidFill>
                  <a:schemeClr val="tx1"/>
                </a:solidFill>
                <a:effectLst/>
                <a:latin typeface="+mn-lt"/>
                <a:ea typeface="+mn-ea"/>
                <a:cs typeface="+mn-cs"/>
              </a:rPr>
            </a:br>
            <a:endParaRPr lang="en-US" sz="1200" b="0" i="1" kern="1200" dirty="0">
              <a:solidFill>
                <a:schemeClr val="tx1"/>
              </a:solidFill>
              <a:effectLst/>
              <a:latin typeface="+mn-lt"/>
              <a:ea typeface="+mn-ea"/>
              <a:cs typeface="+mn-cs"/>
            </a:endParaRPr>
          </a:p>
          <a:p>
            <a:pPr lvl="0"/>
            <a:r>
              <a:rPr lang="en-US" sz="1200" b="0" i="0" kern="1200" dirty="0">
                <a:solidFill>
                  <a:schemeClr val="tx1"/>
                </a:solidFill>
                <a:effectLst/>
                <a:latin typeface="+mn-lt"/>
                <a:ea typeface="+mn-ea"/>
                <a:cs typeface="+mn-cs"/>
              </a:rPr>
              <a:t>These are two aspects of our topic question for the week: reject it vs. recognize it</a:t>
            </a:r>
            <a:endParaRPr lang="en-US" sz="1200" b="0" i="1"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9E7BD1F-0023-244E-A8FD-1ADCC0FAE1A1}" type="slidenum">
              <a:rPr lang="en-US" smtClean="0"/>
              <a:t>2</a:t>
            </a:fld>
            <a:endParaRPr lang="en-US"/>
          </a:p>
        </p:txBody>
      </p:sp>
    </p:spTree>
    <p:extLst>
      <p:ext uri="{BB962C8B-B14F-4D97-AF65-F5344CB8AC3E}">
        <p14:creationId xmlns:p14="http://schemas.microsoft.com/office/powerpoint/2010/main" val="3747804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&amp; Evaluation</a:t>
            </a:r>
            <a:br>
              <a:rPr lang="en-US" dirty="0"/>
            </a:br>
            <a:r>
              <a:rPr lang="en-US" dirty="0"/>
              <a:t>Explainability</a:t>
            </a:r>
            <a:br>
              <a:rPr lang="en-US" dirty="0"/>
            </a:br>
            <a:r>
              <a:rPr lang="en-US" dirty="0"/>
              <a:t>Insanity (?)</a:t>
            </a:r>
          </a:p>
        </p:txBody>
      </p:sp>
      <p:sp>
        <p:nvSpPr>
          <p:cNvPr id="4" name="Slide Number Placeholder 3"/>
          <p:cNvSpPr>
            <a:spLocks noGrp="1"/>
          </p:cNvSpPr>
          <p:nvPr>
            <p:ph type="sldNum" sz="quarter" idx="5"/>
          </p:nvPr>
        </p:nvSpPr>
        <p:spPr/>
        <p:txBody>
          <a:bodyPr/>
          <a:lstStyle/>
          <a:p>
            <a:fld id="{29E7BD1F-0023-244E-A8FD-1ADCC0FAE1A1}" type="slidenum">
              <a:rPr lang="en-US" smtClean="0"/>
              <a:t>3</a:t>
            </a:fld>
            <a:endParaRPr lang="en-US"/>
          </a:p>
        </p:txBody>
      </p:sp>
    </p:spTree>
    <p:extLst>
      <p:ext uri="{BB962C8B-B14F-4D97-AF65-F5344CB8AC3E}">
        <p14:creationId xmlns:p14="http://schemas.microsoft.com/office/powerpoint/2010/main" val="2398572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0D48A-0DE7-DE64-2E14-E379826C91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FDE58-FA0E-99D3-9668-946EF058C897}"/>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16ECB4D6-AB56-3E03-7962-462B9248D0E3}"/>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The pedagogical hook for Week 9</a:t>
                </a:r>
              </a:p>
              <a:p>
                <a:r>
                  <a:rPr lang="en-US" sz="1200" b="0" i="0" kern="1200" dirty="0">
                    <a:solidFill>
                      <a:schemeClr val="tx1"/>
                    </a:solidFill>
                    <a:effectLst/>
                    <a:latin typeface="+mn-lt"/>
                    <a:ea typeface="+mn-ea"/>
                    <a:cs typeface="+mn-cs"/>
                  </a:rPr>
                  <a:t>The </a:t>
                </a:r>
                <a14:m>
                  <m:oMath xmlns:m="http://schemas.openxmlformats.org/officeDocument/2006/math">
                    <m:func>
                      <m:funcPr>
                        <m:ctrlPr>
                          <a:rPr lang="en-US" sz="1200" kern="1200">
                            <a:solidFill>
                              <a:schemeClr val="tx1"/>
                            </a:solidFill>
                            <a:latin typeface="+mn-lt"/>
                            <a:ea typeface="+mn-ea"/>
                            <a:cs typeface="+mn-cs"/>
                          </a:rPr>
                        </m:ctrlPr>
                      </m:funcPr>
                      <m:fName>
                        <m:r>
                          <m:rPr>
                            <m:sty m:val="p"/>
                          </m:rPr>
                          <a:rPr lang="en-US" sz="1200" kern="1200">
                            <a:solidFill>
                              <a:schemeClr val="tx1"/>
                            </a:solidFill>
                            <a:latin typeface="+mn-lt"/>
                            <a:ea typeface="+mn-ea"/>
                            <a:cs typeface="+mn-cs"/>
                          </a:rPr>
                          <m:t>arg</m:t>
                        </m:r>
                      </m:fName>
                      <m:e>
                        <m:r>
                          <m:rPr>
                            <m:sty m:val="p"/>
                          </m:rPr>
                          <a:rPr lang="en-US" sz="1200" i="0" kern="1200">
                            <a:solidFill>
                              <a:schemeClr val="tx1"/>
                            </a:solidFill>
                            <a:latin typeface="+mn-lt"/>
                            <a:ea typeface="+mn-ea"/>
                            <a:cs typeface="+mn-cs"/>
                          </a:rPr>
                          <m:t>max</m:t>
                        </m:r>
                      </m:e>
                    </m:func>
                  </m:oMath>
                </a14:m>
                <a:r>
                  <a:rPr lang="en-US" sz="1200" b="0" i="0" kern="1200" dirty="0">
                    <a:solidFill>
                      <a:schemeClr val="tx1"/>
                    </a:solidFill>
                    <a:effectLst/>
                    <a:latin typeface="+mn-lt"/>
                    <a:ea typeface="+mn-ea"/>
                    <a:cs typeface="+mn-cs"/>
                  </a:rPr>
                  <a:t> in</a:t>
                </a:r>
                <a:r>
                  <a:rPr lang="en-US" sz="1200" b="0" i="0" kern="1200" baseline="0" dirty="0">
                    <a:solidFill>
                      <a:schemeClr val="tx1"/>
                    </a:solidFill>
                    <a:effectLst/>
                    <a:latin typeface="+mn-lt"/>
                    <a:ea typeface="+mn-ea"/>
                    <a:cs typeface="+mn-cs"/>
                  </a:rPr>
                  <a:t> the prediction </a:t>
                </a:r>
                <a:r>
                  <a:rPr lang="en-US" sz="1200" b="0" i="0" kern="1200" dirty="0">
                    <a:solidFill>
                      <a:schemeClr val="tx1"/>
                    </a:solidFill>
                    <a:effectLst/>
                    <a:latin typeface="+mn-lt"/>
                    <a:ea typeface="+mn-ea"/>
                    <a:cs typeface="+mn-cs"/>
                  </a:rPr>
                  <a:t>has no "none of the above" branch. It partitions </a:t>
                </a:r>
                <a14:m>
                  <m:oMath xmlns:m="http://schemas.openxmlformats.org/officeDocument/2006/math">
                    <m:sSup>
                      <m:sSupPr>
                        <m:ctrlPr>
                          <a:rPr lang="en-US" sz="1200" kern="1200">
                            <a:solidFill>
                              <a:schemeClr val="tx1"/>
                            </a:solidFill>
                            <a:latin typeface="+mn-lt"/>
                            <a:ea typeface="+mn-ea"/>
                            <a:cs typeface="+mn-cs"/>
                          </a:rPr>
                        </m:ctrlPr>
                      </m:sSupPr>
                      <m:e>
                        <m:r>
                          <a:rPr lang="en-US" sz="1200" kern="1200">
                            <a:solidFill>
                              <a:schemeClr val="tx1"/>
                            </a:solidFill>
                            <a:latin typeface="+mn-lt"/>
                            <a:ea typeface="+mn-ea"/>
                            <a:cs typeface="+mn-cs"/>
                          </a:rPr>
                          <m:t>𝕊</m:t>
                        </m:r>
                      </m:e>
                      <m:sup>
                        <m:r>
                          <a:rPr lang="en-US" sz="1200" i="1" kern="1200">
                            <a:solidFill>
                              <a:schemeClr val="tx1"/>
                            </a:solidFill>
                            <a:latin typeface="+mn-lt"/>
                            <a:ea typeface="+mn-ea"/>
                            <a:cs typeface="+mn-cs"/>
                          </a:rPr>
                          <m:t>𝐷</m:t>
                        </m:r>
                        <m:r>
                          <a:rPr lang="en-US" sz="1200" i="0" kern="1200">
                            <a:solidFill>
                              <a:schemeClr val="tx1"/>
                            </a:solidFill>
                            <a:latin typeface="+mn-lt"/>
                            <a:ea typeface="+mn-ea"/>
                            <a:cs typeface="+mn-cs"/>
                          </a:rPr>
                          <m:t>−1</m:t>
                        </m:r>
                      </m:sup>
                    </m:sSup>
                  </m:oMath>
                </a14:m>
                <a:r>
                  <a:rPr lang="en-US" sz="1200" b="0" i="0" kern="1200" dirty="0">
                    <a:solidFill>
                      <a:schemeClr val="tx1"/>
                    </a:solidFill>
                    <a:effectLst/>
                    <a:latin typeface="+mn-lt"/>
                    <a:ea typeface="+mn-ea"/>
                    <a:cs typeface="+mn-cs"/>
                  </a:rPr>
                  <a:t> into </a:t>
                </a:r>
                <a14:m>
                  <m:oMath xmlns:m="http://schemas.openxmlformats.org/officeDocument/2006/math">
                    <m:r>
                      <a:rPr lang="en-US" sz="1200" i="1" kern="1200">
                        <a:solidFill>
                          <a:schemeClr val="tx1"/>
                        </a:solidFill>
                        <a:latin typeface="+mn-lt"/>
                        <a:ea typeface="+mn-ea"/>
                        <a:cs typeface="+mn-cs"/>
                      </a:rPr>
                      <m:t>𝑁</m:t>
                    </m:r>
                  </m:oMath>
                </a14:m>
                <a:r>
                  <a:rPr lang="en-US" sz="1200" b="0" i="0" kern="1200" dirty="0">
                    <a:solidFill>
                      <a:schemeClr val="tx1"/>
                    </a:solidFill>
                    <a:effectLst/>
                    <a:latin typeface="+mn-lt"/>
                    <a:ea typeface="+mn-ea"/>
                    <a:cs typeface="+mn-cs"/>
                  </a:rPr>
                  <a:t> cells that </a:t>
                </a:r>
                <a:r>
                  <a:rPr lang="en-US" sz="1200" b="0" i="1" kern="1200" dirty="0">
                    <a:solidFill>
                      <a:schemeClr val="tx1"/>
                    </a:solidFill>
                    <a:effectLst/>
                    <a:latin typeface="+mn-lt"/>
                    <a:ea typeface="+mn-ea"/>
                    <a:cs typeface="+mn-cs"/>
                  </a:rPr>
                  <a:t>cover the entire sphere</a:t>
                </a:r>
                <a:r>
                  <a:rPr lang="en-US" sz="1200" b="0" i="0" kern="1200" dirty="0">
                    <a:solidFill>
                      <a:schemeClr val="tx1"/>
                    </a:solidFill>
                    <a:effectLst/>
                    <a:latin typeface="+mn-lt"/>
                    <a:ea typeface="+mn-ea"/>
                    <a:cs typeface="+mn-cs"/>
                  </a:rPr>
                  <a:t>, so every probe — impostor, off-pose, wrong modality, photograph of a tree — is assigned to some enrolled identity with some measure of confidence. </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minimal open-set repair is to make the decision conditional on the score itself:</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14:m>
                  <m:oMathPara xmlns:m="http://schemas.openxmlformats.org/officeDocument/2006/math">
                    <m:oMath>
                      <m:acc>
                        <m:accPr>
                          <m:chr m:val="̂"/>
                          <m:ctrlPr>
                            <a:rPr lang="en-US" sz="1200" i="1" kern="1200">
                              <a:solidFill>
                                <a:schemeClr val="tx1"/>
                              </a:solidFill>
                              <a:latin typeface="+mn-lt"/>
                              <a:ea typeface="+mn-ea"/>
                              <a:cs typeface="+mn-cs"/>
                            </a:rPr>
                          </m:ctrlPr>
                        </m:accPr>
                        <m:e>
                          <m:r>
                            <a:rPr lang="en-US" sz="1200" i="1" kern="1200">
                              <a:solidFill>
                                <a:schemeClr val="tx1"/>
                              </a:solidFill>
                              <a:latin typeface="+mn-lt"/>
                              <a:ea typeface="+mn-ea"/>
                              <a:cs typeface="+mn-cs"/>
                            </a:rPr>
                            <m:t>𝑦</m:t>
                          </m:r>
                        </m:e>
                      </m:acc>
                      <m:r>
                        <m:rPr>
                          <m:nor/>
                        </m:rPr>
                        <a:rPr lang="en-US" sz="1200" b="0" i="0" kern="1200">
                          <a:solidFill>
                            <a:schemeClr val="tx1"/>
                          </a:solidFill>
                          <a:latin typeface="+mn-lt"/>
                          <a:ea typeface="+mn-ea"/>
                          <a:cs typeface="+mn-cs"/>
                        </a:rPr>
                        <m:t>  </m:t>
                      </m:r>
                      <m:r>
                        <a:rPr lang="en-US" sz="1200" b="0" i="0" kern="1200">
                          <a:solidFill>
                            <a:schemeClr val="tx1"/>
                          </a:solidFill>
                          <a:latin typeface="+mn-lt"/>
                          <a:ea typeface="+mn-ea"/>
                          <a:cs typeface="+mn-cs"/>
                        </a:rPr>
                        <m:t>=</m:t>
                      </m:r>
                      <m:r>
                        <m:rPr>
                          <m:nor/>
                        </m:rPr>
                        <a:rPr lang="en-US" sz="1200" b="0" i="0" kern="1200">
                          <a:solidFill>
                            <a:schemeClr val="tx1"/>
                          </a:solidFill>
                          <a:latin typeface="+mn-lt"/>
                          <a:ea typeface="+mn-ea"/>
                          <a:cs typeface="+mn-cs"/>
                        </a:rPr>
                        <m:t>  </m:t>
                      </m:r>
                      <m:d>
                        <m:dPr>
                          <m:begChr m:val="{"/>
                          <m:endChr m:val=""/>
                          <m:ctrlPr>
                            <a:rPr lang="en-US" sz="1200" b="0" i="1" kern="1200">
                              <a:solidFill>
                                <a:schemeClr val="tx1"/>
                              </a:solidFill>
                              <a:latin typeface="+mn-lt"/>
                              <a:ea typeface="+mn-ea"/>
                              <a:cs typeface="+mn-cs"/>
                            </a:rPr>
                          </m:ctrlPr>
                        </m:dPr>
                        <m:e>
                          <m:m>
                            <m:mPr>
                              <m:plcHide m:val="on"/>
                              <m:mcs>
                                <m:mc>
                                  <m:mcPr>
                                    <m:count m:val="2"/>
                                    <m:mcJc m:val="center"/>
                                  </m:mcPr>
                                </m:mc>
                              </m:mcs>
                              <m:ctrlPr>
                                <a:rPr lang="en-US" sz="1200" b="0" i="1" kern="1200">
                                  <a:solidFill>
                                    <a:schemeClr val="tx1"/>
                                  </a:solidFill>
                                  <a:latin typeface="+mn-lt"/>
                                  <a:ea typeface="+mn-ea"/>
                                  <a:cs typeface="+mn-cs"/>
                                </a:rPr>
                              </m:ctrlPr>
                            </m:mPr>
                            <m:mr>
                              <m:e>
                                <m:func>
                                  <m:funcPr>
                                    <m:ctrlPr>
                                      <a:rPr lang="en-US" sz="1200" b="0" i="0" kern="1200">
                                        <a:solidFill>
                                          <a:schemeClr val="tx1"/>
                                        </a:solidFill>
                                        <a:latin typeface="+mn-lt"/>
                                        <a:ea typeface="+mn-ea"/>
                                        <a:cs typeface="+mn-cs"/>
                                      </a:rPr>
                                    </m:ctrlPr>
                                  </m:funcPr>
                                  <m:fName>
                                    <m:r>
                                      <m:rPr>
                                        <m:sty m:val="p"/>
                                      </m:rPr>
                                      <a:rPr lang="en-US" sz="1200" b="0" i="0" kern="1200">
                                        <a:solidFill>
                                          <a:schemeClr val="tx1"/>
                                        </a:solidFill>
                                        <a:latin typeface="+mn-lt"/>
                                        <a:ea typeface="+mn-ea"/>
                                        <a:cs typeface="+mn-cs"/>
                                      </a:rPr>
                                      <m:t>arg</m:t>
                                    </m:r>
                                  </m:fName>
                                  <m:e>
                                    <m:sSub>
                                      <m:sSubPr>
                                        <m:ctrlPr>
                                          <a:rPr lang="en-US" sz="1200" b="0" i="0" kern="1200">
                                            <a:solidFill>
                                              <a:schemeClr val="tx1"/>
                                            </a:solidFill>
                                            <a:latin typeface="+mn-lt"/>
                                            <a:ea typeface="+mn-ea"/>
                                            <a:cs typeface="+mn-cs"/>
                                          </a:rPr>
                                        </m:ctrlPr>
                                      </m:sSubPr>
                                      <m:e>
                                        <m:r>
                                          <m:rPr>
                                            <m:sty m:val="p"/>
                                          </m:rPr>
                                          <a:rPr lang="en-US" sz="1200" b="0" i="0" kern="1200">
                                            <a:solidFill>
                                              <a:schemeClr val="tx1"/>
                                            </a:solidFill>
                                            <a:latin typeface="+mn-lt"/>
                                            <a:ea typeface="+mn-ea"/>
                                            <a:cs typeface="+mn-cs"/>
                                          </a:rPr>
                                          <m:t>max</m:t>
                                        </m:r>
                                      </m:e>
                                      <m:sub>
                                        <m:r>
                                          <a:rPr lang="en-US" sz="1200" b="0" i="1" kern="1200">
                                            <a:solidFill>
                                              <a:schemeClr val="tx1"/>
                                            </a:solidFill>
                                            <a:latin typeface="+mn-lt"/>
                                            <a:ea typeface="+mn-ea"/>
                                            <a:cs typeface="+mn-cs"/>
                                          </a:rPr>
                                          <m:t>𝑐</m:t>
                                        </m:r>
                                      </m:sub>
                                    </m:sSub>
                                  </m:e>
                                </m:func>
                                <m:sSub>
                                  <m:sSubPr>
                                    <m:ctrlPr>
                                      <a:rPr lang="en-US" sz="1200" b="0" i="1" kern="1200">
                                        <a:solidFill>
                                          <a:schemeClr val="tx1"/>
                                        </a:solidFill>
                                        <a:latin typeface="+mn-lt"/>
                                        <a:ea typeface="+mn-ea"/>
                                        <a:cs typeface="+mn-cs"/>
                                      </a:rPr>
                                    </m:ctrlPr>
                                  </m:sSubPr>
                                  <m:e>
                                    <m:r>
                                      <a:rPr lang="en-US" sz="1200" b="0" i="1" kern="1200">
                                        <a:solidFill>
                                          <a:schemeClr val="tx1"/>
                                        </a:solidFill>
                                        <a:latin typeface="+mn-lt"/>
                                        <a:ea typeface="+mn-ea"/>
                                        <a:cs typeface="+mn-cs"/>
                                      </a:rPr>
                                      <m:t>𝑠</m:t>
                                    </m:r>
                                  </m:e>
                                  <m:sub>
                                    <m:r>
                                      <a:rPr lang="en-US" sz="1200" b="0" i="1" kern="1200">
                                        <a:solidFill>
                                          <a:schemeClr val="tx1"/>
                                        </a:solidFill>
                                        <a:latin typeface="+mn-lt"/>
                                        <a:ea typeface="+mn-ea"/>
                                        <a:cs typeface="+mn-cs"/>
                                      </a:rPr>
                                      <m:t>𝑐</m:t>
                                    </m:r>
                                  </m:sub>
                                </m:sSub>
                                <m:d>
                                  <m:dPr>
                                    <m:ctrlPr>
                                      <a:rPr lang="en-US" sz="1200" b="0" i="1" kern="1200">
                                        <a:solidFill>
                                          <a:schemeClr val="tx1"/>
                                        </a:solidFill>
                                        <a:latin typeface="+mn-lt"/>
                                        <a:ea typeface="+mn-ea"/>
                                        <a:cs typeface="+mn-cs"/>
                                      </a:rPr>
                                    </m:ctrlPr>
                                  </m:dPr>
                                  <m:e>
                                    <m:sSub>
                                      <m:sSubPr>
                                        <m:ctrlPr>
                                          <a:rPr lang="en-US" sz="1200" b="0" i="1" kern="1200">
                                            <a:solidFill>
                                              <a:schemeClr val="tx1"/>
                                            </a:solidFill>
                                            <a:latin typeface="+mn-lt"/>
                                            <a:ea typeface="+mn-ea"/>
                                            <a:cs typeface="+mn-cs"/>
                                          </a:rPr>
                                        </m:ctrlPr>
                                      </m:sSubPr>
                                      <m:e>
                                        <m:r>
                                          <a:rPr lang="en-US" sz="1200" b="0" i="1" kern="1200">
                                            <a:solidFill>
                                              <a:schemeClr val="tx1"/>
                                            </a:solidFill>
                                            <a:latin typeface="+mn-lt"/>
                                            <a:ea typeface="+mn-ea"/>
                                            <a:cs typeface="+mn-cs"/>
                                          </a:rPr>
                                          <m:t>𝑥</m:t>
                                        </m:r>
                                      </m:e>
                                      <m:sub>
                                        <m:r>
                                          <a:rPr lang="en-US" sz="1200" b="0" i="1" kern="1200">
                                            <a:solidFill>
                                              <a:schemeClr val="tx1"/>
                                            </a:solidFill>
                                            <a:latin typeface="+mn-lt"/>
                                            <a:ea typeface="+mn-ea"/>
                                            <a:cs typeface="+mn-cs"/>
                                          </a:rPr>
                                          <m:t>𝑞</m:t>
                                        </m:r>
                                      </m:sub>
                                    </m:sSub>
                                  </m:e>
                                </m:d>
                                <m:r>
                                  <a:rPr lang="en-US" sz="1200" b="0" i="0" kern="1200">
                                    <a:solidFill>
                                      <a:schemeClr val="tx1"/>
                                    </a:solidFill>
                                    <a:latin typeface="+mn-lt"/>
                                    <a:ea typeface="+mn-ea"/>
                                    <a:cs typeface="+mn-cs"/>
                                  </a:rPr>
                                  <m:t>,</m:t>
                                </m:r>
                              </m:e>
                              <m:e>
                                <m:r>
                                  <m:rPr>
                                    <m:nor/>
                                  </m:rPr>
                                  <a:rPr lang="en-US" sz="1200" b="0" i="0" kern="1200">
                                    <a:solidFill>
                                      <a:schemeClr val="tx1"/>
                                    </a:solidFill>
                                    <a:latin typeface="+mn-lt"/>
                                    <a:ea typeface="+mn-ea"/>
                                    <a:cs typeface="+mn-cs"/>
                                  </a:rPr>
                                  <m:t>if </m:t>
                                </m:r>
                                <m:sSub>
                                  <m:sSubPr>
                                    <m:ctrlPr>
                                      <a:rPr lang="en-US" sz="1200" b="0" i="0" kern="1200">
                                        <a:solidFill>
                                          <a:schemeClr val="tx1"/>
                                        </a:solidFill>
                                        <a:latin typeface="+mn-lt"/>
                                        <a:ea typeface="+mn-ea"/>
                                        <a:cs typeface="+mn-cs"/>
                                      </a:rPr>
                                    </m:ctrlPr>
                                  </m:sSubPr>
                                  <m:e>
                                    <m:r>
                                      <m:rPr>
                                        <m:sty m:val="p"/>
                                      </m:rPr>
                                      <a:rPr lang="en-US" sz="1200" b="0" i="0" kern="1200">
                                        <a:solidFill>
                                          <a:schemeClr val="tx1"/>
                                        </a:solidFill>
                                        <a:latin typeface="+mn-lt"/>
                                        <a:ea typeface="+mn-ea"/>
                                        <a:cs typeface="+mn-cs"/>
                                      </a:rPr>
                                      <m:t>max</m:t>
                                    </m:r>
                                  </m:e>
                                  <m:sub>
                                    <m:r>
                                      <a:rPr lang="en-US" sz="1200" b="0" i="1" kern="1200">
                                        <a:solidFill>
                                          <a:schemeClr val="tx1"/>
                                        </a:solidFill>
                                        <a:latin typeface="+mn-lt"/>
                                        <a:ea typeface="+mn-ea"/>
                                        <a:cs typeface="+mn-cs"/>
                                      </a:rPr>
                                      <m:t>𝑐</m:t>
                                    </m:r>
                                  </m:sub>
                                </m:sSub>
                                <m:sSub>
                                  <m:sSubPr>
                                    <m:ctrlPr>
                                      <a:rPr lang="en-US" sz="1200" b="0" i="1" kern="1200">
                                        <a:solidFill>
                                          <a:schemeClr val="tx1"/>
                                        </a:solidFill>
                                        <a:latin typeface="+mn-lt"/>
                                        <a:ea typeface="+mn-ea"/>
                                        <a:cs typeface="+mn-cs"/>
                                      </a:rPr>
                                    </m:ctrlPr>
                                  </m:sSubPr>
                                  <m:e>
                                    <m:r>
                                      <a:rPr lang="en-US" sz="1200" b="0" i="1" kern="1200">
                                        <a:solidFill>
                                          <a:schemeClr val="tx1"/>
                                        </a:solidFill>
                                        <a:latin typeface="+mn-lt"/>
                                        <a:ea typeface="+mn-ea"/>
                                        <a:cs typeface="+mn-cs"/>
                                      </a:rPr>
                                      <m:t>𝑠</m:t>
                                    </m:r>
                                  </m:e>
                                  <m:sub>
                                    <m:r>
                                      <a:rPr lang="en-US" sz="1200" b="0" i="1" kern="1200">
                                        <a:solidFill>
                                          <a:schemeClr val="tx1"/>
                                        </a:solidFill>
                                        <a:latin typeface="+mn-lt"/>
                                        <a:ea typeface="+mn-ea"/>
                                        <a:cs typeface="+mn-cs"/>
                                      </a:rPr>
                                      <m:t>𝑐</m:t>
                                    </m:r>
                                  </m:sub>
                                </m:sSub>
                                <m:d>
                                  <m:dPr>
                                    <m:ctrlPr>
                                      <a:rPr lang="en-US" sz="1200" b="0" i="1" kern="1200">
                                        <a:solidFill>
                                          <a:schemeClr val="tx1"/>
                                        </a:solidFill>
                                        <a:latin typeface="+mn-lt"/>
                                        <a:ea typeface="+mn-ea"/>
                                        <a:cs typeface="+mn-cs"/>
                                      </a:rPr>
                                    </m:ctrlPr>
                                  </m:dPr>
                                  <m:e>
                                    <m:sSub>
                                      <m:sSubPr>
                                        <m:ctrlPr>
                                          <a:rPr lang="en-US" sz="1200" b="0" i="1" kern="1200">
                                            <a:solidFill>
                                              <a:schemeClr val="tx1"/>
                                            </a:solidFill>
                                            <a:latin typeface="+mn-lt"/>
                                            <a:ea typeface="+mn-ea"/>
                                            <a:cs typeface="+mn-cs"/>
                                          </a:rPr>
                                        </m:ctrlPr>
                                      </m:sSubPr>
                                      <m:e>
                                        <m:r>
                                          <a:rPr lang="en-US" sz="1200" b="0" i="1" kern="1200">
                                            <a:solidFill>
                                              <a:schemeClr val="tx1"/>
                                            </a:solidFill>
                                            <a:latin typeface="+mn-lt"/>
                                            <a:ea typeface="+mn-ea"/>
                                            <a:cs typeface="+mn-cs"/>
                                          </a:rPr>
                                          <m:t>𝑥</m:t>
                                        </m:r>
                                      </m:e>
                                      <m:sub>
                                        <m:r>
                                          <a:rPr lang="en-US" sz="1200" b="0" i="1" kern="1200">
                                            <a:solidFill>
                                              <a:schemeClr val="tx1"/>
                                            </a:solidFill>
                                            <a:latin typeface="+mn-lt"/>
                                            <a:ea typeface="+mn-ea"/>
                                            <a:cs typeface="+mn-cs"/>
                                          </a:rPr>
                                          <m:t>𝑞</m:t>
                                        </m:r>
                                      </m:sub>
                                    </m:sSub>
                                  </m:e>
                                </m:d>
                                <m:r>
                                  <m:rPr>
                                    <m:nor/>
                                  </m:rPr>
                                  <a:rPr lang="en-US" sz="1200" b="0" i="0" kern="1200">
                                    <a:solidFill>
                                      <a:schemeClr val="tx1"/>
                                    </a:solidFill>
                                    <a:latin typeface="+mn-lt"/>
                                    <a:ea typeface="+mn-ea"/>
                                    <a:cs typeface="+mn-cs"/>
                                  </a:rPr>
                                  <m:t> </m:t>
                                </m:r>
                                <m:r>
                                  <a:rPr lang="en-US" sz="1200" b="0" i="0" kern="1200">
                                    <a:solidFill>
                                      <a:schemeClr val="tx1"/>
                                    </a:solidFill>
                                    <a:latin typeface="+mn-lt"/>
                                    <a:ea typeface="+mn-ea"/>
                                    <a:cs typeface="+mn-cs"/>
                                  </a:rPr>
                                  <m:t>≥</m:t>
                                </m:r>
                                <m:r>
                                  <m:rPr>
                                    <m:nor/>
                                  </m:rPr>
                                  <a:rPr lang="en-US" sz="1200" b="0" i="0" kern="1200">
                                    <a:solidFill>
                                      <a:schemeClr val="tx1"/>
                                    </a:solidFill>
                                    <a:latin typeface="+mn-lt"/>
                                    <a:ea typeface="+mn-ea"/>
                                    <a:cs typeface="+mn-cs"/>
                                  </a:rPr>
                                  <m:t> </m:t>
                                </m:r>
                                <m:r>
                                  <a:rPr lang="en-US" sz="1200" b="0" i="1" kern="1200">
                                    <a:solidFill>
                                      <a:schemeClr val="tx1"/>
                                    </a:solidFill>
                                    <a:latin typeface="+mn-lt"/>
                                    <a:ea typeface="+mn-ea"/>
                                    <a:cs typeface="+mn-cs"/>
                                  </a:rPr>
                                  <m:t>𝑇</m:t>
                                </m:r>
                              </m:e>
                            </m:mr>
                            <m:mr>
                              <m:e>
                                <m:r>
                                  <m:rPr>
                                    <m:nor/>
                                  </m:rPr>
                                  <a:rPr lang="en-US" sz="1200" b="0" i="0" kern="1200">
                                    <a:solidFill>
                                      <a:schemeClr val="tx1"/>
                                    </a:solidFill>
                                    <a:latin typeface="+mn-lt"/>
                                    <a:ea typeface="+mn-ea"/>
                                    <a:cs typeface="+mn-cs"/>
                                  </a:rPr>
                                  <m:t>"unknown"</m:t>
                                </m:r>
                                <m:r>
                                  <a:rPr lang="en-US" sz="1200" b="0" i="0" kern="1200">
                                    <a:solidFill>
                                      <a:schemeClr val="tx1"/>
                                    </a:solidFill>
                                    <a:latin typeface="+mn-lt"/>
                                    <a:ea typeface="+mn-ea"/>
                                    <a:cs typeface="+mn-cs"/>
                                  </a:rPr>
                                  <m:t>,</m:t>
                                </m:r>
                              </m:e>
                              <m:e>
                                <m:r>
                                  <m:rPr>
                                    <m:nor/>
                                  </m:rPr>
                                  <a:rPr lang="en-US" sz="1200" b="0" i="0" kern="1200">
                                    <a:solidFill>
                                      <a:schemeClr val="tx1"/>
                                    </a:solidFill>
                                    <a:latin typeface="+mn-lt"/>
                                    <a:ea typeface="+mn-ea"/>
                                    <a:cs typeface="+mn-cs"/>
                                  </a:rPr>
                                  <m:t>otherwise</m:t>
                                </m:r>
                              </m:e>
                            </m:mr>
                          </m:m>
                        </m:e>
                      </m:d>
                    </m:oMath>
                  </m:oMathPara>
                </a14:m>
                <a:endParaRPr lang="en-US" sz="1200" b="0" i="0" kern="1200" dirty="0">
                  <a:solidFill>
                    <a:schemeClr val="tx1"/>
                  </a:solidFill>
                  <a:effectLst/>
                  <a:latin typeface="+mn-lt"/>
                  <a:ea typeface="+mn-ea"/>
                  <a:cs typeface="+mn-cs"/>
                </a:endParaRPr>
              </a:p>
              <a:p>
                <a:r>
                  <a:rPr lang="en-US" dirty="0"/>
                  <a:t>But this introduce errors, and if we really want our system to operate then we must make sure that we are tracking the correct metrics</a:t>
                </a:r>
                <a:br>
                  <a:rPr lang="en-US" dirty="0"/>
                </a:br>
                <a:endParaRPr lang="en-US" dirty="0"/>
              </a:p>
            </p:txBody>
          </p:sp>
        </mc:Choice>
        <mc:Fallback>
          <p:sp>
            <p:nvSpPr>
              <p:cNvPr id="3" name="Notes Placeholder 2">
                <a:extLst>
                  <a:ext uri="{FF2B5EF4-FFF2-40B4-BE49-F238E27FC236}">
                    <a16:creationId xmlns:a16="http://schemas.microsoft.com/office/drawing/2014/main" id="{16ECB4D6-AB56-3E03-7962-462B9248D0E3}"/>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The pedagogical hook for Week 9</a:t>
                </a:r>
              </a:p>
              <a:p>
                <a:r>
                  <a:rPr lang="en-US" sz="1200" b="0" i="0" kern="1200" dirty="0">
                    <a:solidFill>
                      <a:schemeClr val="tx1"/>
                    </a:solidFill>
                    <a:effectLst/>
                    <a:latin typeface="+mn-lt"/>
                    <a:ea typeface="+mn-ea"/>
                    <a:cs typeface="+mn-cs"/>
                  </a:rPr>
                  <a:t>The </a:t>
                </a:r>
                <a:r>
                  <a:rPr lang="en-US" sz="1200" i="0" kern="1200">
                    <a:solidFill>
                      <a:schemeClr val="tx1"/>
                    </a:solidFill>
                    <a:latin typeface="+mn-lt"/>
                    <a:ea typeface="+mn-ea"/>
                    <a:cs typeface="+mn-cs"/>
                  </a:rPr>
                  <a:t>arg⁡max</a:t>
                </a:r>
                <a:r>
                  <a:rPr lang="en-US" sz="1200" b="0" i="0" kern="1200" dirty="0">
                    <a:solidFill>
                      <a:schemeClr val="tx1"/>
                    </a:solidFill>
                    <a:effectLst/>
                    <a:latin typeface="+mn-lt"/>
                    <a:ea typeface="+mn-ea"/>
                    <a:cs typeface="+mn-cs"/>
                  </a:rPr>
                  <a:t> in</a:t>
                </a:r>
                <a:r>
                  <a:rPr lang="en-US" sz="1200" b="0" i="0" kern="1200" baseline="0" dirty="0">
                    <a:solidFill>
                      <a:schemeClr val="tx1"/>
                    </a:solidFill>
                    <a:effectLst/>
                    <a:latin typeface="+mn-lt"/>
                    <a:ea typeface="+mn-ea"/>
                    <a:cs typeface="+mn-cs"/>
                  </a:rPr>
                  <a:t> the prediction </a:t>
                </a:r>
                <a:r>
                  <a:rPr lang="en-US" sz="1200" b="0" i="0" kern="1200" dirty="0">
                    <a:solidFill>
                      <a:schemeClr val="tx1"/>
                    </a:solidFill>
                    <a:effectLst/>
                    <a:latin typeface="+mn-lt"/>
                    <a:ea typeface="+mn-ea"/>
                    <a:cs typeface="+mn-cs"/>
                  </a:rPr>
                  <a:t>has no "none of the above" branch. It partitions </a:t>
                </a:r>
                <a:r>
                  <a:rPr lang="en-US" sz="1200" i="0" kern="1200">
                    <a:solidFill>
                      <a:schemeClr val="tx1"/>
                    </a:solidFill>
                    <a:latin typeface="+mn-lt"/>
                    <a:ea typeface="+mn-ea"/>
                    <a:cs typeface="+mn-cs"/>
                  </a:rPr>
                  <a:t>𝕊^(𝐷−1)</a:t>
                </a:r>
                <a:r>
                  <a:rPr lang="en-US" sz="1200" b="0" i="0" kern="1200" dirty="0">
                    <a:solidFill>
                      <a:schemeClr val="tx1"/>
                    </a:solidFill>
                    <a:effectLst/>
                    <a:latin typeface="+mn-lt"/>
                    <a:ea typeface="+mn-ea"/>
                    <a:cs typeface="+mn-cs"/>
                  </a:rPr>
                  <a:t> into </a:t>
                </a:r>
                <a:r>
                  <a:rPr lang="en-US" sz="1200" i="0" kern="1200">
                    <a:solidFill>
                      <a:schemeClr val="tx1"/>
                    </a:solidFill>
                    <a:latin typeface="+mn-lt"/>
                    <a:ea typeface="+mn-ea"/>
                    <a:cs typeface="+mn-cs"/>
                  </a:rPr>
                  <a:t>𝑁</a:t>
                </a:r>
                <a:r>
                  <a:rPr lang="en-US" sz="1200" b="0" i="0" kern="1200" dirty="0">
                    <a:solidFill>
                      <a:schemeClr val="tx1"/>
                    </a:solidFill>
                    <a:effectLst/>
                    <a:latin typeface="+mn-lt"/>
                    <a:ea typeface="+mn-ea"/>
                    <a:cs typeface="+mn-cs"/>
                  </a:rPr>
                  <a:t> cells that </a:t>
                </a:r>
                <a:r>
                  <a:rPr lang="en-US" sz="1200" b="0" i="1" kern="1200" dirty="0">
                    <a:solidFill>
                      <a:schemeClr val="tx1"/>
                    </a:solidFill>
                    <a:effectLst/>
                    <a:latin typeface="+mn-lt"/>
                    <a:ea typeface="+mn-ea"/>
                    <a:cs typeface="+mn-cs"/>
                  </a:rPr>
                  <a:t>cover the entire sphere</a:t>
                </a:r>
                <a:r>
                  <a:rPr lang="en-US" sz="1200" b="0" i="0" kern="1200" dirty="0">
                    <a:solidFill>
                      <a:schemeClr val="tx1"/>
                    </a:solidFill>
                    <a:effectLst/>
                    <a:latin typeface="+mn-lt"/>
                    <a:ea typeface="+mn-ea"/>
                    <a:cs typeface="+mn-cs"/>
                  </a:rPr>
                  <a:t>, so every probe — impostor, off-pose, wrong modality, photograph of a tree — is assigned to some enrolled identity with some measure of confidence. </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minimal open-set repair is to make the decision conditional on the score itself:</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i="0" kern="1200">
                    <a:solidFill>
                      <a:schemeClr val="tx1"/>
                    </a:solidFill>
                    <a:latin typeface="+mn-lt"/>
                    <a:ea typeface="+mn-ea"/>
                    <a:cs typeface="+mn-cs"/>
                  </a:rPr>
                  <a:t>𝑦 ̂</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 {■(arg⁡〖max_𝑐 〗 𝑠_𝑐 (𝑥_𝑞 ),&amp;"if " max_𝑐 𝑠_𝑐 (𝑥_𝑞 )" " ≥" " 𝑇@"\"unknown\"",&amp;"otherwise" )┤</a:t>
                </a:r>
                <a:endParaRPr lang="en-US" sz="1200" b="0" i="0" kern="1200" dirty="0">
                  <a:solidFill>
                    <a:schemeClr val="tx1"/>
                  </a:solidFill>
                  <a:effectLst/>
                  <a:latin typeface="+mn-lt"/>
                  <a:ea typeface="+mn-ea"/>
                  <a:cs typeface="+mn-cs"/>
                </a:endParaRPr>
              </a:p>
              <a:p>
                <a:r>
                  <a:rPr lang="en-US" dirty="0"/>
                  <a:t>But this introduce errors, and if we really want our system to operate then we must make sure that we are tracking the correct metrics</a:t>
                </a:r>
                <a:br>
                  <a:rPr lang="en-US" dirty="0"/>
                </a:br>
                <a:endParaRPr lang="en-US" dirty="0"/>
              </a:p>
            </p:txBody>
          </p:sp>
        </mc:Fallback>
      </mc:AlternateContent>
      <p:sp>
        <p:nvSpPr>
          <p:cNvPr id="4" name="Slide Number Placeholder 3">
            <a:extLst>
              <a:ext uri="{FF2B5EF4-FFF2-40B4-BE49-F238E27FC236}">
                <a16:creationId xmlns:a16="http://schemas.microsoft.com/office/drawing/2014/main" id="{9F2E6F3C-4138-3B81-E74A-A4DD6F1C5666}"/>
              </a:ext>
            </a:extLst>
          </p:cNvPr>
          <p:cNvSpPr>
            <a:spLocks noGrp="1"/>
          </p:cNvSpPr>
          <p:nvPr>
            <p:ph type="sldNum" sz="quarter" idx="5"/>
          </p:nvPr>
        </p:nvSpPr>
        <p:spPr/>
        <p:txBody>
          <a:bodyPr/>
          <a:lstStyle/>
          <a:p>
            <a:fld id="{29E7BD1F-0023-244E-A8FD-1ADCC0FAE1A1}" type="slidenum">
              <a:rPr lang="en-US" smtClean="0"/>
              <a:t>4</a:t>
            </a:fld>
            <a:endParaRPr lang="en-US"/>
          </a:p>
        </p:txBody>
      </p:sp>
    </p:spTree>
    <p:extLst>
      <p:ext uri="{BB962C8B-B14F-4D97-AF65-F5344CB8AC3E}">
        <p14:creationId xmlns:p14="http://schemas.microsoft.com/office/powerpoint/2010/main" val="817060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DF9C4-C76F-8229-5AF5-5604FAC339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7DB9E-C27C-4876-B4A8-727060E2344A}"/>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DB46E382-62EF-885D-2331-FA2954D46999}"/>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Open space risk — the geometric argument</a:t>
                </a:r>
              </a:p>
              <a:p>
                <a:r>
                  <a:rPr lang="en-US" sz="1200" b="0" i="0" kern="1200" dirty="0">
                    <a:solidFill>
                      <a:schemeClr val="tx1"/>
                    </a:solidFill>
                    <a:effectLst/>
                    <a:latin typeface="+mn-lt"/>
                    <a:ea typeface="+mn-ea"/>
                    <a:cs typeface="+mn-cs"/>
                  </a:rPr>
                  <a:t>Introduce the central intuition from Walter Scheirer-lineage Open-Set Recognition formulation: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 discriminative decision rule partitions </a:t>
                </a:r>
                <a:r>
                  <a:rPr lang="en-US" sz="1200" b="0" i="1" kern="1200" dirty="0">
                    <a:solidFill>
                      <a:schemeClr val="tx1"/>
                    </a:solidFill>
                    <a:effectLst/>
                    <a:latin typeface="+mn-lt"/>
                    <a:ea typeface="+mn-ea"/>
                    <a:cs typeface="+mn-cs"/>
                  </a:rPr>
                  <a:t>all</a:t>
                </a:r>
                <a:r>
                  <a:rPr lang="en-US" sz="1200" b="0" i="0" kern="1200" dirty="0">
                    <a:solidFill>
                      <a:schemeClr val="tx1"/>
                    </a:solidFill>
                    <a:effectLst/>
                    <a:latin typeface="+mn-lt"/>
                    <a:ea typeface="+mn-ea"/>
                    <a:cs typeface="+mn-cs"/>
                  </a:rPr>
                  <a:t> of feature space, including regions arbitrarily far from any training data.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Labeling unbounded "open space" as a known class incurs risk that no amount of closed-set empirical risk minimization penalizes.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Objective sketch): </a:t>
                </a:r>
                <a14:m>
                  <m:oMath xmlns:m="http://schemas.openxmlformats.org/officeDocument/2006/math">
                    <m:func>
                      <m:funcPr>
                        <m:ctrlPr>
                          <a:rPr lang="en-US" sz="1200" kern="1200">
                            <a:solidFill>
                              <a:schemeClr val="tx1"/>
                            </a:solidFill>
                            <a:latin typeface="+mn-lt"/>
                            <a:ea typeface="+mn-ea"/>
                            <a:cs typeface="+mn-cs"/>
                          </a:rPr>
                        </m:ctrlPr>
                      </m:funcPr>
                      <m:fName>
                        <m:r>
                          <m:rPr>
                            <m:sty m:val="p"/>
                          </m:rPr>
                          <a:rPr lang="en-US" sz="1200" kern="1200">
                            <a:solidFill>
                              <a:schemeClr val="tx1"/>
                            </a:solidFill>
                            <a:latin typeface="+mn-lt"/>
                            <a:ea typeface="+mn-ea"/>
                            <a:cs typeface="+mn-cs"/>
                          </a:rPr>
                          <m:t>arg</m:t>
                        </m:r>
                      </m:fName>
                      <m:e>
                        <m:sSub>
                          <m:sSubPr>
                            <m:ctrlPr>
                              <a:rPr lang="en-US" sz="1200" i="0" kern="1200">
                                <a:solidFill>
                                  <a:schemeClr val="tx1"/>
                                </a:solidFill>
                                <a:latin typeface="+mn-lt"/>
                                <a:ea typeface="+mn-ea"/>
                                <a:cs typeface="+mn-cs"/>
                              </a:rPr>
                            </m:ctrlPr>
                          </m:sSubPr>
                          <m:e>
                            <m:r>
                              <m:rPr>
                                <m:sty m:val="p"/>
                              </m:rPr>
                              <a:rPr lang="en-US" sz="1200" i="0" kern="1200">
                                <a:solidFill>
                                  <a:schemeClr val="tx1"/>
                                </a:solidFill>
                                <a:latin typeface="+mn-lt"/>
                                <a:ea typeface="+mn-ea"/>
                                <a:cs typeface="+mn-cs"/>
                              </a:rPr>
                              <m:t>min</m:t>
                            </m:r>
                          </m:e>
                          <m:sub>
                            <m:r>
                              <a:rPr lang="en-US" sz="1200" i="1" kern="1200">
                                <a:solidFill>
                                  <a:schemeClr val="tx1"/>
                                </a:solidFill>
                                <a:latin typeface="+mn-lt"/>
                                <a:ea typeface="+mn-ea"/>
                                <a:cs typeface="+mn-cs"/>
                              </a:rPr>
                              <m:t>𝑓</m:t>
                            </m:r>
                          </m:sub>
                        </m:sSub>
                      </m:e>
                    </m:func>
                    <m:r>
                      <m:rPr>
                        <m:nor/>
                      </m:rPr>
                      <a:rPr lang="en-US" sz="1200" b="0" i="0" kern="1200">
                        <a:solidFill>
                          <a:schemeClr val="tx1"/>
                        </a:solidFill>
                        <a:latin typeface="+mn-lt"/>
                        <a:ea typeface="+mn-ea"/>
                        <a:cs typeface="+mn-cs"/>
                      </a:rPr>
                      <m:t>  </m:t>
                    </m:r>
                    <m:limLow>
                      <m:limLowPr>
                        <m:ctrlPr>
                          <a:rPr lang="en-US" sz="1200" b="0" i="1" kern="1200">
                            <a:solidFill>
                              <a:schemeClr val="tx1"/>
                            </a:solidFill>
                            <a:latin typeface="+mn-lt"/>
                            <a:ea typeface="+mn-ea"/>
                            <a:cs typeface="+mn-cs"/>
                          </a:rPr>
                        </m:ctrlPr>
                      </m:limLowPr>
                      <m:e>
                        <m:groupChr>
                          <m:groupChrPr>
                            <m:chr m:val="⏟"/>
                            <m:pos m:val="bot"/>
                            <m:vertJc m:val="top"/>
                            <m:ctrlPr>
                              <a:rPr lang="en-US" sz="1200" b="0" i="1" kern="1200">
                                <a:solidFill>
                                  <a:schemeClr val="tx1"/>
                                </a:solidFill>
                                <a:latin typeface="+mn-lt"/>
                                <a:ea typeface="+mn-ea"/>
                                <a:cs typeface="+mn-cs"/>
                              </a:rPr>
                            </m:ctrlPr>
                          </m:groupChrPr>
                          <m:e>
                            <m:sSub>
                              <m:sSubPr>
                                <m:ctrlPr>
                                  <a:rPr lang="en-US" sz="1200" b="0" i="1" kern="1200">
                                    <a:solidFill>
                                      <a:schemeClr val="tx1"/>
                                    </a:solidFill>
                                    <a:latin typeface="+mn-lt"/>
                                    <a:ea typeface="+mn-ea"/>
                                    <a:cs typeface="+mn-cs"/>
                                  </a:rPr>
                                </m:ctrlPr>
                              </m:sSubPr>
                              <m:e>
                                <m:r>
                                  <a:rPr lang="en-US" sz="1200" b="0" i="1" kern="1200">
                                    <a:solidFill>
                                      <a:schemeClr val="tx1"/>
                                    </a:solidFill>
                                    <a:latin typeface="+mn-lt"/>
                                    <a:ea typeface="+mn-ea"/>
                                    <a:cs typeface="+mn-cs"/>
                                  </a:rPr>
                                  <m:t>𝑅</m:t>
                                </m:r>
                              </m:e>
                              <m:sub>
                                <m:r>
                                  <a:rPr lang="en-US" sz="1200" b="0" i="0" kern="1200">
                                    <a:solidFill>
                                      <a:schemeClr val="tx1"/>
                                    </a:solidFill>
                                    <a:latin typeface="+mn-lt"/>
                                    <a:ea typeface="+mn-ea"/>
                                    <a:cs typeface="+mn-cs"/>
                                  </a:rPr>
                                  <m:t>𝒪</m:t>
                                </m:r>
                              </m:sub>
                            </m:sSub>
                            <m:d>
                              <m:dPr>
                                <m:ctrlPr>
                                  <a:rPr lang="en-US" sz="1200" b="0" i="1" kern="1200">
                                    <a:solidFill>
                                      <a:schemeClr val="tx1"/>
                                    </a:solidFill>
                                    <a:latin typeface="+mn-lt"/>
                                    <a:ea typeface="+mn-ea"/>
                                    <a:cs typeface="+mn-cs"/>
                                  </a:rPr>
                                </m:ctrlPr>
                              </m:dPr>
                              <m:e>
                                <m:r>
                                  <a:rPr lang="en-US" sz="1200" b="0" i="1" kern="1200">
                                    <a:solidFill>
                                      <a:schemeClr val="tx1"/>
                                    </a:solidFill>
                                    <a:latin typeface="+mn-lt"/>
                                    <a:ea typeface="+mn-ea"/>
                                    <a:cs typeface="+mn-cs"/>
                                  </a:rPr>
                                  <m:t>𝑓</m:t>
                                </m:r>
                              </m:e>
                            </m:d>
                          </m:e>
                        </m:groupChr>
                      </m:e>
                      <m:lim>
                        <m:r>
                          <m:rPr>
                            <m:nor/>
                          </m:rPr>
                          <a:rPr lang="en-US" sz="1200" b="0" i="0" kern="1200">
                            <a:solidFill>
                              <a:schemeClr val="tx1"/>
                            </a:solidFill>
                            <a:latin typeface="+mn-lt"/>
                            <a:ea typeface="+mn-ea"/>
                            <a:cs typeface="+mn-cs"/>
                          </a:rPr>
                          <m:t>open space risk</m:t>
                        </m:r>
                      </m:lim>
                    </m:limLow>
                    <m:r>
                      <m:rPr>
                        <m:nor/>
                      </m:rPr>
                      <a:rPr lang="en-US" sz="1200" b="0" i="0" kern="1200">
                        <a:solidFill>
                          <a:schemeClr val="tx1"/>
                        </a:solidFill>
                        <a:latin typeface="+mn-lt"/>
                        <a:ea typeface="+mn-ea"/>
                        <a:cs typeface="+mn-cs"/>
                      </a:rPr>
                      <m:t>  </m:t>
                    </m:r>
                    <m:r>
                      <a:rPr lang="en-US" sz="1200" b="0" i="0" kern="1200">
                        <a:solidFill>
                          <a:schemeClr val="tx1"/>
                        </a:solidFill>
                        <a:latin typeface="+mn-lt"/>
                        <a:ea typeface="+mn-ea"/>
                        <a:cs typeface="+mn-cs"/>
                      </a:rPr>
                      <m:t>+</m:t>
                    </m:r>
                    <m:r>
                      <m:rPr>
                        <m:nor/>
                      </m:rPr>
                      <a:rPr lang="en-US" sz="1200" b="0" i="0" kern="1200">
                        <a:solidFill>
                          <a:schemeClr val="tx1"/>
                        </a:solidFill>
                        <a:latin typeface="+mn-lt"/>
                        <a:ea typeface="+mn-ea"/>
                        <a:cs typeface="+mn-cs"/>
                      </a:rPr>
                      <m:t>  </m:t>
                    </m:r>
                    <m:r>
                      <a:rPr lang="en-US" sz="1200" b="0" i="1" kern="1200">
                        <a:solidFill>
                          <a:schemeClr val="tx1"/>
                        </a:solidFill>
                        <a:latin typeface="+mn-lt"/>
                        <a:ea typeface="+mn-ea"/>
                        <a:cs typeface="+mn-cs"/>
                      </a:rPr>
                      <m:t>𝜆</m:t>
                    </m:r>
                    <m:r>
                      <m:rPr>
                        <m:nor/>
                      </m:rPr>
                      <a:rPr lang="en-US" sz="1200" b="0" i="0" kern="1200">
                        <a:solidFill>
                          <a:schemeClr val="tx1"/>
                        </a:solidFill>
                        <a:latin typeface="+mn-lt"/>
                        <a:ea typeface="+mn-ea"/>
                        <a:cs typeface="+mn-cs"/>
                      </a:rPr>
                      <m:t> </m:t>
                    </m:r>
                    <m:limLow>
                      <m:limLowPr>
                        <m:ctrlPr>
                          <a:rPr lang="en-US" sz="1200" b="0" i="1" kern="1200">
                            <a:solidFill>
                              <a:schemeClr val="tx1"/>
                            </a:solidFill>
                            <a:latin typeface="+mn-lt"/>
                            <a:ea typeface="+mn-ea"/>
                            <a:cs typeface="+mn-cs"/>
                          </a:rPr>
                        </m:ctrlPr>
                      </m:limLowPr>
                      <m:e>
                        <m:groupChr>
                          <m:groupChrPr>
                            <m:chr m:val="⏟"/>
                            <m:pos m:val="bot"/>
                            <m:vertJc m:val="top"/>
                            <m:ctrlPr>
                              <a:rPr lang="en-US" sz="1200" b="0" i="1" kern="1200">
                                <a:solidFill>
                                  <a:schemeClr val="tx1"/>
                                </a:solidFill>
                                <a:latin typeface="+mn-lt"/>
                                <a:ea typeface="+mn-ea"/>
                                <a:cs typeface="+mn-cs"/>
                              </a:rPr>
                            </m:ctrlPr>
                          </m:groupChrPr>
                          <m:e>
                            <m:sSub>
                              <m:sSubPr>
                                <m:ctrlPr>
                                  <a:rPr lang="en-US" sz="1200" b="0" i="1" kern="1200">
                                    <a:solidFill>
                                      <a:schemeClr val="tx1"/>
                                    </a:solidFill>
                                    <a:latin typeface="+mn-lt"/>
                                    <a:ea typeface="+mn-ea"/>
                                    <a:cs typeface="+mn-cs"/>
                                  </a:rPr>
                                </m:ctrlPr>
                              </m:sSubPr>
                              <m:e>
                                <m:r>
                                  <a:rPr lang="en-US" sz="1200" b="0" i="1" kern="1200">
                                    <a:solidFill>
                                      <a:schemeClr val="tx1"/>
                                    </a:solidFill>
                                    <a:latin typeface="+mn-lt"/>
                                    <a:ea typeface="+mn-ea"/>
                                    <a:cs typeface="+mn-cs"/>
                                  </a:rPr>
                                  <m:t>𝑅</m:t>
                                </m:r>
                              </m:e>
                              <m:sub>
                                <m:r>
                                  <a:rPr lang="en-US" sz="1200" b="0" i="1" kern="1200">
                                    <a:solidFill>
                                      <a:schemeClr val="tx1"/>
                                    </a:solidFill>
                                    <a:latin typeface="+mn-lt"/>
                                    <a:ea typeface="+mn-ea"/>
                                    <a:cs typeface="+mn-cs"/>
                                  </a:rPr>
                                  <m:t>𝜀</m:t>
                                </m:r>
                              </m:sub>
                            </m:sSub>
                            <m:d>
                              <m:dPr>
                                <m:sepChr m:val=","/>
                                <m:ctrlPr>
                                  <a:rPr lang="en-US" sz="1200" b="0" i="1" kern="1200">
                                    <a:solidFill>
                                      <a:schemeClr val="tx1"/>
                                    </a:solidFill>
                                    <a:latin typeface="+mn-lt"/>
                                    <a:ea typeface="+mn-ea"/>
                                    <a:cs typeface="+mn-cs"/>
                                  </a:rPr>
                                </m:ctrlPr>
                              </m:dPr>
                              <m:e>
                                <m:r>
                                  <a:rPr lang="en-US" sz="1200" b="0" i="1" kern="1200">
                                    <a:solidFill>
                                      <a:schemeClr val="tx1"/>
                                    </a:solidFill>
                                    <a:latin typeface="+mn-lt"/>
                                    <a:ea typeface="+mn-ea"/>
                                    <a:cs typeface="+mn-cs"/>
                                  </a:rPr>
                                  <m:t>𝑓</m:t>
                                </m:r>
                              </m:e>
                              <m:e>
                                <m:sSub>
                                  <m:sSubPr>
                                    <m:ctrlPr>
                                      <a:rPr lang="en-US" sz="1200" b="0" i="0" kern="1200">
                                        <a:solidFill>
                                          <a:schemeClr val="tx1"/>
                                        </a:solidFill>
                                        <a:latin typeface="+mn-lt"/>
                                        <a:ea typeface="+mn-ea"/>
                                        <a:cs typeface="+mn-cs"/>
                                      </a:rPr>
                                    </m:ctrlPr>
                                  </m:sSubPr>
                                  <m:e>
                                    <m:r>
                                      <a:rPr lang="en-US" sz="1200" b="0" i="0" kern="1200">
                                        <a:solidFill>
                                          <a:schemeClr val="tx1"/>
                                        </a:solidFill>
                                        <a:latin typeface="+mn-lt"/>
                                        <a:ea typeface="+mn-ea"/>
                                        <a:cs typeface="+mn-cs"/>
                                      </a:rPr>
                                      <m:t>𝒟</m:t>
                                    </m:r>
                                  </m:e>
                                  <m:sub>
                                    <m:r>
                                      <m:rPr>
                                        <m:nor/>
                                      </m:rPr>
                                      <a:rPr lang="en-US" sz="1200" b="0" i="0" kern="1200">
                                        <a:solidFill>
                                          <a:schemeClr val="tx1"/>
                                        </a:solidFill>
                                        <a:latin typeface="+mn-lt"/>
                                        <a:ea typeface="+mn-ea"/>
                                        <a:cs typeface="+mn-cs"/>
                                      </a:rPr>
                                      <m:t>train</m:t>
                                    </m:r>
                                  </m:sub>
                                </m:sSub>
                              </m:e>
                            </m:d>
                          </m:e>
                        </m:groupChr>
                      </m:e>
                      <m:lim>
                        <m:r>
                          <m:rPr>
                            <m:nor/>
                          </m:rPr>
                          <a:rPr lang="en-US" sz="1200" b="0" i="0" kern="1200">
                            <a:solidFill>
                              <a:schemeClr val="tx1"/>
                            </a:solidFill>
                            <a:latin typeface="+mn-lt"/>
                            <a:ea typeface="+mn-ea"/>
                            <a:cs typeface="+mn-cs"/>
                          </a:rPr>
                          <m:t>empirical risk</m:t>
                        </m:r>
                      </m:lim>
                    </m:limLow>
                  </m:oMath>
                </a14:m>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Board exercise: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Draw the unit circle with three enrolled templates $\hat{w}_1, \hat{w}_2, \hat{w}_3$ on it; the cosine $\</a:t>
                </a:r>
                <a:r>
                  <a:rPr lang="en-US" sz="1200" b="0" i="0" kern="1200" dirty="0" err="1">
                    <a:solidFill>
                      <a:schemeClr val="tx1"/>
                    </a:solidFill>
                    <a:effectLst/>
                    <a:latin typeface="+mn-lt"/>
                    <a:ea typeface="+mn-ea"/>
                    <a:cs typeface="+mn-cs"/>
                  </a:rPr>
                  <a:t>arg</a:t>
                </a:r>
                <a:r>
                  <a:rPr lang="en-US" sz="1200" b="0" i="0" kern="1200" dirty="0">
                    <a:solidFill>
                      <a:schemeClr val="tx1"/>
                    </a:solidFill>
                    <a:effectLst/>
                    <a:latin typeface="+mn-lt"/>
                    <a:ea typeface="+mn-ea"/>
                    <a:cs typeface="+mn-cs"/>
                  </a:rPr>
                  <a:t>\max$ cuts the circle into three arcs. </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Question:</a:t>
                </a:r>
                <a:r>
                  <a:rPr lang="en-US" sz="1200" b="0" i="0" kern="1200" dirty="0">
                    <a:solidFill>
                      <a:schemeClr val="tx1"/>
                    </a:solidFill>
                    <a:effectLst/>
                    <a:latin typeface="+mn-lt"/>
                    <a:ea typeface="+mn-ea"/>
                    <a:cs typeface="+mn-cs"/>
                  </a:rPr>
                  <a:t> where a probe from a 4th, </a:t>
                </a:r>
                <a:r>
                  <a:rPr lang="en-US" sz="1200" b="0" i="1" kern="1200" dirty="0">
                    <a:solidFill>
                      <a:schemeClr val="tx1"/>
                    </a:solidFill>
                    <a:effectLst/>
                    <a:latin typeface="+mn-lt"/>
                    <a:ea typeface="+mn-ea"/>
                    <a:cs typeface="+mn-cs"/>
                  </a:rPr>
                  <a:t>non-enrolled</a:t>
                </a:r>
                <a:r>
                  <a:rPr lang="en-US" sz="1200" b="0" i="0" kern="1200" dirty="0">
                    <a:solidFill>
                      <a:schemeClr val="tx1"/>
                    </a:solidFill>
                    <a:effectLst/>
                    <a:latin typeface="+mn-lt"/>
                    <a:ea typeface="+mn-ea"/>
                    <a:cs typeface="+mn-cs"/>
                  </a:rPr>
                  <a:t> subject lands?</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Answer</a:t>
                </a:r>
                <a:r>
                  <a:rPr lang="en-US" sz="1200" b="0" i="0" kern="1200" dirty="0">
                    <a:solidFill>
                      <a:schemeClr val="tx1"/>
                    </a:solidFill>
                    <a:effectLst/>
                    <a:latin typeface="+mn-lt"/>
                    <a:ea typeface="+mn-ea"/>
                    <a:cs typeface="+mn-cs"/>
                  </a:rPr>
                  <a:t>: it lands in an arc, and is named. </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Follow-up: </a:t>
                </a:r>
                <a:r>
                  <a:rPr lang="en-US" sz="1200" b="0" i="1" kern="1200" dirty="0">
                    <a:solidFill>
                      <a:schemeClr val="tx1"/>
                    </a:solidFill>
                    <a:effectLst/>
                    <a:latin typeface="+mn-lt"/>
                    <a:ea typeface="+mn-ea"/>
                    <a:cs typeface="+mn-cs"/>
                  </a:rPr>
                  <a:t>can any purely discriminative boundary fix this?</a:t>
                </a:r>
                <a:r>
                  <a:rPr lang="en-US" sz="1200" b="0" i="0" kern="1200" dirty="0">
                    <a:solidFill>
                      <a:schemeClr val="tx1"/>
                    </a:solidFill>
                    <a:effectLst/>
                    <a:latin typeface="+mn-lt"/>
                    <a:ea typeface="+mn-ea"/>
                    <a:cs typeface="+mn-cs"/>
                  </a:rPr>
                  <a:t> </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indent="0">
                  <a:buFont typeface="Arial" panose="020B0604020202020204" pitchFamily="34" charset="0"/>
                  <a:buNone/>
                </a:pPr>
                <a:r>
                  <a:rPr lang="en-US" sz="1200" b="0" i="0" kern="1200" dirty="0">
                    <a:solidFill>
                      <a:schemeClr val="tx1"/>
                    </a:solidFill>
                    <a:effectLst/>
                    <a:latin typeface="+mn-lt"/>
                    <a:ea typeface="+mn-ea"/>
                    <a:cs typeface="+mn-cs"/>
                  </a:rPr>
                  <a:t>Lead to the conclusion that open-set behavior requires either </a:t>
                </a:r>
                <a:r>
                  <a:rPr lang="en-US" sz="1200" b="1" i="0" kern="1200" dirty="0">
                    <a:solidFill>
                      <a:schemeClr val="tx1"/>
                    </a:solidFill>
                    <a:effectLst/>
                    <a:latin typeface="+mn-lt"/>
                    <a:ea typeface="+mn-ea"/>
                    <a:cs typeface="+mn-cs"/>
                  </a:rPr>
                  <a:t>bounded</a:t>
                </a:r>
                <a:r>
                  <a:rPr lang="en-US" sz="1200" b="0" i="0" kern="1200" dirty="0">
                    <a:solidFill>
                      <a:schemeClr val="tx1"/>
                    </a:solidFill>
                    <a:effectLst/>
                    <a:latin typeface="+mn-lt"/>
                    <a:ea typeface="+mn-ea"/>
                    <a:cs typeface="+mn-cs"/>
                  </a:rPr>
                  <a:t> decision regions or a </a:t>
                </a:r>
                <a:r>
                  <a:rPr lang="en-US" sz="1200" b="1" i="0" kern="1200" dirty="0">
                    <a:solidFill>
                      <a:schemeClr val="tx1"/>
                    </a:solidFill>
                    <a:effectLst/>
                    <a:latin typeface="+mn-lt"/>
                    <a:ea typeface="+mn-ea"/>
                    <a:cs typeface="+mn-cs"/>
                  </a:rPr>
                  <a:t>score plus a threshold</a:t>
                </a:r>
                <a:r>
                  <a:rPr lang="en-US" sz="1200" b="0" i="0" kern="1200" dirty="0">
                    <a:solidFill>
                      <a:schemeClr val="tx1"/>
                    </a:solidFill>
                    <a:effectLst/>
                    <a:latin typeface="+mn-lt"/>
                    <a:ea typeface="+mn-ea"/>
                    <a:cs typeface="+mn-cs"/>
                  </a:rPr>
                  <a:t> layered on top of the classifier.</a:t>
                </a:r>
              </a:p>
              <a:p>
                <a:br>
                  <a:rPr lang="en-US" dirty="0"/>
                </a:br>
                <a:endParaRPr lang="en-US" dirty="0"/>
              </a:p>
            </p:txBody>
          </p:sp>
        </mc:Choice>
        <mc:Fallback>
          <p:sp>
            <p:nvSpPr>
              <p:cNvPr id="3" name="Notes Placeholder 2">
                <a:extLst>
                  <a:ext uri="{FF2B5EF4-FFF2-40B4-BE49-F238E27FC236}">
                    <a16:creationId xmlns:a16="http://schemas.microsoft.com/office/drawing/2014/main" id="{DB46E382-62EF-885D-2331-FA2954D46999}"/>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Open space risk — the geometric argument</a:t>
                </a:r>
              </a:p>
              <a:p>
                <a:r>
                  <a:rPr lang="en-US" sz="1200" b="0" i="0" kern="1200" dirty="0">
                    <a:solidFill>
                      <a:schemeClr val="tx1"/>
                    </a:solidFill>
                    <a:effectLst/>
                    <a:latin typeface="+mn-lt"/>
                    <a:ea typeface="+mn-ea"/>
                    <a:cs typeface="+mn-cs"/>
                  </a:rPr>
                  <a:t>Introduce the central intuition from Walter Scheirer-lineage Open-Set Recognition formulation: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 discriminative decision rule partitions </a:t>
                </a:r>
                <a:r>
                  <a:rPr lang="en-US" sz="1200" b="0" i="1" kern="1200" dirty="0">
                    <a:solidFill>
                      <a:schemeClr val="tx1"/>
                    </a:solidFill>
                    <a:effectLst/>
                    <a:latin typeface="+mn-lt"/>
                    <a:ea typeface="+mn-ea"/>
                    <a:cs typeface="+mn-cs"/>
                  </a:rPr>
                  <a:t>all</a:t>
                </a:r>
                <a:r>
                  <a:rPr lang="en-US" sz="1200" b="0" i="0" kern="1200" dirty="0">
                    <a:solidFill>
                      <a:schemeClr val="tx1"/>
                    </a:solidFill>
                    <a:effectLst/>
                    <a:latin typeface="+mn-lt"/>
                    <a:ea typeface="+mn-ea"/>
                    <a:cs typeface="+mn-cs"/>
                  </a:rPr>
                  <a:t> of feature space, including regions arbitrarily far from any training data.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Labeling unbounded "open space" as a known class incurs risk that no amount of closed-set empirical risk minimization penalizes.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Objective sketch): </a:t>
                </a:r>
                <a:r>
                  <a:rPr lang="en-US" sz="1200" i="0" kern="1200">
                    <a:solidFill>
                      <a:schemeClr val="tx1"/>
                    </a:solidFill>
                    <a:latin typeface="+mn-lt"/>
                    <a:ea typeface="+mn-ea"/>
                    <a:cs typeface="+mn-cs"/>
                  </a:rPr>
                  <a:t>arg⁡〖min_𝑓 〗</a:t>
                </a:r>
                <a:r>
                  <a:rPr lang="en-US" sz="1200" b="0" i="0" kern="1200">
                    <a:solidFill>
                      <a:schemeClr val="tx1"/>
                    </a:solidFill>
                    <a:latin typeface="+mn-lt"/>
                    <a:ea typeface="+mn-ea"/>
                    <a:cs typeface="+mn-cs"/>
                  </a:rPr>
                  <a:t> </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  ⏟(𝑅_𝒪 (𝑓) )┬"open space risk"  </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 𝜆</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  ⏟(𝑅_𝜀 (𝑓ⓜ,𝒟_"train"  ) )┬"empirical risk" </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Board exercise: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Draw the unit circle with three enrolled templates $\hat{w}_1, \hat{w}_2, \hat{w}_3$ on it; the cosine $\</a:t>
                </a:r>
                <a:r>
                  <a:rPr lang="en-US" sz="1200" b="0" i="0" kern="1200" dirty="0" err="1">
                    <a:solidFill>
                      <a:schemeClr val="tx1"/>
                    </a:solidFill>
                    <a:effectLst/>
                    <a:latin typeface="+mn-lt"/>
                    <a:ea typeface="+mn-ea"/>
                    <a:cs typeface="+mn-cs"/>
                  </a:rPr>
                  <a:t>arg</a:t>
                </a:r>
                <a:r>
                  <a:rPr lang="en-US" sz="1200" b="0" i="0" kern="1200" dirty="0">
                    <a:solidFill>
                      <a:schemeClr val="tx1"/>
                    </a:solidFill>
                    <a:effectLst/>
                    <a:latin typeface="+mn-lt"/>
                    <a:ea typeface="+mn-ea"/>
                    <a:cs typeface="+mn-cs"/>
                  </a:rPr>
                  <a:t>\max$ cuts the circle into three arcs. </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Question:</a:t>
                </a:r>
                <a:r>
                  <a:rPr lang="en-US" sz="1200" b="0" i="0" kern="1200" dirty="0">
                    <a:solidFill>
                      <a:schemeClr val="tx1"/>
                    </a:solidFill>
                    <a:effectLst/>
                    <a:latin typeface="+mn-lt"/>
                    <a:ea typeface="+mn-ea"/>
                    <a:cs typeface="+mn-cs"/>
                  </a:rPr>
                  <a:t> where a probe from a 4th, </a:t>
                </a:r>
                <a:r>
                  <a:rPr lang="en-US" sz="1200" b="0" i="1" kern="1200" dirty="0">
                    <a:solidFill>
                      <a:schemeClr val="tx1"/>
                    </a:solidFill>
                    <a:effectLst/>
                    <a:latin typeface="+mn-lt"/>
                    <a:ea typeface="+mn-ea"/>
                    <a:cs typeface="+mn-cs"/>
                  </a:rPr>
                  <a:t>non-enrolled</a:t>
                </a:r>
                <a:r>
                  <a:rPr lang="en-US" sz="1200" b="0" i="0" kern="1200" dirty="0">
                    <a:solidFill>
                      <a:schemeClr val="tx1"/>
                    </a:solidFill>
                    <a:effectLst/>
                    <a:latin typeface="+mn-lt"/>
                    <a:ea typeface="+mn-ea"/>
                    <a:cs typeface="+mn-cs"/>
                  </a:rPr>
                  <a:t> subject lands?</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Answer</a:t>
                </a:r>
                <a:r>
                  <a:rPr lang="en-US" sz="1200" b="0" i="0" kern="1200" dirty="0">
                    <a:solidFill>
                      <a:schemeClr val="tx1"/>
                    </a:solidFill>
                    <a:effectLst/>
                    <a:latin typeface="+mn-lt"/>
                    <a:ea typeface="+mn-ea"/>
                    <a:cs typeface="+mn-cs"/>
                  </a:rPr>
                  <a:t>: it lands in an arc, and is named. </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Follow-up: </a:t>
                </a:r>
                <a:r>
                  <a:rPr lang="en-US" sz="1200" b="0" i="1" kern="1200" dirty="0">
                    <a:solidFill>
                      <a:schemeClr val="tx1"/>
                    </a:solidFill>
                    <a:effectLst/>
                    <a:latin typeface="+mn-lt"/>
                    <a:ea typeface="+mn-ea"/>
                    <a:cs typeface="+mn-cs"/>
                  </a:rPr>
                  <a:t>can any purely discriminative boundary fix this?</a:t>
                </a:r>
                <a:r>
                  <a:rPr lang="en-US" sz="1200" b="0" i="0" kern="1200" dirty="0">
                    <a:solidFill>
                      <a:schemeClr val="tx1"/>
                    </a:solidFill>
                    <a:effectLst/>
                    <a:latin typeface="+mn-lt"/>
                    <a:ea typeface="+mn-ea"/>
                    <a:cs typeface="+mn-cs"/>
                  </a:rPr>
                  <a:t> </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indent="0">
                  <a:buFont typeface="Arial" panose="020B0604020202020204" pitchFamily="34" charset="0"/>
                  <a:buNone/>
                </a:pPr>
                <a:r>
                  <a:rPr lang="en-US" sz="1200" b="0" i="0" kern="1200" dirty="0">
                    <a:solidFill>
                      <a:schemeClr val="tx1"/>
                    </a:solidFill>
                    <a:effectLst/>
                    <a:latin typeface="+mn-lt"/>
                    <a:ea typeface="+mn-ea"/>
                    <a:cs typeface="+mn-cs"/>
                  </a:rPr>
                  <a:t>Lead to the conclusion that open-set behavior requires either </a:t>
                </a:r>
                <a:r>
                  <a:rPr lang="en-US" sz="1200" b="1" i="0" kern="1200" dirty="0">
                    <a:solidFill>
                      <a:schemeClr val="tx1"/>
                    </a:solidFill>
                    <a:effectLst/>
                    <a:latin typeface="+mn-lt"/>
                    <a:ea typeface="+mn-ea"/>
                    <a:cs typeface="+mn-cs"/>
                  </a:rPr>
                  <a:t>bounded</a:t>
                </a:r>
                <a:r>
                  <a:rPr lang="en-US" sz="1200" b="0" i="0" kern="1200" dirty="0">
                    <a:solidFill>
                      <a:schemeClr val="tx1"/>
                    </a:solidFill>
                    <a:effectLst/>
                    <a:latin typeface="+mn-lt"/>
                    <a:ea typeface="+mn-ea"/>
                    <a:cs typeface="+mn-cs"/>
                  </a:rPr>
                  <a:t> decision regions or a </a:t>
                </a:r>
                <a:r>
                  <a:rPr lang="en-US" sz="1200" b="1" i="0" kern="1200" dirty="0">
                    <a:solidFill>
                      <a:schemeClr val="tx1"/>
                    </a:solidFill>
                    <a:effectLst/>
                    <a:latin typeface="+mn-lt"/>
                    <a:ea typeface="+mn-ea"/>
                    <a:cs typeface="+mn-cs"/>
                  </a:rPr>
                  <a:t>score plus a threshold</a:t>
                </a:r>
                <a:r>
                  <a:rPr lang="en-US" sz="1200" b="0" i="0" kern="1200" dirty="0">
                    <a:solidFill>
                      <a:schemeClr val="tx1"/>
                    </a:solidFill>
                    <a:effectLst/>
                    <a:latin typeface="+mn-lt"/>
                    <a:ea typeface="+mn-ea"/>
                    <a:cs typeface="+mn-cs"/>
                  </a:rPr>
                  <a:t> layered on top of the classifier.</a:t>
                </a:r>
              </a:p>
              <a:p>
                <a:br>
                  <a:rPr lang="en-US" dirty="0"/>
                </a:br>
                <a:endParaRPr lang="en-US" dirty="0"/>
              </a:p>
            </p:txBody>
          </p:sp>
        </mc:Fallback>
      </mc:AlternateContent>
      <p:sp>
        <p:nvSpPr>
          <p:cNvPr id="4" name="Slide Number Placeholder 3">
            <a:extLst>
              <a:ext uri="{FF2B5EF4-FFF2-40B4-BE49-F238E27FC236}">
                <a16:creationId xmlns:a16="http://schemas.microsoft.com/office/drawing/2014/main" id="{1AD4A301-C92B-286C-B782-F1B9BC130E92}"/>
              </a:ext>
            </a:extLst>
          </p:cNvPr>
          <p:cNvSpPr>
            <a:spLocks noGrp="1"/>
          </p:cNvSpPr>
          <p:nvPr>
            <p:ph type="sldNum" sz="quarter" idx="5"/>
          </p:nvPr>
        </p:nvSpPr>
        <p:spPr/>
        <p:txBody>
          <a:bodyPr/>
          <a:lstStyle/>
          <a:p>
            <a:fld id="{29E7BD1F-0023-244E-A8FD-1ADCC0FAE1A1}" type="slidenum">
              <a:rPr lang="en-US" smtClean="0"/>
              <a:t>5</a:t>
            </a:fld>
            <a:endParaRPr lang="en-US"/>
          </a:p>
        </p:txBody>
      </p:sp>
    </p:spTree>
    <p:extLst>
      <p:ext uri="{BB962C8B-B14F-4D97-AF65-F5344CB8AC3E}">
        <p14:creationId xmlns:p14="http://schemas.microsoft.com/office/powerpoint/2010/main" val="4002567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89D8F-3427-E9BF-FC05-7D4BBB88A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380116-840B-7032-1550-4D2CB8873A72}"/>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6BFB30F3-F3CA-976B-D471-10DDBF74014E}"/>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Open space risk — the geometric argument</a:t>
                </a:r>
              </a:p>
              <a:p>
                <a:r>
                  <a:rPr lang="en-US" sz="1200" b="0" i="0" kern="1200" dirty="0">
                    <a:solidFill>
                      <a:schemeClr val="tx1"/>
                    </a:solidFill>
                    <a:effectLst/>
                    <a:latin typeface="+mn-lt"/>
                    <a:ea typeface="+mn-ea"/>
                    <a:cs typeface="+mn-cs"/>
                  </a:rPr>
                  <a:t>Introduce the central intuition from Walter Scheirer-lineage Open-Set Recognition formulation: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 discriminative decision rule partitions </a:t>
                </a:r>
                <a:r>
                  <a:rPr lang="en-US" sz="1200" b="0" i="1" kern="1200" dirty="0">
                    <a:solidFill>
                      <a:schemeClr val="tx1"/>
                    </a:solidFill>
                    <a:effectLst/>
                    <a:latin typeface="+mn-lt"/>
                    <a:ea typeface="+mn-ea"/>
                    <a:cs typeface="+mn-cs"/>
                  </a:rPr>
                  <a:t>all</a:t>
                </a:r>
                <a:r>
                  <a:rPr lang="en-US" sz="1200" b="0" i="0" kern="1200" dirty="0">
                    <a:solidFill>
                      <a:schemeClr val="tx1"/>
                    </a:solidFill>
                    <a:effectLst/>
                    <a:latin typeface="+mn-lt"/>
                    <a:ea typeface="+mn-ea"/>
                    <a:cs typeface="+mn-cs"/>
                  </a:rPr>
                  <a:t> of feature space, including regions arbitrarily far from any training data.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Labeling unbounded "open space" as a known class incurs risk that no amount of closed-set empirical risk minimization penalizes.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Objective sketch): </a:t>
                </a:r>
                <a14:m>
                  <m:oMath xmlns:m="http://schemas.openxmlformats.org/officeDocument/2006/math">
                    <m:func>
                      <m:funcPr>
                        <m:ctrlPr>
                          <a:rPr lang="en-US" sz="1200" kern="1200">
                            <a:solidFill>
                              <a:schemeClr val="tx1"/>
                            </a:solidFill>
                            <a:latin typeface="Cambria Math" panose="02040503050406030204" pitchFamily="18" charset="0"/>
                            <a:ea typeface="+mn-ea"/>
                            <a:cs typeface="+mn-cs"/>
                          </a:rPr>
                        </m:ctrlPr>
                      </m:funcPr>
                      <m:fName>
                        <m:r>
                          <m:rPr>
                            <m:sty m:val="p"/>
                          </m:rPr>
                          <a:rPr lang="en-US" sz="1200" kern="1200">
                            <a:solidFill>
                              <a:schemeClr val="tx1"/>
                            </a:solidFill>
                            <a:latin typeface="Cambria Math" panose="02040503050406030204" pitchFamily="18" charset="0"/>
                            <a:ea typeface="+mn-ea"/>
                            <a:cs typeface="+mn-cs"/>
                          </a:rPr>
                          <m:t>arg</m:t>
                        </m:r>
                      </m:fName>
                      <m:e>
                        <m:sSub>
                          <m:sSubPr>
                            <m:ctrlPr>
                              <a:rPr lang="en-US" sz="1200" i="0" kern="1200">
                                <a:solidFill>
                                  <a:schemeClr val="tx1"/>
                                </a:solidFill>
                                <a:latin typeface="Cambria Math" panose="02040503050406030204" pitchFamily="18" charset="0"/>
                                <a:ea typeface="+mn-ea"/>
                                <a:cs typeface="+mn-cs"/>
                              </a:rPr>
                            </m:ctrlPr>
                          </m:sSubPr>
                          <m:e>
                            <m:r>
                              <m:rPr>
                                <m:sty m:val="p"/>
                              </m:rPr>
                              <a:rPr lang="en-US" sz="1200" i="0" kern="1200">
                                <a:solidFill>
                                  <a:schemeClr val="tx1"/>
                                </a:solidFill>
                                <a:latin typeface="Cambria Math" panose="02040503050406030204" pitchFamily="18" charset="0"/>
                                <a:ea typeface="+mn-ea"/>
                                <a:cs typeface="+mn-cs"/>
                              </a:rPr>
                              <m:t>min</m:t>
                            </m:r>
                          </m:e>
                          <m:sub>
                            <m:r>
                              <a:rPr lang="en-US" sz="1200" i="1" kern="1200">
                                <a:solidFill>
                                  <a:schemeClr val="tx1"/>
                                </a:solidFill>
                                <a:latin typeface="Cambria Math" panose="02040503050406030204" pitchFamily="18" charset="0"/>
                                <a:ea typeface="+mn-ea"/>
                                <a:cs typeface="+mn-cs"/>
                              </a:rPr>
                              <m:t>𝑓</m:t>
                            </m:r>
                          </m:sub>
                        </m:sSub>
                      </m:e>
                    </m:func>
                    <m:r>
                      <m:rPr>
                        <m:nor/>
                      </m:rPr>
                      <a:rPr lang="en-US" sz="1200" b="0" i="0" kern="1200">
                        <a:solidFill>
                          <a:schemeClr val="tx1"/>
                        </a:solidFill>
                        <a:latin typeface="+mn-lt"/>
                        <a:ea typeface="+mn-ea"/>
                        <a:cs typeface="+mn-cs"/>
                      </a:rPr>
                      <m:t>  </m:t>
                    </m:r>
                    <m:limLow>
                      <m:limLowPr>
                        <m:ctrlPr>
                          <a:rPr lang="en-US" sz="1200" b="0" i="1" kern="1200">
                            <a:solidFill>
                              <a:schemeClr val="tx1"/>
                            </a:solidFill>
                            <a:latin typeface="Cambria Math" panose="02040503050406030204" pitchFamily="18" charset="0"/>
                            <a:ea typeface="+mn-ea"/>
                            <a:cs typeface="+mn-cs"/>
                          </a:rPr>
                        </m:ctrlPr>
                      </m:limLowPr>
                      <m:e>
                        <m:groupChr>
                          <m:groupChrPr>
                            <m:chr m:val="⏟"/>
                            <m:pos m:val="bot"/>
                            <m:vertJc m:val="top"/>
                            <m:ctrlPr>
                              <a:rPr lang="en-US" sz="1200" b="0" i="1" kern="1200">
                                <a:solidFill>
                                  <a:schemeClr val="tx1"/>
                                </a:solidFill>
                                <a:latin typeface="Cambria Math" panose="02040503050406030204" pitchFamily="18" charset="0"/>
                                <a:ea typeface="+mn-ea"/>
                                <a:cs typeface="+mn-cs"/>
                              </a:rPr>
                            </m:ctrlPr>
                          </m:groupChrPr>
                          <m:e>
                            <m:sSub>
                              <m:sSubPr>
                                <m:ctrlPr>
                                  <a:rPr lang="en-US" sz="1200" b="0" i="1" kern="1200">
                                    <a:solidFill>
                                      <a:schemeClr val="tx1"/>
                                    </a:solidFill>
                                    <a:latin typeface="Cambria Math" panose="02040503050406030204" pitchFamily="18" charset="0"/>
                                    <a:ea typeface="+mn-ea"/>
                                    <a:cs typeface="+mn-cs"/>
                                  </a:rPr>
                                </m:ctrlPr>
                              </m:sSubPr>
                              <m:e>
                                <m:r>
                                  <a:rPr lang="en-US" sz="1200" b="0" i="1" kern="1200">
                                    <a:solidFill>
                                      <a:schemeClr val="tx1"/>
                                    </a:solidFill>
                                    <a:latin typeface="Cambria Math" panose="02040503050406030204" pitchFamily="18" charset="0"/>
                                    <a:ea typeface="+mn-ea"/>
                                    <a:cs typeface="+mn-cs"/>
                                  </a:rPr>
                                  <m:t>𝑅</m:t>
                                </m:r>
                              </m:e>
                              <m:sub>
                                <m:r>
                                  <a:rPr lang="en-US" sz="1200" b="0" i="0" kern="1200">
                                    <a:solidFill>
                                      <a:schemeClr val="tx1"/>
                                    </a:solidFill>
                                    <a:latin typeface="Cambria Math" panose="02040503050406030204" pitchFamily="18" charset="0"/>
                                    <a:ea typeface="+mn-ea"/>
                                    <a:cs typeface="+mn-cs"/>
                                  </a:rPr>
                                  <m:t>𝒪</m:t>
                                </m:r>
                              </m:sub>
                            </m:sSub>
                            <m:d>
                              <m:dPr>
                                <m:ctrlPr>
                                  <a:rPr lang="en-US" sz="1200" b="0" i="1" kern="1200">
                                    <a:solidFill>
                                      <a:schemeClr val="tx1"/>
                                    </a:solidFill>
                                    <a:latin typeface="Cambria Math" panose="02040503050406030204" pitchFamily="18" charset="0"/>
                                    <a:ea typeface="+mn-ea"/>
                                    <a:cs typeface="+mn-cs"/>
                                  </a:rPr>
                                </m:ctrlPr>
                              </m:dPr>
                              <m:e>
                                <m:r>
                                  <a:rPr lang="en-US" sz="1200" b="0" i="1" kern="1200">
                                    <a:solidFill>
                                      <a:schemeClr val="tx1"/>
                                    </a:solidFill>
                                    <a:latin typeface="Cambria Math" panose="02040503050406030204" pitchFamily="18" charset="0"/>
                                    <a:ea typeface="+mn-ea"/>
                                    <a:cs typeface="+mn-cs"/>
                                  </a:rPr>
                                  <m:t>𝑓</m:t>
                                </m:r>
                              </m:e>
                            </m:d>
                          </m:e>
                        </m:groupChr>
                      </m:e>
                      <m:lim>
                        <m:r>
                          <m:rPr>
                            <m:nor/>
                          </m:rPr>
                          <a:rPr lang="en-US" sz="1200" b="0" i="0" kern="1200">
                            <a:solidFill>
                              <a:schemeClr val="tx1"/>
                            </a:solidFill>
                            <a:latin typeface="+mn-lt"/>
                            <a:ea typeface="+mn-ea"/>
                            <a:cs typeface="+mn-cs"/>
                          </a:rPr>
                          <m:t>open space risk</m:t>
                        </m:r>
                      </m:lim>
                    </m:limLow>
                    <m:r>
                      <m:rPr>
                        <m:nor/>
                      </m:rPr>
                      <a:rPr lang="en-US" sz="1200" b="0" i="0" kern="1200">
                        <a:solidFill>
                          <a:schemeClr val="tx1"/>
                        </a:solidFill>
                        <a:latin typeface="+mn-lt"/>
                        <a:ea typeface="+mn-ea"/>
                        <a:cs typeface="+mn-cs"/>
                      </a:rPr>
                      <m:t>  </m:t>
                    </m:r>
                    <m:r>
                      <a:rPr lang="en-US" sz="1200" b="0" i="0" kern="1200">
                        <a:solidFill>
                          <a:schemeClr val="tx1"/>
                        </a:solidFill>
                        <a:latin typeface="Cambria Math" panose="02040503050406030204" pitchFamily="18" charset="0"/>
                        <a:ea typeface="+mn-ea"/>
                        <a:cs typeface="+mn-cs"/>
                      </a:rPr>
                      <m:t>+</m:t>
                    </m:r>
                    <m:r>
                      <m:rPr>
                        <m:nor/>
                      </m:rPr>
                      <a:rPr lang="en-US" sz="1200" b="0" i="0" kern="1200">
                        <a:solidFill>
                          <a:schemeClr val="tx1"/>
                        </a:solidFill>
                        <a:latin typeface="+mn-lt"/>
                        <a:ea typeface="+mn-ea"/>
                        <a:cs typeface="+mn-cs"/>
                      </a:rPr>
                      <m:t>  </m:t>
                    </m:r>
                    <m:r>
                      <a:rPr lang="en-US" sz="1200" b="0" i="1" kern="1200">
                        <a:solidFill>
                          <a:schemeClr val="tx1"/>
                        </a:solidFill>
                        <a:latin typeface="Cambria Math" panose="02040503050406030204" pitchFamily="18" charset="0"/>
                        <a:ea typeface="+mn-ea"/>
                        <a:cs typeface="+mn-cs"/>
                      </a:rPr>
                      <m:t>𝜆</m:t>
                    </m:r>
                    <m:r>
                      <m:rPr>
                        <m:nor/>
                      </m:rPr>
                      <a:rPr lang="en-US" sz="1200" b="0" i="0" kern="1200">
                        <a:solidFill>
                          <a:schemeClr val="tx1"/>
                        </a:solidFill>
                        <a:latin typeface="+mn-lt"/>
                        <a:ea typeface="+mn-ea"/>
                        <a:cs typeface="+mn-cs"/>
                      </a:rPr>
                      <m:t> </m:t>
                    </m:r>
                    <m:limLow>
                      <m:limLowPr>
                        <m:ctrlPr>
                          <a:rPr lang="en-US" sz="1200" b="0" i="1" kern="1200">
                            <a:solidFill>
                              <a:schemeClr val="tx1"/>
                            </a:solidFill>
                            <a:latin typeface="Cambria Math" panose="02040503050406030204" pitchFamily="18" charset="0"/>
                            <a:ea typeface="+mn-ea"/>
                            <a:cs typeface="+mn-cs"/>
                          </a:rPr>
                        </m:ctrlPr>
                      </m:limLowPr>
                      <m:e>
                        <m:groupChr>
                          <m:groupChrPr>
                            <m:chr m:val="⏟"/>
                            <m:pos m:val="bot"/>
                            <m:vertJc m:val="top"/>
                            <m:ctrlPr>
                              <a:rPr lang="en-US" sz="1200" b="0" i="1" kern="1200">
                                <a:solidFill>
                                  <a:schemeClr val="tx1"/>
                                </a:solidFill>
                                <a:latin typeface="Cambria Math" panose="02040503050406030204" pitchFamily="18" charset="0"/>
                                <a:ea typeface="+mn-ea"/>
                                <a:cs typeface="+mn-cs"/>
                              </a:rPr>
                            </m:ctrlPr>
                          </m:groupChrPr>
                          <m:e>
                            <m:sSub>
                              <m:sSubPr>
                                <m:ctrlPr>
                                  <a:rPr lang="en-US" sz="1200" b="0" i="1" kern="1200">
                                    <a:solidFill>
                                      <a:schemeClr val="tx1"/>
                                    </a:solidFill>
                                    <a:latin typeface="Cambria Math" panose="02040503050406030204" pitchFamily="18" charset="0"/>
                                    <a:ea typeface="+mn-ea"/>
                                    <a:cs typeface="+mn-cs"/>
                                  </a:rPr>
                                </m:ctrlPr>
                              </m:sSubPr>
                              <m:e>
                                <m:r>
                                  <a:rPr lang="en-US" sz="1200" b="0" i="1" kern="1200">
                                    <a:solidFill>
                                      <a:schemeClr val="tx1"/>
                                    </a:solidFill>
                                    <a:latin typeface="Cambria Math" panose="02040503050406030204" pitchFamily="18" charset="0"/>
                                    <a:ea typeface="+mn-ea"/>
                                    <a:cs typeface="+mn-cs"/>
                                  </a:rPr>
                                  <m:t>𝑅</m:t>
                                </m:r>
                              </m:e>
                              <m:sub>
                                <m:r>
                                  <a:rPr lang="en-US" sz="1200" b="0" i="1" kern="1200">
                                    <a:solidFill>
                                      <a:schemeClr val="tx1"/>
                                    </a:solidFill>
                                    <a:latin typeface="Cambria Math" panose="02040503050406030204" pitchFamily="18" charset="0"/>
                                    <a:ea typeface="+mn-ea"/>
                                    <a:cs typeface="+mn-cs"/>
                                  </a:rPr>
                                  <m:t>𝜀</m:t>
                                </m:r>
                              </m:sub>
                            </m:sSub>
                            <m:d>
                              <m:dPr>
                                <m:sepChr m:val=","/>
                                <m:ctrlPr>
                                  <a:rPr lang="en-US" sz="1200" b="0" i="1" kern="1200">
                                    <a:solidFill>
                                      <a:schemeClr val="tx1"/>
                                    </a:solidFill>
                                    <a:latin typeface="Cambria Math" panose="02040503050406030204" pitchFamily="18" charset="0"/>
                                    <a:ea typeface="+mn-ea"/>
                                    <a:cs typeface="+mn-cs"/>
                                  </a:rPr>
                                </m:ctrlPr>
                              </m:dPr>
                              <m:e>
                                <m:r>
                                  <a:rPr lang="en-US" sz="1200" b="0" i="1" kern="1200">
                                    <a:solidFill>
                                      <a:schemeClr val="tx1"/>
                                    </a:solidFill>
                                    <a:latin typeface="Cambria Math" panose="02040503050406030204" pitchFamily="18" charset="0"/>
                                    <a:ea typeface="+mn-ea"/>
                                    <a:cs typeface="+mn-cs"/>
                                  </a:rPr>
                                  <m:t>𝑓</m:t>
                                </m:r>
                              </m:e>
                              <m:e>
                                <m:sSub>
                                  <m:sSubPr>
                                    <m:ctrlPr>
                                      <a:rPr lang="en-US" sz="1200" b="0" i="0" kern="1200">
                                        <a:solidFill>
                                          <a:schemeClr val="tx1"/>
                                        </a:solidFill>
                                        <a:latin typeface="Cambria Math" panose="02040503050406030204" pitchFamily="18" charset="0"/>
                                        <a:ea typeface="+mn-ea"/>
                                        <a:cs typeface="+mn-cs"/>
                                      </a:rPr>
                                    </m:ctrlPr>
                                  </m:sSubPr>
                                  <m:e>
                                    <m:r>
                                      <a:rPr lang="en-US" sz="1200" b="0" i="0" kern="1200">
                                        <a:solidFill>
                                          <a:schemeClr val="tx1"/>
                                        </a:solidFill>
                                        <a:latin typeface="Cambria Math" panose="02040503050406030204" pitchFamily="18" charset="0"/>
                                        <a:ea typeface="+mn-ea"/>
                                        <a:cs typeface="+mn-cs"/>
                                      </a:rPr>
                                      <m:t>𝒟</m:t>
                                    </m:r>
                                  </m:e>
                                  <m:sub>
                                    <m:r>
                                      <m:rPr>
                                        <m:nor/>
                                      </m:rPr>
                                      <a:rPr lang="en-US" sz="1200" b="0" i="0" kern="1200">
                                        <a:solidFill>
                                          <a:schemeClr val="tx1"/>
                                        </a:solidFill>
                                        <a:latin typeface="+mn-lt"/>
                                        <a:ea typeface="+mn-ea"/>
                                        <a:cs typeface="+mn-cs"/>
                                      </a:rPr>
                                      <m:t>train</m:t>
                                    </m:r>
                                  </m:sub>
                                </m:sSub>
                              </m:e>
                            </m:d>
                          </m:e>
                        </m:groupChr>
                      </m:e>
                      <m:lim>
                        <m:r>
                          <m:rPr>
                            <m:nor/>
                          </m:rPr>
                          <a:rPr lang="en-US" sz="1200" b="0" i="0" kern="1200">
                            <a:solidFill>
                              <a:schemeClr val="tx1"/>
                            </a:solidFill>
                            <a:latin typeface="+mn-lt"/>
                            <a:ea typeface="+mn-ea"/>
                            <a:cs typeface="+mn-cs"/>
                          </a:rPr>
                          <m:t>empirical risk</m:t>
                        </m:r>
                      </m:lim>
                    </m:limLow>
                  </m:oMath>
                </a14:m>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Board exercise: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Draw the unit circle with three enrolled templates $\hat{w}_1, \hat{w}_2, \hat{w}_3$ on it; the cosine $\</a:t>
                </a:r>
                <a:r>
                  <a:rPr lang="en-US" sz="1200" b="0" i="0" kern="1200" dirty="0" err="1">
                    <a:solidFill>
                      <a:schemeClr val="tx1"/>
                    </a:solidFill>
                    <a:effectLst/>
                    <a:latin typeface="+mn-lt"/>
                    <a:ea typeface="+mn-ea"/>
                    <a:cs typeface="+mn-cs"/>
                  </a:rPr>
                  <a:t>arg</a:t>
                </a:r>
                <a:r>
                  <a:rPr lang="en-US" sz="1200" b="0" i="0" kern="1200" dirty="0">
                    <a:solidFill>
                      <a:schemeClr val="tx1"/>
                    </a:solidFill>
                    <a:effectLst/>
                    <a:latin typeface="+mn-lt"/>
                    <a:ea typeface="+mn-ea"/>
                    <a:cs typeface="+mn-cs"/>
                  </a:rPr>
                  <a:t>\max$ cuts the circle into three arcs. </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Question:</a:t>
                </a:r>
                <a:r>
                  <a:rPr lang="en-US" sz="1200" b="0" i="0" kern="1200" dirty="0">
                    <a:solidFill>
                      <a:schemeClr val="tx1"/>
                    </a:solidFill>
                    <a:effectLst/>
                    <a:latin typeface="+mn-lt"/>
                    <a:ea typeface="+mn-ea"/>
                    <a:cs typeface="+mn-cs"/>
                  </a:rPr>
                  <a:t> where a probe from a 4th, </a:t>
                </a:r>
                <a:r>
                  <a:rPr lang="en-US" sz="1200" b="0" i="1" kern="1200" dirty="0">
                    <a:solidFill>
                      <a:schemeClr val="tx1"/>
                    </a:solidFill>
                    <a:effectLst/>
                    <a:latin typeface="+mn-lt"/>
                    <a:ea typeface="+mn-ea"/>
                    <a:cs typeface="+mn-cs"/>
                  </a:rPr>
                  <a:t>non-enrolled</a:t>
                </a:r>
                <a:r>
                  <a:rPr lang="en-US" sz="1200" b="0" i="0" kern="1200" dirty="0">
                    <a:solidFill>
                      <a:schemeClr val="tx1"/>
                    </a:solidFill>
                    <a:effectLst/>
                    <a:latin typeface="+mn-lt"/>
                    <a:ea typeface="+mn-ea"/>
                    <a:cs typeface="+mn-cs"/>
                  </a:rPr>
                  <a:t> subject lands?</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Answer</a:t>
                </a:r>
                <a:r>
                  <a:rPr lang="en-US" sz="1200" b="0" i="0" kern="1200" dirty="0">
                    <a:solidFill>
                      <a:schemeClr val="tx1"/>
                    </a:solidFill>
                    <a:effectLst/>
                    <a:latin typeface="+mn-lt"/>
                    <a:ea typeface="+mn-ea"/>
                    <a:cs typeface="+mn-cs"/>
                  </a:rPr>
                  <a:t>: it lands in an arc, and is named. </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Follow-up: </a:t>
                </a:r>
                <a:r>
                  <a:rPr lang="en-US" sz="1200" b="0" i="1" kern="1200" dirty="0">
                    <a:solidFill>
                      <a:schemeClr val="tx1"/>
                    </a:solidFill>
                    <a:effectLst/>
                    <a:latin typeface="+mn-lt"/>
                    <a:ea typeface="+mn-ea"/>
                    <a:cs typeface="+mn-cs"/>
                  </a:rPr>
                  <a:t>can any purely discriminative boundary fix this?</a:t>
                </a:r>
                <a:r>
                  <a:rPr lang="en-US" sz="1200" b="0" i="0" kern="1200" dirty="0">
                    <a:solidFill>
                      <a:schemeClr val="tx1"/>
                    </a:solidFill>
                    <a:effectLst/>
                    <a:latin typeface="+mn-lt"/>
                    <a:ea typeface="+mn-ea"/>
                    <a:cs typeface="+mn-cs"/>
                  </a:rPr>
                  <a:t> </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indent="0">
                  <a:buFont typeface="Arial" panose="020B0604020202020204" pitchFamily="34" charset="0"/>
                  <a:buNone/>
                </a:pPr>
                <a:r>
                  <a:rPr lang="en-US" sz="1200" b="0" i="0" kern="1200" dirty="0">
                    <a:solidFill>
                      <a:schemeClr val="tx1"/>
                    </a:solidFill>
                    <a:effectLst/>
                    <a:latin typeface="+mn-lt"/>
                    <a:ea typeface="+mn-ea"/>
                    <a:cs typeface="+mn-cs"/>
                  </a:rPr>
                  <a:t>Lead to the conclusion that open-set behavior requires either </a:t>
                </a:r>
                <a:r>
                  <a:rPr lang="en-US" sz="1200" b="1" i="0" kern="1200" dirty="0">
                    <a:solidFill>
                      <a:schemeClr val="tx1"/>
                    </a:solidFill>
                    <a:effectLst/>
                    <a:latin typeface="+mn-lt"/>
                    <a:ea typeface="+mn-ea"/>
                    <a:cs typeface="+mn-cs"/>
                  </a:rPr>
                  <a:t>bounded</a:t>
                </a:r>
                <a:r>
                  <a:rPr lang="en-US" sz="1200" b="0" i="0" kern="1200" dirty="0">
                    <a:solidFill>
                      <a:schemeClr val="tx1"/>
                    </a:solidFill>
                    <a:effectLst/>
                    <a:latin typeface="+mn-lt"/>
                    <a:ea typeface="+mn-ea"/>
                    <a:cs typeface="+mn-cs"/>
                  </a:rPr>
                  <a:t> decision regions or a </a:t>
                </a:r>
                <a:r>
                  <a:rPr lang="en-US" sz="1200" b="1" i="0" kern="1200" dirty="0">
                    <a:solidFill>
                      <a:schemeClr val="tx1"/>
                    </a:solidFill>
                    <a:effectLst/>
                    <a:latin typeface="+mn-lt"/>
                    <a:ea typeface="+mn-ea"/>
                    <a:cs typeface="+mn-cs"/>
                  </a:rPr>
                  <a:t>score plus a threshold</a:t>
                </a:r>
                <a:r>
                  <a:rPr lang="en-US" sz="1200" b="0" i="0" kern="1200" dirty="0">
                    <a:solidFill>
                      <a:schemeClr val="tx1"/>
                    </a:solidFill>
                    <a:effectLst/>
                    <a:latin typeface="+mn-lt"/>
                    <a:ea typeface="+mn-ea"/>
                    <a:cs typeface="+mn-cs"/>
                  </a:rPr>
                  <a:t> layered on top of the classifier.</a:t>
                </a:r>
              </a:p>
              <a:p>
                <a:br>
                  <a:rPr lang="en-US" dirty="0"/>
                </a:br>
                <a:endParaRPr lang="en-US" dirty="0"/>
              </a:p>
            </p:txBody>
          </p:sp>
        </mc:Choice>
        <mc:Fallback>
          <p:sp>
            <p:nvSpPr>
              <p:cNvPr id="3" name="Notes Placeholder 2">
                <a:extLst>
                  <a:ext uri="{FF2B5EF4-FFF2-40B4-BE49-F238E27FC236}">
                    <a16:creationId xmlns:a16="http://schemas.microsoft.com/office/drawing/2014/main" id="{6BFB30F3-F3CA-976B-D471-10DDBF74014E}"/>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Open space risk — the geometric argument</a:t>
                </a:r>
              </a:p>
              <a:p>
                <a:r>
                  <a:rPr lang="en-US" sz="1200" b="0" i="0" kern="1200" dirty="0">
                    <a:solidFill>
                      <a:schemeClr val="tx1"/>
                    </a:solidFill>
                    <a:effectLst/>
                    <a:latin typeface="+mn-lt"/>
                    <a:ea typeface="+mn-ea"/>
                    <a:cs typeface="+mn-cs"/>
                  </a:rPr>
                  <a:t>Introduce the central intuition from Walter Scheirer-lineage Open-Set Recognition formulation: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 discriminative decision rule partitions </a:t>
                </a:r>
                <a:r>
                  <a:rPr lang="en-US" sz="1200" b="0" i="1" kern="1200" dirty="0">
                    <a:solidFill>
                      <a:schemeClr val="tx1"/>
                    </a:solidFill>
                    <a:effectLst/>
                    <a:latin typeface="+mn-lt"/>
                    <a:ea typeface="+mn-ea"/>
                    <a:cs typeface="+mn-cs"/>
                  </a:rPr>
                  <a:t>all</a:t>
                </a:r>
                <a:r>
                  <a:rPr lang="en-US" sz="1200" b="0" i="0" kern="1200" dirty="0">
                    <a:solidFill>
                      <a:schemeClr val="tx1"/>
                    </a:solidFill>
                    <a:effectLst/>
                    <a:latin typeface="+mn-lt"/>
                    <a:ea typeface="+mn-ea"/>
                    <a:cs typeface="+mn-cs"/>
                  </a:rPr>
                  <a:t> of feature space, including regions arbitrarily far from any training data.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Labeling unbounded "open space" as a known class incurs risk that no amount of closed-set empirical risk minimization penalizes.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Objective sketch): </a:t>
                </a:r>
                <a:r>
                  <a:rPr lang="en-US" sz="1200" i="0" kern="1200">
                    <a:solidFill>
                      <a:schemeClr val="tx1"/>
                    </a:solidFill>
                    <a:latin typeface="Cambria Math" panose="02040503050406030204" pitchFamily="18" charset="0"/>
                    <a:ea typeface="+mn-ea"/>
                    <a:cs typeface="+mn-cs"/>
                  </a:rPr>
                  <a:t>arg⁡〖min_𝑓 〗</a:t>
                </a:r>
                <a:r>
                  <a:rPr lang="en-US" sz="1200" b="0" i="0" kern="1200">
                    <a:solidFill>
                      <a:schemeClr val="tx1"/>
                    </a:solidFill>
                    <a:latin typeface="+mn-lt"/>
                    <a:ea typeface="+mn-ea"/>
                    <a:cs typeface="+mn-cs"/>
                  </a:rPr>
                  <a:t> </a:t>
                </a:r>
                <a:r>
                  <a:rPr lang="en-US" sz="1200" b="0" i="0" kern="1200">
                    <a:solidFill>
                      <a:schemeClr val="tx1"/>
                    </a:solidFill>
                    <a:latin typeface="Cambria Math" panose="02040503050406030204" pitchFamily="18" charset="0"/>
                    <a:ea typeface="+mn-ea"/>
                    <a:cs typeface="+mn-cs"/>
                  </a:rPr>
                  <a:t>"  "  ⏟(𝑅_𝒪 (𝑓) )┬</a:t>
                </a:r>
                <a:r>
                  <a:rPr lang="en-US" sz="1200" b="0" i="0" kern="1200">
                    <a:solidFill>
                      <a:schemeClr val="tx1"/>
                    </a:solidFill>
                    <a:latin typeface="+mn-lt"/>
                    <a:ea typeface="+mn-ea"/>
                    <a:cs typeface="+mn-cs"/>
                  </a:rPr>
                  <a:t>"open space risk</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 </a:t>
                </a:r>
                <a:r>
                  <a:rPr lang="en-US" sz="1200" b="0" i="0" kern="1200">
                    <a:solidFill>
                      <a:schemeClr val="tx1"/>
                    </a:solidFill>
                    <a:latin typeface="Cambria Math" panose="02040503050406030204" pitchFamily="18" charset="0"/>
                    <a:ea typeface="+mn-ea"/>
                    <a:cs typeface="+mn-cs"/>
                  </a:rPr>
                  <a:t>"  "+"  " 𝜆" "  ⏟(𝑅_𝜀 (𝑓ⓜ,𝒟_</a:t>
                </a:r>
                <a:r>
                  <a:rPr lang="en-US" sz="1200" b="0" i="0" kern="1200">
                    <a:solidFill>
                      <a:schemeClr val="tx1"/>
                    </a:solidFill>
                    <a:latin typeface="+mn-lt"/>
                    <a:ea typeface="+mn-ea"/>
                    <a:cs typeface="+mn-cs"/>
                  </a:rPr>
                  <a:t>"train</a:t>
                </a:r>
                <a:r>
                  <a:rPr lang="en-US" sz="1200" b="0" i="0" kern="1200">
                    <a:solidFill>
                      <a:schemeClr val="tx1"/>
                    </a:solidFill>
                    <a:latin typeface="Cambria Math" panose="02040503050406030204" pitchFamily="18" charset="0"/>
                    <a:ea typeface="+mn-ea"/>
                    <a:cs typeface="+mn-cs"/>
                  </a:rPr>
                  <a:t>"  ) )┬</a:t>
                </a:r>
                <a:r>
                  <a:rPr lang="en-US" sz="1200" b="0" i="0" kern="1200">
                    <a:solidFill>
                      <a:schemeClr val="tx1"/>
                    </a:solidFill>
                    <a:latin typeface="+mn-lt"/>
                    <a:ea typeface="+mn-ea"/>
                    <a:cs typeface="+mn-cs"/>
                  </a:rPr>
                  <a:t>"empirical risk</a:t>
                </a:r>
                <a:r>
                  <a:rPr lang="en-US" sz="1200" b="0" i="0" kern="1200">
                    <a:solidFill>
                      <a:schemeClr val="tx1"/>
                    </a:solidFill>
                    <a:latin typeface="Cambria Math" panose="02040503050406030204" pitchFamily="18" charset="0"/>
                    <a:ea typeface="+mn-ea"/>
                    <a:cs typeface="+mn-cs"/>
                  </a:rPr>
                  <a:t>" </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Board exercise: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Draw the unit circle with three enrolled templates $\hat{w}_1, \hat{w}_2, \hat{w}_3$ on it; the cosine $\</a:t>
                </a:r>
                <a:r>
                  <a:rPr lang="en-US" sz="1200" b="0" i="0" kern="1200" dirty="0" err="1">
                    <a:solidFill>
                      <a:schemeClr val="tx1"/>
                    </a:solidFill>
                    <a:effectLst/>
                    <a:latin typeface="+mn-lt"/>
                    <a:ea typeface="+mn-ea"/>
                    <a:cs typeface="+mn-cs"/>
                  </a:rPr>
                  <a:t>arg</a:t>
                </a:r>
                <a:r>
                  <a:rPr lang="en-US" sz="1200" b="0" i="0" kern="1200" dirty="0">
                    <a:solidFill>
                      <a:schemeClr val="tx1"/>
                    </a:solidFill>
                    <a:effectLst/>
                    <a:latin typeface="+mn-lt"/>
                    <a:ea typeface="+mn-ea"/>
                    <a:cs typeface="+mn-cs"/>
                  </a:rPr>
                  <a:t>\max$ cuts the circle into three arcs. </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Question:</a:t>
                </a:r>
                <a:r>
                  <a:rPr lang="en-US" sz="1200" b="0" i="0" kern="1200" dirty="0">
                    <a:solidFill>
                      <a:schemeClr val="tx1"/>
                    </a:solidFill>
                    <a:effectLst/>
                    <a:latin typeface="+mn-lt"/>
                    <a:ea typeface="+mn-ea"/>
                    <a:cs typeface="+mn-cs"/>
                  </a:rPr>
                  <a:t> where a probe from a 4th, </a:t>
                </a:r>
                <a:r>
                  <a:rPr lang="en-US" sz="1200" b="0" i="1" kern="1200" dirty="0">
                    <a:solidFill>
                      <a:schemeClr val="tx1"/>
                    </a:solidFill>
                    <a:effectLst/>
                    <a:latin typeface="+mn-lt"/>
                    <a:ea typeface="+mn-ea"/>
                    <a:cs typeface="+mn-cs"/>
                  </a:rPr>
                  <a:t>non-enrolled</a:t>
                </a:r>
                <a:r>
                  <a:rPr lang="en-US" sz="1200" b="0" i="0" kern="1200" dirty="0">
                    <a:solidFill>
                      <a:schemeClr val="tx1"/>
                    </a:solidFill>
                    <a:effectLst/>
                    <a:latin typeface="+mn-lt"/>
                    <a:ea typeface="+mn-ea"/>
                    <a:cs typeface="+mn-cs"/>
                  </a:rPr>
                  <a:t> subject lands?</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Answer</a:t>
                </a:r>
                <a:r>
                  <a:rPr lang="en-US" sz="1200" b="0" i="0" kern="1200" dirty="0">
                    <a:solidFill>
                      <a:schemeClr val="tx1"/>
                    </a:solidFill>
                    <a:effectLst/>
                    <a:latin typeface="+mn-lt"/>
                    <a:ea typeface="+mn-ea"/>
                    <a:cs typeface="+mn-cs"/>
                  </a:rPr>
                  <a:t>: it lands in an arc, and is named. </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Follow-up: </a:t>
                </a:r>
                <a:r>
                  <a:rPr lang="en-US" sz="1200" b="0" i="1" kern="1200" dirty="0">
                    <a:solidFill>
                      <a:schemeClr val="tx1"/>
                    </a:solidFill>
                    <a:effectLst/>
                    <a:latin typeface="+mn-lt"/>
                    <a:ea typeface="+mn-ea"/>
                    <a:cs typeface="+mn-cs"/>
                  </a:rPr>
                  <a:t>can any purely discriminative boundary fix this?</a:t>
                </a:r>
                <a:r>
                  <a:rPr lang="en-US" sz="1200" b="0" i="0" kern="1200" dirty="0">
                    <a:solidFill>
                      <a:schemeClr val="tx1"/>
                    </a:solidFill>
                    <a:effectLst/>
                    <a:latin typeface="+mn-lt"/>
                    <a:ea typeface="+mn-ea"/>
                    <a:cs typeface="+mn-cs"/>
                  </a:rPr>
                  <a:t> </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indent="0">
                  <a:buFont typeface="Arial" panose="020B0604020202020204" pitchFamily="34" charset="0"/>
                  <a:buNone/>
                </a:pPr>
                <a:r>
                  <a:rPr lang="en-US" sz="1200" b="0" i="0" kern="1200" dirty="0">
                    <a:solidFill>
                      <a:schemeClr val="tx1"/>
                    </a:solidFill>
                    <a:effectLst/>
                    <a:latin typeface="+mn-lt"/>
                    <a:ea typeface="+mn-ea"/>
                    <a:cs typeface="+mn-cs"/>
                  </a:rPr>
                  <a:t>Lead to the conclusion that open-set behavior requires either </a:t>
                </a:r>
                <a:r>
                  <a:rPr lang="en-US" sz="1200" b="1" i="0" kern="1200" dirty="0">
                    <a:solidFill>
                      <a:schemeClr val="tx1"/>
                    </a:solidFill>
                    <a:effectLst/>
                    <a:latin typeface="+mn-lt"/>
                    <a:ea typeface="+mn-ea"/>
                    <a:cs typeface="+mn-cs"/>
                  </a:rPr>
                  <a:t>bounded</a:t>
                </a:r>
                <a:r>
                  <a:rPr lang="en-US" sz="1200" b="0" i="0" kern="1200" dirty="0">
                    <a:solidFill>
                      <a:schemeClr val="tx1"/>
                    </a:solidFill>
                    <a:effectLst/>
                    <a:latin typeface="+mn-lt"/>
                    <a:ea typeface="+mn-ea"/>
                    <a:cs typeface="+mn-cs"/>
                  </a:rPr>
                  <a:t> decision regions or a </a:t>
                </a:r>
                <a:r>
                  <a:rPr lang="en-US" sz="1200" b="1" i="0" kern="1200" dirty="0">
                    <a:solidFill>
                      <a:schemeClr val="tx1"/>
                    </a:solidFill>
                    <a:effectLst/>
                    <a:latin typeface="+mn-lt"/>
                    <a:ea typeface="+mn-ea"/>
                    <a:cs typeface="+mn-cs"/>
                  </a:rPr>
                  <a:t>score plus a threshold</a:t>
                </a:r>
                <a:r>
                  <a:rPr lang="en-US" sz="1200" b="0" i="0" kern="1200" dirty="0">
                    <a:solidFill>
                      <a:schemeClr val="tx1"/>
                    </a:solidFill>
                    <a:effectLst/>
                    <a:latin typeface="+mn-lt"/>
                    <a:ea typeface="+mn-ea"/>
                    <a:cs typeface="+mn-cs"/>
                  </a:rPr>
                  <a:t> layered on top of the classifier.</a:t>
                </a:r>
              </a:p>
              <a:p>
                <a:br>
                  <a:rPr lang="en-US" dirty="0"/>
                </a:br>
                <a:endParaRPr lang="en-US" dirty="0"/>
              </a:p>
            </p:txBody>
          </p:sp>
        </mc:Fallback>
      </mc:AlternateContent>
      <p:sp>
        <p:nvSpPr>
          <p:cNvPr id="4" name="Slide Number Placeholder 3">
            <a:extLst>
              <a:ext uri="{FF2B5EF4-FFF2-40B4-BE49-F238E27FC236}">
                <a16:creationId xmlns:a16="http://schemas.microsoft.com/office/drawing/2014/main" id="{6EA499C6-6D25-D2CF-1B49-A53974CE9A80}"/>
              </a:ext>
            </a:extLst>
          </p:cNvPr>
          <p:cNvSpPr>
            <a:spLocks noGrp="1"/>
          </p:cNvSpPr>
          <p:nvPr>
            <p:ph type="sldNum" sz="quarter" idx="5"/>
          </p:nvPr>
        </p:nvSpPr>
        <p:spPr/>
        <p:txBody>
          <a:bodyPr/>
          <a:lstStyle/>
          <a:p>
            <a:fld id="{29E7BD1F-0023-244E-A8FD-1ADCC0FAE1A1}" type="slidenum">
              <a:rPr lang="en-US" smtClean="0"/>
              <a:t>6</a:t>
            </a:fld>
            <a:endParaRPr lang="en-US"/>
          </a:p>
        </p:txBody>
      </p:sp>
    </p:spTree>
    <p:extLst>
      <p:ext uri="{BB962C8B-B14F-4D97-AF65-F5344CB8AC3E}">
        <p14:creationId xmlns:p14="http://schemas.microsoft.com/office/powerpoint/2010/main" val="3140690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F39D6-30ED-8A3E-8D3F-90E473235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F9B4DC-6CDE-ABAC-73EE-F0A548982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2E27B-D156-BE10-35B3-FC647480DCE1}"/>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Q1 options: </a:t>
            </a:r>
            <a:r>
              <a:rPr lang="en-US" sz="1200" b="0" i="1" kern="1200" dirty="0">
                <a:solidFill>
                  <a:schemeClr val="tx1"/>
                </a:solidFill>
                <a:effectLst/>
                <a:latin typeface="+mn-lt"/>
                <a:ea typeface="+mn-ea"/>
                <a:cs typeface="+mn-cs"/>
              </a:rPr>
              <a:t>logits, features, gradients, reconstruction error, density</a:t>
            </a:r>
          </a:p>
          <a:p>
            <a:r>
              <a:rPr lang="en-US" sz="1200" b="1" i="1" kern="1200" dirty="0">
                <a:solidFill>
                  <a:schemeClr val="tx1"/>
                </a:solidFill>
                <a:effectLst/>
                <a:latin typeface="+mn-lt"/>
                <a:ea typeface="+mn-ea"/>
                <a:cs typeface="+mn-cs"/>
              </a:rPr>
              <a:t>Q2 options: </a:t>
            </a:r>
            <a:r>
              <a:rPr lang="en-US" sz="1200" b="0" i="1" kern="1200" dirty="0">
                <a:solidFill>
                  <a:schemeClr val="tx1"/>
                </a:solidFill>
                <a:effectLst/>
                <a:latin typeface="+mn-lt"/>
                <a:ea typeface="+mn-ea"/>
                <a:cs typeface="+mn-cs"/>
              </a:rPr>
              <a:t>max, margin, distance, likelihood ratio, learned metric</a:t>
            </a:r>
          </a:p>
          <a:p>
            <a:r>
              <a:rPr lang="en-US" sz="1200" b="1" i="1" kern="1200" dirty="0">
                <a:solidFill>
                  <a:schemeClr val="tx1"/>
                </a:solidFill>
                <a:effectLst/>
                <a:latin typeface="+mn-lt"/>
                <a:ea typeface="+mn-ea"/>
                <a:cs typeface="+mn-cs"/>
              </a:rPr>
              <a:t>Q3 options: </a:t>
            </a:r>
            <a:r>
              <a:rPr lang="en-US" sz="1200" b="0" i="1" kern="1200" dirty="0">
                <a:solidFill>
                  <a:schemeClr val="tx1"/>
                </a:solidFill>
                <a:effectLst/>
                <a:latin typeface="+mn-lt"/>
                <a:ea typeface="+mn-ea"/>
                <a:cs typeface="+mn-cs"/>
              </a:rPr>
              <a:t>validation data, held-out outliers, etc. </a:t>
            </a:r>
          </a:p>
          <a:p>
            <a:endParaRPr lang="en-US" sz="1200" b="0" i="1"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#3 If we are not careful, this is where our OSR results can quietly cheat.  </a:t>
            </a:r>
            <a:r>
              <a:rPr lang="en-US" sz="1200" b="1" i="0" kern="1200" dirty="0">
                <a:solidFill>
                  <a:schemeClr val="tx1"/>
                </a:solidFill>
                <a:effectLst/>
                <a:latin typeface="+mn-lt"/>
                <a:ea typeface="+mn-ea"/>
                <a:cs typeface="+mn-cs"/>
              </a:rPr>
              <a:t>Cannot tune on evaluation data</a:t>
            </a:r>
          </a:p>
        </p:txBody>
      </p:sp>
      <p:sp>
        <p:nvSpPr>
          <p:cNvPr id="4" name="Slide Number Placeholder 3">
            <a:extLst>
              <a:ext uri="{FF2B5EF4-FFF2-40B4-BE49-F238E27FC236}">
                <a16:creationId xmlns:a16="http://schemas.microsoft.com/office/drawing/2014/main" id="{7283D3E5-D03F-59B6-CBB9-CBC138B8CB8A}"/>
              </a:ext>
            </a:extLst>
          </p:cNvPr>
          <p:cNvSpPr>
            <a:spLocks noGrp="1"/>
          </p:cNvSpPr>
          <p:nvPr>
            <p:ph type="sldNum" sz="quarter" idx="5"/>
          </p:nvPr>
        </p:nvSpPr>
        <p:spPr/>
        <p:txBody>
          <a:bodyPr/>
          <a:lstStyle/>
          <a:p>
            <a:fld id="{29E7BD1F-0023-244E-A8FD-1ADCC0FAE1A1}" type="slidenum">
              <a:rPr lang="en-US" smtClean="0"/>
              <a:t>7</a:t>
            </a:fld>
            <a:endParaRPr lang="en-US"/>
          </a:p>
        </p:txBody>
      </p:sp>
    </p:spTree>
    <p:extLst>
      <p:ext uri="{BB962C8B-B14F-4D97-AF65-F5344CB8AC3E}">
        <p14:creationId xmlns:p14="http://schemas.microsoft.com/office/powerpoint/2010/main" val="3597718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89484-B614-FF77-DA84-AF9A7A5FA0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41843B-F72F-7AF2-2DC9-4231C5A0D5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377707-5BD1-2D4C-E54F-C75DEF9C57F3}"/>
              </a:ext>
            </a:extLst>
          </p:cNvPr>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5562B1B-D822-CF60-52F4-F6227D12A0E5}"/>
              </a:ext>
            </a:extLst>
          </p:cNvPr>
          <p:cNvSpPr>
            <a:spLocks noGrp="1"/>
          </p:cNvSpPr>
          <p:nvPr>
            <p:ph type="sldNum" sz="quarter" idx="5"/>
          </p:nvPr>
        </p:nvSpPr>
        <p:spPr/>
        <p:txBody>
          <a:bodyPr/>
          <a:lstStyle/>
          <a:p>
            <a:fld id="{29E7BD1F-0023-244E-A8FD-1ADCC0FAE1A1}" type="slidenum">
              <a:rPr lang="en-US" smtClean="0"/>
              <a:t>8</a:t>
            </a:fld>
            <a:endParaRPr lang="en-US"/>
          </a:p>
        </p:txBody>
      </p:sp>
    </p:spTree>
    <p:extLst>
      <p:ext uri="{BB962C8B-B14F-4D97-AF65-F5344CB8AC3E}">
        <p14:creationId xmlns:p14="http://schemas.microsoft.com/office/powerpoint/2010/main" val="3335108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C02AA-61E0-0A78-1E9C-E866C9B62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C242D0-1FF6-2A47-63C3-60F68B0EC48B}"/>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91F72D5B-79C4-7B06-96FD-864E6DFE5352}"/>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Four points to draw out explicitly:</a:t>
                </a:r>
                <a:endParaRPr lang="en-US" sz="1200" b="0" i="0" kern="1200" dirty="0">
                  <a:solidFill>
                    <a:schemeClr val="tx1"/>
                  </a:solidFill>
                  <a:effectLst/>
                  <a:latin typeface="+mn-lt"/>
                  <a:ea typeface="+mn-ea"/>
                  <a:cs typeface="+mn-cs"/>
                </a:endParaRPr>
              </a:p>
              <a:p>
                <a:pPr marL="228600" lvl="0" indent="-228600">
                  <a:buFont typeface="+mj-lt"/>
                  <a:buAutoNum type="arabicPeriod"/>
                </a:pPr>
                <a:r>
                  <a:rPr lang="en-US" sz="1200" b="1" i="0" kern="1200" dirty="0">
                    <a:solidFill>
                      <a:schemeClr val="tx1"/>
                    </a:solidFill>
                    <a:effectLst/>
                    <a:latin typeface="+mn-lt"/>
                    <a:ea typeface="+mn-ea"/>
                    <a:cs typeface="+mn-cs"/>
                  </a:rPr>
                  <a:t>FPIR has no </a:t>
                </a:r>
                <a:r>
                  <a:rPr lang="en-US" sz="1200" b="1" i="1" kern="1200" dirty="0">
                    <a:solidFill>
                      <a:schemeClr val="tx1"/>
                    </a:solidFill>
                    <a:effectLst/>
                    <a:latin typeface="+mn-lt"/>
                    <a:ea typeface="+mn-ea"/>
                    <a:cs typeface="+mn-cs"/>
                  </a:rPr>
                  <a:t>R</a:t>
                </a:r>
                <a:r>
                  <a:rPr lang="en-US" sz="1200" b="1" i="0" kern="1200" dirty="0">
                    <a:solidFill>
                      <a:schemeClr val="tx1"/>
                    </a:solidFill>
                    <a:effectLst/>
                    <a:latin typeface="+mn-lt"/>
                    <a:ea typeface="+mn-ea"/>
                    <a:cs typeface="+mn-cs"/>
                  </a:rPr>
                  <a:t> argument.</a:t>
                </a:r>
                <a:r>
                  <a:rPr lang="en-US" sz="1200" b="0" i="0" kern="1200" dirty="0">
                    <a:solidFill>
                      <a:schemeClr val="tx1"/>
                    </a:solidFill>
                    <a:effectLst/>
                    <a:latin typeface="+mn-lt"/>
                    <a:ea typeface="+mn-ea"/>
                    <a:cs typeface="+mn-cs"/>
                  </a:rPr>
                  <a:t> A non-mated search is a false positive if </a:t>
                </a:r>
                <a:r>
                  <a:rPr lang="en-US" sz="1200" b="0" i="1" kern="1200" dirty="0">
                    <a:solidFill>
                      <a:schemeClr val="tx1"/>
                    </a:solidFill>
                    <a:effectLst/>
                    <a:latin typeface="+mn-lt"/>
                    <a:ea typeface="+mn-ea"/>
                    <a:cs typeface="+mn-cs"/>
                  </a:rPr>
                  <a:t>anything</a:t>
                </a:r>
                <a:r>
                  <a:rPr lang="en-US" sz="1200" b="0" i="0" kern="1200" dirty="0">
                    <a:solidFill>
                      <a:schemeClr val="tx1"/>
                    </a:solidFill>
                    <a:effectLst/>
                    <a:latin typeface="+mn-lt"/>
                    <a:ea typeface="+mn-ea"/>
                    <a:cs typeface="+mn-cs"/>
                  </a:rPr>
                  <a:t> clears threshold; which rank it landed at is irrelevant to whether an analyst's time was wasted. TPIR carries </a:t>
                </a:r>
                <a:r>
                  <a:rPr lang="en-US" sz="1200" b="0" i="1" kern="1200" dirty="0">
                    <a:solidFill>
                      <a:schemeClr val="tx1"/>
                    </a:solidFill>
                    <a:effectLst/>
                    <a:latin typeface="+mn-lt"/>
                    <a:ea typeface="+mn-ea"/>
                    <a:cs typeface="+mn-cs"/>
                  </a:rPr>
                  <a:t>R</a:t>
                </a:r>
                <a:r>
                  <a:rPr lang="en-US" sz="1200" b="0" i="0" kern="1200" dirty="0">
                    <a:solidFill>
                      <a:schemeClr val="tx1"/>
                    </a:solidFill>
                    <a:effectLst/>
                    <a:latin typeface="+mn-lt"/>
                    <a:ea typeface="+mn-ea"/>
                    <a:cs typeface="+mn-cs"/>
                  </a:rPr>
                  <a:t> because finding the mate at rank 1 and at rank 50 are different operational outcomes. Ask the class </a:t>
                </a:r>
                <a:r>
                  <a:rPr lang="en-US" sz="1200" b="0" i="1" kern="1200" dirty="0">
                    <a:solidFill>
                      <a:schemeClr val="tx1"/>
                    </a:solidFill>
                    <a:effectLst/>
                    <a:latin typeface="+mn-lt"/>
                    <a:ea typeface="+mn-ea"/>
                    <a:cs typeface="+mn-cs"/>
                  </a:rPr>
                  <a:t>why</a:t>
                </a:r>
                <a:r>
                  <a:rPr lang="en-US" sz="1200" b="0" i="0" kern="1200" dirty="0">
                    <a:solidFill>
                      <a:schemeClr val="tx1"/>
                    </a:solidFill>
                    <a:effectLst/>
                    <a:latin typeface="+mn-lt"/>
                    <a:ea typeface="+mn-ea"/>
                    <a:cs typeface="+mn-cs"/>
                  </a:rPr>
                  <a:t> the asymmetry is correct before telling them.</a:t>
                </a:r>
              </a:p>
              <a:p>
                <a:pPr marL="228600" lvl="0" indent="-228600">
                  <a:buFont typeface="+mj-lt"/>
                  <a:buAutoNum type="arabicPeriod"/>
                </a:pPr>
                <a:r>
                  <a:rPr lang="en-US" sz="1200" b="1" i="0" kern="1200" dirty="0">
                    <a:solidFill>
                      <a:schemeClr val="tx1"/>
                    </a:solidFill>
                    <a:effectLst/>
                    <a:latin typeface="+mn-lt"/>
                    <a:ea typeface="+mn-ea"/>
                    <a:cs typeface="+mn-cs"/>
                  </a:rPr>
                  <a:t>The two rates are computed over disjoint probe sets.</a:t>
                </a:r>
                <a:r>
                  <a:rPr lang="en-US" sz="1200" b="0" i="0" kern="1200" dirty="0">
                    <a:solidFill>
                      <a:schemeClr val="tx1"/>
                    </a:solidFill>
                    <a:effectLst/>
                    <a:latin typeface="+mn-lt"/>
                    <a:ea typeface="+mn-ea"/>
                    <a:cs typeface="+mn-cs"/>
                  </a:rPr>
                  <a:t> TPIR is measured only on mated searches, FPIR only on non-mated searches. This is why the </a:t>
                </a:r>
                <a:r>
                  <a:rPr lang="en-US" sz="1200" b="0" i="1" kern="1200" dirty="0">
                    <a:solidFill>
                      <a:schemeClr val="tx1"/>
                    </a:solidFill>
                    <a:effectLst/>
                    <a:latin typeface="+mn-lt"/>
                    <a:ea typeface="+mn-ea"/>
                    <a:cs typeface="+mn-cs"/>
                  </a:rPr>
                  <a:t>mix</a:t>
                </a:r>
                <a:r>
                  <a:rPr lang="en-US" sz="1200" b="0" i="0" kern="1200" dirty="0">
                    <a:solidFill>
                      <a:schemeClr val="tx1"/>
                    </a:solidFill>
                    <a:effectLst/>
                    <a:latin typeface="+mn-lt"/>
                    <a:ea typeface="+mn-ea"/>
                    <a:cs typeface="+mn-cs"/>
                  </a:rPr>
                  <a:t> of mated to non-mated probes does not change either rate — unlike accuracy, precision, or AUPR, which are all contaminated by the openness ratio you happened to choose. TPIR/FPIR is the pair that refuses to collapse the two errors.</a:t>
                </a:r>
              </a:p>
              <a:p>
                <a:pPr marL="228600" lvl="0" indent="-228600">
                  <a:buFont typeface="+mj-lt"/>
                  <a:buAutoNum type="arabicPeriod"/>
                </a:pPr>
                <a:r>
                  <a:rPr lang="en-US" sz="1200" b="1" i="0" kern="1200" dirty="0">
                    <a:solidFill>
                      <a:schemeClr val="tx1"/>
                    </a:solidFill>
                    <a:effectLst/>
                    <a:latin typeface="+mn-lt"/>
                    <a:ea typeface="+mn-ea"/>
                    <a:cs typeface="+mn-cs"/>
                  </a:rPr>
                  <a:t>Only reportable as a pair at a stated operating point.</a:t>
                </a:r>
                <a:r>
                  <a:rPr lang="en-US" sz="1200" b="0" i="0" kern="1200" dirty="0">
                    <a:solidFill>
                      <a:schemeClr val="tx1"/>
                    </a:solidFill>
                    <a:effectLst/>
                    <a:latin typeface="+mn-lt"/>
                    <a:ea typeface="+mn-ea"/>
                    <a:cs typeface="+mn-cs"/>
                  </a:rPr>
                  <a:t> "TPIR = 0.94" is not a result. </a:t>
                </a:r>
                <a:r>
                  <a:rPr lang="en-US" sz="1200" b="1" i="0" kern="1200" dirty="0">
                    <a:solidFill>
                      <a:schemeClr val="tx1"/>
                    </a:solidFill>
                    <a:effectLst/>
                    <a:latin typeface="+mn-lt"/>
                    <a:ea typeface="+mn-ea"/>
                    <a:cs typeface="+mn-cs"/>
                  </a:rPr>
                  <a:t>TPIR(N = 1.6M, R = 1, T) = 0.94 at FPIR = 0.001</a:t>
                </a:r>
                <a:r>
                  <a:rPr lang="en-US" sz="1200" b="0" i="0" kern="1200" dirty="0">
                    <a:solidFill>
                      <a:schemeClr val="tx1"/>
                    </a:solidFill>
                    <a:effectLst/>
                    <a:latin typeface="+mn-lt"/>
                    <a:ea typeface="+mn-ea"/>
                    <a:cs typeface="+mn-cs"/>
                  </a:rPr>
                  <a:t> is a result. The curve of TPIR versus FPIR, swept over </a:t>
                </a:r>
                <a:r>
                  <a:rPr lang="en-US" sz="1200" b="0" i="1" kern="1200" dirty="0">
                    <a:solidFill>
                      <a:schemeClr val="tx1"/>
                    </a:solidFill>
                    <a:effectLst/>
                    <a:latin typeface="+mn-lt"/>
                    <a:ea typeface="+mn-ea"/>
                    <a:cs typeface="+mn-cs"/>
                  </a:rPr>
                  <a:t>T</a:t>
                </a:r>
                <a:r>
                  <a:rPr lang="en-US" sz="1200" b="0" i="0" kern="1200" dirty="0">
                    <a:solidFill>
                      <a:schemeClr val="tx1"/>
                    </a:solidFill>
                    <a:effectLst/>
                    <a:latin typeface="+mn-lt"/>
                    <a:ea typeface="+mn-ea"/>
                    <a:cs typeface="+mn-cs"/>
                  </a:rPr>
                  <a:t>, is the open-set DET/ROC analogue — this is exactly the quantity </a:t>
                </a:r>
                <a:r>
                  <a:rPr lang="en-US" sz="1200" b="1" i="0" kern="1200" dirty="0">
                    <a:solidFill>
                      <a:schemeClr val="tx1"/>
                    </a:solidFill>
                    <a:effectLst/>
                    <a:latin typeface="+mn-lt"/>
                    <a:ea typeface="+mn-ea"/>
                    <a:cs typeface="+mn-cs"/>
                  </a:rPr>
                  <a:t>DIR@FPIR</a:t>
                </a:r>
                <a:r>
                  <a:rPr lang="en-US" sz="1200" b="0" i="0" kern="1200" dirty="0">
                    <a:solidFill>
                      <a:schemeClr val="tx1"/>
                    </a:solidFill>
                    <a:effectLst/>
                    <a:latin typeface="+mn-lt"/>
                    <a:ea typeface="+mn-ea"/>
                    <a:cs typeface="+mn-cs"/>
                  </a:rPr>
                  <a:t> names in the older biometrics literature (detection and identification rate at rank </a:t>
                </a:r>
                <a:r>
                  <a:rPr lang="en-US" sz="1200" b="0" i="1" kern="1200" dirty="0">
                    <a:solidFill>
                      <a:schemeClr val="tx1"/>
                    </a:solidFill>
                    <a:effectLst/>
                    <a:latin typeface="+mn-lt"/>
                    <a:ea typeface="+mn-ea"/>
                    <a:cs typeface="+mn-cs"/>
                  </a:rPr>
                  <a:t>R</a:t>
                </a:r>
                <a:r>
                  <a:rPr lang="en-US" sz="1200" b="0" i="0" kern="1200" dirty="0">
                    <a:solidFill>
                      <a:schemeClr val="tx1"/>
                    </a:solidFill>
                    <a:effectLst/>
                    <a:latin typeface="+mn-lt"/>
                    <a:ea typeface="+mn-ea"/>
                    <a:cs typeface="+mn-cs"/>
                  </a:rPr>
                  <a:t>).</a:t>
                </a:r>
              </a:p>
              <a:p>
                <a:pPr marL="228600" lvl="0" indent="-228600">
                  <a:buFont typeface="+mj-lt"/>
                  <a:buAutoNum type="arabicPeriod"/>
                </a:pPr>
                <a:r>
                  <a:rPr lang="en-US" sz="1200" b="1" i="0" kern="1200" dirty="0">
                    <a:solidFill>
                      <a:schemeClr val="tx1"/>
                    </a:solidFill>
                    <a:effectLst/>
                    <a:latin typeface="+mn-lt"/>
                    <a:ea typeface="+mn-ea"/>
                    <a:cs typeface="+mn-cs"/>
                  </a:rPr>
                  <a:t>TPIR degrades with </a:t>
                </a:r>
                <a:r>
                  <a:rPr lang="en-US" sz="1200" b="1" i="1" kern="1200" dirty="0">
                    <a:solidFill>
                      <a:schemeClr val="tx1"/>
                    </a:solidFill>
                    <a:effectLst/>
                    <a:latin typeface="+mn-lt"/>
                    <a:ea typeface="+mn-ea"/>
                    <a:cs typeface="+mn-cs"/>
                  </a:rPr>
                  <a:t>N</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Gallery size enters the definition as an explicit argument because a larger gallery supplies more opportunities for a non-mate to outrank the mate. A TPIR reported at </a:t>
                </a:r>
                <a:r>
                  <a:rPr lang="en-US" sz="1200" b="0" i="1" kern="1200" dirty="0">
                    <a:solidFill>
                      <a:schemeClr val="tx1"/>
                    </a:solidFill>
                    <a:effectLst/>
                    <a:latin typeface="+mn-lt"/>
                    <a:ea typeface="+mn-ea"/>
                    <a:cs typeface="+mn-cs"/>
                  </a:rPr>
                  <a:t>N = 1,000</a:t>
                </a:r>
                <a:r>
                  <a:rPr lang="en-US" sz="1200" b="0" i="0" kern="1200" dirty="0">
                    <a:solidFill>
                      <a:schemeClr val="tx1"/>
                    </a:solidFill>
                    <a:effectLst/>
                    <a:latin typeface="+mn-lt"/>
                    <a:ea typeface="+mn-ea"/>
                    <a:cs typeface="+mn-cs"/>
                  </a:rPr>
                  <a:t> tells you very little about </a:t>
                </a:r>
                <a:r>
                  <a:rPr lang="en-US" sz="1200" b="0" i="1" kern="1200" dirty="0">
                    <a:solidFill>
                      <a:schemeClr val="tx1"/>
                    </a:solidFill>
                    <a:effectLst/>
                    <a:latin typeface="+mn-lt"/>
                    <a:ea typeface="+mn-ea"/>
                    <a:cs typeface="+mn-cs"/>
                  </a:rPr>
                  <a:t>N = </a:t>
                </a:r>
                <a14:m>
                  <m:oMath xmlns:m="http://schemas.openxmlformats.org/officeDocument/2006/math">
                    <m:sSup>
                      <m:sSupPr>
                        <m:ctrlPr>
                          <a:rPr lang="en-US" sz="1200" b="0" i="1" kern="1200" smtClean="0">
                            <a:solidFill>
                              <a:schemeClr val="tx1"/>
                            </a:solidFill>
                            <a:effectLst/>
                            <a:latin typeface="Cambria Math" panose="02040503050406030204" pitchFamily="18" charset="0"/>
                            <a:ea typeface="+mn-ea"/>
                            <a:cs typeface="+mn-cs"/>
                          </a:rPr>
                        </m:ctrlPr>
                      </m:sSupPr>
                      <m:e>
                        <m:r>
                          <a:rPr lang="en-US" sz="1200" b="0" i="1" kern="1200" smtClean="0">
                            <a:solidFill>
                              <a:schemeClr val="tx1"/>
                            </a:solidFill>
                            <a:effectLst/>
                            <a:latin typeface="Cambria Math" panose="02040503050406030204" pitchFamily="18" charset="0"/>
                            <a:ea typeface="+mn-ea"/>
                            <a:cs typeface="+mn-cs"/>
                          </a:rPr>
                          <m:t>10</m:t>
                        </m:r>
                      </m:e>
                      <m:sup>
                        <m:r>
                          <a:rPr lang="en-US" sz="1200" b="0" i="1" kern="1200" smtClean="0">
                            <a:solidFill>
                              <a:schemeClr val="tx1"/>
                            </a:solidFill>
                            <a:effectLst/>
                            <a:latin typeface="Cambria Math" panose="02040503050406030204" pitchFamily="18" charset="0"/>
                            <a:ea typeface="+mn-ea"/>
                            <a:cs typeface="+mn-cs"/>
                          </a:rPr>
                          <m:t>7</m:t>
                        </m:r>
                      </m:sup>
                    </m:sSup>
                  </m:oMath>
                </a14:m>
                <a:r>
                  <a:rPr lang="en-US" sz="1200" b="0" i="0" kern="1200" dirty="0">
                    <a:solidFill>
                      <a:schemeClr val="tx1"/>
                    </a:solidFill>
                    <a:effectLst/>
                    <a:latin typeface="+mn-lt"/>
                    <a:ea typeface="+mn-ea"/>
                    <a:cs typeface="+mn-cs"/>
                  </a:rPr>
                  <a:t>. This is the single most common misreading of vendor claims.</a:t>
                </a:r>
              </a:p>
              <a:p>
                <a:endParaRPr lang="en-US" sz="1200" b="0" i="0" kern="1200" dirty="0">
                  <a:solidFill>
                    <a:schemeClr val="tx1"/>
                  </a:solidFill>
                  <a:effectLst/>
                  <a:latin typeface="+mn-lt"/>
                  <a:ea typeface="+mn-ea"/>
                  <a:cs typeface="+mn-cs"/>
                </a:endParaRPr>
              </a:p>
            </p:txBody>
          </p:sp>
        </mc:Choice>
        <mc:Fallback>
          <p:sp>
            <p:nvSpPr>
              <p:cNvPr id="3" name="Notes Placeholder 2">
                <a:extLst>
                  <a:ext uri="{FF2B5EF4-FFF2-40B4-BE49-F238E27FC236}">
                    <a16:creationId xmlns:a16="http://schemas.microsoft.com/office/drawing/2014/main" id="{91F72D5B-79C4-7B06-96FD-864E6DFE5352}"/>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Four points to draw out explicitly:</a:t>
                </a:r>
                <a:endParaRPr lang="en-US" sz="1200" b="0" i="0" kern="1200" dirty="0">
                  <a:solidFill>
                    <a:schemeClr val="tx1"/>
                  </a:solidFill>
                  <a:effectLst/>
                  <a:latin typeface="+mn-lt"/>
                  <a:ea typeface="+mn-ea"/>
                  <a:cs typeface="+mn-cs"/>
                </a:endParaRPr>
              </a:p>
              <a:p>
                <a:pPr marL="228600" lvl="0" indent="-228600">
                  <a:buFont typeface="+mj-lt"/>
                  <a:buAutoNum type="arabicPeriod"/>
                </a:pPr>
                <a:r>
                  <a:rPr lang="en-US" sz="1200" b="1" i="0" kern="1200" dirty="0">
                    <a:solidFill>
                      <a:schemeClr val="tx1"/>
                    </a:solidFill>
                    <a:effectLst/>
                    <a:latin typeface="+mn-lt"/>
                    <a:ea typeface="+mn-ea"/>
                    <a:cs typeface="+mn-cs"/>
                  </a:rPr>
                  <a:t>FPIR has no </a:t>
                </a:r>
                <a:r>
                  <a:rPr lang="en-US" sz="1200" b="1" i="1" kern="1200" dirty="0">
                    <a:solidFill>
                      <a:schemeClr val="tx1"/>
                    </a:solidFill>
                    <a:effectLst/>
                    <a:latin typeface="+mn-lt"/>
                    <a:ea typeface="+mn-ea"/>
                    <a:cs typeface="+mn-cs"/>
                  </a:rPr>
                  <a:t>R</a:t>
                </a:r>
                <a:r>
                  <a:rPr lang="en-US" sz="1200" b="1" i="0" kern="1200" dirty="0">
                    <a:solidFill>
                      <a:schemeClr val="tx1"/>
                    </a:solidFill>
                    <a:effectLst/>
                    <a:latin typeface="+mn-lt"/>
                    <a:ea typeface="+mn-ea"/>
                    <a:cs typeface="+mn-cs"/>
                  </a:rPr>
                  <a:t> argument.</a:t>
                </a:r>
                <a:r>
                  <a:rPr lang="en-US" sz="1200" b="0" i="0" kern="1200" dirty="0">
                    <a:solidFill>
                      <a:schemeClr val="tx1"/>
                    </a:solidFill>
                    <a:effectLst/>
                    <a:latin typeface="+mn-lt"/>
                    <a:ea typeface="+mn-ea"/>
                    <a:cs typeface="+mn-cs"/>
                  </a:rPr>
                  <a:t> A non-mated search is a false positive if </a:t>
                </a:r>
                <a:r>
                  <a:rPr lang="en-US" sz="1200" b="0" i="1" kern="1200" dirty="0">
                    <a:solidFill>
                      <a:schemeClr val="tx1"/>
                    </a:solidFill>
                    <a:effectLst/>
                    <a:latin typeface="+mn-lt"/>
                    <a:ea typeface="+mn-ea"/>
                    <a:cs typeface="+mn-cs"/>
                  </a:rPr>
                  <a:t>anything</a:t>
                </a:r>
                <a:r>
                  <a:rPr lang="en-US" sz="1200" b="0" i="0" kern="1200" dirty="0">
                    <a:solidFill>
                      <a:schemeClr val="tx1"/>
                    </a:solidFill>
                    <a:effectLst/>
                    <a:latin typeface="+mn-lt"/>
                    <a:ea typeface="+mn-ea"/>
                    <a:cs typeface="+mn-cs"/>
                  </a:rPr>
                  <a:t> clears threshold; which rank it landed at is irrelevant to whether an analyst's time was wasted. TPIR carries </a:t>
                </a:r>
                <a:r>
                  <a:rPr lang="en-US" sz="1200" b="0" i="1" kern="1200" dirty="0">
                    <a:solidFill>
                      <a:schemeClr val="tx1"/>
                    </a:solidFill>
                    <a:effectLst/>
                    <a:latin typeface="+mn-lt"/>
                    <a:ea typeface="+mn-ea"/>
                    <a:cs typeface="+mn-cs"/>
                  </a:rPr>
                  <a:t>R</a:t>
                </a:r>
                <a:r>
                  <a:rPr lang="en-US" sz="1200" b="0" i="0" kern="1200" dirty="0">
                    <a:solidFill>
                      <a:schemeClr val="tx1"/>
                    </a:solidFill>
                    <a:effectLst/>
                    <a:latin typeface="+mn-lt"/>
                    <a:ea typeface="+mn-ea"/>
                    <a:cs typeface="+mn-cs"/>
                  </a:rPr>
                  <a:t> because finding the mate at rank 1 and at rank 50 are different operational outcomes. Ask the class </a:t>
                </a:r>
                <a:r>
                  <a:rPr lang="en-US" sz="1200" b="0" i="1" kern="1200" dirty="0">
                    <a:solidFill>
                      <a:schemeClr val="tx1"/>
                    </a:solidFill>
                    <a:effectLst/>
                    <a:latin typeface="+mn-lt"/>
                    <a:ea typeface="+mn-ea"/>
                    <a:cs typeface="+mn-cs"/>
                  </a:rPr>
                  <a:t>why</a:t>
                </a:r>
                <a:r>
                  <a:rPr lang="en-US" sz="1200" b="0" i="0" kern="1200" dirty="0">
                    <a:solidFill>
                      <a:schemeClr val="tx1"/>
                    </a:solidFill>
                    <a:effectLst/>
                    <a:latin typeface="+mn-lt"/>
                    <a:ea typeface="+mn-ea"/>
                    <a:cs typeface="+mn-cs"/>
                  </a:rPr>
                  <a:t> the asymmetry is correct before telling them.</a:t>
                </a:r>
              </a:p>
              <a:p>
                <a:pPr marL="228600" lvl="0" indent="-228600">
                  <a:buFont typeface="+mj-lt"/>
                  <a:buAutoNum type="arabicPeriod"/>
                </a:pPr>
                <a:r>
                  <a:rPr lang="en-US" sz="1200" b="1" i="0" kern="1200" dirty="0">
                    <a:solidFill>
                      <a:schemeClr val="tx1"/>
                    </a:solidFill>
                    <a:effectLst/>
                    <a:latin typeface="+mn-lt"/>
                    <a:ea typeface="+mn-ea"/>
                    <a:cs typeface="+mn-cs"/>
                  </a:rPr>
                  <a:t>The two rates are computed over disjoint probe sets.</a:t>
                </a:r>
                <a:r>
                  <a:rPr lang="en-US" sz="1200" b="0" i="0" kern="1200" dirty="0">
                    <a:solidFill>
                      <a:schemeClr val="tx1"/>
                    </a:solidFill>
                    <a:effectLst/>
                    <a:latin typeface="+mn-lt"/>
                    <a:ea typeface="+mn-ea"/>
                    <a:cs typeface="+mn-cs"/>
                  </a:rPr>
                  <a:t> TPIR is measured only on mated searches, FPIR only on non-mated searches. This is why the </a:t>
                </a:r>
                <a:r>
                  <a:rPr lang="en-US" sz="1200" b="0" i="1" kern="1200" dirty="0">
                    <a:solidFill>
                      <a:schemeClr val="tx1"/>
                    </a:solidFill>
                    <a:effectLst/>
                    <a:latin typeface="+mn-lt"/>
                    <a:ea typeface="+mn-ea"/>
                    <a:cs typeface="+mn-cs"/>
                  </a:rPr>
                  <a:t>mix</a:t>
                </a:r>
                <a:r>
                  <a:rPr lang="en-US" sz="1200" b="0" i="0" kern="1200" dirty="0">
                    <a:solidFill>
                      <a:schemeClr val="tx1"/>
                    </a:solidFill>
                    <a:effectLst/>
                    <a:latin typeface="+mn-lt"/>
                    <a:ea typeface="+mn-ea"/>
                    <a:cs typeface="+mn-cs"/>
                  </a:rPr>
                  <a:t> of mated to non-mated probes does not change either rate — unlike accuracy, precision, or AUPR, which are all contaminated by the openness ratio you happened to choose. TPIR/FPIR is the pair that refuses to collapse the two errors.</a:t>
                </a:r>
              </a:p>
              <a:p>
                <a:pPr marL="228600" lvl="0" indent="-228600">
                  <a:buFont typeface="+mj-lt"/>
                  <a:buAutoNum type="arabicPeriod"/>
                </a:pPr>
                <a:r>
                  <a:rPr lang="en-US" sz="1200" b="1" i="0" kern="1200" dirty="0">
                    <a:solidFill>
                      <a:schemeClr val="tx1"/>
                    </a:solidFill>
                    <a:effectLst/>
                    <a:latin typeface="+mn-lt"/>
                    <a:ea typeface="+mn-ea"/>
                    <a:cs typeface="+mn-cs"/>
                  </a:rPr>
                  <a:t>Only reportable as a pair at a stated operating point.</a:t>
                </a:r>
                <a:r>
                  <a:rPr lang="en-US" sz="1200" b="0" i="0" kern="1200" dirty="0">
                    <a:solidFill>
                      <a:schemeClr val="tx1"/>
                    </a:solidFill>
                    <a:effectLst/>
                    <a:latin typeface="+mn-lt"/>
                    <a:ea typeface="+mn-ea"/>
                    <a:cs typeface="+mn-cs"/>
                  </a:rPr>
                  <a:t> "TPIR = 0.94" is not a result. </a:t>
                </a:r>
                <a:r>
                  <a:rPr lang="en-US" sz="1200" b="1" i="0" kern="1200" dirty="0">
                    <a:solidFill>
                      <a:schemeClr val="tx1"/>
                    </a:solidFill>
                    <a:effectLst/>
                    <a:latin typeface="+mn-lt"/>
                    <a:ea typeface="+mn-ea"/>
                    <a:cs typeface="+mn-cs"/>
                  </a:rPr>
                  <a:t>TPIR(N = 1.6M, R = 1, T) = 0.94 at FPIR = 0.001</a:t>
                </a:r>
                <a:r>
                  <a:rPr lang="en-US" sz="1200" b="0" i="0" kern="1200" dirty="0">
                    <a:solidFill>
                      <a:schemeClr val="tx1"/>
                    </a:solidFill>
                    <a:effectLst/>
                    <a:latin typeface="+mn-lt"/>
                    <a:ea typeface="+mn-ea"/>
                    <a:cs typeface="+mn-cs"/>
                  </a:rPr>
                  <a:t> is a result. The curve of TPIR versus FPIR, swept over </a:t>
                </a:r>
                <a:r>
                  <a:rPr lang="en-US" sz="1200" b="0" i="1" kern="1200" dirty="0">
                    <a:solidFill>
                      <a:schemeClr val="tx1"/>
                    </a:solidFill>
                    <a:effectLst/>
                    <a:latin typeface="+mn-lt"/>
                    <a:ea typeface="+mn-ea"/>
                    <a:cs typeface="+mn-cs"/>
                  </a:rPr>
                  <a:t>T</a:t>
                </a:r>
                <a:r>
                  <a:rPr lang="en-US" sz="1200" b="0" i="0" kern="1200" dirty="0">
                    <a:solidFill>
                      <a:schemeClr val="tx1"/>
                    </a:solidFill>
                    <a:effectLst/>
                    <a:latin typeface="+mn-lt"/>
                    <a:ea typeface="+mn-ea"/>
                    <a:cs typeface="+mn-cs"/>
                  </a:rPr>
                  <a:t>, is the open-set DET/ROC analogue — this is exactly the quantity </a:t>
                </a:r>
                <a:r>
                  <a:rPr lang="en-US" sz="1200" b="1" i="0" kern="1200" dirty="0">
                    <a:solidFill>
                      <a:schemeClr val="tx1"/>
                    </a:solidFill>
                    <a:effectLst/>
                    <a:latin typeface="+mn-lt"/>
                    <a:ea typeface="+mn-ea"/>
                    <a:cs typeface="+mn-cs"/>
                  </a:rPr>
                  <a:t>DIR@FPIR</a:t>
                </a:r>
                <a:r>
                  <a:rPr lang="en-US" sz="1200" b="0" i="0" kern="1200" dirty="0">
                    <a:solidFill>
                      <a:schemeClr val="tx1"/>
                    </a:solidFill>
                    <a:effectLst/>
                    <a:latin typeface="+mn-lt"/>
                    <a:ea typeface="+mn-ea"/>
                    <a:cs typeface="+mn-cs"/>
                  </a:rPr>
                  <a:t> names in the older biometrics literature (detection and identification rate at rank </a:t>
                </a:r>
                <a:r>
                  <a:rPr lang="en-US" sz="1200" b="0" i="1" kern="1200" dirty="0">
                    <a:solidFill>
                      <a:schemeClr val="tx1"/>
                    </a:solidFill>
                    <a:effectLst/>
                    <a:latin typeface="+mn-lt"/>
                    <a:ea typeface="+mn-ea"/>
                    <a:cs typeface="+mn-cs"/>
                  </a:rPr>
                  <a:t>R</a:t>
                </a:r>
                <a:r>
                  <a:rPr lang="en-US" sz="1200" b="0" i="0" kern="1200" dirty="0">
                    <a:solidFill>
                      <a:schemeClr val="tx1"/>
                    </a:solidFill>
                    <a:effectLst/>
                    <a:latin typeface="+mn-lt"/>
                    <a:ea typeface="+mn-ea"/>
                    <a:cs typeface="+mn-cs"/>
                  </a:rPr>
                  <a:t>).</a:t>
                </a:r>
              </a:p>
              <a:p>
                <a:pPr marL="228600" lvl="0" indent="-228600">
                  <a:buFont typeface="+mj-lt"/>
                  <a:buAutoNum type="arabicPeriod"/>
                </a:pPr>
                <a:r>
                  <a:rPr lang="en-US" sz="1200" b="1" i="0" kern="1200" dirty="0">
                    <a:solidFill>
                      <a:schemeClr val="tx1"/>
                    </a:solidFill>
                    <a:effectLst/>
                    <a:latin typeface="+mn-lt"/>
                    <a:ea typeface="+mn-ea"/>
                    <a:cs typeface="+mn-cs"/>
                  </a:rPr>
                  <a:t>TPIR degrades with </a:t>
                </a:r>
                <a:r>
                  <a:rPr lang="en-US" sz="1200" b="1" i="1" kern="1200" dirty="0">
                    <a:solidFill>
                      <a:schemeClr val="tx1"/>
                    </a:solidFill>
                    <a:effectLst/>
                    <a:latin typeface="+mn-lt"/>
                    <a:ea typeface="+mn-ea"/>
                    <a:cs typeface="+mn-cs"/>
                  </a:rPr>
                  <a:t>N</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Gallery size enters the definition as an explicit argument because a larger gallery supplies more opportunities for a non-mate to outrank the mate. A TPIR reported at </a:t>
                </a:r>
                <a:r>
                  <a:rPr lang="en-US" sz="1200" b="0" i="1" kern="1200" dirty="0">
                    <a:solidFill>
                      <a:schemeClr val="tx1"/>
                    </a:solidFill>
                    <a:effectLst/>
                    <a:latin typeface="+mn-lt"/>
                    <a:ea typeface="+mn-ea"/>
                    <a:cs typeface="+mn-cs"/>
                  </a:rPr>
                  <a:t>N = 1,000</a:t>
                </a:r>
                <a:r>
                  <a:rPr lang="en-US" sz="1200" b="0" i="0" kern="1200" dirty="0">
                    <a:solidFill>
                      <a:schemeClr val="tx1"/>
                    </a:solidFill>
                    <a:effectLst/>
                    <a:latin typeface="+mn-lt"/>
                    <a:ea typeface="+mn-ea"/>
                    <a:cs typeface="+mn-cs"/>
                  </a:rPr>
                  <a:t> tells you very little about </a:t>
                </a:r>
                <a:r>
                  <a:rPr lang="en-US" sz="1200" b="0" i="1" kern="1200" dirty="0">
                    <a:solidFill>
                      <a:schemeClr val="tx1"/>
                    </a:solidFill>
                    <a:effectLst/>
                    <a:latin typeface="+mn-lt"/>
                    <a:ea typeface="+mn-ea"/>
                    <a:cs typeface="+mn-cs"/>
                  </a:rPr>
                  <a:t>N = </a:t>
                </a:r>
                <a:r>
                  <a:rPr lang="en-US" sz="1200" b="0" i="0" kern="1200">
                    <a:solidFill>
                      <a:schemeClr val="tx1"/>
                    </a:solidFill>
                    <a:effectLst/>
                    <a:latin typeface="Cambria Math" panose="02040503050406030204" pitchFamily="18" charset="0"/>
                    <a:ea typeface="+mn-ea"/>
                    <a:cs typeface="+mn-cs"/>
                  </a:rPr>
                  <a:t>10^7</a:t>
                </a:r>
                <a:r>
                  <a:rPr lang="en-US" sz="1200" b="0" i="0" kern="1200" dirty="0">
                    <a:solidFill>
                      <a:schemeClr val="tx1"/>
                    </a:solidFill>
                    <a:effectLst/>
                    <a:latin typeface="+mn-lt"/>
                    <a:ea typeface="+mn-ea"/>
                    <a:cs typeface="+mn-cs"/>
                  </a:rPr>
                  <a:t>. This is the single most common misreading of vendor claims.</a:t>
                </a:r>
              </a:p>
              <a:p>
                <a:endParaRPr lang="en-US" sz="1200" b="0" i="0" kern="1200" dirty="0">
                  <a:solidFill>
                    <a:schemeClr val="tx1"/>
                  </a:solidFill>
                  <a:effectLst/>
                  <a:latin typeface="+mn-lt"/>
                  <a:ea typeface="+mn-ea"/>
                  <a:cs typeface="+mn-cs"/>
                </a:endParaRPr>
              </a:p>
            </p:txBody>
          </p:sp>
        </mc:Fallback>
      </mc:AlternateContent>
      <p:sp>
        <p:nvSpPr>
          <p:cNvPr id="4" name="Slide Number Placeholder 3">
            <a:extLst>
              <a:ext uri="{FF2B5EF4-FFF2-40B4-BE49-F238E27FC236}">
                <a16:creationId xmlns:a16="http://schemas.microsoft.com/office/drawing/2014/main" id="{AEDC5BB4-522F-441E-5D2A-CA8CC1ADFCD6}"/>
              </a:ext>
            </a:extLst>
          </p:cNvPr>
          <p:cNvSpPr>
            <a:spLocks noGrp="1"/>
          </p:cNvSpPr>
          <p:nvPr>
            <p:ph type="sldNum" sz="quarter" idx="5"/>
          </p:nvPr>
        </p:nvSpPr>
        <p:spPr/>
        <p:txBody>
          <a:bodyPr/>
          <a:lstStyle/>
          <a:p>
            <a:fld id="{29E7BD1F-0023-244E-A8FD-1ADCC0FAE1A1}" type="slidenum">
              <a:rPr lang="en-US" smtClean="0"/>
              <a:t>9</a:t>
            </a:fld>
            <a:endParaRPr lang="en-US"/>
          </a:p>
        </p:txBody>
      </p:sp>
    </p:spTree>
    <p:extLst>
      <p:ext uri="{BB962C8B-B14F-4D97-AF65-F5344CB8AC3E}">
        <p14:creationId xmlns:p14="http://schemas.microsoft.com/office/powerpoint/2010/main" val="1456084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9CD31-0745-79EA-7073-2A3EAA7CE3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456A9-8BA2-CC0F-BB66-3B37E74C9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2ED752-C2D0-A0B8-99F5-404E6FDE3D0D}"/>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08F008D-2F27-FDBB-BE2D-0587F0F87D29}"/>
              </a:ext>
            </a:extLst>
          </p:cNvPr>
          <p:cNvSpPr>
            <a:spLocks noGrp="1"/>
          </p:cNvSpPr>
          <p:nvPr>
            <p:ph type="sldNum" sz="quarter" idx="5"/>
          </p:nvPr>
        </p:nvSpPr>
        <p:spPr/>
        <p:txBody>
          <a:bodyPr/>
          <a:lstStyle/>
          <a:p>
            <a:fld id="{29E7BD1F-0023-244E-A8FD-1ADCC0FAE1A1}" type="slidenum">
              <a:rPr lang="en-US" smtClean="0"/>
              <a:t>10</a:t>
            </a:fld>
            <a:endParaRPr lang="en-US"/>
          </a:p>
        </p:txBody>
      </p:sp>
    </p:spTree>
    <p:extLst>
      <p:ext uri="{BB962C8B-B14F-4D97-AF65-F5344CB8AC3E}">
        <p14:creationId xmlns:p14="http://schemas.microsoft.com/office/powerpoint/2010/main" val="30059297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431A8-3D61-57A0-B2B9-0D4A9288F9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1B651-0B41-44BD-614F-10360E1767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911B3F-E81A-CE58-DFFF-F9103CE10319}"/>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Classic failure modes</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Hubness:</a:t>
            </a:r>
            <a:r>
              <a:rPr lang="en-US" sz="1200" b="0" i="0" kern="1200" dirty="0">
                <a:solidFill>
                  <a:schemeClr val="tx1"/>
                </a:solidFill>
                <a:effectLst/>
                <a:latin typeface="+mn-lt"/>
                <a:ea typeface="+mn-ea"/>
                <a:cs typeface="+mn-cs"/>
              </a:rPr>
              <a:t> in high dimensions, a few semantic prototypes become nearest neighbors to disproportionately many image embeddings.</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Domain shift / projection shift:</a:t>
            </a:r>
            <a:r>
              <a:rPr lang="en-US" sz="1200" b="0" i="0" kern="1200" dirty="0">
                <a:solidFill>
                  <a:schemeClr val="tx1"/>
                </a:solidFill>
                <a:effectLst/>
                <a:latin typeface="+mn-lt"/>
                <a:ea typeface="+mn-ea"/>
                <a:cs typeface="+mn-cs"/>
              </a:rPr>
              <a:t> the mapping </a:t>
            </a:r>
            <a:r>
              <a:rPr lang="en-US" sz="1200" b="0" i="1" kern="1200" dirty="0">
                <a:solidFill>
                  <a:schemeClr val="tx1"/>
                </a:solidFill>
                <a:effectLst/>
                <a:latin typeface="+mn-lt"/>
                <a:ea typeface="+mn-ea"/>
                <a:cs typeface="+mn-cs"/>
              </a:rPr>
              <a:t>W</a:t>
            </a:r>
            <a:r>
              <a:rPr lang="en-US" sz="1200" b="0" i="0" kern="1200" dirty="0">
                <a:solidFill>
                  <a:schemeClr val="tx1"/>
                </a:solidFill>
                <a:effectLst/>
                <a:latin typeface="+mn-lt"/>
                <a:ea typeface="+mn-ea"/>
                <a:cs typeface="+mn-cs"/>
              </a:rPr>
              <a:t> is fit to seen classes and is systematically biased when applied to unseen ones.</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Seen-class bias in generalized ZSL:</a:t>
            </a:r>
            <a:r>
              <a:rPr lang="en-US" sz="1200" b="0" i="0" kern="1200" dirty="0">
                <a:solidFill>
                  <a:schemeClr val="tx1"/>
                </a:solidFill>
                <a:effectLst/>
                <a:latin typeface="+mn-lt"/>
                <a:ea typeface="+mn-ea"/>
                <a:cs typeface="+mn-cs"/>
              </a:rPr>
              <a:t> the model overwhelmingly predicts seen classes; this is why GZSL reports </a:t>
            </a:r>
            <a:r>
              <a:rPr lang="en-US" sz="1200" b="0" i="1" kern="1200" dirty="0">
                <a:solidFill>
                  <a:schemeClr val="tx1"/>
                </a:solidFill>
                <a:effectLst/>
                <a:latin typeface="+mn-lt"/>
                <a:ea typeface="+mn-ea"/>
                <a:cs typeface="+mn-cs"/>
              </a:rPr>
              <a:t>harmonic mean</a:t>
            </a:r>
            <a:r>
              <a:rPr lang="en-US" sz="1200" b="0" i="0" kern="1200" dirty="0">
                <a:solidFill>
                  <a:schemeClr val="tx1"/>
                </a:solidFill>
                <a:effectLst/>
                <a:latin typeface="+mn-lt"/>
                <a:ea typeface="+mn-ea"/>
                <a:cs typeface="+mn-cs"/>
              </a:rPr>
              <a:t> of seen and unseen accuracy rather than overall accuracy.</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The modern form: vision–language pretraining</a:t>
            </a:r>
            <a:br>
              <a:rPr lang="en-US" sz="1200" b="1"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Large-scale image–text contrastive pretraining (CLIP-style) is ZSL with the semantic encoder learned at web scale rather than hand-specified. Discussion prompts: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Is CLIP "zero-shot" in any meaningful sense when the test concept almost certainly appeared in 400M training pairs? What is the right word for this?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Foreshadow Week 10 (foundation models) without stealing it.</a:t>
            </a:r>
          </a:p>
          <a:p>
            <a:endParaRPr lang="en-US" dirty="0"/>
          </a:p>
          <a:p>
            <a:r>
              <a:rPr lang="en-US" sz="1200" b="1" i="0" kern="1200" dirty="0">
                <a:solidFill>
                  <a:schemeClr val="tx1"/>
                </a:solidFill>
                <a:effectLst/>
                <a:latin typeface="+mn-lt"/>
                <a:ea typeface="+mn-ea"/>
                <a:cs typeface="+mn-cs"/>
              </a:rPr>
              <a:t>Where ZSL and biometrics collide — and where it breaks</a:t>
            </a:r>
          </a:p>
          <a:p>
            <a:r>
              <a:rPr lang="en-US" sz="1200" b="0" i="0" kern="1200" dirty="0">
                <a:solidFill>
                  <a:schemeClr val="tx1"/>
                </a:solidFill>
                <a:effectLst/>
                <a:latin typeface="+mn-lt"/>
                <a:ea typeface="+mn-ea"/>
                <a:cs typeface="+mn-cs"/>
              </a:rPr>
              <a:t>This is the biometrics-specific payoff. Make the argument carefully:</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Identity is </a:t>
            </a:r>
            <a:r>
              <a:rPr lang="en-US" sz="1200" b="1" i="0" kern="1200" dirty="0">
                <a:solidFill>
                  <a:schemeClr val="tx1"/>
                </a:solidFill>
                <a:effectLst/>
                <a:latin typeface="+mn-lt"/>
                <a:ea typeface="+mn-ea"/>
                <a:cs typeface="+mn-cs"/>
              </a:rPr>
              <a:t>not a semantic category</a:t>
            </a:r>
            <a:r>
              <a:rPr lang="en-US" sz="1200" b="0" i="0" kern="1200" dirty="0">
                <a:solidFill>
                  <a:schemeClr val="tx1"/>
                </a:solidFill>
                <a:effectLst/>
                <a:latin typeface="+mn-lt"/>
                <a:ea typeface="+mn-ea"/>
                <a:cs typeface="+mn-cs"/>
              </a:rPr>
              <a:t>. There is no attribute vector that uniquely specifies "Alice" the way "has stripes, four legs, hooved" partially specifies "zebra." Soft biometrics (age, hair color, build, gait descriptors) are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identity-discriminative at population scale.</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Therefore </a:t>
            </a:r>
            <a:r>
              <a:rPr lang="en-US" sz="1200" b="1" i="0" kern="1200" dirty="0">
                <a:solidFill>
                  <a:schemeClr val="tx1"/>
                </a:solidFill>
                <a:effectLst/>
                <a:latin typeface="+mn-lt"/>
                <a:ea typeface="+mn-ea"/>
                <a:cs typeface="+mn-cs"/>
              </a:rPr>
              <a:t>face/iris/fingerprint recognition is natively a zero-shot-</a:t>
            </a:r>
            <a:r>
              <a:rPr lang="en-US" sz="1200" b="1" i="0" kern="1200" dirty="0" err="1">
                <a:solidFill>
                  <a:schemeClr val="tx1"/>
                </a:solidFill>
                <a:effectLst/>
                <a:latin typeface="+mn-lt"/>
                <a:ea typeface="+mn-ea"/>
                <a:cs typeface="+mn-cs"/>
              </a:rPr>
              <a:t>ish</a:t>
            </a:r>
            <a:r>
              <a:rPr lang="en-US" sz="1200" b="1" i="0" kern="1200" dirty="0">
                <a:solidFill>
                  <a:schemeClr val="tx1"/>
                </a:solidFill>
                <a:effectLst/>
                <a:latin typeface="+mn-lt"/>
                <a:ea typeface="+mn-ea"/>
                <a:cs typeface="+mn-cs"/>
              </a:rPr>
              <a:t> problem of a different kind</a:t>
            </a:r>
            <a:r>
              <a:rPr lang="en-US" sz="1200" b="0" i="0" kern="1200" dirty="0">
                <a:solidFill>
                  <a:schemeClr val="tx1"/>
                </a:solidFill>
                <a:effectLst/>
                <a:latin typeface="+mn-lt"/>
                <a:ea typeface="+mn-ea"/>
                <a:cs typeface="+mn-cs"/>
              </a:rPr>
              <a:t>: we never train on the deployment identities. The transfer is achieved by learning a </a:t>
            </a:r>
            <a:r>
              <a:rPr lang="en-US" sz="1200" b="0" i="1" kern="1200" dirty="0">
                <a:solidFill>
                  <a:schemeClr val="tx1"/>
                </a:solidFill>
                <a:effectLst/>
                <a:latin typeface="+mn-lt"/>
                <a:ea typeface="+mn-ea"/>
                <a:cs typeface="+mn-cs"/>
              </a:rPr>
              <a:t>metric</a:t>
            </a:r>
            <a:r>
              <a:rPr lang="en-US" sz="1200" b="0" i="0" kern="1200" dirty="0">
                <a:solidFill>
                  <a:schemeClr val="tx1"/>
                </a:solidFill>
                <a:effectLst/>
                <a:latin typeface="+mn-lt"/>
                <a:ea typeface="+mn-ea"/>
                <a:cs typeface="+mn-cs"/>
              </a:rPr>
              <a:t> that generalizes to unseen identities, not by learning a semantic prototype for each identity. Connect to Week 3: angular-margin losses are trained with a closed identity set but deployed open.</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Legitimate ZSL in biometrics therefore shows up as: </a:t>
            </a:r>
            <a:r>
              <a:rPr lang="en-US" sz="1200" b="1" i="0" kern="1200" dirty="0">
                <a:solidFill>
                  <a:schemeClr val="tx1"/>
                </a:solidFill>
                <a:effectLst/>
                <a:latin typeface="+mn-lt"/>
                <a:ea typeface="+mn-ea"/>
                <a:cs typeface="+mn-cs"/>
              </a:rPr>
              <a:t>text-to-image person retrieval</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attribute-based search</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cross-spectral / cross-modal matching with no paired training identities</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novel-sensor generalization</a:t>
            </a:r>
            <a:r>
              <a:rPr lang="en-US" sz="1200" b="0" i="0" kern="1200" dirty="0">
                <a:solidFill>
                  <a:schemeClr val="tx1"/>
                </a:solidFill>
                <a:effectLst/>
                <a:latin typeface="+mn-lt"/>
                <a:ea typeface="+mn-ea"/>
                <a:cs typeface="+mn-cs"/>
              </a:rPr>
              <a:t>.</a:t>
            </a:r>
          </a:p>
          <a:p>
            <a:br>
              <a:rPr lang="en-US" dirty="0"/>
            </a:br>
            <a:br>
              <a:rPr lang="en-US" dirty="0"/>
            </a:b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A44DAF3-6C66-C9AE-4534-E117B05FAC66}"/>
              </a:ext>
            </a:extLst>
          </p:cNvPr>
          <p:cNvSpPr>
            <a:spLocks noGrp="1"/>
          </p:cNvSpPr>
          <p:nvPr>
            <p:ph type="sldNum" sz="quarter" idx="5"/>
          </p:nvPr>
        </p:nvSpPr>
        <p:spPr/>
        <p:txBody>
          <a:bodyPr/>
          <a:lstStyle/>
          <a:p>
            <a:fld id="{29E7BD1F-0023-244E-A8FD-1ADCC0FAE1A1}" type="slidenum">
              <a:rPr lang="en-US" smtClean="0"/>
              <a:t>11</a:t>
            </a:fld>
            <a:endParaRPr lang="en-US"/>
          </a:p>
        </p:txBody>
      </p:sp>
    </p:spTree>
    <p:extLst>
      <p:ext uri="{BB962C8B-B14F-4D97-AF65-F5344CB8AC3E}">
        <p14:creationId xmlns:p14="http://schemas.microsoft.com/office/powerpoint/2010/main" val="235024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1D72B-CDDC-197B-BAF6-F13CA4974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71A7E-5096-4117-E64E-8887D6160B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7EC34B-C683-97D5-0992-CE6EA929B65D}"/>
              </a:ext>
            </a:extLst>
          </p:cNvPr>
          <p:cNvSpPr>
            <a:spLocks noGrp="1"/>
          </p:cNvSpPr>
          <p:nvPr>
            <p:ph type="body" idx="1"/>
          </p:nvPr>
        </p:nvSpPr>
        <p:spPr/>
        <p:txBody>
          <a:bodyPr/>
          <a:lstStyle/>
          <a:p>
            <a:r>
              <a:rPr lang="en-US" sz="1200" dirty="0"/>
              <a:t>A representation optimized to the point of sufficiency for the training task is exactly the representation most likely to fail on both.</a:t>
            </a:r>
            <a:endParaRPr lang="en-US" sz="1200" b="0" i="0" dirty="0">
              <a:solidFill>
                <a:srgbClr val="161C24"/>
              </a:solidFill>
              <a:effectLst/>
              <a:latin typeface="-apple-system"/>
            </a:endParaRPr>
          </a:p>
        </p:txBody>
      </p:sp>
      <p:sp>
        <p:nvSpPr>
          <p:cNvPr id="4" name="Slide Number Placeholder 3">
            <a:extLst>
              <a:ext uri="{FF2B5EF4-FFF2-40B4-BE49-F238E27FC236}">
                <a16:creationId xmlns:a16="http://schemas.microsoft.com/office/drawing/2014/main" id="{14DFF20E-A142-6489-7224-32743B084AA3}"/>
              </a:ext>
            </a:extLst>
          </p:cNvPr>
          <p:cNvSpPr>
            <a:spLocks noGrp="1"/>
          </p:cNvSpPr>
          <p:nvPr>
            <p:ph type="sldNum" sz="quarter" idx="5"/>
          </p:nvPr>
        </p:nvSpPr>
        <p:spPr/>
        <p:txBody>
          <a:bodyPr/>
          <a:lstStyle/>
          <a:p>
            <a:fld id="{29E7BD1F-0023-244E-A8FD-1ADCC0FAE1A1}" type="slidenum">
              <a:rPr lang="en-US" smtClean="0"/>
              <a:t>12</a:t>
            </a:fld>
            <a:endParaRPr lang="en-US"/>
          </a:p>
        </p:txBody>
      </p:sp>
    </p:spTree>
    <p:extLst>
      <p:ext uri="{BB962C8B-B14F-4D97-AF65-F5344CB8AC3E}">
        <p14:creationId xmlns:p14="http://schemas.microsoft.com/office/powerpoint/2010/main" val="31101377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D6AB1-92F6-67F5-11A1-89E6C65F2B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30EDDB-5DAC-A5E1-4059-9303DABCE4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6DD2E-63E0-74E2-FBD1-ADE1D46EE52E}"/>
              </a:ext>
            </a:extLst>
          </p:cNvPr>
          <p:cNvSpPr>
            <a:spLocks noGrp="1"/>
          </p:cNvSpPr>
          <p:nvPr>
            <p:ph type="body" idx="1"/>
          </p:nvPr>
        </p:nvSpPr>
        <p:spPr/>
        <p:txBody>
          <a:bodyPr/>
          <a:lstStyle/>
          <a:p>
            <a:endParaRPr lang="en-US" sz="1200" b="0" i="0" dirty="0">
              <a:solidFill>
                <a:srgbClr val="161C24"/>
              </a:solidFill>
              <a:effectLst/>
              <a:latin typeface="-apple-system"/>
            </a:endParaRPr>
          </a:p>
        </p:txBody>
      </p:sp>
      <p:sp>
        <p:nvSpPr>
          <p:cNvPr id="4" name="Slide Number Placeholder 3">
            <a:extLst>
              <a:ext uri="{FF2B5EF4-FFF2-40B4-BE49-F238E27FC236}">
                <a16:creationId xmlns:a16="http://schemas.microsoft.com/office/drawing/2014/main" id="{C8FB06E0-F799-7A74-77BB-C8ED84982AF1}"/>
              </a:ext>
            </a:extLst>
          </p:cNvPr>
          <p:cNvSpPr>
            <a:spLocks noGrp="1"/>
          </p:cNvSpPr>
          <p:nvPr>
            <p:ph type="sldNum" sz="quarter" idx="5"/>
          </p:nvPr>
        </p:nvSpPr>
        <p:spPr/>
        <p:txBody>
          <a:bodyPr/>
          <a:lstStyle/>
          <a:p>
            <a:fld id="{29E7BD1F-0023-244E-A8FD-1ADCC0FAE1A1}" type="slidenum">
              <a:rPr lang="en-US" smtClean="0"/>
              <a:t>13</a:t>
            </a:fld>
            <a:endParaRPr lang="en-US"/>
          </a:p>
        </p:txBody>
      </p:sp>
    </p:spTree>
    <p:extLst>
      <p:ext uri="{BB962C8B-B14F-4D97-AF65-F5344CB8AC3E}">
        <p14:creationId xmlns:p14="http://schemas.microsoft.com/office/powerpoint/2010/main" val="35617709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EE899-CFA8-F194-8378-A30D3C5BE0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8CF9F-342B-E3B0-0D1F-3681F8CE02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A61A2-1C1E-D17A-4A9C-58AE603E7609}"/>
              </a:ext>
            </a:extLst>
          </p:cNvPr>
          <p:cNvSpPr>
            <a:spLocks noGrp="1"/>
          </p:cNvSpPr>
          <p:nvPr>
            <p:ph type="body" idx="1"/>
          </p:nvPr>
        </p:nvSpPr>
        <p:spPr/>
        <p:txBody>
          <a:bodyPr/>
          <a:lstStyle/>
          <a:p>
            <a:endParaRPr lang="en-US" sz="1200" b="0" i="0" dirty="0">
              <a:solidFill>
                <a:srgbClr val="161C24"/>
              </a:solidFill>
              <a:effectLst/>
              <a:latin typeface="-apple-system"/>
            </a:endParaRPr>
          </a:p>
        </p:txBody>
      </p:sp>
      <p:sp>
        <p:nvSpPr>
          <p:cNvPr id="4" name="Slide Number Placeholder 3">
            <a:extLst>
              <a:ext uri="{FF2B5EF4-FFF2-40B4-BE49-F238E27FC236}">
                <a16:creationId xmlns:a16="http://schemas.microsoft.com/office/drawing/2014/main" id="{99E04DB3-CFB9-9290-1E68-85016ADF5ACF}"/>
              </a:ext>
            </a:extLst>
          </p:cNvPr>
          <p:cNvSpPr>
            <a:spLocks noGrp="1"/>
          </p:cNvSpPr>
          <p:nvPr>
            <p:ph type="sldNum" sz="quarter" idx="5"/>
          </p:nvPr>
        </p:nvSpPr>
        <p:spPr/>
        <p:txBody>
          <a:bodyPr/>
          <a:lstStyle/>
          <a:p>
            <a:fld id="{29E7BD1F-0023-244E-A8FD-1ADCC0FAE1A1}" type="slidenum">
              <a:rPr lang="en-US" smtClean="0"/>
              <a:t>14</a:t>
            </a:fld>
            <a:endParaRPr lang="en-US"/>
          </a:p>
        </p:txBody>
      </p:sp>
    </p:spTree>
    <p:extLst>
      <p:ext uri="{BB962C8B-B14F-4D97-AF65-F5344CB8AC3E}">
        <p14:creationId xmlns:p14="http://schemas.microsoft.com/office/powerpoint/2010/main" val="3338768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84292-5552-F2FE-77F2-55F1F775D3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29C63A-48B7-AEC4-8C53-FF8D599772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9A66DC-DDDC-A5CF-A895-77D055767929}"/>
              </a:ext>
            </a:extLst>
          </p:cNvPr>
          <p:cNvSpPr>
            <a:spLocks noGrp="1"/>
          </p:cNvSpPr>
          <p:nvPr>
            <p:ph type="body" idx="1"/>
          </p:nvPr>
        </p:nvSpPr>
        <p:spPr/>
        <p:txBody>
          <a:bodyPr/>
          <a:lstStyle/>
          <a:p>
            <a:r>
              <a:rPr lang="en-US" sz="1200" b="0" i="0" kern="1200">
                <a:solidFill>
                  <a:schemeClr val="tx1"/>
                </a:solidFill>
                <a:effectLst/>
                <a:latin typeface="+mn-lt"/>
                <a:ea typeface="+mn-ea"/>
                <a:cs typeface="+mn-cs"/>
              </a:rPr>
              <a:t>Definition: </a:t>
            </a:r>
            <a:r>
              <a:rPr lang="en-US" sz="1200" b="1" u="none" strike="noStrike" kern="1200">
                <a:solidFill>
                  <a:schemeClr val="tx1"/>
                </a:solidFill>
                <a:effectLst/>
                <a:latin typeface="+mn-lt"/>
                <a:ea typeface="+mn-ea"/>
                <a:cs typeface="+mn-cs"/>
              </a:rPr>
              <a:t>Open-set recognition (OSR)</a:t>
            </a:r>
            <a:r>
              <a:rPr lang="en-US"/>
              <a:t> is a machine learning and computer vision framework where a recognition system must correctly classify known training classes while simultaneously detecting and rejecting unknown or novel classes that were never seen during training.</a:t>
            </a:r>
          </a:p>
          <a:p>
            <a:endParaRPr lang="en-US" sz="1200" b="0"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Why can’t we use the latest Yolo detector to ”detect” our known identities?</a:t>
            </a:r>
          </a:p>
          <a:p>
            <a:pPr marL="171450" indent="-171450">
              <a:buFontTx/>
              <a:buChar char="-"/>
            </a:pPr>
            <a:r>
              <a:rPr lang="en-US" sz="1200" b="0" i="0" kern="1200">
                <a:solidFill>
                  <a:schemeClr val="tx1"/>
                </a:solidFill>
                <a:effectLst/>
                <a:latin typeface="+mn-lt"/>
                <a:ea typeface="+mn-ea"/>
                <a:cs typeface="+mn-cs"/>
              </a:rPr>
              <a:t>In general surveillance: multiple people in the same area at the same time could all be identified as the same person (3 “Johns” or 3 “Janes’); false positive IDs</a:t>
            </a:r>
          </a:p>
          <a:p>
            <a:pPr marL="171450" indent="-171450">
              <a:buFontTx/>
              <a:buChar char="-"/>
            </a:pPr>
            <a:r>
              <a:rPr lang="en-US" sz="1200" b="0" i="0" kern="1200">
                <a:solidFill>
                  <a:schemeClr val="tx1"/>
                </a:solidFill>
                <a:effectLst/>
                <a:latin typeface="+mn-lt"/>
                <a:ea typeface="+mn-ea"/>
                <a:cs typeface="+mn-cs"/>
              </a:rPr>
              <a:t>still closed set: each proposed bbox above confidence thresholds is forces into a closed-set classification</a:t>
            </a:r>
          </a:p>
          <a:p>
            <a:pPr marL="171450" indent="-171450">
              <a:buFontTx/>
              <a:buChar char="-"/>
            </a:pPr>
            <a:r>
              <a:rPr lang="en-US" sz="1200" b="0" i="0" kern="1200">
                <a:solidFill>
                  <a:schemeClr val="tx1"/>
                </a:solidFill>
                <a:effectLst/>
                <a:latin typeface="+mn-lt"/>
                <a:ea typeface="+mn-ea"/>
                <a:cs typeface="+mn-cs"/>
              </a:rPr>
              <a:t>Would require ”many” observations of each enrolled person</a:t>
            </a:r>
          </a:p>
          <a:p>
            <a:pPr marL="171450" indent="-171450">
              <a:buFontTx/>
              <a:buChar char="-"/>
            </a:pPr>
            <a:endParaRPr lang="en-US" sz="1200" b="0" i="0" kern="1200">
              <a:solidFill>
                <a:schemeClr val="tx1"/>
              </a:solidFill>
              <a:effectLst/>
              <a:latin typeface="+mn-lt"/>
              <a:ea typeface="+mn-ea"/>
              <a:cs typeface="+mn-cs"/>
            </a:endParaRPr>
          </a:p>
          <a:p>
            <a:pPr marL="171450" indent="-171450">
              <a:buFontTx/>
              <a:buChar char="-"/>
            </a:pP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0D52C5B-F710-9875-D9D8-6C5CF4D91725}"/>
              </a:ext>
            </a:extLst>
          </p:cNvPr>
          <p:cNvSpPr>
            <a:spLocks noGrp="1"/>
          </p:cNvSpPr>
          <p:nvPr>
            <p:ph type="sldNum" sz="quarter" idx="5"/>
          </p:nvPr>
        </p:nvSpPr>
        <p:spPr/>
        <p:txBody>
          <a:bodyPr/>
          <a:lstStyle/>
          <a:p>
            <a:fld id="{29E7BD1F-0023-244E-A8FD-1ADCC0FAE1A1}" type="slidenum">
              <a:rPr lang="en-US" smtClean="0"/>
              <a:t>16</a:t>
            </a:fld>
            <a:endParaRPr lang="en-US"/>
          </a:p>
        </p:txBody>
      </p:sp>
    </p:spTree>
    <p:extLst>
      <p:ext uri="{BB962C8B-B14F-4D97-AF65-F5344CB8AC3E}">
        <p14:creationId xmlns:p14="http://schemas.microsoft.com/office/powerpoint/2010/main" val="1917616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CA8C5-FB03-9DE4-AE07-A3770EC02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4A11C-8D9F-9F23-1982-8BBAF71A8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8D5A4F-B6D5-4167-3AE7-2A56B5C8D737}"/>
              </a:ext>
            </a:extLst>
          </p:cNvPr>
          <p:cNvSpPr>
            <a:spLocks noGrp="1"/>
          </p:cNvSpPr>
          <p:nvPr>
            <p:ph type="body" idx="1"/>
          </p:nvPr>
        </p:nvSpPr>
        <p:spPr/>
        <p:txBody>
          <a:bodyPr/>
          <a:lstStyle/>
          <a:p>
            <a:pPr marL="0" indent="0">
              <a:buFont typeface="Arial" panose="020B0604020202020204" pitchFamily="34" charset="0"/>
              <a:buNone/>
            </a:pP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2AECB8E-5860-1DCA-A58A-7F0D51231AF6}"/>
              </a:ext>
            </a:extLst>
          </p:cNvPr>
          <p:cNvSpPr>
            <a:spLocks noGrp="1"/>
          </p:cNvSpPr>
          <p:nvPr>
            <p:ph type="sldNum" sz="quarter" idx="5"/>
          </p:nvPr>
        </p:nvSpPr>
        <p:spPr/>
        <p:txBody>
          <a:bodyPr/>
          <a:lstStyle/>
          <a:p>
            <a:fld id="{29E7BD1F-0023-244E-A8FD-1ADCC0FAE1A1}" type="slidenum">
              <a:rPr lang="en-US" smtClean="0"/>
              <a:t>17</a:t>
            </a:fld>
            <a:endParaRPr lang="en-US"/>
          </a:p>
        </p:txBody>
      </p:sp>
    </p:spTree>
    <p:extLst>
      <p:ext uri="{BB962C8B-B14F-4D97-AF65-F5344CB8AC3E}">
        <p14:creationId xmlns:p14="http://schemas.microsoft.com/office/powerpoint/2010/main" val="2325879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D0A58-7079-9BEE-7F38-154933D6AD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5014E9-7FE0-612A-245B-E476C490CFC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01763C4-5CB7-BE14-0327-548879C1FE9E}"/>
                  </a:ext>
                </a:extLst>
              </p:cNvPr>
              <p:cNvSpPr>
                <a:spLocks noGrp="1"/>
              </p:cNvSpPr>
              <p:nvPr>
                <p:ph type="body" idx="1"/>
              </p:nvPr>
            </p:nvSpPr>
            <p:spPr/>
            <p:txBody>
              <a:bodyPr/>
              <a:lstStyle/>
              <a:p>
                <a:pPr lvl="0"/>
                <a:r>
                  <a:rPr lang="en-US" b="1"/>
                  <a:t>globalized normalized logit (GNL) </a:t>
                </a:r>
                <a:r>
                  <a:rPr lang="en-US"/>
                  <a:t>function to normalize our logits using a global min-max normalization</a:t>
                </a:r>
              </a:p>
              <a:p>
                <a:pPr lvl="0"/>
                <a:endParaRPr lang="en-US" sz="1200" b="1" i="0" kern="1200">
                  <a:solidFill>
                    <a:schemeClr val="tx1"/>
                  </a:solidFill>
                  <a:effectLst/>
                  <a:latin typeface="+mn-lt"/>
                  <a:ea typeface="+mn-ea"/>
                  <a:cs typeface="+mn-cs"/>
                </a:endParaRPr>
              </a:p>
              <a:p>
                <a:pPr lvl="0"/>
                <a:r>
                  <a:rPr lang="en-US" sz="1200" b="1" i="0" kern="1200">
                    <a:solidFill>
                      <a:schemeClr val="tx1"/>
                    </a:solidFill>
                    <a:effectLst/>
                    <a:latin typeface="+mn-lt"/>
                    <a:ea typeface="+mn-ea"/>
                    <a:cs typeface="+mn-cs"/>
                  </a:rPr>
                  <a:t>Attenuation hypothesis.</a:t>
                </a:r>
                <a:r>
                  <a:rPr lang="en-US" sz="1200" b="0" i="0" kern="1200">
                    <a:solidFill>
                      <a:schemeClr val="tx1"/>
                    </a:solidFill>
                    <a:effectLst/>
                    <a:latin typeface="+mn-lt"/>
                    <a:ea typeface="+mn-ea"/>
                    <a:cs typeface="+mn-cs"/>
                  </a:rPr>
                  <a:t> The small weights in </a:t>
                </a:r>
                <a14:m>
                  <m:oMath xmlns:m="http://schemas.openxmlformats.org/officeDocument/2006/math">
                    <m:sSub>
                      <m:sSubPr>
                        <m:ctrlPr>
                          <a:rPr lang="en-US" sz="1200" b="0" i="1" kern="1200" smtClean="0">
                            <a:solidFill>
                              <a:schemeClr val="tx1"/>
                            </a:solidFill>
                            <a:effectLst/>
                            <a:latin typeface="Cambria Math" panose="02040503050406030204" pitchFamily="18" charset="0"/>
                            <a:ea typeface="+mn-ea"/>
                            <a:cs typeface="+mn-cs"/>
                          </a:rPr>
                        </m:ctrlPr>
                      </m:sSubPr>
                      <m:e>
                        <m:r>
                          <a:rPr lang="en-US" sz="1200" b="0" i="1" kern="1200" smtClean="0">
                            <a:solidFill>
                              <a:schemeClr val="tx1"/>
                            </a:solidFill>
                            <a:effectLst/>
                            <a:latin typeface="Cambria Math" panose="02040503050406030204" pitchFamily="18" charset="0"/>
                            <a:ea typeface="+mn-ea"/>
                            <a:cs typeface="+mn-cs"/>
                          </a:rPr>
                          <m:t>𝑊</m:t>
                        </m:r>
                      </m:e>
                      <m:sub>
                        <m:r>
                          <a:rPr lang="en-US" sz="1200" b="0" i="1" kern="1200" smtClean="0">
                            <a:solidFill>
                              <a:schemeClr val="tx1"/>
                            </a:solidFill>
                            <a:effectLst/>
                            <a:latin typeface="Cambria Math" panose="02040503050406030204" pitchFamily="18" charset="0"/>
                            <a:ea typeface="+mn-ea"/>
                            <a:cs typeface="+mn-cs"/>
                          </a:rPr>
                          <m:t>𝑗</m:t>
                        </m:r>
                      </m:sub>
                    </m:sSub>
                  </m:oMath>
                </a14:m>
                <a:r>
                  <a:rPr lang="en-US" sz="1200" b="0" i="0" kern="1200">
                    <a:solidFill>
                      <a:schemeClr val="tx1"/>
                    </a:solidFill>
                    <a:effectLst/>
                    <a:latin typeface="+mn-lt"/>
                    <a:ea typeface="+mn-ea"/>
                    <a:cs typeface="+mn-cs"/>
                  </a:rPr>
                  <a:t> serve a </a:t>
                </a:r>
                <a:r>
                  <a:rPr lang="en-US" sz="1200" b="0" i="1" kern="1200">
                    <a:solidFill>
                      <a:schemeClr val="tx1"/>
                    </a:solidFill>
                    <a:effectLst/>
                    <a:latin typeface="+mn-lt"/>
                    <a:ea typeface="+mn-ea"/>
                    <a:cs typeface="+mn-cs"/>
                  </a:rPr>
                  <a:t>dual role</a:t>
                </a:r>
                <a:r>
                  <a:rPr lang="en-US" sz="1200" b="0" i="0" kern="1200">
                    <a:solidFill>
                      <a:schemeClr val="tx1"/>
                    </a:solidFill>
                    <a:effectLst/>
                    <a:latin typeface="+mn-lt"/>
                    <a:ea typeface="+mn-ea"/>
                    <a:cs typeface="+mn-cs"/>
                  </a:rPr>
                  <a:t>: </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they are necessary for known-class discrimination (features useful for class </a:t>
                </a:r>
                <a:r>
                  <a:rPr lang="en-US" sz="1200" b="0" i="1" kern="1200">
                    <a:solidFill>
                      <a:schemeClr val="tx1"/>
                    </a:solidFill>
                    <a:effectLst/>
                    <a:latin typeface="+mn-lt"/>
                    <a:ea typeface="+mn-ea"/>
                    <a:cs typeface="+mn-cs"/>
                  </a:rPr>
                  <a:t>k</a:t>
                </a:r>
                <a:r>
                  <a:rPr lang="en-US" sz="1200" b="0" i="0" kern="1200">
                    <a:solidFill>
                      <a:schemeClr val="tx1"/>
                    </a:solidFill>
                    <a:effectLst/>
                    <a:latin typeface="+mn-lt"/>
                    <a:ea typeface="+mn-ea"/>
                    <a:cs typeface="+mn-cs"/>
                  </a:rPr>
                  <a:t> must be ignored by class </a:t>
                </a:r>
                <a:r>
                  <a:rPr lang="en-US" sz="1200" b="0" i="1" kern="1200">
                    <a:solidFill>
                      <a:schemeClr val="tx1"/>
                    </a:solidFill>
                    <a:effectLst/>
                    <a:latin typeface="+mn-lt"/>
                    <a:ea typeface="+mn-ea"/>
                    <a:cs typeface="+mn-cs"/>
                  </a:rPr>
                  <a:t>j</a:t>
                </a:r>
                <a:r>
                  <a:rPr lang="en-US" sz="1200" b="0" i="0" kern="1200">
                    <a:solidFill>
                      <a:schemeClr val="tx1"/>
                    </a:solidFill>
                    <a:effectLst/>
                    <a:latin typeface="+mn-lt"/>
                    <a:ea typeface="+mn-ea"/>
                    <a:cs typeface="+mn-cs"/>
                  </a:rPr>
                  <a:t>), and </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they simultaneously discard information useful for known/unknown discrimination</a:t>
                </a:r>
              </a:p>
              <a:p>
                <a:pPr marL="171450" lvl="0" indent="-171450">
                  <a:buFont typeface="Arial" panose="020B0604020202020204" pitchFamily="34" charset="0"/>
                  <a:buChar char="•"/>
                </a:pPr>
                <a:endParaRPr lang="en-US" sz="1200" b="0" i="0" kern="1200">
                  <a:solidFill>
                    <a:schemeClr val="tx1"/>
                  </a:solidFill>
                  <a:effectLst/>
                  <a:latin typeface="+mn-lt"/>
                  <a:ea typeface="+mn-ea"/>
                  <a:cs typeface="+mn-cs"/>
                </a:endParaRPr>
              </a:p>
              <a:p>
                <a:pPr marL="0" lvl="0" indent="0">
                  <a:buFont typeface="Arial" panose="020B0604020202020204" pitchFamily="34" charset="0"/>
                  <a:buNone/>
                </a:pPr>
                <a:r>
                  <a:rPr lang="en-US" sz="1200" b="0" i="0" kern="1200">
                    <a:solidFill>
                      <a:schemeClr val="tx1"/>
                    </a:solidFill>
                    <a:effectLst/>
                    <a:latin typeface="+mn-lt"/>
                    <a:ea typeface="+mn-ea"/>
                    <a:cs typeface="+mn-cs"/>
                  </a:rPr>
                  <a:t>Robust OSR must therefore use </a:t>
                </a:r>
                <a:r>
                  <a:rPr lang="en-US" sz="1200" b="1" i="0" kern="1200">
                    <a:solidFill>
                      <a:schemeClr val="tx1"/>
                    </a:solidFill>
                    <a:effectLst/>
                    <a:latin typeface="+mn-lt"/>
                    <a:ea typeface="+mn-ea"/>
                    <a:cs typeface="+mn-cs"/>
                  </a:rPr>
                  <a:t>both</a:t>
                </a:r>
                <a:r>
                  <a:rPr lang="en-US" sz="1200" b="0" i="0" kern="1200">
                    <a:solidFill>
                      <a:schemeClr val="tx1"/>
                    </a:solidFill>
                    <a:effectLst/>
                    <a:latin typeface="+mn-lt"/>
                    <a:ea typeface="+mn-ea"/>
                    <a:cs typeface="+mn-cs"/>
                  </a:rPr>
                  <a:t> the pre-attenuation features </a:t>
                </a:r>
                <a:r>
                  <a:rPr lang="en-US" sz="1200" b="1" i="1" kern="1200">
                    <a:solidFill>
                      <a:schemeClr val="tx1"/>
                    </a:solidFill>
                    <a:effectLst/>
                    <a:latin typeface="+mn-lt"/>
                    <a:ea typeface="+mn-ea"/>
                    <a:cs typeface="+mn-cs"/>
                  </a:rPr>
                  <a:t>F</a:t>
                </a:r>
                <a:r>
                  <a:rPr lang="en-US" sz="1200" b="0" i="0" kern="1200">
                    <a:solidFill>
                      <a:schemeClr val="tx1"/>
                    </a:solidFill>
                    <a:effectLst/>
                    <a:latin typeface="+mn-lt"/>
                    <a:ea typeface="+mn-ea"/>
                    <a:cs typeface="+mn-cs"/>
                  </a:rPr>
                  <a:t> and the post-attenuation features </a:t>
                </a:r>
                <a:r>
                  <a:rPr lang="en-US" sz="1200" b="1" i="1" kern="1200">
                    <a:solidFill>
                      <a:schemeClr val="tx1"/>
                    </a:solidFill>
                    <a:effectLst/>
                    <a:latin typeface="+mn-lt"/>
                    <a:ea typeface="+mn-ea"/>
                    <a:cs typeface="+mn-cs"/>
                  </a:rPr>
                  <a:t>H</a:t>
                </a:r>
              </a:p>
              <a:p>
                <a:pPr marL="0" lvl="0" indent="0">
                  <a:buFont typeface="Arial" panose="020B0604020202020204" pitchFamily="34" charset="0"/>
                  <a:buNone/>
                </a:pPr>
                <a:endParaRPr lang="en-US" sz="1200" b="1" i="1" kern="1200">
                  <a:solidFill>
                    <a:schemeClr val="tx1"/>
                  </a:solidFill>
                  <a:effectLst/>
                  <a:latin typeface="+mn-lt"/>
                  <a:ea typeface="+mn-ea"/>
                  <a:cs typeface="+mn-cs"/>
                </a:endParaRPr>
              </a:p>
              <a:p>
                <a:pPr marL="0" lvl="0" indent="0">
                  <a:buFont typeface="Arial" panose="020B0604020202020204" pitchFamily="34" charset="0"/>
                  <a:buNone/>
                </a:pPr>
                <a:r>
                  <a:rPr lang="en-US" sz="1200" b="1" i="0" kern="1200">
                    <a:solidFill>
                      <a:schemeClr val="tx1"/>
                    </a:solidFill>
                    <a:effectLst/>
                    <a:latin typeface="+mn-lt"/>
                    <a:ea typeface="+mn-ea"/>
                    <a:cs typeface="+mn-cs"/>
                  </a:rPr>
                  <a:t>Per-class consolidated model.</a:t>
                </a:r>
                <a:r>
                  <a:rPr lang="en-US" sz="1200" b="0" i="0" kern="1200">
                    <a:solidFill>
                      <a:schemeClr val="tx1"/>
                    </a:solidFill>
                    <a:effectLst/>
                    <a:latin typeface="+mn-lt"/>
                    <a:ea typeface="+mn-ea"/>
                    <a:cs typeface="+mn-cs"/>
                  </a:rPr>
                  <a:t> Concatenate </a:t>
                </a:r>
                <a14:m>
                  <m:oMath xmlns:m="http://schemas.openxmlformats.org/officeDocument/2006/math">
                    <m:sSub>
                      <m:sSubPr>
                        <m:ctrlPr>
                          <a:rPr lang="en-US" sz="1200" b="0" i="1" kern="1200" smtClean="0">
                            <a:solidFill>
                              <a:schemeClr val="tx1"/>
                            </a:solidFill>
                            <a:effectLst/>
                            <a:latin typeface="Cambria Math" panose="02040503050406030204" pitchFamily="18" charset="0"/>
                            <a:ea typeface="+mn-ea"/>
                            <a:cs typeface="+mn-cs"/>
                          </a:rPr>
                        </m:ctrlPr>
                      </m:sSubPr>
                      <m:e>
                        <m:r>
                          <a:rPr lang="en-US" sz="1200" b="0" i="1" kern="1200" smtClean="0">
                            <a:solidFill>
                              <a:schemeClr val="tx1"/>
                            </a:solidFill>
                            <a:effectLst/>
                            <a:latin typeface="Cambria Math" panose="02040503050406030204" pitchFamily="18" charset="0"/>
                            <a:ea typeface="+mn-ea"/>
                            <a:cs typeface="+mn-cs"/>
                          </a:rPr>
                          <m:t>𝐶</m:t>
                        </m:r>
                      </m:e>
                      <m:sub>
                        <m:r>
                          <a:rPr lang="en-US" sz="1200" b="0" i="1" kern="1200" smtClean="0">
                            <a:solidFill>
                              <a:schemeClr val="tx1"/>
                            </a:solidFill>
                            <a:effectLst/>
                            <a:latin typeface="Cambria Math" panose="02040503050406030204" pitchFamily="18" charset="0"/>
                            <a:ea typeface="+mn-ea"/>
                            <a:cs typeface="+mn-cs"/>
                          </a:rPr>
                          <m:t>𝑗</m:t>
                        </m:r>
                      </m:sub>
                    </m:sSub>
                    <m:r>
                      <a:rPr lang="en-US" sz="1200" b="0" i="1" kern="1200" smtClean="0">
                        <a:solidFill>
                          <a:schemeClr val="tx1"/>
                        </a:solidFill>
                        <a:effectLst/>
                        <a:latin typeface="Cambria Math" panose="02040503050406030204" pitchFamily="18" charset="0"/>
                        <a:ea typeface="+mn-ea"/>
                        <a:cs typeface="+mn-cs"/>
                      </a:rPr>
                      <m:t>(</m:t>
                    </m:r>
                    <m:r>
                      <a:rPr lang="en-US" sz="1200" b="0" i="1" kern="1200" smtClean="0">
                        <a:solidFill>
                          <a:schemeClr val="tx1"/>
                        </a:solidFill>
                        <a:effectLst/>
                        <a:latin typeface="Cambria Math" panose="02040503050406030204" pitchFamily="18" charset="0"/>
                        <a:ea typeface="+mn-ea"/>
                        <a:cs typeface="+mn-cs"/>
                      </a:rPr>
                      <m:t>𝑥</m:t>
                    </m:r>
                    <m:r>
                      <a:rPr lang="en-US" sz="1200" b="0" i="1" kern="1200" smtClean="0">
                        <a:solidFill>
                          <a:schemeClr val="tx1"/>
                        </a:solidFill>
                        <a:effectLst/>
                        <a:latin typeface="Cambria Math" panose="02040503050406030204" pitchFamily="18" charset="0"/>
                        <a:ea typeface="+mn-ea"/>
                        <a:cs typeface="+mn-cs"/>
                      </a:rPr>
                      <m:t>) = </m:t>
                    </m:r>
                    <m:r>
                      <a:rPr lang="en-US" sz="1200" b="0" i="1" kern="1200" smtClean="0">
                        <a:solidFill>
                          <a:schemeClr val="tx1"/>
                        </a:solidFill>
                        <a:effectLst/>
                        <a:latin typeface="Cambria Math" panose="02040503050406030204" pitchFamily="18" charset="0"/>
                        <a:ea typeface="+mn-ea"/>
                        <a:cs typeface="+mn-cs"/>
                      </a:rPr>
                      <m:t>𝐶𝑜𝑛𝑐𝑎𝑡</m:t>
                    </m:r>
                    <m:r>
                      <a:rPr lang="en-US" sz="1200" b="0" i="1" kern="1200" smtClean="0">
                        <a:solidFill>
                          <a:schemeClr val="tx1"/>
                        </a:solidFill>
                        <a:effectLst/>
                        <a:latin typeface="Cambria Math" panose="02040503050406030204" pitchFamily="18" charset="0"/>
                        <a:ea typeface="+mn-ea"/>
                        <a:cs typeface="+mn-cs"/>
                      </a:rPr>
                      <m:t>(</m:t>
                    </m:r>
                    <m:r>
                      <a:rPr lang="en-US" sz="1200" b="0" i="1" kern="1200" smtClean="0">
                        <a:solidFill>
                          <a:schemeClr val="tx1"/>
                        </a:solidFill>
                        <a:effectLst/>
                        <a:latin typeface="Cambria Math" panose="02040503050406030204" pitchFamily="18" charset="0"/>
                        <a:ea typeface="+mn-ea"/>
                        <a:cs typeface="+mn-cs"/>
                      </a:rPr>
                      <m:t>𝐹</m:t>
                    </m:r>
                    <m:r>
                      <a:rPr lang="en-US" sz="1200" b="0" i="1" kern="1200" smtClean="0">
                        <a:solidFill>
                          <a:schemeClr val="tx1"/>
                        </a:solidFill>
                        <a:effectLst/>
                        <a:latin typeface="Cambria Math" panose="02040503050406030204" pitchFamily="18" charset="0"/>
                        <a:ea typeface="+mn-ea"/>
                        <a:cs typeface="+mn-cs"/>
                      </a:rPr>
                      <m:t>(</m:t>
                    </m:r>
                    <m:r>
                      <a:rPr lang="en-US" sz="1200" b="0" i="1" kern="1200" smtClean="0">
                        <a:solidFill>
                          <a:schemeClr val="tx1"/>
                        </a:solidFill>
                        <a:effectLst/>
                        <a:latin typeface="Cambria Math" panose="02040503050406030204" pitchFamily="18" charset="0"/>
                        <a:ea typeface="+mn-ea"/>
                        <a:cs typeface="+mn-cs"/>
                      </a:rPr>
                      <m:t>𝑥</m:t>
                    </m:r>
                    <m:r>
                      <a:rPr lang="en-US" sz="1200" b="0" i="1" kern="1200" smtClean="0">
                        <a:solidFill>
                          <a:schemeClr val="tx1"/>
                        </a:solidFill>
                        <a:effectLst/>
                        <a:latin typeface="Cambria Math" panose="02040503050406030204" pitchFamily="18" charset="0"/>
                        <a:ea typeface="+mn-ea"/>
                        <a:cs typeface="+mn-cs"/>
                      </a:rPr>
                      <m:t>), </m:t>
                    </m:r>
                    <m:sSub>
                      <m:sSubPr>
                        <m:ctrlPr>
                          <a:rPr lang="en-US" sz="1200" b="0" i="1" kern="1200" smtClean="0">
                            <a:solidFill>
                              <a:schemeClr val="tx1"/>
                            </a:solidFill>
                            <a:effectLst/>
                            <a:latin typeface="Cambria Math" panose="02040503050406030204" pitchFamily="18" charset="0"/>
                            <a:ea typeface="+mn-ea"/>
                            <a:cs typeface="+mn-cs"/>
                          </a:rPr>
                        </m:ctrlPr>
                      </m:sSubPr>
                      <m:e>
                        <m:r>
                          <a:rPr lang="en-US" sz="1200" b="0" i="1" kern="1200" smtClean="0">
                            <a:solidFill>
                              <a:schemeClr val="tx1"/>
                            </a:solidFill>
                            <a:effectLst/>
                            <a:latin typeface="Cambria Math" panose="02040503050406030204" pitchFamily="18" charset="0"/>
                            <a:ea typeface="+mn-ea"/>
                            <a:cs typeface="+mn-cs"/>
                          </a:rPr>
                          <m:t>𝐻</m:t>
                        </m:r>
                      </m:e>
                      <m:sub>
                        <m:r>
                          <a:rPr lang="en-US" sz="1200" b="0" i="1" kern="1200" smtClean="0">
                            <a:solidFill>
                              <a:schemeClr val="tx1"/>
                            </a:solidFill>
                            <a:effectLst/>
                            <a:latin typeface="Cambria Math" panose="02040503050406030204" pitchFamily="18" charset="0"/>
                            <a:ea typeface="+mn-ea"/>
                            <a:cs typeface="+mn-cs"/>
                          </a:rPr>
                          <m:t>𝑗</m:t>
                        </m:r>
                      </m:sub>
                    </m:sSub>
                    <m:r>
                      <a:rPr lang="en-US" sz="1200" b="0" i="1" kern="1200" smtClean="0">
                        <a:solidFill>
                          <a:schemeClr val="tx1"/>
                        </a:solidFill>
                        <a:effectLst/>
                        <a:latin typeface="Cambria Math" panose="02040503050406030204" pitchFamily="18" charset="0"/>
                        <a:ea typeface="+mn-ea"/>
                        <a:cs typeface="+mn-cs"/>
                      </a:rPr>
                      <m:t>)</m:t>
                    </m:r>
                  </m:oMath>
                </a14:m>
                <a:r>
                  <a:rPr lang="en-US" sz="1200" b="0" i="0" kern="1200">
                    <a:solidFill>
                      <a:schemeClr val="tx1"/>
                    </a:solidFill>
                    <a:effectLst/>
                    <a:latin typeface="+mn-lt"/>
                    <a:ea typeface="+mn-ea"/>
                    <a:cs typeface="+mn-cs"/>
                  </a:rPr>
                  <a:t> and compare it by cosine similarity to a precomputed per-class mean </a:t>
                </a:r>
                <a14:m>
                  <m:oMath xmlns:m="http://schemas.openxmlformats.org/officeDocument/2006/math">
                    <m:sSub>
                      <m:sSubPr>
                        <m:ctrlPr>
                          <a:rPr lang="en-US" sz="1200" b="1" i="1" kern="1200" smtClean="0">
                            <a:solidFill>
                              <a:schemeClr val="tx1"/>
                            </a:solidFill>
                            <a:effectLst/>
                            <a:latin typeface="Cambria Math" panose="02040503050406030204" pitchFamily="18" charset="0"/>
                            <a:ea typeface="+mn-ea"/>
                            <a:cs typeface="+mn-cs"/>
                          </a:rPr>
                        </m:ctrlPr>
                      </m:sSubPr>
                      <m:e>
                        <m:acc>
                          <m:accPr>
                            <m:chr m:val="̂"/>
                            <m:ctrlPr>
                              <a:rPr lang="en-US" sz="1200" b="1" i="1" kern="1200" smtClean="0">
                                <a:solidFill>
                                  <a:schemeClr val="tx1"/>
                                </a:solidFill>
                                <a:effectLst/>
                                <a:latin typeface="Cambria Math" panose="02040503050406030204" pitchFamily="18" charset="0"/>
                                <a:ea typeface="+mn-ea"/>
                                <a:cs typeface="+mn-cs"/>
                              </a:rPr>
                            </m:ctrlPr>
                          </m:accPr>
                          <m:e>
                            <m:r>
                              <a:rPr lang="en-US" sz="1200" b="1" i="1" kern="1200" smtClean="0">
                                <a:solidFill>
                                  <a:schemeClr val="tx1"/>
                                </a:solidFill>
                                <a:effectLst/>
                                <a:latin typeface="Cambria Math" panose="02040503050406030204" pitchFamily="18" charset="0"/>
                                <a:ea typeface="+mn-ea"/>
                                <a:cs typeface="+mn-cs"/>
                              </a:rPr>
                              <m:t>𝝁</m:t>
                            </m:r>
                          </m:e>
                        </m:acc>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𝑗</m:t>
                            </m:r>
                          </m:sub>
                        </m:sSub>
                      </m:sub>
                    </m:sSub>
                  </m:oMath>
                </a14:m>
                <a:r>
                  <a:rPr lang="en-US" sz="1200" b="0" i="0" kern="1200">
                    <a:solidFill>
                      <a:schemeClr val="tx1"/>
                    </a:solidFill>
                    <a:effectLst/>
                    <a:latin typeface="+mn-lt"/>
                    <a:ea typeface="+mn-ea"/>
                    <a:cs typeface="+mn-cs"/>
                  </a:rPr>
                  <a:t>. This is a </a:t>
                </a:r>
                <a:r>
                  <a:rPr lang="en-US" sz="1200" b="0" i="1" kern="1200">
                    <a:solidFill>
                      <a:schemeClr val="tx1"/>
                    </a:solidFill>
                    <a:effectLst/>
                    <a:latin typeface="+mn-lt"/>
                    <a:ea typeface="+mn-ea"/>
                    <a:cs typeface="+mn-cs"/>
                  </a:rPr>
                  <a:t>per-class</a:t>
                </a:r>
                <a:r>
                  <a:rPr lang="en-US" sz="1200" b="0" i="0" kern="1200">
                    <a:solidFill>
                      <a:schemeClr val="tx1"/>
                    </a:solidFill>
                    <a:effectLst/>
                    <a:latin typeface="+mn-lt"/>
                    <a:ea typeface="+mn-ea"/>
                    <a:cs typeface="+mn-cs"/>
                  </a:rPr>
                  <a:t> normalization, versus PostMax's class-agnostic feature-norm division</a:t>
                </a:r>
              </a:p>
              <a:p>
                <a:pPr marL="0" lvl="0" indent="0">
                  <a:buFont typeface="Arial" panose="020B0604020202020204" pitchFamily="34" charset="0"/>
                  <a:buNone/>
                </a:pPr>
                <a:endParaRPr lang="en-US" sz="1200" b="0" i="0" kern="1200">
                  <a:solidFill>
                    <a:schemeClr val="tx1"/>
                  </a:solidFill>
                  <a:effectLst/>
                  <a:latin typeface="+mn-lt"/>
                  <a:ea typeface="+mn-ea"/>
                  <a:cs typeface="+mn-cs"/>
                </a:endParaRPr>
              </a:p>
              <a:p>
                <a:pPr marL="0" lvl="0" indent="0">
                  <a:buFont typeface="Arial" panose="020B0604020202020204" pitchFamily="34" charset="0"/>
                  <a:buNone/>
                </a:pPr>
                <a:r>
                  <a:rPr lang="en-US" sz="1200" b="1" i="0" kern="1200">
                    <a:solidFill>
                      <a:schemeClr val="tx1"/>
                    </a:solidFill>
                    <a:effectLst/>
                    <a:latin typeface="+mn-lt"/>
                    <a:ea typeface="+mn-ea"/>
                    <a:cs typeface="+mn-cs"/>
                  </a:rPr>
                  <a:t>Logit scaling with a probabilistic reading.</a:t>
                </a:r>
                <a:r>
                  <a:rPr lang="en-US" sz="1200" b="0" i="0" kern="1200">
                    <a:solidFill>
                      <a:schemeClr val="tx1"/>
                    </a:solidFill>
                    <a:effectLst/>
                    <a:latin typeface="+mn-lt"/>
                    <a:ea typeface="+mn-ea"/>
                    <a:cs typeface="+mn-cs"/>
                  </a:rPr>
                  <a:t> Multiply the similarity by a globally min–max normalized max logit, which makes the product interpretable as the probability that the input is </a:t>
                </a:r>
                <a:r>
                  <a:rPr lang="en-US" sz="1200" b="0" i="1" kern="1200">
                    <a:solidFill>
                      <a:schemeClr val="tx1"/>
                    </a:solidFill>
                    <a:effectLst/>
                    <a:latin typeface="+mn-lt"/>
                    <a:ea typeface="+mn-ea"/>
                    <a:cs typeface="+mn-cs"/>
                  </a:rPr>
                  <a:t>both</a:t>
                </a:r>
                <a:r>
                  <a:rPr lang="en-US" sz="1200" b="0" i="0" kern="1200">
                    <a:solidFill>
                      <a:schemeClr val="tx1"/>
                    </a:solidFill>
                    <a:effectLst/>
                    <a:latin typeface="+mn-lt"/>
                    <a:ea typeface="+mn-ea"/>
                    <a:cs typeface="+mn-cs"/>
                  </a:rPr>
                  <a:t> known </a:t>
                </a:r>
                <a:r>
                  <a:rPr lang="en-US" sz="1200" b="0" i="1" kern="1200">
                    <a:solidFill>
                      <a:schemeClr val="tx1"/>
                    </a:solidFill>
                    <a:effectLst/>
                    <a:latin typeface="+mn-lt"/>
                    <a:ea typeface="+mn-ea"/>
                    <a:cs typeface="+mn-cs"/>
                  </a:rPr>
                  <a:t>and</a:t>
                </a:r>
                <a:r>
                  <a:rPr lang="en-US" sz="1200" b="0" i="0" kern="1200">
                    <a:solidFill>
                      <a:schemeClr val="tx1"/>
                    </a:solidFill>
                    <a:effectLst/>
                    <a:latin typeface="+mn-lt"/>
                    <a:ea typeface="+mn-ea"/>
                    <a:cs typeface="+mn-cs"/>
                  </a:rPr>
                  <a:t> correctly classified</a:t>
                </a:r>
              </a:p>
              <a:p>
                <a:pPr marL="0" lvl="0" indent="0">
                  <a:buFont typeface="Arial" panose="020B0604020202020204" pitchFamily="34" charset="0"/>
                  <a:buNone/>
                </a:pPr>
                <a:endParaRPr lang="en-US" sz="1200" b="0" i="0" kern="1200">
                  <a:solidFill>
                    <a:schemeClr val="tx1"/>
                  </a:solidFill>
                  <a:effectLst/>
                  <a:latin typeface="+mn-lt"/>
                  <a:ea typeface="+mn-ea"/>
                  <a:cs typeface="+mn-cs"/>
                </a:endParaRPr>
              </a:p>
              <a:p>
                <a:pPr marL="0" lvl="0" indent="0">
                  <a:buFont typeface="Arial" panose="020B0604020202020204" pitchFamily="34" charset="0"/>
                  <a:buNone/>
                </a:pPr>
                <a:endParaRPr lang="en-US" sz="1200" b="0" i="0" kern="1200">
                  <a:solidFill>
                    <a:schemeClr val="tx1"/>
                  </a:solidFill>
                  <a:effectLst/>
                  <a:latin typeface="+mn-lt"/>
                  <a:ea typeface="+mn-ea"/>
                  <a:cs typeface="+mn-cs"/>
                </a:endParaRPr>
              </a:p>
              <a:p>
                <a:pPr marL="0" lvl="0" indent="0">
                  <a:buFont typeface="Arial" panose="020B0604020202020204" pitchFamily="34" charset="0"/>
                  <a:buNone/>
                </a:pPr>
                <a:r>
                  <a:rPr lang="en-US" sz="1200" b="1" i="0" kern="1200">
                    <a:solidFill>
                      <a:schemeClr val="tx1"/>
                    </a:solidFill>
                    <a:effectLst/>
                    <a:latin typeface="+mn-lt"/>
                    <a:ea typeface="+mn-ea"/>
                    <a:cs typeface="+mn-cs"/>
                  </a:rPr>
                  <a:t>Framing: </a:t>
                </a:r>
                <a:r>
                  <a:rPr lang="en-US" sz="1200" b="0" i="0" kern="1200">
                    <a:solidFill>
                      <a:schemeClr val="tx1"/>
                    </a:solidFill>
                    <a:effectLst/>
                    <a:latin typeface="+mn-lt"/>
                    <a:ea typeface="+mn-ea"/>
                    <a:cs typeface="+mn-cs"/>
                  </a:rPr>
                  <a:t>COSTARR is a </a:t>
                </a:r>
                <a:r>
                  <a:rPr lang="en-US" sz="1200" b="0" i="1" kern="1200">
                    <a:solidFill>
                      <a:schemeClr val="tx1"/>
                    </a:solidFill>
                    <a:effectLst/>
                    <a:latin typeface="+mn-lt"/>
                    <a:ea typeface="+mn-ea"/>
                    <a:cs typeface="+mn-cs"/>
                  </a:rPr>
                  <a:t>score function</a:t>
                </a:r>
                <a:r>
                  <a:rPr lang="en-US" sz="1200" b="0" i="0" kern="1200">
                    <a:solidFill>
                      <a:schemeClr val="tx1"/>
                    </a:solidFill>
                    <a:effectLst/>
                    <a:latin typeface="+mn-lt"/>
                    <a:ea typeface="+mn-ea"/>
                    <a:cs typeface="+mn-cs"/>
                  </a:rPr>
                  <a:t>, not a model </a:t>
                </a:r>
              </a:p>
            </p:txBody>
          </p:sp>
        </mc:Choice>
        <mc:Fallback xmlns="">
          <p:sp>
            <p:nvSpPr>
              <p:cNvPr id="3" name="Notes Placeholder 2">
                <a:extLst>
                  <a:ext uri="{FF2B5EF4-FFF2-40B4-BE49-F238E27FC236}">
                    <a16:creationId xmlns:a16="http://schemas.microsoft.com/office/drawing/2014/main" id="{001763C4-5CB7-BE14-0327-548879C1FE9E}"/>
                  </a:ext>
                </a:extLst>
              </p:cNvPr>
              <p:cNvSpPr>
                <a:spLocks noGrp="1"/>
              </p:cNvSpPr>
              <p:nvPr>
                <p:ph type="body" idx="1"/>
              </p:nvPr>
            </p:nvSpPr>
            <p:spPr/>
            <p:txBody>
              <a:bodyPr/>
              <a:lstStyle/>
              <a:p>
                <a:pPr lvl="0"/>
                <a:r>
                  <a:rPr lang="en-US" b="1"/>
                  <a:t>globalized normalized logit (GNL) </a:t>
                </a:r>
                <a:r>
                  <a:rPr lang="en-US"/>
                  <a:t>function to normalize our logits using a global min-max normalization</a:t>
                </a:r>
              </a:p>
              <a:p>
                <a:pPr lvl="0"/>
                <a:endParaRPr lang="en-US" sz="1200" b="1" i="0" kern="1200">
                  <a:solidFill>
                    <a:schemeClr val="tx1"/>
                  </a:solidFill>
                  <a:effectLst/>
                  <a:latin typeface="+mn-lt"/>
                  <a:ea typeface="+mn-ea"/>
                  <a:cs typeface="+mn-cs"/>
                </a:endParaRPr>
              </a:p>
              <a:p>
                <a:pPr lvl="0"/>
                <a:r>
                  <a:rPr lang="en-US" sz="1200" b="1" i="0" kern="1200">
                    <a:solidFill>
                      <a:schemeClr val="tx1"/>
                    </a:solidFill>
                    <a:effectLst/>
                    <a:latin typeface="+mn-lt"/>
                    <a:ea typeface="+mn-ea"/>
                    <a:cs typeface="+mn-cs"/>
                  </a:rPr>
                  <a:t>Attenuation hypothesis.</a:t>
                </a:r>
                <a:r>
                  <a:rPr lang="en-US" sz="1200" b="0" i="0" kern="1200">
                    <a:solidFill>
                      <a:schemeClr val="tx1"/>
                    </a:solidFill>
                    <a:effectLst/>
                    <a:latin typeface="+mn-lt"/>
                    <a:ea typeface="+mn-ea"/>
                    <a:cs typeface="+mn-cs"/>
                  </a:rPr>
                  <a:t> The small weights in </a:t>
                </a:r>
                <a:r>
                  <a:rPr lang="en-US" sz="1200" b="0" i="0" kern="1200">
                    <a:solidFill>
                      <a:schemeClr val="tx1"/>
                    </a:solidFill>
                    <a:effectLst/>
                    <a:latin typeface="Cambria Math" panose="02040503050406030204" pitchFamily="18" charset="0"/>
                    <a:ea typeface="+mn-ea"/>
                    <a:cs typeface="+mn-cs"/>
                  </a:rPr>
                  <a:t>𝑊_𝑗</a:t>
                </a:r>
                <a:r>
                  <a:rPr lang="en-US" sz="1200" b="0" i="0" kern="1200">
                    <a:solidFill>
                      <a:schemeClr val="tx1"/>
                    </a:solidFill>
                    <a:effectLst/>
                    <a:latin typeface="+mn-lt"/>
                    <a:ea typeface="+mn-ea"/>
                    <a:cs typeface="+mn-cs"/>
                  </a:rPr>
                  <a:t> serve a </a:t>
                </a:r>
                <a:r>
                  <a:rPr lang="en-US" sz="1200" b="0" i="1" kern="1200">
                    <a:solidFill>
                      <a:schemeClr val="tx1"/>
                    </a:solidFill>
                    <a:effectLst/>
                    <a:latin typeface="+mn-lt"/>
                    <a:ea typeface="+mn-ea"/>
                    <a:cs typeface="+mn-cs"/>
                  </a:rPr>
                  <a:t>dual role</a:t>
                </a:r>
                <a:r>
                  <a:rPr lang="en-US" sz="1200" b="0" i="0" kern="1200">
                    <a:solidFill>
                      <a:schemeClr val="tx1"/>
                    </a:solidFill>
                    <a:effectLst/>
                    <a:latin typeface="+mn-lt"/>
                    <a:ea typeface="+mn-ea"/>
                    <a:cs typeface="+mn-cs"/>
                  </a:rPr>
                  <a:t>: </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they are necessary for known-class discrimination (features useful for class </a:t>
                </a:r>
                <a:r>
                  <a:rPr lang="en-US" sz="1200" b="0" i="1" kern="1200">
                    <a:solidFill>
                      <a:schemeClr val="tx1"/>
                    </a:solidFill>
                    <a:effectLst/>
                    <a:latin typeface="+mn-lt"/>
                    <a:ea typeface="+mn-ea"/>
                    <a:cs typeface="+mn-cs"/>
                  </a:rPr>
                  <a:t>k</a:t>
                </a:r>
                <a:r>
                  <a:rPr lang="en-US" sz="1200" b="0" i="0" kern="1200">
                    <a:solidFill>
                      <a:schemeClr val="tx1"/>
                    </a:solidFill>
                    <a:effectLst/>
                    <a:latin typeface="+mn-lt"/>
                    <a:ea typeface="+mn-ea"/>
                    <a:cs typeface="+mn-cs"/>
                  </a:rPr>
                  <a:t> must be ignored by class </a:t>
                </a:r>
                <a:r>
                  <a:rPr lang="en-US" sz="1200" b="0" i="1" kern="1200">
                    <a:solidFill>
                      <a:schemeClr val="tx1"/>
                    </a:solidFill>
                    <a:effectLst/>
                    <a:latin typeface="+mn-lt"/>
                    <a:ea typeface="+mn-ea"/>
                    <a:cs typeface="+mn-cs"/>
                  </a:rPr>
                  <a:t>j</a:t>
                </a:r>
                <a:r>
                  <a:rPr lang="en-US" sz="1200" b="0" i="0" kern="1200">
                    <a:solidFill>
                      <a:schemeClr val="tx1"/>
                    </a:solidFill>
                    <a:effectLst/>
                    <a:latin typeface="+mn-lt"/>
                    <a:ea typeface="+mn-ea"/>
                    <a:cs typeface="+mn-cs"/>
                  </a:rPr>
                  <a:t>), and </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they simultaneously discard information useful for known/unknown discrimination</a:t>
                </a:r>
              </a:p>
              <a:p>
                <a:pPr marL="171450" lvl="0" indent="-171450">
                  <a:buFont typeface="Arial" panose="020B0604020202020204" pitchFamily="34" charset="0"/>
                  <a:buChar char="•"/>
                </a:pPr>
                <a:endParaRPr lang="en-US" sz="1200" b="0" i="0" kern="1200">
                  <a:solidFill>
                    <a:schemeClr val="tx1"/>
                  </a:solidFill>
                  <a:effectLst/>
                  <a:latin typeface="+mn-lt"/>
                  <a:ea typeface="+mn-ea"/>
                  <a:cs typeface="+mn-cs"/>
                </a:endParaRPr>
              </a:p>
              <a:p>
                <a:pPr marL="0" lvl="0" indent="0">
                  <a:buFont typeface="Arial" panose="020B0604020202020204" pitchFamily="34" charset="0"/>
                  <a:buNone/>
                </a:pPr>
                <a:r>
                  <a:rPr lang="en-US" sz="1200" b="0" i="0" kern="1200">
                    <a:solidFill>
                      <a:schemeClr val="tx1"/>
                    </a:solidFill>
                    <a:effectLst/>
                    <a:latin typeface="+mn-lt"/>
                    <a:ea typeface="+mn-ea"/>
                    <a:cs typeface="+mn-cs"/>
                  </a:rPr>
                  <a:t>Robust OSR must therefore use </a:t>
                </a:r>
                <a:r>
                  <a:rPr lang="en-US" sz="1200" b="1" i="0" kern="1200">
                    <a:solidFill>
                      <a:schemeClr val="tx1"/>
                    </a:solidFill>
                    <a:effectLst/>
                    <a:latin typeface="+mn-lt"/>
                    <a:ea typeface="+mn-ea"/>
                    <a:cs typeface="+mn-cs"/>
                  </a:rPr>
                  <a:t>both</a:t>
                </a:r>
                <a:r>
                  <a:rPr lang="en-US" sz="1200" b="0" i="0" kern="1200">
                    <a:solidFill>
                      <a:schemeClr val="tx1"/>
                    </a:solidFill>
                    <a:effectLst/>
                    <a:latin typeface="+mn-lt"/>
                    <a:ea typeface="+mn-ea"/>
                    <a:cs typeface="+mn-cs"/>
                  </a:rPr>
                  <a:t> the pre-attenuation features </a:t>
                </a:r>
                <a:r>
                  <a:rPr lang="en-US" sz="1200" b="1" i="1" kern="1200">
                    <a:solidFill>
                      <a:schemeClr val="tx1"/>
                    </a:solidFill>
                    <a:effectLst/>
                    <a:latin typeface="+mn-lt"/>
                    <a:ea typeface="+mn-ea"/>
                    <a:cs typeface="+mn-cs"/>
                  </a:rPr>
                  <a:t>F</a:t>
                </a:r>
                <a:r>
                  <a:rPr lang="en-US" sz="1200" b="0" i="0" kern="1200">
                    <a:solidFill>
                      <a:schemeClr val="tx1"/>
                    </a:solidFill>
                    <a:effectLst/>
                    <a:latin typeface="+mn-lt"/>
                    <a:ea typeface="+mn-ea"/>
                    <a:cs typeface="+mn-cs"/>
                  </a:rPr>
                  <a:t> and the post-attenuation features </a:t>
                </a:r>
                <a:r>
                  <a:rPr lang="en-US" sz="1200" b="1" i="1" kern="1200">
                    <a:solidFill>
                      <a:schemeClr val="tx1"/>
                    </a:solidFill>
                    <a:effectLst/>
                    <a:latin typeface="+mn-lt"/>
                    <a:ea typeface="+mn-ea"/>
                    <a:cs typeface="+mn-cs"/>
                  </a:rPr>
                  <a:t>H</a:t>
                </a:r>
              </a:p>
              <a:p>
                <a:pPr marL="0" lvl="0" indent="0">
                  <a:buFont typeface="Arial" panose="020B0604020202020204" pitchFamily="34" charset="0"/>
                  <a:buNone/>
                </a:pPr>
                <a:endParaRPr lang="en-US" sz="1200" b="1" i="1" kern="1200">
                  <a:solidFill>
                    <a:schemeClr val="tx1"/>
                  </a:solidFill>
                  <a:effectLst/>
                  <a:latin typeface="+mn-lt"/>
                  <a:ea typeface="+mn-ea"/>
                  <a:cs typeface="+mn-cs"/>
                </a:endParaRPr>
              </a:p>
              <a:p>
                <a:pPr marL="0" lvl="0" indent="0">
                  <a:buFont typeface="Arial" panose="020B0604020202020204" pitchFamily="34" charset="0"/>
                  <a:buNone/>
                </a:pPr>
                <a:r>
                  <a:rPr lang="en-US" sz="1200" b="1" i="0" kern="1200">
                    <a:solidFill>
                      <a:schemeClr val="tx1"/>
                    </a:solidFill>
                    <a:effectLst/>
                    <a:latin typeface="+mn-lt"/>
                    <a:ea typeface="+mn-ea"/>
                    <a:cs typeface="+mn-cs"/>
                  </a:rPr>
                  <a:t>Per-class consolidated model.</a:t>
                </a:r>
                <a:r>
                  <a:rPr lang="en-US" sz="1200" b="0" i="0" kern="1200">
                    <a:solidFill>
                      <a:schemeClr val="tx1"/>
                    </a:solidFill>
                    <a:effectLst/>
                    <a:latin typeface="+mn-lt"/>
                    <a:ea typeface="+mn-ea"/>
                    <a:cs typeface="+mn-cs"/>
                  </a:rPr>
                  <a:t> Concatenate </a:t>
                </a:r>
                <a:r>
                  <a:rPr lang="en-US" sz="1200" b="0" i="0" kern="1200">
                    <a:solidFill>
                      <a:schemeClr val="tx1"/>
                    </a:solidFill>
                    <a:effectLst/>
                    <a:latin typeface="Cambria Math" panose="02040503050406030204" pitchFamily="18" charset="0"/>
                    <a:ea typeface="+mn-ea"/>
                    <a:cs typeface="+mn-cs"/>
                  </a:rPr>
                  <a:t>𝐶_𝑗 (𝑥) = 𝐶𝑜𝑛𝑐𝑎𝑡(𝐹(𝑥), 𝐻_𝑗)</a:t>
                </a:r>
                <a:r>
                  <a:rPr lang="en-US" sz="1200" b="0" i="0" kern="1200">
                    <a:solidFill>
                      <a:schemeClr val="tx1"/>
                    </a:solidFill>
                    <a:effectLst/>
                    <a:latin typeface="+mn-lt"/>
                    <a:ea typeface="+mn-ea"/>
                    <a:cs typeface="+mn-cs"/>
                  </a:rPr>
                  <a:t> and compare it by cosine similarity to a precomputed per-class mean </a:t>
                </a:r>
                <a:r>
                  <a:rPr lang="en-US" sz="1200" b="1" i="0" kern="1200">
                    <a:solidFill>
                      <a:schemeClr val="tx1"/>
                    </a:solidFill>
                    <a:effectLst/>
                    <a:latin typeface="Cambria Math" panose="02040503050406030204" pitchFamily="18" charset="0"/>
                    <a:ea typeface="+mn-ea"/>
                    <a:cs typeface="+mn-cs"/>
                  </a:rPr>
                  <a:t>𝝁</a:t>
                </a:r>
                <a:r>
                  <a:rPr lang="en-US" sz="1200" b="0" i="0" kern="1200">
                    <a:solidFill>
                      <a:schemeClr val="tx1"/>
                    </a:solidFill>
                    <a:effectLst/>
                    <a:latin typeface="Cambria Math" panose="02040503050406030204" pitchFamily="18" charset="0"/>
                    <a:ea typeface="+mn-ea"/>
                    <a:cs typeface="+mn-cs"/>
                  </a:rPr>
                  <a:t> ̂_(</a:t>
                </a:r>
                <a:r>
                  <a:rPr lang="en-US" b="0" i="0">
                    <a:latin typeface="Cambria Math" panose="02040503050406030204" pitchFamily="18" charset="0"/>
                  </a:rPr>
                  <a:t>𝐶_𝑗</a:t>
                </a:r>
                <a:r>
                  <a:rPr lang="en-US" sz="1200" b="0" i="0" kern="1200">
                    <a:solidFill>
                      <a:schemeClr val="tx1"/>
                    </a:solidFill>
                    <a:effectLst/>
                    <a:latin typeface="Cambria Math" panose="02040503050406030204" pitchFamily="18" charset="0"/>
                    <a:ea typeface="+mn-ea"/>
                    <a:cs typeface="+mn-cs"/>
                  </a:rPr>
                  <a:t> )</a:t>
                </a:r>
                <a:r>
                  <a:rPr lang="en-US" sz="1200" b="0" i="0" kern="1200">
                    <a:solidFill>
                      <a:schemeClr val="tx1"/>
                    </a:solidFill>
                    <a:effectLst/>
                    <a:latin typeface="+mn-lt"/>
                    <a:ea typeface="+mn-ea"/>
                    <a:cs typeface="+mn-cs"/>
                  </a:rPr>
                  <a:t>. This is a </a:t>
                </a:r>
                <a:r>
                  <a:rPr lang="en-US" sz="1200" b="0" i="1" kern="1200">
                    <a:solidFill>
                      <a:schemeClr val="tx1"/>
                    </a:solidFill>
                    <a:effectLst/>
                    <a:latin typeface="+mn-lt"/>
                    <a:ea typeface="+mn-ea"/>
                    <a:cs typeface="+mn-cs"/>
                  </a:rPr>
                  <a:t>per-class</a:t>
                </a:r>
                <a:r>
                  <a:rPr lang="en-US" sz="1200" b="0" i="0" kern="1200">
                    <a:solidFill>
                      <a:schemeClr val="tx1"/>
                    </a:solidFill>
                    <a:effectLst/>
                    <a:latin typeface="+mn-lt"/>
                    <a:ea typeface="+mn-ea"/>
                    <a:cs typeface="+mn-cs"/>
                  </a:rPr>
                  <a:t> normalization, versus PostMax's class-agnostic feature-norm division</a:t>
                </a:r>
              </a:p>
              <a:p>
                <a:pPr marL="0" lvl="0" indent="0">
                  <a:buFont typeface="Arial" panose="020B0604020202020204" pitchFamily="34" charset="0"/>
                  <a:buNone/>
                </a:pPr>
                <a:endParaRPr lang="en-US" sz="1200" b="0" i="0" kern="1200">
                  <a:solidFill>
                    <a:schemeClr val="tx1"/>
                  </a:solidFill>
                  <a:effectLst/>
                  <a:latin typeface="+mn-lt"/>
                  <a:ea typeface="+mn-ea"/>
                  <a:cs typeface="+mn-cs"/>
                </a:endParaRPr>
              </a:p>
              <a:p>
                <a:pPr marL="0" lvl="0" indent="0">
                  <a:buFont typeface="Arial" panose="020B0604020202020204" pitchFamily="34" charset="0"/>
                  <a:buNone/>
                </a:pPr>
                <a:r>
                  <a:rPr lang="en-US" sz="1200" b="1" i="0" kern="1200">
                    <a:solidFill>
                      <a:schemeClr val="tx1"/>
                    </a:solidFill>
                    <a:effectLst/>
                    <a:latin typeface="+mn-lt"/>
                    <a:ea typeface="+mn-ea"/>
                    <a:cs typeface="+mn-cs"/>
                  </a:rPr>
                  <a:t>Logit scaling with a probabilistic reading.</a:t>
                </a:r>
                <a:r>
                  <a:rPr lang="en-US" sz="1200" b="0" i="0" kern="1200">
                    <a:solidFill>
                      <a:schemeClr val="tx1"/>
                    </a:solidFill>
                    <a:effectLst/>
                    <a:latin typeface="+mn-lt"/>
                    <a:ea typeface="+mn-ea"/>
                    <a:cs typeface="+mn-cs"/>
                  </a:rPr>
                  <a:t> Multiply the similarity by a globally min–max normalized max logit, which makes the product interpretable as the probability that the input is </a:t>
                </a:r>
                <a:r>
                  <a:rPr lang="en-US" sz="1200" b="0" i="1" kern="1200">
                    <a:solidFill>
                      <a:schemeClr val="tx1"/>
                    </a:solidFill>
                    <a:effectLst/>
                    <a:latin typeface="+mn-lt"/>
                    <a:ea typeface="+mn-ea"/>
                    <a:cs typeface="+mn-cs"/>
                  </a:rPr>
                  <a:t>both</a:t>
                </a:r>
                <a:r>
                  <a:rPr lang="en-US" sz="1200" b="0" i="0" kern="1200">
                    <a:solidFill>
                      <a:schemeClr val="tx1"/>
                    </a:solidFill>
                    <a:effectLst/>
                    <a:latin typeface="+mn-lt"/>
                    <a:ea typeface="+mn-ea"/>
                    <a:cs typeface="+mn-cs"/>
                  </a:rPr>
                  <a:t> known </a:t>
                </a:r>
                <a:r>
                  <a:rPr lang="en-US" sz="1200" b="0" i="1" kern="1200">
                    <a:solidFill>
                      <a:schemeClr val="tx1"/>
                    </a:solidFill>
                    <a:effectLst/>
                    <a:latin typeface="+mn-lt"/>
                    <a:ea typeface="+mn-ea"/>
                    <a:cs typeface="+mn-cs"/>
                  </a:rPr>
                  <a:t>and</a:t>
                </a:r>
                <a:r>
                  <a:rPr lang="en-US" sz="1200" b="0" i="0" kern="1200">
                    <a:solidFill>
                      <a:schemeClr val="tx1"/>
                    </a:solidFill>
                    <a:effectLst/>
                    <a:latin typeface="+mn-lt"/>
                    <a:ea typeface="+mn-ea"/>
                    <a:cs typeface="+mn-cs"/>
                  </a:rPr>
                  <a:t> correctly classified</a:t>
                </a:r>
              </a:p>
              <a:p>
                <a:pPr marL="0" lvl="0" indent="0">
                  <a:buFont typeface="Arial" panose="020B0604020202020204" pitchFamily="34" charset="0"/>
                  <a:buNone/>
                </a:pPr>
                <a:endParaRPr lang="en-US" sz="1200" b="0" i="0" kern="1200">
                  <a:solidFill>
                    <a:schemeClr val="tx1"/>
                  </a:solidFill>
                  <a:effectLst/>
                  <a:latin typeface="+mn-lt"/>
                  <a:ea typeface="+mn-ea"/>
                  <a:cs typeface="+mn-cs"/>
                </a:endParaRPr>
              </a:p>
              <a:p>
                <a:pPr marL="0" lvl="0" indent="0">
                  <a:buFont typeface="Arial" panose="020B0604020202020204" pitchFamily="34" charset="0"/>
                  <a:buNone/>
                </a:pPr>
                <a:endParaRPr lang="en-US" sz="1200" b="0" i="0" kern="1200">
                  <a:solidFill>
                    <a:schemeClr val="tx1"/>
                  </a:solidFill>
                  <a:effectLst/>
                  <a:latin typeface="+mn-lt"/>
                  <a:ea typeface="+mn-ea"/>
                  <a:cs typeface="+mn-cs"/>
                </a:endParaRPr>
              </a:p>
              <a:p>
                <a:pPr marL="0" lvl="0" indent="0">
                  <a:buFont typeface="Arial" panose="020B0604020202020204" pitchFamily="34" charset="0"/>
                  <a:buNone/>
                </a:pPr>
                <a:r>
                  <a:rPr lang="en-US" sz="1200" b="1" i="0" kern="1200">
                    <a:solidFill>
                      <a:schemeClr val="tx1"/>
                    </a:solidFill>
                    <a:effectLst/>
                    <a:latin typeface="+mn-lt"/>
                    <a:ea typeface="+mn-ea"/>
                    <a:cs typeface="+mn-cs"/>
                  </a:rPr>
                  <a:t>Framing: </a:t>
                </a:r>
                <a:r>
                  <a:rPr lang="en-US" sz="1200" b="0" i="0" kern="1200">
                    <a:solidFill>
                      <a:schemeClr val="tx1"/>
                    </a:solidFill>
                    <a:effectLst/>
                    <a:latin typeface="+mn-lt"/>
                    <a:ea typeface="+mn-ea"/>
                    <a:cs typeface="+mn-cs"/>
                  </a:rPr>
                  <a:t>COSTARR is a </a:t>
                </a:r>
                <a:r>
                  <a:rPr lang="en-US" sz="1200" b="0" i="1" kern="1200">
                    <a:solidFill>
                      <a:schemeClr val="tx1"/>
                    </a:solidFill>
                    <a:effectLst/>
                    <a:latin typeface="+mn-lt"/>
                    <a:ea typeface="+mn-ea"/>
                    <a:cs typeface="+mn-cs"/>
                  </a:rPr>
                  <a:t>score function</a:t>
                </a:r>
                <a:r>
                  <a:rPr lang="en-US" sz="1200" b="0" i="0" kern="1200">
                    <a:solidFill>
                      <a:schemeClr val="tx1"/>
                    </a:solidFill>
                    <a:effectLst/>
                    <a:latin typeface="+mn-lt"/>
                    <a:ea typeface="+mn-ea"/>
                    <a:cs typeface="+mn-cs"/>
                  </a:rPr>
                  <a:t>, not a model </a:t>
                </a:r>
              </a:p>
            </p:txBody>
          </p:sp>
        </mc:Fallback>
      </mc:AlternateContent>
      <p:sp>
        <p:nvSpPr>
          <p:cNvPr id="4" name="Slide Number Placeholder 3">
            <a:extLst>
              <a:ext uri="{FF2B5EF4-FFF2-40B4-BE49-F238E27FC236}">
                <a16:creationId xmlns:a16="http://schemas.microsoft.com/office/drawing/2014/main" id="{10053A6D-293C-BC96-788D-AF80D22A77FE}"/>
              </a:ext>
            </a:extLst>
          </p:cNvPr>
          <p:cNvSpPr>
            <a:spLocks noGrp="1"/>
          </p:cNvSpPr>
          <p:nvPr>
            <p:ph type="sldNum" sz="quarter" idx="5"/>
          </p:nvPr>
        </p:nvSpPr>
        <p:spPr/>
        <p:txBody>
          <a:bodyPr/>
          <a:lstStyle/>
          <a:p>
            <a:fld id="{29E7BD1F-0023-244E-A8FD-1ADCC0FAE1A1}" type="slidenum">
              <a:rPr lang="en-US" smtClean="0"/>
              <a:t>18</a:t>
            </a:fld>
            <a:endParaRPr lang="en-US"/>
          </a:p>
        </p:txBody>
      </p:sp>
    </p:spTree>
    <p:extLst>
      <p:ext uri="{BB962C8B-B14F-4D97-AF65-F5344CB8AC3E}">
        <p14:creationId xmlns:p14="http://schemas.microsoft.com/office/powerpoint/2010/main" val="198034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F3C01-D9A8-CB37-B621-0C31A6AD0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140D9-B023-6C44-424E-0EA6CAFC89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FF086C-FFE8-B7DF-EA80-EE2C7AD3D6A0}"/>
              </a:ext>
            </a:extLst>
          </p:cNvPr>
          <p:cNvSpPr>
            <a:spLocks noGrp="1"/>
          </p:cNvSpPr>
          <p:nvPr>
            <p:ph type="body" idx="1"/>
          </p:nvPr>
        </p:nvSpPr>
        <p:spPr/>
        <p:txBody>
          <a:bodyPr/>
          <a:lstStyle/>
          <a:p>
            <a:pPr marL="0" lvl="0" indent="0">
              <a:buFont typeface="Arial" panose="020B0604020202020204" pitchFamily="34" charset="0"/>
              <a:buNone/>
            </a:pPr>
            <a:r>
              <a:rPr lang="en-US" sz="1200" b="0" i="0" kern="1200">
                <a:solidFill>
                  <a:schemeClr val="tx1"/>
                </a:solidFill>
                <a:effectLst/>
                <a:latin typeface="+mn-lt"/>
                <a:ea typeface="+mn-ea"/>
                <a:cs typeface="+mn-cs"/>
              </a:rPr>
              <a:t>Fig. 2 (Hiera-H, ImageNet class 389): mean logit for knowns $= 8.959$ vs. unknowns $= 8.143$ — nearly inseparable. </a:t>
            </a:r>
          </a:p>
          <a:p>
            <a:pPr marL="0" lvl="0" indent="0">
              <a:buFont typeface="Arial" panose="020B0604020202020204" pitchFamily="34" charset="0"/>
              <a:buNone/>
            </a:pPr>
            <a:r>
              <a:rPr lang="en-US" sz="1200" b="0" i="0" kern="1200">
                <a:solidFill>
                  <a:schemeClr val="tx1"/>
                </a:solidFill>
                <a:effectLst/>
                <a:latin typeface="+mn-lt"/>
                <a:ea typeface="+mn-ea"/>
                <a:cs typeface="+mn-cs"/>
              </a:rPr>
              <a:t>Mean COSTARR score: $0.647$ vs. $0.369$</a:t>
            </a: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2C16704-DB15-4BF8-4D24-7A691A9A66B9}"/>
              </a:ext>
            </a:extLst>
          </p:cNvPr>
          <p:cNvSpPr>
            <a:spLocks noGrp="1"/>
          </p:cNvSpPr>
          <p:nvPr>
            <p:ph type="sldNum" sz="quarter" idx="5"/>
          </p:nvPr>
        </p:nvSpPr>
        <p:spPr/>
        <p:txBody>
          <a:bodyPr/>
          <a:lstStyle/>
          <a:p>
            <a:fld id="{29E7BD1F-0023-244E-A8FD-1ADCC0FAE1A1}" type="slidenum">
              <a:rPr lang="en-US" smtClean="0"/>
              <a:t>19</a:t>
            </a:fld>
            <a:endParaRPr lang="en-US"/>
          </a:p>
        </p:txBody>
      </p:sp>
    </p:spTree>
    <p:extLst>
      <p:ext uri="{BB962C8B-B14F-4D97-AF65-F5344CB8AC3E}">
        <p14:creationId xmlns:p14="http://schemas.microsoft.com/office/powerpoint/2010/main" val="38858273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6396F-01D0-2C3A-FE31-3115E5EC9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A420D-49AA-B135-85C4-0F8629B908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5C6C8-8ADC-D0F2-55C6-87815AADEC60}"/>
              </a:ext>
            </a:extLst>
          </p:cNvPr>
          <p:cNvSpPr>
            <a:spLocks noGrp="1"/>
          </p:cNvSpPr>
          <p:nvPr>
            <p:ph type="body" idx="1"/>
          </p:nvPr>
        </p:nvSpPr>
        <p:spPr/>
        <p:txBody>
          <a:bodyPr/>
          <a:lstStyle/>
          <a:p>
            <a:pPr marL="0" lvl="0" indent="0">
              <a:buFont typeface="Arial" panose="020B0604020202020204" pitchFamily="34" charset="0"/>
              <a:buNone/>
            </a:pPr>
            <a:r>
              <a:rPr lang="en-US" sz="1200" b="0" i="0" kern="1200">
                <a:solidFill>
                  <a:schemeClr val="tx1"/>
                </a:solidFill>
                <a:effectLst/>
                <a:latin typeface="+mn-lt"/>
                <a:ea typeface="+mn-ea"/>
                <a:cs typeface="+mn-cs"/>
              </a:rPr>
              <a:t>The authors concede the interpretation fails when a known input is </a:t>
            </a:r>
            <a:r>
              <a:rPr lang="en-US" sz="1200" b="0" i="1" kern="1200">
                <a:solidFill>
                  <a:schemeClr val="tx1"/>
                </a:solidFill>
                <a:effectLst/>
                <a:latin typeface="+mn-lt"/>
                <a:ea typeface="+mn-ea"/>
                <a:cs typeface="+mn-cs"/>
              </a:rPr>
              <a:t>misclassified</a:t>
            </a:r>
            <a:r>
              <a:rPr lang="en-US" sz="1200" b="0" i="0" kern="1200">
                <a:solidFill>
                  <a:schemeClr val="tx1"/>
                </a:solidFill>
                <a:effectLst/>
                <a:latin typeface="+mn-lt"/>
                <a:ea typeface="+mn-ea"/>
                <a:cs typeface="+mn-cs"/>
              </a:rPr>
              <a:t>, since the wrong class mean is used — this is operationally desirable because such inputs would cause downstream errors anyway. Is that a principled argument or a post-hoc rescue? </a:t>
            </a:r>
            <a:br>
              <a:rPr lang="en-US" sz="1200" b="0" i="0" kern="1200">
                <a:solidFill>
                  <a:schemeClr val="tx1"/>
                </a:solidFill>
                <a:effectLst/>
                <a:latin typeface="+mn-lt"/>
                <a:ea typeface="+mn-ea"/>
                <a:cs typeface="+mn-cs"/>
              </a:rPr>
            </a:br>
            <a:br>
              <a:rPr lang="en-US" sz="1200" b="0" i="0" kern="1200">
                <a:solidFill>
                  <a:schemeClr val="tx1"/>
                </a:solidFill>
                <a:effectLst/>
                <a:latin typeface="+mn-lt"/>
                <a:ea typeface="+mn-ea"/>
                <a:cs typeface="+mn-cs"/>
              </a:rPr>
            </a:br>
            <a:r>
              <a:rPr lang="en-US" sz="1200" b="1" i="0" kern="1200">
                <a:solidFill>
                  <a:schemeClr val="tx1"/>
                </a:solidFill>
                <a:effectLst/>
                <a:latin typeface="+mn-lt"/>
                <a:ea typeface="+mn-ea"/>
                <a:cs typeface="+mn-cs"/>
              </a:rPr>
              <a:t>Biometric version:</a:t>
            </a:r>
            <a:r>
              <a:rPr lang="en-US" sz="1200" b="0" i="0" kern="1200">
                <a:solidFill>
                  <a:schemeClr val="tx1"/>
                </a:solidFill>
                <a:effectLst/>
                <a:latin typeface="+mn-lt"/>
                <a:ea typeface="+mn-ea"/>
                <a:cs typeface="+mn-cs"/>
              </a:rPr>
              <a:t> in a watchlist, is rejecting a correctly-enrolled subject who would have been matched to the wrong identity a </a:t>
            </a:r>
            <a:r>
              <a:rPr lang="en-US" sz="1200" b="0" i="1" kern="1200">
                <a:solidFill>
                  <a:schemeClr val="tx1"/>
                </a:solidFill>
                <a:effectLst/>
                <a:latin typeface="+mn-lt"/>
                <a:ea typeface="+mn-ea"/>
                <a:cs typeface="+mn-cs"/>
              </a:rPr>
              <a:t>success</a:t>
            </a:r>
            <a:r>
              <a:rPr lang="en-US" sz="1200" b="0" i="0" kern="1200">
                <a:solidFill>
                  <a:schemeClr val="tx1"/>
                </a:solidFill>
                <a:effectLst/>
                <a:latin typeface="+mn-lt"/>
                <a:ea typeface="+mn-ea"/>
                <a:cs typeface="+mn-cs"/>
              </a:rPr>
              <a:t> or a </a:t>
            </a:r>
            <a:r>
              <a:rPr lang="en-US" sz="1200" b="0" i="1" kern="1200">
                <a:solidFill>
                  <a:schemeClr val="tx1"/>
                </a:solidFill>
                <a:effectLst/>
                <a:latin typeface="+mn-lt"/>
                <a:ea typeface="+mn-ea"/>
                <a:cs typeface="+mn-cs"/>
              </a:rPr>
              <a:t>miss</a:t>
            </a:r>
            <a:r>
              <a:rPr lang="en-US" sz="1200" b="0" i="0" kern="1200">
                <a:solidFill>
                  <a:schemeClr val="tx1"/>
                </a:solidFill>
                <a:effectLst/>
                <a:latin typeface="+mn-lt"/>
                <a:ea typeface="+mn-ea"/>
                <a:cs typeface="+mn-cs"/>
              </a:rPr>
              <a:t>? Note this changes the numerator of FNIR.</a:t>
            </a: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778AADC-7DCF-D35F-2D2F-588AF359B7D7}"/>
              </a:ext>
            </a:extLst>
          </p:cNvPr>
          <p:cNvSpPr>
            <a:spLocks noGrp="1"/>
          </p:cNvSpPr>
          <p:nvPr>
            <p:ph type="sldNum" sz="quarter" idx="5"/>
          </p:nvPr>
        </p:nvSpPr>
        <p:spPr/>
        <p:txBody>
          <a:bodyPr/>
          <a:lstStyle/>
          <a:p>
            <a:fld id="{29E7BD1F-0023-244E-A8FD-1ADCC0FAE1A1}" type="slidenum">
              <a:rPr lang="en-US" smtClean="0"/>
              <a:t>20</a:t>
            </a:fld>
            <a:endParaRPr lang="en-US"/>
          </a:p>
        </p:txBody>
      </p:sp>
    </p:spTree>
    <p:extLst>
      <p:ext uri="{BB962C8B-B14F-4D97-AF65-F5344CB8AC3E}">
        <p14:creationId xmlns:p14="http://schemas.microsoft.com/office/powerpoint/2010/main" val="39930325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7D9DA-3135-2A25-BFFB-C6A4A73C9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E1D58-CDD5-AD85-6A71-8538CA976C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5140AC-6D18-9AEE-F1F7-036585B40925}"/>
              </a:ext>
            </a:extLst>
          </p:cNvPr>
          <p:cNvSpPr>
            <a:spLocks noGrp="1"/>
          </p:cNvSpPr>
          <p:nvPr>
            <p:ph type="body" idx="1"/>
          </p:nvPr>
        </p:nvSpPr>
        <p:spPr/>
        <p:txBody>
          <a:bodyPr/>
          <a:lstStyle/>
          <a:p>
            <a:r>
              <a:rPr lang="en-US" sz="1200" b="0" i="0" kern="1200">
                <a:solidFill>
                  <a:schemeClr val="tx1"/>
                </a:solidFill>
                <a:effectLst/>
                <a:latin typeface="+mn-lt"/>
                <a:ea typeface="+mn-ea"/>
                <a:cs typeface="+mn-cs"/>
              </a:rPr>
              <a:t>The unknowns </a:t>
            </a:r>
            <a:r>
              <a:rPr lang="en-US" sz="1200" b="0" i="1" kern="1200">
                <a:solidFill>
                  <a:schemeClr val="tx1"/>
                </a:solidFill>
                <a:effectLst/>
                <a:latin typeface="+mn-lt"/>
                <a:ea typeface="+mn-ea"/>
                <a:cs typeface="+mn-cs"/>
              </a:rPr>
              <a:t>surrogate</a:t>
            </a:r>
            <a:r>
              <a:rPr lang="en-US" sz="1200" b="0" i="0" kern="1200">
                <a:solidFill>
                  <a:schemeClr val="tx1"/>
                </a:solidFill>
                <a:effectLst/>
                <a:latin typeface="+mn-lt"/>
                <a:ea typeface="+mn-ea"/>
                <a:cs typeface="+mn-cs"/>
              </a:rPr>
              <a:t> used to set the threshold (OpenImage-O) is a different distribution from the unknowns at test (iNaturalist, NINCO, Textures) [doc6]. That is realistic — but what is the biometric analogue of a "surrogate unknown population," and how would you choose one for a watchlist?</a:t>
            </a: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410473A-20EE-75EC-4580-C5E11E7FE584}"/>
              </a:ext>
            </a:extLst>
          </p:cNvPr>
          <p:cNvSpPr>
            <a:spLocks noGrp="1"/>
          </p:cNvSpPr>
          <p:nvPr>
            <p:ph type="sldNum" sz="quarter" idx="5"/>
          </p:nvPr>
        </p:nvSpPr>
        <p:spPr/>
        <p:txBody>
          <a:bodyPr/>
          <a:lstStyle/>
          <a:p>
            <a:fld id="{29E7BD1F-0023-244E-A8FD-1ADCC0FAE1A1}" type="slidenum">
              <a:rPr lang="en-US" smtClean="0"/>
              <a:t>21</a:t>
            </a:fld>
            <a:endParaRPr lang="en-US"/>
          </a:p>
        </p:txBody>
      </p:sp>
    </p:spTree>
    <p:extLst>
      <p:ext uri="{BB962C8B-B14F-4D97-AF65-F5344CB8AC3E}">
        <p14:creationId xmlns:p14="http://schemas.microsoft.com/office/powerpoint/2010/main" val="32852426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BFCDC-4FAC-AABC-D509-DC5CEE29B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E0DB1E-F4B9-C32A-FE24-97099EA6C8A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88A44D4-EF0E-FA67-2EB6-698ADE8FB0E7}"/>
                  </a:ext>
                </a:extLst>
              </p:cNvPr>
              <p:cNvSpPr>
                <a:spLocks noGrp="1"/>
              </p:cNvSpPr>
              <p:nvPr>
                <p:ph type="body" idx="1"/>
              </p:nvPr>
            </p:nvSpPr>
            <p:spPr/>
            <p:txBody>
              <a:bodyPr/>
              <a:lstStyle/>
              <a:p>
                <a:pPr lvl="0"/>
                <a:r>
                  <a:rPr lang="en-US" dirty="0" err="1"/>
                  <a:t>Tubulence</a:t>
                </a:r>
                <a:r>
                  <a:rPr lang="en-US" dirty="0"/>
                  <a:t> Null:</a:t>
                </a:r>
              </a:p>
              <a:p>
                <a:pPr lvl="0"/>
                <a:endParaRPr lang="en-US" dirty="0"/>
              </a:p>
              <a:p>
                <a:r>
                  <a:rPr lang="en-US" sz="1200" b="0" i="0" kern="1200" dirty="0">
                    <a:solidFill>
                      <a:schemeClr val="tx1"/>
                    </a:solidFill>
                    <a:effectLst/>
                    <a:latin typeface="+mn-lt"/>
                    <a:ea typeface="+mn-ea"/>
                    <a:cs typeface="+mn-cs"/>
                  </a:rPr>
                  <a:t>Has Turbulence = True: </a:t>
                </a:r>
                <a:r>
                  <a:rPr lang="en-US" sz="1200" b="1" i="0" kern="1200" dirty="0">
                    <a:solidFill>
                      <a:schemeClr val="tx1"/>
                    </a:solidFill>
                    <a:effectLst/>
                    <a:latin typeface="+mn-lt"/>
                    <a:ea typeface="+mn-ea"/>
                    <a:cs typeface="+mn-cs"/>
                  </a:rPr>
                  <a:t>+0.06, p = 0.104.</a:t>
                </a:r>
                <a:r>
                  <a:rPr lang="en-US" sz="1200" b="0" i="0" kern="1200" dirty="0">
                    <a:solidFill>
                      <a:schemeClr val="tx1"/>
                    </a:solidFill>
                    <a:effectLst/>
                    <a:latin typeface="+mn-lt"/>
                    <a:ea typeface="+mn-ea"/>
                    <a:cs typeface="+mn-cs"/>
                  </a:rPr>
                  <a:t> A clean null for the phenomenon the program considers central.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authors offer three explanations: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Algorithms genuinely mitigate it — temporal integration, "lucky" frames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It's already absorbed by distance and solar loading</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It couldn't be measured:</a:t>
                </a:r>
                <a:r>
                  <a:rPr lang="en-US" sz="1200" b="0" i="0" kern="1200" dirty="0">
                    <a:solidFill>
                      <a:schemeClr val="tx1"/>
                    </a:solidFill>
                    <a:effectLst/>
                    <a:latin typeface="+mn-lt"/>
                    <a:ea typeface="+mn-ea"/>
                    <a:cs typeface="+mn-cs"/>
                  </a:rPr>
                  <a:t> "we could only measure turbulence (</a:t>
                </a:r>
                <a14:m>
                  <m:oMath xmlns:m="http://schemas.openxmlformats.org/officeDocument/2006/math">
                    <m:sSubSup>
                      <m:sSubSupPr>
                        <m:ctrlPr>
                          <a:rPr lang="en-US" sz="1200" i="1" kern="1200">
                            <a:solidFill>
                              <a:schemeClr val="tx1"/>
                            </a:solidFill>
                            <a:latin typeface="Cambria Math" panose="02040503050406030204" pitchFamily="18" charset="0"/>
                            <a:ea typeface="+mn-ea"/>
                            <a:cs typeface="+mn-cs"/>
                          </a:rPr>
                        </m:ctrlPr>
                      </m:sSubSupPr>
                      <m:e>
                        <m:r>
                          <a:rPr lang="en-US" sz="1200" i="1" kern="1200">
                            <a:solidFill>
                              <a:schemeClr val="tx1"/>
                            </a:solidFill>
                            <a:latin typeface="Cambria Math" panose="02040503050406030204" pitchFamily="18" charset="0"/>
                            <a:ea typeface="+mn-ea"/>
                            <a:cs typeface="+mn-cs"/>
                          </a:rPr>
                          <m:t>𝐶</m:t>
                        </m:r>
                      </m:e>
                      <m:sub>
                        <m:r>
                          <a:rPr lang="en-US" sz="1200" i="1" kern="1200">
                            <a:solidFill>
                              <a:schemeClr val="tx1"/>
                            </a:solidFill>
                            <a:latin typeface="Cambria Math" panose="02040503050406030204" pitchFamily="18" charset="0"/>
                            <a:ea typeface="+mn-ea"/>
                            <a:cs typeface="+mn-cs"/>
                          </a:rPr>
                          <m:t>𝑛</m:t>
                        </m:r>
                      </m:sub>
                      <m:sup>
                        <m:r>
                          <a:rPr lang="en-US" sz="1200" i="0" kern="1200">
                            <a:solidFill>
                              <a:schemeClr val="tx1"/>
                            </a:solidFill>
                            <a:latin typeface="Cambria Math" panose="02040503050406030204" pitchFamily="18" charset="0"/>
                            <a:ea typeface="+mn-ea"/>
                            <a:cs typeface="+mn-cs"/>
                          </a:rPr>
                          <m:t>2</m:t>
                        </m:r>
                      </m:sup>
                    </m:sSubSup>
                  </m:oMath>
                </a14:m>
                <a:r>
                  <a:rPr lang="en-US" sz="1200" b="0" i="0" kern="1200" dirty="0">
                    <a:solidFill>
                      <a:schemeClr val="tx1"/>
                    </a:solidFill>
                    <a:effectLst/>
                    <a:latin typeface="+mn-lt"/>
                    <a:ea typeface="+mn-ea"/>
                    <a:cs typeface="+mn-cs"/>
                  </a:rPr>
                  <a:t>) for a small number of cameras which were placed near collection scintillometers. Consequently, </a:t>
                </a:r>
                <a:r>
                  <a:rPr lang="en-US" sz="1200" b="1" i="0" kern="1200" dirty="0">
                    <a:solidFill>
                      <a:schemeClr val="tx1"/>
                    </a:solidFill>
                    <a:effectLst/>
                    <a:latin typeface="+mn-lt"/>
                    <a:ea typeface="+mn-ea"/>
                    <a:cs typeface="+mn-cs"/>
                  </a:rPr>
                  <a:t>estimating turbulence for the majority of the cameras is infeasible.</a:t>
                </a:r>
                <a:r>
                  <a:rPr lang="en-US" sz="1200" b="0" i="0" kern="1200" dirty="0">
                    <a:solidFill>
                      <a:schemeClr val="tx1"/>
                    </a:solidFill>
                    <a:effectLst/>
                    <a:latin typeface="+mn-lt"/>
                    <a:ea typeface="+mn-ea"/>
                    <a:cs typeface="+mn-cs"/>
                  </a:rPr>
                  <a:t>”</a:t>
                </a:r>
              </a:p>
              <a:p>
                <a:pPr marL="171450" lvl="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r>
                  <a:rPr lang="en-US" sz="1200" b="0" i="0" kern="1200" dirty="0">
                    <a:solidFill>
                      <a:schemeClr val="tx1"/>
                    </a:solidFill>
                    <a:effectLst/>
                    <a:latin typeface="+mn-lt"/>
                    <a:ea typeface="+mn-ea"/>
                    <a:cs typeface="+mn-cs"/>
                  </a:rPr>
                  <a:t>Additivity by Assertion: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Although interactions may indeed play a significant role in this research, we have opted for a simpler model.”</a:t>
                </a:r>
              </a:p>
              <a:p>
                <a:pPr marL="0" lvl="0" indent="0">
                  <a:buFont typeface="Arial" panose="020B0604020202020204" pitchFamily="34" charset="0"/>
                  <a:buNone/>
                </a:pPr>
                <a:endParaRPr lang="en-US" sz="1200" b="1" i="0" kern="1200" dirty="0">
                  <a:solidFill>
                    <a:schemeClr val="tx1"/>
                  </a:solidFill>
                  <a:effectLst/>
                  <a:latin typeface="+mn-lt"/>
                  <a:ea typeface="+mn-ea"/>
                  <a:cs typeface="+mn-cs"/>
                </a:endParaRPr>
              </a:p>
              <a:p>
                <a:pPr marL="0" lvl="0" indent="0">
                  <a:buFont typeface="Arial" panose="020B0604020202020204" pitchFamily="34" charset="0"/>
                  <a:buNone/>
                </a:pPr>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"Name an interaction you'd expect to be strong. Which way would including it move the Eq. (4) estimate?"</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Candidates: head height × turbulence (turbulence should matter far more when you have few pixels to lose); solar load × modality; range × sensor. Most plausible interactions are </a:t>
                </a:r>
                <a:r>
                  <a:rPr lang="en-US" sz="1200" b="1" i="0" kern="1200" dirty="0">
                    <a:solidFill>
                      <a:schemeClr val="tx1"/>
                    </a:solidFill>
                    <a:effectLst/>
                    <a:latin typeface="+mn-lt"/>
                    <a:ea typeface="+mn-ea"/>
                    <a:cs typeface="+mn-cs"/>
                  </a:rPr>
                  <a:t>super-additive</a:t>
                </a:r>
                <a:r>
                  <a:rPr lang="en-US" sz="1200" b="0" i="0" kern="1200" dirty="0">
                    <a:solidFill>
                      <a:schemeClr val="tx1"/>
                    </a:solidFill>
                    <a:effectLst/>
                    <a:latin typeface="+mn-lt"/>
                    <a:ea typeface="+mn-ea"/>
                    <a:cs typeface="+mn-cs"/>
                  </a:rPr>
                  <a:t>, meaning Eq. (4) likely </a:t>
                </a:r>
                <a:r>
                  <a:rPr lang="en-US" sz="1200" b="0" i="1" kern="1200" dirty="0">
                    <a:solidFill>
                      <a:schemeClr val="tx1"/>
                    </a:solidFill>
                    <a:effectLst/>
                    <a:latin typeface="+mn-lt"/>
                    <a:ea typeface="+mn-ea"/>
                    <a:cs typeface="+mn-cs"/>
                  </a:rPr>
                  <a:t>understates</a:t>
                </a:r>
                <a:r>
                  <a:rPr lang="en-US" sz="1200" b="0" i="0" kern="1200" dirty="0">
                    <a:solidFill>
                      <a:schemeClr val="tx1"/>
                    </a:solidFill>
                    <a:effectLst/>
                    <a:latin typeface="+mn-lt"/>
                    <a:ea typeface="+mn-ea"/>
                    <a:cs typeface="+mn-cs"/>
                  </a:rPr>
                  <a:t> combined degradation.</a:t>
                </a: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r>
                  <a:rPr lang="en-US" sz="1200" b="0" i="0" kern="1200" dirty="0">
                    <a:solidFill>
                      <a:schemeClr val="tx1"/>
                    </a:solidFill>
                    <a:effectLst/>
                    <a:latin typeface="+mn-lt"/>
                    <a:ea typeface="+mn-ea"/>
                    <a:cs typeface="+mn-cs"/>
                  </a:rPr>
                  <a:t>Binning and UAV:</a:t>
                </a:r>
              </a:p>
              <a:p>
                <a:r>
                  <a:rPr lang="en-US" sz="1200" b="0" i="0" kern="1200" dirty="0">
                    <a:solidFill>
                      <a:schemeClr val="tx1"/>
                    </a:solidFill>
                    <a:effectLst/>
                    <a:latin typeface="+mn-lt"/>
                    <a:ea typeface="+mn-ea"/>
                    <a:cs typeface="+mn-cs"/>
                  </a:rPr>
                  <a:t>All continuous covariates were categorized (§5, p. 6) — within-bin information discarded. Worse, the UAV category:</a:t>
                </a:r>
              </a:p>
              <a:p>
                <a:r>
                  <a:rPr lang="en-US" sz="1200" b="0" i="0" kern="1200" dirty="0">
                    <a:solidFill>
                      <a:schemeClr val="tx1"/>
                    </a:solidFill>
                    <a:effectLst/>
                    <a:latin typeface="+mn-lt"/>
                    <a:ea typeface="+mn-ea"/>
                    <a:cs typeface="+mn-cs"/>
                  </a:rPr>
                  <a:t>"'UAV' mounted cameras exhibit significant variability. This likely results from the difference between small, modern HD and 4k quadcopters that typically fly at low altitude and within 100m of the subjects and larger systems that fly at longer distances and up to 1200 ft altitude, often with older or lower resolution payloads. </a:t>
                </a:r>
                <a:r>
                  <a:rPr lang="en-US" sz="1200" b="1" i="0" kern="1200" dirty="0">
                    <a:solidFill>
                      <a:schemeClr val="tx1"/>
                    </a:solidFill>
                    <a:effectLst/>
                    <a:latin typeface="+mn-lt"/>
                    <a:ea typeface="+mn-ea"/>
                    <a:cs typeface="+mn-cs"/>
                  </a:rPr>
                  <a:t>In this model, all of these are grouped into the same category.</a:t>
                </a:r>
                <a:r>
                  <a:rPr lang="en-US" sz="1200" b="0" i="0" kern="1200" dirty="0">
                    <a:solidFill>
                      <a:schemeClr val="tx1"/>
                    </a:solidFill>
                    <a:effectLst/>
                    <a:latin typeface="+mn-lt"/>
                    <a:ea typeface="+mn-ea"/>
                    <a:cs typeface="+mn-cs"/>
                  </a:rPr>
                  <a:t>" — §6, p. 7</a:t>
                </a:r>
              </a:p>
              <a:p>
                <a:r>
                  <a:rPr lang="en-US" sz="1200" b="0" i="0" kern="1200" dirty="0">
                    <a:solidFill>
                      <a:schemeClr val="tx1"/>
                    </a:solidFill>
                    <a:effectLst/>
                    <a:latin typeface="+mn-lt"/>
                    <a:ea typeface="+mn-ea"/>
                    <a:cs typeface="+mn-cs"/>
                  </a:rPr>
                  <a:t>Result: +1.00 with CI (−0.12, 2.12), p = 0.081 — </a:t>
                </a:r>
                <a:r>
                  <a:rPr lang="en-US" sz="1200" b="1" i="0" kern="1200" dirty="0">
                    <a:solidFill>
                      <a:schemeClr val="tx1"/>
                    </a:solidFill>
                    <a:effectLst/>
                    <a:latin typeface="+mn-lt"/>
                    <a:ea typeface="+mn-ea"/>
                    <a:cs typeface="+mn-cs"/>
                  </a:rPr>
                  <a:t>not significant</a:t>
                </a:r>
                <a:r>
                  <a:rPr lang="en-US" sz="1200" b="0" i="0" kern="1200" dirty="0">
                    <a:solidFill>
                      <a:schemeClr val="tx1"/>
                    </a:solidFill>
                    <a:effectLst/>
                    <a:latin typeface="+mn-lt"/>
                    <a:ea typeface="+mn-ea"/>
                    <a:cs typeface="+mn-cs"/>
                  </a:rPr>
                  <a:t>, and operationally the most interesting category in the paper.</a:t>
                </a: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r>
                  <a:rPr lang="en-US" b="1" dirty="0"/>
                  <a:t>More Details on the </a:t>
                </a:r>
                <a:r>
                  <a:rPr lang="en-US" b="1" dirty="0" err="1"/>
                  <a:t>Tubulence</a:t>
                </a:r>
                <a:r>
                  <a:rPr lang="en-US" b="1" dirty="0"/>
                  <a:t> Null</a:t>
                </a:r>
                <a:br>
                  <a:rPr lang="en-US" b="1" dirty="0"/>
                </a:br>
                <a:br>
                  <a:rPr lang="en-US" b="1" dirty="0"/>
                </a:br>
                <a:r>
                  <a:rPr lang="en-US" sz="1200" b="0" i="0" kern="1200" dirty="0">
                    <a:solidFill>
                      <a:schemeClr val="tx1"/>
                    </a:solidFill>
                    <a:effectLst/>
                    <a:latin typeface="+mn-lt"/>
                    <a:ea typeface="+mn-ea"/>
                    <a:cs typeface="+mn-cs"/>
                  </a:rPr>
                  <a:t>The short version: the paper didn't find that turbulence doesn't matter. It found that </a:t>
                </a:r>
                <a:r>
                  <a:rPr lang="en-US" sz="1200" b="1" i="0" kern="1200" dirty="0">
                    <a:solidFill>
                      <a:schemeClr val="tx1"/>
                    </a:solidFill>
                    <a:effectLst/>
                    <a:latin typeface="+mn-lt"/>
                    <a:ea typeface="+mn-ea"/>
                    <a:cs typeface="+mn-cs"/>
                  </a:rPr>
                  <a:t>a binary flag called "Has Turbulence" doesn't predict much</a:t>
                </a:r>
                <a:r>
                  <a:rPr lang="en-US" sz="1200" b="0" i="0" kern="1200" dirty="0">
                    <a:solidFill>
                      <a:schemeClr val="tx1"/>
                    </a:solidFill>
                    <a:effectLst/>
                    <a:latin typeface="+mn-lt"/>
                    <a:ea typeface="+mn-ea"/>
                    <a:cs typeface="+mn-cs"/>
                  </a:rPr>
                  <a:t> — and those are very different claims. Almost everything interesting is in the gap between them.</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What the number actually says</a:t>
                </a:r>
              </a:p>
              <a:p>
                <a:r>
                  <a:rPr lang="en-US" sz="1200" b="0" i="0" kern="1200" dirty="0">
                    <a:solidFill>
                      <a:schemeClr val="tx1"/>
                    </a:solidFill>
                    <a:effectLst/>
                    <a:latin typeface="+mn-lt"/>
                    <a:ea typeface="+mn-ea"/>
                    <a:cs typeface="+mn-cs"/>
                  </a:rPr>
                  <a:t>Has Turb. True: </a:t>
                </a:r>
                <a:r>
                  <a:rPr lang="en-US" sz="1200" b="1" i="0" kern="1200" dirty="0">
                    <a:solidFill>
                      <a:schemeClr val="tx1"/>
                    </a:solidFill>
                    <a:effectLst/>
                    <a:latin typeface="+mn-lt"/>
                    <a:ea typeface="+mn-ea"/>
                    <a:cs typeface="+mn-cs"/>
                  </a:rPr>
                  <a:t>+0.06, CI (−0.01, 0.13), p = 0.104</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Taken at face value, </a:t>
                </a:r>
                <a14:m>
                  <m:oMath xmlns:m="http://schemas.openxmlformats.org/officeDocument/2006/math">
                    <m:sSup>
                      <m:sSupPr>
                        <m:ctrlPr>
                          <a:rPr lang="en-US" sz="1200" kern="120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10</m:t>
                        </m:r>
                      </m:e>
                      <m:sup>
                        <m:r>
                          <a:rPr lang="en-US" sz="1200" i="0" kern="1200">
                            <a:solidFill>
                              <a:schemeClr val="tx1"/>
                            </a:solidFill>
                            <a:latin typeface="Cambria Math" panose="02040503050406030204" pitchFamily="18" charset="0"/>
                            <a:ea typeface="+mn-ea"/>
                            <a:cs typeface="+mn-cs"/>
                          </a:rPr>
                          <m:t>0.06</m:t>
                        </m:r>
                      </m:sup>
                    </m:sSup>
                    <m:r>
                      <a:rPr lang="en-US" sz="1200" i="0" kern="1200">
                        <a:solidFill>
                          <a:schemeClr val="tx1"/>
                        </a:solidFill>
                        <a:latin typeface="Cambria Math" panose="02040503050406030204" pitchFamily="18" charset="0"/>
                        <a:ea typeface="+mn-ea"/>
                        <a:cs typeface="+mn-cs"/>
                      </a:rPr>
                      <m:t>≈1.15</m:t>
                    </m:r>
                  </m:oMath>
                </a14:m>
                <a:r>
                  <a:rPr lang="en-US" sz="1200" b="0" i="0" kern="1200" dirty="0">
                    <a:solidFill>
                      <a:schemeClr val="tx1"/>
                    </a:solidFill>
                    <a:effectLst/>
                    <a:latin typeface="+mn-lt"/>
                    <a:ea typeface="+mn-ea"/>
                    <a:cs typeface="+mn-cs"/>
                  </a:rPr>
                  <a:t> — a 15% increase in FAR. Against head height &lt; 30 </a:t>
                </a:r>
                <a:r>
                  <a:rPr lang="en-US" sz="1200" b="0" i="0" kern="1200" dirty="0" err="1">
                    <a:solidFill>
                      <a:schemeClr val="tx1"/>
                    </a:solidFill>
                    <a:effectLst/>
                    <a:latin typeface="+mn-lt"/>
                    <a:ea typeface="+mn-ea"/>
                    <a:cs typeface="+mn-cs"/>
                  </a:rPr>
                  <a:t>px</a:t>
                </a:r>
                <a:r>
                  <a:rPr lang="en-US" sz="1200" b="0" i="0" kern="1200" dirty="0">
                    <a:solidFill>
                      <a:schemeClr val="tx1"/>
                    </a:solidFill>
                    <a:effectLst/>
                    <a:latin typeface="+mn-lt"/>
                    <a:ea typeface="+mn-ea"/>
                    <a:cs typeface="+mn-cs"/>
                  </a:rPr>
                  <a:t> at </a:t>
                </a:r>
                <a14:m>
                  <m:oMath xmlns:m="http://schemas.openxmlformats.org/officeDocument/2006/math">
                    <m:sSup>
                      <m:sSupPr>
                        <m:ctrlPr>
                          <a:rPr lang="en-US" sz="1200" kern="120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10</m:t>
                        </m:r>
                      </m:e>
                      <m:sup>
                        <m:r>
                          <a:rPr lang="en-US" sz="1200" i="0" kern="1200">
                            <a:solidFill>
                              <a:schemeClr val="tx1"/>
                            </a:solidFill>
                            <a:latin typeface="Cambria Math" panose="02040503050406030204" pitchFamily="18" charset="0"/>
                            <a:ea typeface="+mn-ea"/>
                            <a:cs typeface="+mn-cs"/>
                          </a:rPr>
                          <m:t>1.88</m:t>
                        </m:r>
                      </m:sup>
                    </m:sSup>
                    <m:r>
                      <a:rPr lang="en-US" sz="1200" i="0" kern="1200">
                        <a:solidFill>
                          <a:schemeClr val="tx1"/>
                        </a:solidFill>
                        <a:latin typeface="Cambria Math" panose="02040503050406030204" pitchFamily="18" charset="0"/>
                        <a:ea typeface="+mn-ea"/>
                        <a:cs typeface="+mn-cs"/>
                      </a:rPr>
                      <m:t>≈76×</m:t>
                    </m:r>
                  </m:oMath>
                </a14:m>
                <a:r>
                  <a:rPr lang="en-US" sz="1200" b="0" i="0" kern="1200" dirty="0">
                    <a:solidFill>
                      <a:schemeClr val="tx1"/>
                    </a:solidFill>
                    <a:effectLst/>
                    <a:latin typeface="+mn-lt"/>
                    <a:ea typeface="+mn-ea"/>
                    <a:cs typeface="+mn-cs"/>
                  </a:rPr>
                  <a:t>, it's nothing.</a:t>
                </a:r>
              </a:p>
              <a:p>
                <a:r>
                  <a:rPr lang="en-US" sz="1200" b="0" i="0" kern="1200" dirty="0">
                    <a:solidFill>
                      <a:schemeClr val="tx1"/>
                    </a:solidFill>
                    <a:effectLst/>
                    <a:latin typeface="+mn-lt"/>
                    <a:ea typeface="+mn-ea"/>
                    <a:cs typeface="+mn-cs"/>
                  </a:rPr>
                  <a:t>Note the CI is </a:t>
                </a:r>
                <a:r>
                  <a:rPr lang="en-US" sz="1200" b="0" i="1" kern="1200" dirty="0">
                    <a:solidFill>
                      <a:schemeClr val="tx1"/>
                    </a:solidFill>
                    <a:effectLst/>
                    <a:latin typeface="+mn-lt"/>
                    <a:ea typeface="+mn-ea"/>
                    <a:cs typeface="+mn-cs"/>
                  </a:rPr>
                  <a:t>narrow</a:t>
                </a:r>
                <a:r>
                  <a:rPr lang="en-US" sz="1200" b="0" i="0" kern="1200" dirty="0">
                    <a:solidFill>
                      <a:schemeClr val="tx1"/>
                    </a:solidFill>
                    <a:effectLst/>
                    <a:latin typeface="+mn-lt"/>
                    <a:ea typeface="+mn-ea"/>
                    <a:cs typeface="+mn-cs"/>
                  </a:rPr>
                  <a:t> — width 0.14, versus UAV's (−0.12, 2.12). So this isn't a low-power null where the effect could be anywhere. It's a </a:t>
                </a:r>
                <a:r>
                  <a:rPr lang="en-US" sz="1200" b="1" i="0" kern="1200" dirty="0">
                    <a:solidFill>
                      <a:schemeClr val="tx1"/>
                    </a:solidFill>
                    <a:effectLst/>
                    <a:latin typeface="+mn-lt"/>
                    <a:ea typeface="+mn-ea"/>
                    <a:cs typeface="+mn-cs"/>
                  </a:rPr>
                  <a:t>precisely estimated near-zero</a:t>
                </a:r>
                <a:r>
                  <a:rPr lang="en-US" sz="1200" b="0" i="0" kern="1200" dirty="0">
                    <a:solidFill>
                      <a:schemeClr val="tx1"/>
                    </a:solidFill>
                    <a:effectLst/>
                    <a:latin typeface="+mn-lt"/>
                    <a:ea typeface="+mn-ea"/>
                    <a:cs typeface="+mn-cs"/>
                  </a:rPr>
                  <a:t>. That matters, because it rules out the easy dismissal ("not enough data") and forces you to argue about construct validity instead: is the flag measuring turbulence?</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Four reasons it probably isn’t</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1. Exposure misclassification, and it's one-directional.</a:t>
                </a:r>
                <a:r>
                  <a:rPr lang="en-US" sz="1200" b="0" i="0" kern="1200" dirty="0">
                    <a:solidFill>
                      <a:schemeClr val="tx1"/>
                    </a:solidFill>
                    <a:effectLst/>
                    <a:latin typeface="+mn-lt"/>
                    <a:ea typeface="+mn-ea"/>
                    <a:cs typeface="+mn-cs"/>
                  </a:rPr>
                  <a:t> </a:t>
                </a:r>
                <a14:m>
                  <m:oMath xmlns:m="http://schemas.openxmlformats.org/officeDocument/2006/math">
                    <m:sSubSup>
                      <m:sSubSupPr>
                        <m:ctrlPr>
                          <a:rPr lang="en-US" sz="1200" i="1" kern="1200">
                            <a:solidFill>
                              <a:schemeClr val="tx1"/>
                            </a:solidFill>
                            <a:latin typeface="Cambria Math" panose="02040503050406030204" pitchFamily="18" charset="0"/>
                            <a:ea typeface="+mn-ea"/>
                            <a:cs typeface="+mn-cs"/>
                          </a:rPr>
                        </m:ctrlPr>
                      </m:sSubSupPr>
                      <m:e>
                        <m:r>
                          <a:rPr lang="en-US" sz="1200" i="1" kern="1200">
                            <a:solidFill>
                              <a:schemeClr val="tx1"/>
                            </a:solidFill>
                            <a:latin typeface="Cambria Math" panose="02040503050406030204" pitchFamily="18" charset="0"/>
                            <a:ea typeface="+mn-ea"/>
                            <a:cs typeface="+mn-cs"/>
                          </a:rPr>
                          <m:t>𝐶</m:t>
                        </m:r>
                      </m:e>
                      <m:sub>
                        <m:r>
                          <a:rPr lang="en-US" sz="1200" i="1" kern="1200">
                            <a:solidFill>
                              <a:schemeClr val="tx1"/>
                            </a:solidFill>
                            <a:latin typeface="Cambria Math" panose="02040503050406030204" pitchFamily="18" charset="0"/>
                            <a:ea typeface="+mn-ea"/>
                            <a:cs typeface="+mn-cs"/>
                          </a:rPr>
                          <m:t>𝑛</m:t>
                        </m:r>
                      </m:sub>
                      <m:sup>
                        <m:r>
                          <a:rPr lang="en-US" sz="1200" i="0" kern="1200">
                            <a:solidFill>
                              <a:schemeClr val="tx1"/>
                            </a:solidFill>
                            <a:latin typeface="Cambria Math" panose="02040503050406030204" pitchFamily="18" charset="0"/>
                            <a:ea typeface="+mn-ea"/>
                            <a:cs typeface="+mn-cs"/>
                          </a:rPr>
                          <m:t>2</m:t>
                        </m:r>
                      </m:sup>
                    </m:sSubSup>
                  </m:oMath>
                </a14:m>
                <a:r>
                  <a:rPr lang="en-US" sz="1200" b="0" i="0" kern="1200" dirty="0">
                    <a:solidFill>
                      <a:schemeClr val="tx1"/>
                    </a:solidFill>
                    <a:effectLst/>
                    <a:latin typeface="+mn-lt"/>
                    <a:ea typeface="+mn-ea"/>
                    <a:cs typeface="+mn-cs"/>
                  </a:rPr>
                  <a:t> was measured only for cameras near scintillometers. Every other camera gets "False" by default — so the False group is a mixture of </a:t>
                </a:r>
                <a:r>
                  <a:rPr lang="en-US" sz="1200" b="0" i="1" kern="1200" dirty="0">
                    <a:solidFill>
                      <a:schemeClr val="tx1"/>
                    </a:solidFill>
                    <a:effectLst/>
                    <a:latin typeface="+mn-lt"/>
                    <a:ea typeface="+mn-ea"/>
                    <a:cs typeface="+mn-cs"/>
                  </a:rPr>
                  <a:t>genuinely calm</a:t>
                </a:r>
                <a:r>
                  <a:rPr lang="en-US" sz="1200" b="0" i="0" kern="1200" dirty="0">
                    <a:solidFill>
                      <a:schemeClr val="tx1"/>
                    </a:solidFill>
                    <a:effectLst/>
                    <a:latin typeface="+mn-lt"/>
                    <a:ea typeface="+mn-ea"/>
                    <a:cs typeface="+mn-cs"/>
                  </a:rPr>
                  <a:t> and </a:t>
                </a:r>
                <a:r>
                  <a:rPr lang="en-US" sz="1200" b="0" i="1" kern="1200" dirty="0">
                    <a:solidFill>
                      <a:schemeClr val="tx1"/>
                    </a:solidFill>
                    <a:effectLst/>
                    <a:latin typeface="+mn-lt"/>
                    <a:ea typeface="+mn-ea"/>
                    <a:cs typeface="+mn-cs"/>
                  </a:rPr>
                  <a:t>turbulent but </a:t>
                </a:r>
                <a:r>
                  <a:rPr lang="en-US" sz="1200" b="0" i="1" kern="1200" dirty="0" err="1">
                    <a:solidFill>
                      <a:schemeClr val="tx1"/>
                    </a:solidFill>
                    <a:effectLst/>
                    <a:latin typeface="+mn-lt"/>
                    <a:ea typeface="+mn-ea"/>
                    <a:cs typeface="+mn-cs"/>
                  </a:rPr>
                  <a:t>uninstrumented</a:t>
                </a:r>
                <a:r>
                  <a:rPr lang="en-US" sz="1200" b="0" i="0" kern="1200" dirty="0">
                    <a:solidFill>
                      <a:schemeClr val="tx1"/>
                    </a:solidFill>
                    <a:effectLst/>
                    <a:latin typeface="+mn-lt"/>
                    <a:ea typeface="+mn-ea"/>
                    <a:cs typeface="+mn-cs"/>
                  </a:rPr>
                  <a:t>. This is non-differential misclassification of the exposure variable, and its effect is textbook: it </a:t>
                </a:r>
                <a:r>
                  <a:rPr lang="en-US" sz="1200" b="1" i="0" kern="1200" dirty="0">
                    <a:solidFill>
                      <a:schemeClr val="tx1"/>
                    </a:solidFill>
                    <a:effectLst/>
                    <a:latin typeface="+mn-lt"/>
                    <a:ea typeface="+mn-ea"/>
                    <a:cs typeface="+mn-cs"/>
                  </a:rPr>
                  <a:t>attenuates the estimate toward zero</a:t>
                </a:r>
                <a:r>
                  <a:rPr lang="en-US" sz="1200" b="0" i="0" kern="1200" dirty="0">
                    <a:solidFill>
                      <a:schemeClr val="tx1"/>
                    </a:solidFill>
                    <a:effectLst/>
                    <a:latin typeface="+mn-lt"/>
                    <a:ea typeface="+mn-ea"/>
                    <a:cs typeface="+mn-cs"/>
                  </a:rPr>
                  <a:t>. If a fraction </a:t>
                </a:r>
                <a14:m>
                  <m:oMath xmlns:m="http://schemas.openxmlformats.org/officeDocument/2006/math">
                    <m:r>
                      <a:rPr lang="en-US" sz="1200" i="1" kern="1200">
                        <a:solidFill>
                          <a:schemeClr val="tx1"/>
                        </a:solidFill>
                        <a:latin typeface="Cambria Math" panose="02040503050406030204" pitchFamily="18" charset="0"/>
                        <a:ea typeface="+mn-ea"/>
                        <a:cs typeface="+mn-cs"/>
                      </a:rPr>
                      <m:t>𝛼</m:t>
                    </m:r>
                  </m:oMath>
                </a14:m>
                <a:r>
                  <a:rPr lang="en-US" sz="1200" b="0" i="0" kern="1200" dirty="0">
                    <a:solidFill>
                      <a:schemeClr val="tx1"/>
                    </a:solidFill>
                    <a:effectLst/>
                    <a:latin typeface="+mn-lt"/>
                    <a:ea typeface="+mn-ea"/>
                    <a:cs typeface="+mn-cs"/>
                  </a:rPr>
                  <a:t> of truly-turbulent probes are labeled False, the observed contrast shrinks roughly by </a:t>
                </a:r>
                <a14:m>
                  <m:oMath xmlns:m="http://schemas.openxmlformats.org/officeDocument/2006/math">
                    <m:d>
                      <m:dPr>
                        <m:ctrlPr>
                          <a:rPr lang="en-US" sz="1200" i="0" kern="1200">
                            <a:solidFill>
                              <a:schemeClr val="tx1"/>
                            </a:solidFill>
                            <a:latin typeface="Cambria Math" panose="02040503050406030204" pitchFamily="18" charset="0"/>
                            <a:ea typeface="+mn-ea"/>
                            <a:cs typeface="+mn-cs"/>
                          </a:rPr>
                        </m:ctrlPr>
                      </m:dPr>
                      <m:e>
                        <m:r>
                          <a:rPr lang="en-US" sz="1200" i="0" kern="1200">
                            <a:solidFill>
                              <a:schemeClr val="tx1"/>
                            </a:solidFill>
                            <a:latin typeface="Cambria Math" panose="02040503050406030204" pitchFamily="18" charset="0"/>
                            <a:ea typeface="+mn-ea"/>
                            <a:cs typeface="+mn-cs"/>
                          </a:rPr>
                          <m:t>1−</m:t>
                        </m:r>
                        <m:r>
                          <a:rPr lang="en-US" sz="1200" i="1" kern="1200">
                            <a:solidFill>
                              <a:schemeClr val="tx1"/>
                            </a:solidFill>
                            <a:latin typeface="Cambria Math" panose="02040503050406030204" pitchFamily="18" charset="0"/>
                            <a:ea typeface="+mn-ea"/>
                            <a:cs typeface="+mn-cs"/>
                          </a:rPr>
                          <m:t>𝛼</m:t>
                        </m:r>
                      </m:e>
                    </m:d>
                  </m:oMath>
                </a14:m>
                <a:r>
                  <a:rPr lang="en-US" sz="1200" b="0" i="0" kern="1200" dirty="0">
                    <a:solidFill>
                      <a:schemeClr val="tx1"/>
                    </a:solidFill>
                    <a:effectLst/>
                    <a:latin typeface="+mn-lt"/>
                    <a:ea typeface="+mn-ea"/>
                    <a:cs typeface="+mn-cs"/>
                  </a:rPr>
                  <a:t> relative to the truth. The direction of the bias is known even when its size isn’t.</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2. Binarizing a quantity with orders-of-magnitude dynamic range.</a:t>
                </a:r>
                <a:r>
                  <a:rPr lang="en-US" sz="1200" b="0" i="0" kern="1200" dirty="0">
                    <a:solidFill>
                      <a:schemeClr val="tx1"/>
                    </a:solidFill>
                    <a:effectLst/>
                    <a:latin typeface="+mn-lt"/>
                    <a:ea typeface="+mn-ea"/>
                    <a:cs typeface="+mn-cs"/>
                  </a:rPr>
                  <a:t> </a:t>
                </a:r>
                <a14:m>
                  <m:oMath xmlns:m="http://schemas.openxmlformats.org/officeDocument/2006/math">
                    <m:sSubSup>
                      <m:sSubSupPr>
                        <m:ctrlPr>
                          <a:rPr lang="en-US" sz="1200" i="1" kern="1200">
                            <a:solidFill>
                              <a:schemeClr val="tx1"/>
                            </a:solidFill>
                            <a:latin typeface="Cambria Math" panose="02040503050406030204" pitchFamily="18" charset="0"/>
                            <a:ea typeface="+mn-ea"/>
                            <a:cs typeface="+mn-cs"/>
                          </a:rPr>
                        </m:ctrlPr>
                      </m:sSubSupPr>
                      <m:e>
                        <m:r>
                          <a:rPr lang="en-US" sz="1200" i="1" kern="1200">
                            <a:solidFill>
                              <a:schemeClr val="tx1"/>
                            </a:solidFill>
                            <a:latin typeface="Cambria Math" panose="02040503050406030204" pitchFamily="18" charset="0"/>
                            <a:ea typeface="+mn-ea"/>
                            <a:cs typeface="+mn-cs"/>
                          </a:rPr>
                          <m:t>𝐶</m:t>
                        </m:r>
                      </m:e>
                      <m:sub>
                        <m:r>
                          <a:rPr lang="en-US" sz="1200" i="1" kern="1200">
                            <a:solidFill>
                              <a:schemeClr val="tx1"/>
                            </a:solidFill>
                            <a:latin typeface="Cambria Math" panose="02040503050406030204" pitchFamily="18" charset="0"/>
                            <a:ea typeface="+mn-ea"/>
                            <a:cs typeface="+mn-cs"/>
                          </a:rPr>
                          <m:t>𝑛</m:t>
                        </m:r>
                      </m:sub>
                      <m:sup>
                        <m:r>
                          <a:rPr lang="en-US" sz="1200" i="0" kern="1200">
                            <a:solidFill>
                              <a:schemeClr val="tx1"/>
                            </a:solidFill>
                            <a:latin typeface="Cambria Math" panose="02040503050406030204" pitchFamily="18" charset="0"/>
                            <a:ea typeface="+mn-ea"/>
                            <a:cs typeface="+mn-cs"/>
                          </a:rPr>
                          <m:t>2</m:t>
                        </m:r>
                      </m:sup>
                    </m:sSubSup>
                  </m:oMath>
                </a14:m>
                <a:r>
                  <a:rPr lang="en-US" sz="1200" b="0" i="0" kern="1200" dirty="0">
                    <a:solidFill>
                      <a:schemeClr val="tx1"/>
                    </a:solidFill>
                    <a:effectLst/>
                    <a:latin typeface="+mn-lt"/>
                    <a:ea typeface="+mn-ea"/>
                    <a:cs typeface="+mn-cs"/>
                  </a:rPr>
                  <a:t> spans roughly </a:t>
                </a:r>
                <a14:m>
                  <m:oMath xmlns:m="http://schemas.openxmlformats.org/officeDocument/2006/math">
                    <m:sSup>
                      <m:sSupPr>
                        <m:ctrlPr>
                          <a:rPr lang="en-US" sz="1200" kern="120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10</m:t>
                        </m:r>
                      </m:e>
                      <m:sup>
                        <m:r>
                          <a:rPr lang="en-US" sz="1200" i="0" kern="1200">
                            <a:solidFill>
                              <a:schemeClr val="tx1"/>
                            </a:solidFill>
                            <a:latin typeface="Cambria Math" panose="02040503050406030204" pitchFamily="18" charset="0"/>
                            <a:ea typeface="+mn-ea"/>
                            <a:cs typeface="+mn-cs"/>
                          </a:rPr>
                          <m:t>−17</m:t>
                        </m:r>
                      </m:sup>
                    </m:sSup>
                  </m:oMath>
                </a14:m>
                <a:r>
                  <a:rPr lang="en-US" sz="1200" b="0" i="0" kern="1200" dirty="0">
                    <a:solidFill>
                      <a:schemeClr val="tx1"/>
                    </a:solidFill>
                    <a:effectLst/>
                    <a:latin typeface="+mn-lt"/>
                    <a:ea typeface="+mn-ea"/>
                    <a:cs typeface="+mn-cs"/>
                  </a:rPr>
                  <a:t> to </a:t>
                </a:r>
                <a14:m>
                  <m:oMath xmlns:m="http://schemas.openxmlformats.org/officeDocument/2006/math">
                    <m:sSup>
                      <m:sSupPr>
                        <m:ctrlPr>
                          <a:rPr lang="en-US" sz="1200" kern="120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10</m:t>
                        </m:r>
                      </m:e>
                      <m:sup>
                        <m:r>
                          <a:rPr lang="en-US" sz="1200" i="0" kern="1200">
                            <a:solidFill>
                              <a:schemeClr val="tx1"/>
                            </a:solidFill>
                            <a:latin typeface="Cambria Math" panose="02040503050406030204" pitchFamily="18" charset="0"/>
                            <a:ea typeface="+mn-ea"/>
                            <a:cs typeface="+mn-cs"/>
                          </a:rPr>
                          <m:t>−13</m:t>
                        </m:r>
                      </m:sup>
                    </m:sSup>
                    <m:r>
                      <m:rPr>
                        <m:nor/>
                      </m:rPr>
                      <a:rPr lang="en-US" sz="1200" b="0" i="0" kern="1200">
                        <a:solidFill>
                          <a:schemeClr val="tx1"/>
                        </a:solidFill>
                        <a:latin typeface="+mn-lt"/>
                        <a:ea typeface="+mn-ea"/>
                        <a:cs typeface="+mn-cs"/>
                      </a:rPr>
                      <m:t> </m:t>
                    </m:r>
                    <m:sSup>
                      <m:sSupPr>
                        <m:ctrlPr>
                          <a:rPr lang="en-US" sz="1200" b="0" i="0" kern="1200">
                            <a:solidFill>
                              <a:schemeClr val="tx1"/>
                            </a:solidFill>
                            <a:latin typeface="Cambria Math" panose="02040503050406030204" pitchFamily="18" charset="0"/>
                            <a:ea typeface="+mn-ea"/>
                            <a:cs typeface="+mn-cs"/>
                          </a:rPr>
                        </m:ctrlPr>
                      </m:sSupPr>
                      <m:e>
                        <m:r>
                          <m:rPr>
                            <m:sty m:val="p"/>
                          </m:rPr>
                          <a:rPr lang="en-US" sz="1200" b="0" i="0" kern="1200">
                            <a:solidFill>
                              <a:schemeClr val="tx1"/>
                            </a:solidFill>
                            <a:latin typeface="Cambria Math" panose="02040503050406030204" pitchFamily="18" charset="0"/>
                            <a:ea typeface="+mn-ea"/>
                            <a:cs typeface="+mn-cs"/>
                          </a:rPr>
                          <m:t>m</m:t>
                        </m:r>
                      </m:e>
                      <m:sup>
                        <m:r>
                          <a:rPr lang="en-US" sz="1200" b="0" i="0" kern="1200">
                            <a:solidFill>
                              <a:schemeClr val="tx1"/>
                            </a:solidFill>
                            <a:latin typeface="Cambria Math" panose="02040503050406030204" pitchFamily="18" charset="0"/>
                            <a:ea typeface="+mn-ea"/>
                            <a:cs typeface="+mn-cs"/>
                          </a:rPr>
                          <m:t>−2/3</m:t>
                        </m:r>
                      </m:sup>
                    </m:sSup>
                  </m:oMath>
                </a14:m>
                <a:r>
                  <a:rPr lang="en-US" sz="1200" b="0" i="0" kern="1200" dirty="0">
                    <a:solidFill>
                      <a:schemeClr val="tx1"/>
                    </a:solidFill>
                    <a:effectLst/>
                    <a:latin typeface="+mn-lt"/>
                    <a:ea typeface="+mn-ea"/>
                    <a:cs typeface="+mn-cs"/>
                  </a:rPr>
                  <a:t> near the ground. And it enters the optics nonlinearly — recall Tuesday's </a:t>
                </a:r>
                <a14:m>
                  <m:oMath xmlns:m="http://schemas.openxmlformats.org/officeDocument/2006/math">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𝑟</m:t>
                        </m:r>
                      </m:e>
                      <m:sub>
                        <m:r>
                          <a:rPr lang="en-US" sz="1200" i="0" kern="1200">
                            <a:solidFill>
                              <a:schemeClr val="tx1"/>
                            </a:solidFill>
                            <a:latin typeface="Cambria Math" panose="02040503050406030204" pitchFamily="18" charset="0"/>
                            <a:ea typeface="+mn-ea"/>
                            <a:cs typeface="+mn-cs"/>
                          </a:rPr>
                          <m:t>0</m:t>
                        </m:r>
                      </m:sub>
                    </m:sSub>
                    <m:r>
                      <a:rPr lang="en-US" sz="1200" i="0" kern="1200">
                        <a:solidFill>
                          <a:schemeClr val="tx1"/>
                        </a:solidFill>
                        <a:latin typeface="Cambria Math" panose="02040503050406030204" pitchFamily="18" charset="0"/>
                        <a:ea typeface="+mn-ea"/>
                        <a:cs typeface="+mn-cs"/>
                      </a:rPr>
                      <m:t>∝</m:t>
                    </m:r>
                    <m:sSup>
                      <m:sSupPr>
                        <m:ctrlPr>
                          <a:rPr lang="en-US" sz="1200" i="1" kern="1200">
                            <a:solidFill>
                              <a:schemeClr val="tx1"/>
                            </a:solidFill>
                            <a:latin typeface="Cambria Math" panose="02040503050406030204" pitchFamily="18" charset="0"/>
                            <a:ea typeface="+mn-ea"/>
                            <a:cs typeface="+mn-cs"/>
                          </a:rPr>
                        </m:ctrlPr>
                      </m:sSupPr>
                      <m:e>
                        <m:d>
                          <m:dPr>
                            <m:begChr m:val="["/>
                            <m:endChr m:val="]"/>
                            <m:ctrlPr>
                              <a:rPr lang="en-US" sz="1200" i="1" kern="1200">
                                <a:solidFill>
                                  <a:schemeClr val="tx1"/>
                                </a:solidFill>
                                <a:latin typeface="Cambria Math" panose="02040503050406030204" pitchFamily="18" charset="0"/>
                                <a:ea typeface="+mn-ea"/>
                                <a:cs typeface="+mn-cs"/>
                              </a:rPr>
                            </m:ctrlPr>
                          </m:dPr>
                          <m:e>
                            <m:nary>
                              <m:naryPr>
                                <m:grow m:val="on"/>
                                <m:subHide m:val="on"/>
                                <m:supHide m:val="on"/>
                                <m:ctrlPr>
                                  <a:rPr lang="en-US" sz="1200" i="1" kern="1200">
                                    <a:solidFill>
                                      <a:schemeClr val="tx1"/>
                                    </a:solidFill>
                                    <a:latin typeface="Cambria Math" panose="02040503050406030204" pitchFamily="18" charset="0"/>
                                    <a:ea typeface="+mn-ea"/>
                                    <a:cs typeface="+mn-cs"/>
                                  </a:rPr>
                                </m:ctrlPr>
                              </m:naryPr>
                              <m:sub/>
                              <m:sup/>
                              <m:e>
                                <m:sSubSup>
                                  <m:sSubSupPr>
                                    <m:ctrlPr>
                                      <a:rPr lang="en-US" sz="1200" i="1" kern="1200">
                                        <a:solidFill>
                                          <a:schemeClr val="tx1"/>
                                        </a:solidFill>
                                        <a:latin typeface="Cambria Math" panose="02040503050406030204" pitchFamily="18" charset="0"/>
                                        <a:ea typeface="+mn-ea"/>
                                        <a:cs typeface="+mn-cs"/>
                                      </a:rPr>
                                    </m:ctrlPr>
                                  </m:sSubSupPr>
                                  <m:e>
                                    <m:r>
                                      <a:rPr lang="en-US" sz="1200" i="1" kern="1200">
                                        <a:solidFill>
                                          <a:schemeClr val="tx1"/>
                                        </a:solidFill>
                                        <a:latin typeface="Cambria Math" panose="02040503050406030204" pitchFamily="18" charset="0"/>
                                        <a:ea typeface="+mn-ea"/>
                                        <a:cs typeface="+mn-cs"/>
                                      </a:rPr>
                                      <m:t>𝐶</m:t>
                                    </m:r>
                                  </m:e>
                                  <m:sub>
                                    <m:r>
                                      <a:rPr lang="en-US" sz="1200" i="1" kern="1200">
                                        <a:solidFill>
                                          <a:schemeClr val="tx1"/>
                                        </a:solidFill>
                                        <a:latin typeface="Cambria Math" panose="02040503050406030204" pitchFamily="18" charset="0"/>
                                        <a:ea typeface="+mn-ea"/>
                                        <a:cs typeface="+mn-cs"/>
                                      </a:rPr>
                                      <m:t>𝑛</m:t>
                                    </m:r>
                                  </m:sub>
                                  <m:sup>
                                    <m:r>
                                      <a:rPr lang="en-US" sz="1200" i="0" kern="1200">
                                        <a:solidFill>
                                          <a:schemeClr val="tx1"/>
                                        </a:solidFill>
                                        <a:latin typeface="Cambria Math" panose="02040503050406030204" pitchFamily="18" charset="0"/>
                                        <a:ea typeface="+mn-ea"/>
                                        <a:cs typeface="+mn-cs"/>
                                      </a:rPr>
                                      <m:t>2</m:t>
                                    </m:r>
                                  </m:sup>
                                </m:sSubSup>
                              </m:e>
                            </m:nary>
                            <m:r>
                              <a:rPr lang="en-US" sz="1200" i="1" kern="1200">
                                <a:solidFill>
                                  <a:schemeClr val="tx1"/>
                                </a:solidFill>
                                <a:latin typeface="Cambria Math" panose="02040503050406030204" pitchFamily="18" charset="0"/>
                                <a:ea typeface="+mn-ea"/>
                                <a:cs typeface="+mn-cs"/>
                              </a:rPr>
                              <m:t>𝑑𝑧</m:t>
                            </m:r>
                          </m:e>
                        </m:d>
                      </m:e>
                      <m:sup>
                        <m:r>
                          <a:rPr lang="en-US" sz="1200" i="0" kern="1200">
                            <a:solidFill>
                              <a:schemeClr val="tx1"/>
                            </a:solidFill>
                            <a:latin typeface="Cambria Math" panose="02040503050406030204" pitchFamily="18" charset="0"/>
                            <a:ea typeface="+mn-ea"/>
                            <a:cs typeface="+mn-cs"/>
                          </a:rPr>
                          <m:t>−3/5</m:t>
                        </m:r>
                      </m:sup>
                    </m:sSup>
                  </m:oMath>
                </a14:m>
                <a:r>
                  <a:rPr lang="en-US" sz="1200" b="0" i="0" kern="1200" dirty="0">
                    <a:solidFill>
                      <a:schemeClr val="tx1"/>
                    </a:solidFill>
                    <a:effectLst/>
                    <a:latin typeface="+mn-lt"/>
                    <a:ea typeface="+mn-ea"/>
                    <a:cs typeface="+mn-cs"/>
                  </a:rPr>
                  <a:t>, with degradation severity scaling as </a:t>
                </a:r>
                <a14:m>
                  <m:oMath xmlns:m="http://schemas.openxmlformats.org/officeDocument/2006/math">
                    <m:r>
                      <a:rPr lang="en-US" sz="1200" i="1" kern="1200">
                        <a:solidFill>
                          <a:schemeClr val="tx1"/>
                        </a:solidFill>
                        <a:latin typeface="Cambria Math" panose="02040503050406030204" pitchFamily="18" charset="0"/>
                        <a:ea typeface="+mn-ea"/>
                        <a:cs typeface="+mn-cs"/>
                      </a:rPr>
                      <m:t>𝐷</m:t>
                    </m:r>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𝑟</m:t>
                        </m:r>
                      </m:e>
                      <m:sub>
                        <m:r>
                          <a:rPr lang="en-US" sz="1200" i="0" kern="1200">
                            <a:solidFill>
                              <a:schemeClr val="tx1"/>
                            </a:solidFill>
                            <a:latin typeface="Cambria Math" panose="02040503050406030204" pitchFamily="18" charset="0"/>
                            <a:ea typeface="+mn-ea"/>
                            <a:cs typeface="+mn-cs"/>
                          </a:rPr>
                          <m:t>0</m:t>
                        </m:r>
                      </m:sub>
                    </m:sSub>
                  </m:oMath>
                </a14:m>
                <a:r>
                  <a:rPr lang="en-US" sz="1200" b="0" i="0" kern="1200" dirty="0">
                    <a:solidFill>
                      <a:schemeClr val="tx1"/>
                    </a:solidFill>
                    <a:effectLst/>
                    <a:latin typeface="+mn-lt"/>
                    <a:ea typeface="+mn-ea"/>
                    <a:cs typeface="+mn-cs"/>
                  </a:rPr>
                  <a:t>. Collapsing that onto yes/no discards nearly all of it. "True" pools weak turbulence with seeing-destroying turbulence.</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3. Collinearity — and this is the sharp one.</a:t>
                </a:r>
                <a:r>
                  <a:rPr lang="en-US" sz="1200" b="0" i="0" kern="1200" dirty="0">
                    <a:solidFill>
                      <a:schemeClr val="tx1"/>
                    </a:solidFill>
                    <a:effectLst/>
                    <a:latin typeface="+mn-lt"/>
                    <a:ea typeface="+mn-ea"/>
                    <a:cs typeface="+mn-cs"/>
                  </a:rPr>
                  <a:t> Daytime near-ground turbulence is </a:t>
                </a:r>
                <a:r>
                  <a:rPr lang="en-US" sz="1200" b="0" i="1" kern="1200" dirty="0">
                    <a:solidFill>
                      <a:schemeClr val="tx1"/>
                    </a:solidFill>
                    <a:effectLst/>
                    <a:latin typeface="+mn-lt"/>
                    <a:ea typeface="+mn-ea"/>
                    <a:cs typeface="+mn-cs"/>
                  </a:rPr>
                  <a:t>driven by</a:t>
                </a:r>
                <a:r>
                  <a:rPr lang="en-US" sz="1200" b="0" i="0" kern="1200" dirty="0">
                    <a:solidFill>
                      <a:schemeClr val="tx1"/>
                    </a:solidFill>
                    <a:effectLst/>
                    <a:latin typeface="+mn-lt"/>
                    <a:ea typeface="+mn-ea"/>
                    <a:cs typeface="+mn-cs"/>
                  </a:rPr>
                  <a:t> solar heating of the surface: insolation → surface heat flux → convective thermal plumes → refractive index fluctuations. Solar load is a turbulence generator.</a:t>
                </a:r>
              </a:p>
              <a:p>
                <a:r>
                  <a:rPr lang="en-US" sz="1200" b="0" i="0" kern="1200" dirty="0">
                    <a:solidFill>
                      <a:schemeClr val="tx1"/>
                    </a:solidFill>
                    <a:effectLst/>
                    <a:latin typeface="+mn-lt"/>
                    <a:ea typeface="+mn-ea"/>
                    <a:cs typeface="+mn-cs"/>
                  </a:rPr>
                  <a:t>Solar Load &gt; 900 W/m² comes in at </a:t>
                </a:r>
                <a:r>
                  <a:rPr lang="en-US" sz="1200" b="1" i="0" kern="1200" dirty="0">
                    <a:solidFill>
                      <a:schemeClr val="tx1"/>
                    </a:solidFill>
                    <a:effectLst/>
                    <a:latin typeface="+mn-lt"/>
                    <a:ea typeface="+mn-ea"/>
                    <a:cs typeface="+mn-cs"/>
                  </a:rPr>
                  <a:t>+0.87, p &lt; 0.001</a:t>
                </a:r>
                <a:r>
                  <a:rPr lang="en-US" sz="1200" b="0" i="0" kern="1200" dirty="0">
                    <a:solidFill>
                      <a:schemeClr val="tx1"/>
                    </a:solidFill>
                    <a:effectLst/>
                    <a:latin typeface="+mn-lt"/>
                    <a:ea typeface="+mn-ea"/>
                    <a:cs typeface="+mn-cs"/>
                  </a:rPr>
                  <a:t> — one of the largest weather effects in the paper.</a:t>
                </a:r>
              </a:p>
              <a:p>
                <a:r>
                  <a:rPr lang="en-US" sz="1200" b="0" i="0" kern="1200" dirty="0">
                    <a:solidFill>
                      <a:schemeClr val="tx1"/>
                    </a:solidFill>
                    <a:effectLst/>
                    <a:latin typeface="+mn-lt"/>
                    <a:ea typeface="+mn-ea"/>
                    <a:cs typeface="+mn-cs"/>
                  </a:rPr>
                  <a:t>So a live hypothesis is that </a:t>
                </a:r>
                <a:r>
                  <a:rPr lang="en-US" sz="1200" b="1" i="0" kern="1200" dirty="0">
                    <a:solidFill>
                      <a:schemeClr val="tx1"/>
                    </a:solidFill>
                    <a:effectLst/>
                    <a:latin typeface="+mn-lt"/>
                    <a:ea typeface="+mn-ea"/>
                    <a:cs typeface="+mn-cs"/>
                  </a:rPr>
                  <a:t>the paper did detect turbulence and filed it under "solar loading."</a:t>
                </a:r>
                <a:r>
                  <a:rPr lang="en-US" sz="1200" b="0" i="0" kern="1200" dirty="0">
                    <a:solidFill>
                      <a:schemeClr val="tx1"/>
                    </a:solidFill>
                    <a:effectLst/>
                    <a:latin typeface="+mn-lt"/>
                    <a:ea typeface="+mn-ea"/>
                    <a:cs typeface="+mn-cs"/>
                  </a:rPr>
                  <a:t> The authors half-say this themselves (§6, p. 8): </a:t>
                </a:r>
                <a:r>
                  <a:rPr lang="en-US" sz="1200" b="0" i="1" kern="1200" dirty="0">
                    <a:solidFill>
                      <a:schemeClr val="tx1"/>
                    </a:solidFill>
                    <a:effectLst/>
                    <a:latin typeface="+mn-lt"/>
                    <a:ea typeface="+mn-ea"/>
                    <a:cs typeface="+mn-cs"/>
                  </a:rPr>
                  <a:t>"It is also possible that turbulence is already accounted for in the model by other covariates, such as distance or solar loading."</a:t>
                </a:r>
                <a:r>
                  <a:rPr lang="en-US" sz="1200" b="0" i="0" kern="1200" dirty="0">
                    <a:solidFill>
                      <a:schemeClr val="tx1"/>
                    </a:solidFill>
                    <a:effectLst/>
                    <a:latin typeface="+mn-lt"/>
                    <a:ea typeface="+mn-ea"/>
                    <a:cs typeface="+mn-cs"/>
                  </a:rPr>
                  <a:t> Path length is the other absorber, since turbulence integrates along the optical path, so range partially encodes cumulative </a:t>
                </a:r>
                <a14:m>
                  <m:oMath xmlns:m="http://schemas.openxmlformats.org/officeDocument/2006/math">
                    <m:sSubSup>
                      <m:sSubSupPr>
                        <m:ctrlPr>
                          <a:rPr lang="en-US" sz="1200" i="1" kern="1200">
                            <a:solidFill>
                              <a:schemeClr val="tx1"/>
                            </a:solidFill>
                            <a:latin typeface="Cambria Math" panose="02040503050406030204" pitchFamily="18" charset="0"/>
                            <a:ea typeface="+mn-ea"/>
                            <a:cs typeface="+mn-cs"/>
                          </a:rPr>
                        </m:ctrlPr>
                      </m:sSubSupPr>
                      <m:e>
                        <m:r>
                          <a:rPr lang="en-US" sz="1200" i="1" kern="1200">
                            <a:solidFill>
                              <a:schemeClr val="tx1"/>
                            </a:solidFill>
                            <a:latin typeface="Cambria Math" panose="02040503050406030204" pitchFamily="18" charset="0"/>
                            <a:ea typeface="+mn-ea"/>
                            <a:cs typeface="+mn-cs"/>
                          </a:rPr>
                          <m:t>𝐶</m:t>
                        </m:r>
                      </m:e>
                      <m:sub>
                        <m:r>
                          <a:rPr lang="en-US" sz="1200" i="1" kern="1200">
                            <a:solidFill>
                              <a:schemeClr val="tx1"/>
                            </a:solidFill>
                            <a:latin typeface="Cambria Math" panose="02040503050406030204" pitchFamily="18" charset="0"/>
                            <a:ea typeface="+mn-ea"/>
                            <a:cs typeface="+mn-cs"/>
                          </a:rPr>
                          <m:t>𝑛</m:t>
                        </m:r>
                      </m:sub>
                      <m:sup>
                        <m:r>
                          <a:rPr lang="en-US" sz="1200" i="0" kern="1200">
                            <a:solidFill>
                              <a:schemeClr val="tx1"/>
                            </a:solidFill>
                            <a:latin typeface="Cambria Math" panose="02040503050406030204" pitchFamily="18" charset="0"/>
                            <a:ea typeface="+mn-ea"/>
                            <a:cs typeface="+mn-cs"/>
                          </a:rPr>
                          <m:t>2</m:t>
                        </m:r>
                      </m:sup>
                    </m:sSubSup>
                  </m:oMath>
                </a14:m>
                <a:r>
                  <a:rPr lang="en-US" sz="1200" b="0" i="0" kern="1200" dirty="0">
                    <a:solidFill>
                      <a:schemeClr val="tx1"/>
                    </a:solidFill>
                    <a:effectLst/>
                    <a:latin typeface="+mn-lt"/>
                    <a:ea typeface="+mn-ea"/>
                    <a:cs typeface="+mn-cs"/>
                  </a:rPr>
                  <a:t>. Plus the 63 </a:t>
                </a:r>
                <a:r>
                  <a:rPr lang="en-US" sz="1200" b="0" i="0" kern="1200" dirty="0" err="1">
                    <a:solidFill>
                      <a:schemeClr val="tx1"/>
                    </a:solidFill>
                    <a:effectLst/>
                    <a:latin typeface="+mn-lt"/>
                    <a:ea typeface="+mn-ea"/>
                    <a:cs typeface="+mn-cs"/>
                  </a:rPr>
                  <a:t>sensor×collection</a:t>
                </a:r>
                <a:r>
                  <a:rPr lang="en-US" sz="1200" b="0" i="0" kern="1200" dirty="0">
                    <a:solidFill>
                      <a:schemeClr val="tx1"/>
                    </a:solidFill>
                    <a:effectLst/>
                    <a:latin typeface="+mn-lt"/>
                    <a:ea typeface="+mn-ea"/>
                    <a:cs typeface="+mn-cs"/>
                  </a:rPr>
                  <a:t> groups soak up site- and season-level atmospheric character. Turbulence is competing with three better-measured proxies for the same variance.</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4. Restricted support.</a:t>
                </a:r>
                <a:r>
                  <a:rPr lang="en-US" sz="1200" b="0" i="0" kern="1200" dirty="0">
                    <a:solidFill>
                      <a:schemeClr val="tx1"/>
                    </a:solidFill>
                    <a:effectLst/>
                    <a:latin typeface="+mn-lt"/>
                    <a:ea typeface="+mn-ea"/>
                    <a:cs typeface="+mn-cs"/>
                  </a:rPr>
                  <a:t> Turbulence only degrades medium- and long-range imagery, so most of the 8,295 modeled probes are structurally incapable of showing an effect. The contrast that matters is being estimated on a subset, then reported as a global coefficient.</a:t>
                </a:r>
              </a:p>
              <a:p>
                <a:pPr lvl="0"/>
                <a:endParaRPr lang="en-US" b="1" dirty="0"/>
              </a:p>
            </p:txBody>
          </p:sp>
        </mc:Choice>
        <mc:Fallback xmlns="">
          <p:sp>
            <p:nvSpPr>
              <p:cNvPr id="3" name="Notes Placeholder 2">
                <a:extLst>
                  <a:ext uri="{FF2B5EF4-FFF2-40B4-BE49-F238E27FC236}">
                    <a16:creationId xmlns:a16="http://schemas.microsoft.com/office/drawing/2014/main" id="{B88A44D4-EF0E-FA67-2EB6-698ADE8FB0E7}"/>
                  </a:ext>
                </a:extLst>
              </p:cNvPr>
              <p:cNvSpPr>
                <a:spLocks noGrp="1"/>
              </p:cNvSpPr>
              <p:nvPr>
                <p:ph type="body" idx="1"/>
              </p:nvPr>
            </p:nvSpPr>
            <p:spPr/>
            <p:txBody>
              <a:bodyPr/>
              <a:lstStyle/>
              <a:p>
                <a:pPr lvl="0"/>
                <a:r>
                  <a:rPr lang="en-US" dirty="0" err="1"/>
                  <a:t>Tubulence</a:t>
                </a:r>
                <a:r>
                  <a:rPr lang="en-US" dirty="0"/>
                  <a:t> Null:</a:t>
                </a:r>
              </a:p>
              <a:p>
                <a:pPr lvl="0"/>
                <a:endParaRPr lang="en-US" dirty="0"/>
              </a:p>
              <a:p>
                <a:r>
                  <a:rPr lang="en-US" sz="1200" b="0" i="0" kern="1200" dirty="0">
                    <a:solidFill>
                      <a:schemeClr val="tx1"/>
                    </a:solidFill>
                    <a:effectLst/>
                    <a:latin typeface="+mn-lt"/>
                    <a:ea typeface="+mn-ea"/>
                    <a:cs typeface="+mn-cs"/>
                  </a:rPr>
                  <a:t>Has Turbulence = True: </a:t>
                </a:r>
                <a:r>
                  <a:rPr lang="en-US" sz="1200" b="1" i="0" kern="1200" dirty="0">
                    <a:solidFill>
                      <a:schemeClr val="tx1"/>
                    </a:solidFill>
                    <a:effectLst/>
                    <a:latin typeface="+mn-lt"/>
                    <a:ea typeface="+mn-ea"/>
                    <a:cs typeface="+mn-cs"/>
                  </a:rPr>
                  <a:t>+0.06, p = 0.104.</a:t>
                </a:r>
                <a:r>
                  <a:rPr lang="en-US" sz="1200" b="0" i="0" kern="1200" dirty="0">
                    <a:solidFill>
                      <a:schemeClr val="tx1"/>
                    </a:solidFill>
                    <a:effectLst/>
                    <a:latin typeface="+mn-lt"/>
                    <a:ea typeface="+mn-ea"/>
                    <a:cs typeface="+mn-cs"/>
                  </a:rPr>
                  <a:t> A clean null for the phenomenon the program considers central.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authors offer three explanations: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Algorithms genuinely mitigate it — temporal integration, "lucky" frames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It's already absorbed by distance and solar loading</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It couldn't be measured:</a:t>
                </a:r>
                <a:r>
                  <a:rPr lang="en-US" sz="1200" b="0" i="0" kern="1200" dirty="0">
                    <a:solidFill>
                      <a:schemeClr val="tx1"/>
                    </a:solidFill>
                    <a:effectLst/>
                    <a:latin typeface="+mn-lt"/>
                    <a:ea typeface="+mn-ea"/>
                    <a:cs typeface="+mn-cs"/>
                  </a:rPr>
                  <a:t> "we could only measure turbulence (</a:t>
                </a:r>
                <a:r>
                  <a:rPr lang="en-US" sz="1200" i="0" kern="1200">
                    <a:solidFill>
                      <a:schemeClr val="tx1"/>
                    </a:solidFill>
                    <a:latin typeface="+mn-lt"/>
                    <a:ea typeface="+mn-ea"/>
                    <a:cs typeface="+mn-cs"/>
                  </a:rPr>
                  <a:t>𝐶_𝑛^2</a:t>
                </a:r>
                <a:r>
                  <a:rPr lang="en-US" sz="1200" b="0" i="0" kern="1200" dirty="0">
                    <a:solidFill>
                      <a:schemeClr val="tx1"/>
                    </a:solidFill>
                    <a:effectLst/>
                    <a:latin typeface="+mn-lt"/>
                    <a:ea typeface="+mn-ea"/>
                    <a:cs typeface="+mn-cs"/>
                  </a:rPr>
                  <a:t>) for a small number of cameras which were placed near collection scintillometers. Consequently, </a:t>
                </a:r>
                <a:r>
                  <a:rPr lang="en-US" sz="1200" b="1" i="0" kern="1200" dirty="0">
                    <a:solidFill>
                      <a:schemeClr val="tx1"/>
                    </a:solidFill>
                    <a:effectLst/>
                    <a:latin typeface="+mn-lt"/>
                    <a:ea typeface="+mn-ea"/>
                    <a:cs typeface="+mn-cs"/>
                  </a:rPr>
                  <a:t>estimating turbulence for the majority of the cameras is infeasible.</a:t>
                </a:r>
                <a:r>
                  <a:rPr lang="en-US" sz="1200" b="0" i="0" kern="1200" dirty="0">
                    <a:solidFill>
                      <a:schemeClr val="tx1"/>
                    </a:solidFill>
                    <a:effectLst/>
                    <a:latin typeface="+mn-lt"/>
                    <a:ea typeface="+mn-ea"/>
                    <a:cs typeface="+mn-cs"/>
                  </a:rPr>
                  <a:t>”</a:t>
                </a:r>
              </a:p>
              <a:p>
                <a:pPr marL="171450" lvl="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r>
                  <a:rPr lang="en-US" sz="1200" b="0" i="0" kern="1200" dirty="0">
                    <a:solidFill>
                      <a:schemeClr val="tx1"/>
                    </a:solidFill>
                    <a:effectLst/>
                    <a:latin typeface="+mn-lt"/>
                    <a:ea typeface="+mn-ea"/>
                    <a:cs typeface="+mn-cs"/>
                  </a:rPr>
                  <a:t>Additivity by Assertion: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Although interactions may indeed play a significant role in this research, we have opted for a simpler model.”</a:t>
                </a:r>
              </a:p>
              <a:p>
                <a:pPr marL="0" lvl="0" indent="0">
                  <a:buFont typeface="Arial" panose="020B0604020202020204" pitchFamily="34" charset="0"/>
                  <a:buNone/>
                </a:pPr>
                <a:endParaRPr lang="en-US" sz="1200" b="1" i="0" kern="1200" dirty="0">
                  <a:solidFill>
                    <a:schemeClr val="tx1"/>
                  </a:solidFill>
                  <a:effectLst/>
                  <a:latin typeface="+mn-lt"/>
                  <a:ea typeface="+mn-ea"/>
                  <a:cs typeface="+mn-cs"/>
                </a:endParaRPr>
              </a:p>
              <a:p>
                <a:pPr marL="0" lvl="0" indent="0">
                  <a:buFont typeface="Arial" panose="020B0604020202020204" pitchFamily="34" charset="0"/>
                  <a:buNone/>
                </a:pPr>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"Name an interaction you'd expect to be strong. Which way would including it move the Eq. (4) estimate?"</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Candidates: head height × turbulence (turbulence should matter far more when you have few pixels to lose); solar load × modality; range × sensor. Most plausible interactions are </a:t>
                </a:r>
                <a:r>
                  <a:rPr lang="en-US" sz="1200" b="1" i="0" kern="1200" dirty="0">
                    <a:solidFill>
                      <a:schemeClr val="tx1"/>
                    </a:solidFill>
                    <a:effectLst/>
                    <a:latin typeface="+mn-lt"/>
                    <a:ea typeface="+mn-ea"/>
                    <a:cs typeface="+mn-cs"/>
                  </a:rPr>
                  <a:t>super-additive</a:t>
                </a:r>
                <a:r>
                  <a:rPr lang="en-US" sz="1200" b="0" i="0" kern="1200" dirty="0">
                    <a:solidFill>
                      <a:schemeClr val="tx1"/>
                    </a:solidFill>
                    <a:effectLst/>
                    <a:latin typeface="+mn-lt"/>
                    <a:ea typeface="+mn-ea"/>
                    <a:cs typeface="+mn-cs"/>
                  </a:rPr>
                  <a:t>, meaning Eq. (4) likely </a:t>
                </a:r>
                <a:r>
                  <a:rPr lang="en-US" sz="1200" b="0" i="1" kern="1200" dirty="0">
                    <a:solidFill>
                      <a:schemeClr val="tx1"/>
                    </a:solidFill>
                    <a:effectLst/>
                    <a:latin typeface="+mn-lt"/>
                    <a:ea typeface="+mn-ea"/>
                    <a:cs typeface="+mn-cs"/>
                  </a:rPr>
                  <a:t>understates</a:t>
                </a:r>
                <a:r>
                  <a:rPr lang="en-US" sz="1200" b="0" i="0" kern="1200" dirty="0">
                    <a:solidFill>
                      <a:schemeClr val="tx1"/>
                    </a:solidFill>
                    <a:effectLst/>
                    <a:latin typeface="+mn-lt"/>
                    <a:ea typeface="+mn-ea"/>
                    <a:cs typeface="+mn-cs"/>
                  </a:rPr>
                  <a:t> combined degradation.</a:t>
                </a: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r>
                  <a:rPr lang="en-US" sz="1200" b="0" i="0" kern="1200" dirty="0">
                    <a:solidFill>
                      <a:schemeClr val="tx1"/>
                    </a:solidFill>
                    <a:effectLst/>
                    <a:latin typeface="+mn-lt"/>
                    <a:ea typeface="+mn-ea"/>
                    <a:cs typeface="+mn-cs"/>
                  </a:rPr>
                  <a:t>Binning and UAV:</a:t>
                </a:r>
              </a:p>
              <a:p>
                <a:r>
                  <a:rPr lang="en-US" sz="1200" b="0" i="0" kern="1200" dirty="0">
                    <a:solidFill>
                      <a:schemeClr val="tx1"/>
                    </a:solidFill>
                    <a:effectLst/>
                    <a:latin typeface="+mn-lt"/>
                    <a:ea typeface="+mn-ea"/>
                    <a:cs typeface="+mn-cs"/>
                  </a:rPr>
                  <a:t>All continuous covariates were categorized (§5, p. 6) — within-bin information discarded. Worse, the UAV category:</a:t>
                </a:r>
              </a:p>
              <a:p>
                <a:r>
                  <a:rPr lang="en-US" sz="1200" b="0" i="0" kern="1200" dirty="0">
                    <a:solidFill>
                      <a:schemeClr val="tx1"/>
                    </a:solidFill>
                    <a:effectLst/>
                    <a:latin typeface="+mn-lt"/>
                    <a:ea typeface="+mn-ea"/>
                    <a:cs typeface="+mn-cs"/>
                  </a:rPr>
                  <a:t>"'UAV' mounted cameras exhibit significant variability. This likely results from the difference between small, modern HD and 4k quadcopters that typically fly at low altitude and within 100m of the subjects and larger systems that fly at longer distances and up to 1200 ft altitude, often with older or lower resolution payloads. </a:t>
                </a:r>
                <a:r>
                  <a:rPr lang="en-US" sz="1200" b="1" i="0" kern="1200" dirty="0">
                    <a:solidFill>
                      <a:schemeClr val="tx1"/>
                    </a:solidFill>
                    <a:effectLst/>
                    <a:latin typeface="+mn-lt"/>
                    <a:ea typeface="+mn-ea"/>
                    <a:cs typeface="+mn-cs"/>
                  </a:rPr>
                  <a:t>In this model, all of these are grouped into the same category.</a:t>
                </a:r>
                <a:r>
                  <a:rPr lang="en-US" sz="1200" b="0" i="0" kern="1200" dirty="0">
                    <a:solidFill>
                      <a:schemeClr val="tx1"/>
                    </a:solidFill>
                    <a:effectLst/>
                    <a:latin typeface="+mn-lt"/>
                    <a:ea typeface="+mn-ea"/>
                    <a:cs typeface="+mn-cs"/>
                  </a:rPr>
                  <a:t>" — §6, p. 7</a:t>
                </a:r>
              </a:p>
              <a:p>
                <a:r>
                  <a:rPr lang="en-US" sz="1200" b="0" i="0" kern="1200" dirty="0">
                    <a:solidFill>
                      <a:schemeClr val="tx1"/>
                    </a:solidFill>
                    <a:effectLst/>
                    <a:latin typeface="+mn-lt"/>
                    <a:ea typeface="+mn-ea"/>
                    <a:cs typeface="+mn-cs"/>
                  </a:rPr>
                  <a:t>Result: +1.00 with CI (−0.12, 2.12), p = 0.081 — </a:t>
                </a:r>
                <a:r>
                  <a:rPr lang="en-US" sz="1200" b="1" i="0" kern="1200" dirty="0">
                    <a:solidFill>
                      <a:schemeClr val="tx1"/>
                    </a:solidFill>
                    <a:effectLst/>
                    <a:latin typeface="+mn-lt"/>
                    <a:ea typeface="+mn-ea"/>
                    <a:cs typeface="+mn-cs"/>
                  </a:rPr>
                  <a:t>not significant</a:t>
                </a:r>
                <a:r>
                  <a:rPr lang="en-US" sz="1200" b="0" i="0" kern="1200" dirty="0">
                    <a:solidFill>
                      <a:schemeClr val="tx1"/>
                    </a:solidFill>
                    <a:effectLst/>
                    <a:latin typeface="+mn-lt"/>
                    <a:ea typeface="+mn-ea"/>
                    <a:cs typeface="+mn-cs"/>
                  </a:rPr>
                  <a:t>, and operationally the most interesting category in the paper.</a:t>
                </a: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r>
                  <a:rPr lang="en-US" b="1" dirty="0"/>
                  <a:t>More Details on the </a:t>
                </a:r>
                <a:r>
                  <a:rPr lang="en-US" b="1" dirty="0" err="1"/>
                  <a:t>Tubulence</a:t>
                </a:r>
                <a:r>
                  <a:rPr lang="en-US" b="1" dirty="0"/>
                  <a:t> Null</a:t>
                </a:r>
                <a:br>
                  <a:rPr lang="en-US" b="1" dirty="0"/>
                </a:br>
                <a:br>
                  <a:rPr lang="en-US" b="1" dirty="0"/>
                </a:br>
                <a:r>
                  <a:rPr lang="en-US" sz="1200" b="0" i="0" kern="1200" dirty="0">
                    <a:solidFill>
                      <a:schemeClr val="tx1"/>
                    </a:solidFill>
                    <a:effectLst/>
                    <a:latin typeface="+mn-lt"/>
                    <a:ea typeface="+mn-ea"/>
                    <a:cs typeface="+mn-cs"/>
                  </a:rPr>
                  <a:t>The short version: the paper didn't find that turbulence doesn't matter. It found that </a:t>
                </a:r>
                <a:r>
                  <a:rPr lang="en-US" sz="1200" b="1" i="0" kern="1200" dirty="0">
                    <a:solidFill>
                      <a:schemeClr val="tx1"/>
                    </a:solidFill>
                    <a:effectLst/>
                    <a:latin typeface="+mn-lt"/>
                    <a:ea typeface="+mn-ea"/>
                    <a:cs typeface="+mn-cs"/>
                  </a:rPr>
                  <a:t>a binary flag called "Has Turbulence" doesn't predict much</a:t>
                </a:r>
                <a:r>
                  <a:rPr lang="en-US" sz="1200" b="0" i="0" kern="1200" dirty="0">
                    <a:solidFill>
                      <a:schemeClr val="tx1"/>
                    </a:solidFill>
                    <a:effectLst/>
                    <a:latin typeface="+mn-lt"/>
                    <a:ea typeface="+mn-ea"/>
                    <a:cs typeface="+mn-cs"/>
                  </a:rPr>
                  <a:t> — and those are very different claims. Almost everything interesting is in the gap between them.</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What the number actually says</a:t>
                </a:r>
              </a:p>
              <a:p>
                <a:r>
                  <a:rPr lang="en-US" sz="1200" b="0" i="0" kern="1200" dirty="0">
                    <a:solidFill>
                      <a:schemeClr val="tx1"/>
                    </a:solidFill>
                    <a:effectLst/>
                    <a:latin typeface="+mn-lt"/>
                    <a:ea typeface="+mn-ea"/>
                    <a:cs typeface="+mn-cs"/>
                  </a:rPr>
                  <a:t>Has Turb. True: </a:t>
                </a:r>
                <a:r>
                  <a:rPr lang="en-US" sz="1200" b="1" i="0" kern="1200" dirty="0">
                    <a:solidFill>
                      <a:schemeClr val="tx1"/>
                    </a:solidFill>
                    <a:effectLst/>
                    <a:latin typeface="+mn-lt"/>
                    <a:ea typeface="+mn-ea"/>
                    <a:cs typeface="+mn-cs"/>
                  </a:rPr>
                  <a:t>+0.06, CI (−0.01, 0.13), p = 0.104</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Taken at face value, </a:t>
                </a:r>
                <a:r>
                  <a:rPr lang="en-US" sz="1200" i="0" kern="1200">
                    <a:solidFill>
                      <a:schemeClr val="tx1"/>
                    </a:solidFill>
                    <a:latin typeface="+mn-lt"/>
                    <a:ea typeface="+mn-ea"/>
                    <a:cs typeface="+mn-cs"/>
                  </a:rPr>
                  <a:t>10^0.06≈1.15</a:t>
                </a:r>
                <a:r>
                  <a:rPr lang="en-US" sz="1200" b="0" i="0" kern="1200" dirty="0">
                    <a:solidFill>
                      <a:schemeClr val="tx1"/>
                    </a:solidFill>
                    <a:effectLst/>
                    <a:latin typeface="+mn-lt"/>
                    <a:ea typeface="+mn-ea"/>
                    <a:cs typeface="+mn-cs"/>
                  </a:rPr>
                  <a:t> — a 15% increase in FAR. Against head height &lt; 30 </a:t>
                </a:r>
                <a:r>
                  <a:rPr lang="en-US" sz="1200" b="0" i="0" kern="1200" dirty="0" err="1">
                    <a:solidFill>
                      <a:schemeClr val="tx1"/>
                    </a:solidFill>
                    <a:effectLst/>
                    <a:latin typeface="+mn-lt"/>
                    <a:ea typeface="+mn-ea"/>
                    <a:cs typeface="+mn-cs"/>
                  </a:rPr>
                  <a:t>px</a:t>
                </a:r>
                <a:r>
                  <a:rPr lang="en-US" sz="1200" b="0" i="0" kern="1200" dirty="0">
                    <a:solidFill>
                      <a:schemeClr val="tx1"/>
                    </a:solidFill>
                    <a:effectLst/>
                    <a:latin typeface="+mn-lt"/>
                    <a:ea typeface="+mn-ea"/>
                    <a:cs typeface="+mn-cs"/>
                  </a:rPr>
                  <a:t> at </a:t>
                </a:r>
                <a:r>
                  <a:rPr lang="en-US" sz="1200" i="0" kern="1200">
                    <a:solidFill>
                      <a:schemeClr val="tx1"/>
                    </a:solidFill>
                    <a:latin typeface="+mn-lt"/>
                    <a:ea typeface="+mn-ea"/>
                    <a:cs typeface="+mn-cs"/>
                  </a:rPr>
                  <a:t>10^1.88≈76×</a:t>
                </a:r>
                <a:r>
                  <a:rPr lang="en-US" sz="1200" b="0" i="0" kern="1200" dirty="0">
                    <a:solidFill>
                      <a:schemeClr val="tx1"/>
                    </a:solidFill>
                    <a:effectLst/>
                    <a:latin typeface="+mn-lt"/>
                    <a:ea typeface="+mn-ea"/>
                    <a:cs typeface="+mn-cs"/>
                  </a:rPr>
                  <a:t>, it's nothing.</a:t>
                </a:r>
              </a:p>
              <a:p>
                <a:r>
                  <a:rPr lang="en-US" sz="1200" b="0" i="0" kern="1200" dirty="0">
                    <a:solidFill>
                      <a:schemeClr val="tx1"/>
                    </a:solidFill>
                    <a:effectLst/>
                    <a:latin typeface="+mn-lt"/>
                    <a:ea typeface="+mn-ea"/>
                    <a:cs typeface="+mn-cs"/>
                  </a:rPr>
                  <a:t>Note the CI is </a:t>
                </a:r>
                <a:r>
                  <a:rPr lang="en-US" sz="1200" b="0" i="1" kern="1200" dirty="0">
                    <a:solidFill>
                      <a:schemeClr val="tx1"/>
                    </a:solidFill>
                    <a:effectLst/>
                    <a:latin typeface="+mn-lt"/>
                    <a:ea typeface="+mn-ea"/>
                    <a:cs typeface="+mn-cs"/>
                  </a:rPr>
                  <a:t>narrow</a:t>
                </a:r>
                <a:r>
                  <a:rPr lang="en-US" sz="1200" b="0" i="0" kern="1200" dirty="0">
                    <a:solidFill>
                      <a:schemeClr val="tx1"/>
                    </a:solidFill>
                    <a:effectLst/>
                    <a:latin typeface="+mn-lt"/>
                    <a:ea typeface="+mn-ea"/>
                    <a:cs typeface="+mn-cs"/>
                  </a:rPr>
                  <a:t> — width 0.14, versus UAV's (−0.12, 2.12). So this isn't a low-power null where the effect could be anywhere. It's a </a:t>
                </a:r>
                <a:r>
                  <a:rPr lang="en-US" sz="1200" b="1" i="0" kern="1200" dirty="0">
                    <a:solidFill>
                      <a:schemeClr val="tx1"/>
                    </a:solidFill>
                    <a:effectLst/>
                    <a:latin typeface="+mn-lt"/>
                    <a:ea typeface="+mn-ea"/>
                    <a:cs typeface="+mn-cs"/>
                  </a:rPr>
                  <a:t>precisely estimated near-zero</a:t>
                </a:r>
                <a:r>
                  <a:rPr lang="en-US" sz="1200" b="0" i="0" kern="1200" dirty="0">
                    <a:solidFill>
                      <a:schemeClr val="tx1"/>
                    </a:solidFill>
                    <a:effectLst/>
                    <a:latin typeface="+mn-lt"/>
                    <a:ea typeface="+mn-ea"/>
                    <a:cs typeface="+mn-cs"/>
                  </a:rPr>
                  <a:t>. That matters, because it rules out the easy dismissal ("not enough data") and forces you to argue about construct validity instead: is the flag measuring turbulence?</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Four reasons it probably isn’t</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1. Exposure misclassification, and it's one-directional.</a:t>
                </a:r>
                <a:r>
                  <a:rPr lang="en-US" sz="1200" b="0" i="0" kern="1200" dirty="0">
                    <a:solidFill>
                      <a:schemeClr val="tx1"/>
                    </a:solidFill>
                    <a:effectLst/>
                    <a:latin typeface="+mn-lt"/>
                    <a:ea typeface="+mn-ea"/>
                    <a:cs typeface="+mn-cs"/>
                  </a:rPr>
                  <a:t> </a:t>
                </a:r>
                <a:r>
                  <a:rPr lang="en-US" sz="1200" i="0" kern="1200">
                    <a:solidFill>
                      <a:schemeClr val="tx1"/>
                    </a:solidFill>
                    <a:latin typeface="+mn-lt"/>
                    <a:ea typeface="+mn-ea"/>
                    <a:cs typeface="+mn-cs"/>
                  </a:rPr>
                  <a:t>𝐶_𝑛^2</a:t>
                </a:r>
                <a:r>
                  <a:rPr lang="en-US" sz="1200" b="0" i="0" kern="1200" dirty="0">
                    <a:solidFill>
                      <a:schemeClr val="tx1"/>
                    </a:solidFill>
                    <a:effectLst/>
                    <a:latin typeface="+mn-lt"/>
                    <a:ea typeface="+mn-ea"/>
                    <a:cs typeface="+mn-cs"/>
                  </a:rPr>
                  <a:t> was measured only for cameras near scintillometers. Every other camera gets "False" by default — so the False group is a mixture of </a:t>
                </a:r>
                <a:r>
                  <a:rPr lang="en-US" sz="1200" b="0" i="1" kern="1200" dirty="0">
                    <a:solidFill>
                      <a:schemeClr val="tx1"/>
                    </a:solidFill>
                    <a:effectLst/>
                    <a:latin typeface="+mn-lt"/>
                    <a:ea typeface="+mn-ea"/>
                    <a:cs typeface="+mn-cs"/>
                  </a:rPr>
                  <a:t>genuinely calm</a:t>
                </a:r>
                <a:r>
                  <a:rPr lang="en-US" sz="1200" b="0" i="0" kern="1200" dirty="0">
                    <a:solidFill>
                      <a:schemeClr val="tx1"/>
                    </a:solidFill>
                    <a:effectLst/>
                    <a:latin typeface="+mn-lt"/>
                    <a:ea typeface="+mn-ea"/>
                    <a:cs typeface="+mn-cs"/>
                  </a:rPr>
                  <a:t> and </a:t>
                </a:r>
                <a:r>
                  <a:rPr lang="en-US" sz="1200" b="0" i="1" kern="1200" dirty="0">
                    <a:solidFill>
                      <a:schemeClr val="tx1"/>
                    </a:solidFill>
                    <a:effectLst/>
                    <a:latin typeface="+mn-lt"/>
                    <a:ea typeface="+mn-ea"/>
                    <a:cs typeface="+mn-cs"/>
                  </a:rPr>
                  <a:t>turbulent but </a:t>
                </a:r>
                <a:r>
                  <a:rPr lang="en-US" sz="1200" b="0" i="1" kern="1200" dirty="0" err="1">
                    <a:solidFill>
                      <a:schemeClr val="tx1"/>
                    </a:solidFill>
                    <a:effectLst/>
                    <a:latin typeface="+mn-lt"/>
                    <a:ea typeface="+mn-ea"/>
                    <a:cs typeface="+mn-cs"/>
                  </a:rPr>
                  <a:t>uninstrumented</a:t>
                </a:r>
                <a:r>
                  <a:rPr lang="en-US" sz="1200" b="0" i="0" kern="1200" dirty="0">
                    <a:solidFill>
                      <a:schemeClr val="tx1"/>
                    </a:solidFill>
                    <a:effectLst/>
                    <a:latin typeface="+mn-lt"/>
                    <a:ea typeface="+mn-ea"/>
                    <a:cs typeface="+mn-cs"/>
                  </a:rPr>
                  <a:t>. This is non-differential misclassification of the exposure variable, and its effect is textbook: it </a:t>
                </a:r>
                <a:r>
                  <a:rPr lang="en-US" sz="1200" b="1" i="0" kern="1200" dirty="0">
                    <a:solidFill>
                      <a:schemeClr val="tx1"/>
                    </a:solidFill>
                    <a:effectLst/>
                    <a:latin typeface="+mn-lt"/>
                    <a:ea typeface="+mn-ea"/>
                    <a:cs typeface="+mn-cs"/>
                  </a:rPr>
                  <a:t>attenuates the estimate toward zero</a:t>
                </a:r>
                <a:r>
                  <a:rPr lang="en-US" sz="1200" b="0" i="0" kern="1200" dirty="0">
                    <a:solidFill>
                      <a:schemeClr val="tx1"/>
                    </a:solidFill>
                    <a:effectLst/>
                    <a:latin typeface="+mn-lt"/>
                    <a:ea typeface="+mn-ea"/>
                    <a:cs typeface="+mn-cs"/>
                  </a:rPr>
                  <a:t>. If a fraction </a:t>
                </a:r>
                <a:r>
                  <a:rPr lang="en-US" sz="1200" i="0" kern="1200">
                    <a:solidFill>
                      <a:schemeClr val="tx1"/>
                    </a:solidFill>
                    <a:latin typeface="+mn-lt"/>
                    <a:ea typeface="+mn-ea"/>
                    <a:cs typeface="+mn-cs"/>
                  </a:rPr>
                  <a:t>𝛼</a:t>
                </a:r>
                <a:r>
                  <a:rPr lang="en-US" sz="1200" b="0" i="0" kern="1200" dirty="0">
                    <a:solidFill>
                      <a:schemeClr val="tx1"/>
                    </a:solidFill>
                    <a:effectLst/>
                    <a:latin typeface="+mn-lt"/>
                    <a:ea typeface="+mn-ea"/>
                    <a:cs typeface="+mn-cs"/>
                  </a:rPr>
                  <a:t> of truly-turbulent probes are labeled False, the observed contrast shrinks roughly by </a:t>
                </a:r>
                <a:r>
                  <a:rPr lang="en-US" sz="1200" i="0" kern="1200">
                    <a:solidFill>
                      <a:schemeClr val="tx1"/>
                    </a:solidFill>
                    <a:latin typeface="+mn-lt"/>
                    <a:ea typeface="+mn-ea"/>
                    <a:cs typeface="+mn-cs"/>
                  </a:rPr>
                  <a:t>(1−𝛼)</a:t>
                </a:r>
                <a:r>
                  <a:rPr lang="en-US" sz="1200" b="0" i="0" kern="1200" dirty="0">
                    <a:solidFill>
                      <a:schemeClr val="tx1"/>
                    </a:solidFill>
                    <a:effectLst/>
                    <a:latin typeface="+mn-lt"/>
                    <a:ea typeface="+mn-ea"/>
                    <a:cs typeface="+mn-cs"/>
                  </a:rPr>
                  <a:t> relative to the truth. The direction of the bias is known even when its size isn’t.</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2. Binarizing a quantity with orders-of-magnitude dynamic range.</a:t>
                </a:r>
                <a:r>
                  <a:rPr lang="en-US" sz="1200" b="0" i="0" kern="1200" dirty="0">
                    <a:solidFill>
                      <a:schemeClr val="tx1"/>
                    </a:solidFill>
                    <a:effectLst/>
                    <a:latin typeface="+mn-lt"/>
                    <a:ea typeface="+mn-ea"/>
                    <a:cs typeface="+mn-cs"/>
                  </a:rPr>
                  <a:t> </a:t>
                </a:r>
                <a:r>
                  <a:rPr lang="en-US" sz="1200" i="0" kern="1200">
                    <a:solidFill>
                      <a:schemeClr val="tx1"/>
                    </a:solidFill>
                    <a:latin typeface="+mn-lt"/>
                    <a:ea typeface="+mn-ea"/>
                    <a:cs typeface="+mn-cs"/>
                  </a:rPr>
                  <a:t>𝐶_𝑛^2</a:t>
                </a:r>
                <a:r>
                  <a:rPr lang="en-US" sz="1200" b="0" i="0" kern="1200" dirty="0">
                    <a:solidFill>
                      <a:schemeClr val="tx1"/>
                    </a:solidFill>
                    <a:effectLst/>
                    <a:latin typeface="+mn-lt"/>
                    <a:ea typeface="+mn-ea"/>
                    <a:cs typeface="+mn-cs"/>
                  </a:rPr>
                  <a:t> spans roughly </a:t>
                </a:r>
                <a:r>
                  <a:rPr lang="en-US" sz="1200" i="0" kern="1200">
                    <a:solidFill>
                      <a:schemeClr val="tx1"/>
                    </a:solidFill>
                    <a:latin typeface="+mn-lt"/>
                    <a:ea typeface="+mn-ea"/>
                    <a:cs typeface="+mn-cs"/>
                  </a:rPr>
                  <a:t>10^(−17)</a:t>
                </a:r>
                <a:r>
                  <a:rPr lang="en-US" sz="1200" b="0" i="0" kern="1200" dirty="0">
                    <a:solidFill>
                      <a:schemeClr val="tx1"/>
                    </a:solidFill>
                    <a:effectLst/>
                    <a:latin typeface="+mn-lt"/>
                    <a:ea typeface="+mn-ea"/>
                    <a:cs typeface="+mn-cs"/>
                  </a:rPr>
                  <a:t> to </a:t>
                </a:r>
                <a:r>
                  <a:rPr lang="en-US" sz="1200" i="0" kern="1200">
                    <a:solidFill>
                      <a:schemeClr val="tx1"/>
                    </a:solidFill>
                    <a:latin typeface="+mn-lt"/>
                    <a:ea typeface="+mn-ea"/>
                    <a:cs typeface="+mn-cs"/>
                  </a:rPr>
                  <a:t>10^(−13)</a:t>
                </a:r>
                <a:r>
                  <a:rPr lang="en-US" sz="1200" b="0" i="0" kern="1200">
                    <a:solidFill>
                      <a:schemeClr val="tx1"/>
                    </a:solidFill>
                    <a:latin typeface="+mn-lt"/>
                    <a:ea typeface="+mn-ea"/>
                    <a:cs typeface="+mn-cs"/>
                  </a:rPr>
                  <a:t> </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 m^(−2/3)</a:t>
                </a:r>
                <a:r>
                  <a:rPr lang="en-US" sz="1200" b="0" i="0" kern="1200" dirty="0">
                    <a:solidFill>
                      <a:schemeClr val="tx1"/>
                    </a:solidFill>
                    <a:effectLst/>
                    <a:latin typeface="+mn-lt"/>
                    <a:ea typeface="+mn-ea"/>
                    <a:cs typeface="+mn-cs"/>
                  </a:rPr>
                  <a:t> near the ground. And it enters the optics nonlinearly — recall Tuesday's </a:t>
                </a:r>
                <a:r>
                  <a:rPr lang="en-US" sz="1200" i="0" kern="1200">
                    <a:solidFill>
                      <a:schemeClr val="tx1"/>
                    </a:solidFill>
                    <a:latin typeface="+mn-lt"/>
                    <a:ea typeface="+mn-ea"/>
                    <a:cs typeface="+mn-cs"/>
                  </a:rPr>
                  <a:t>𝑟_0∝[∫128▒𝐶_𝑛^2  𝑑𝑧]^(−3/5)</a:t>
                </a:r>
                <a:r>
                  <a:rPr lang="en-US" sz="1200" b="0" i="0" kern="1200" dirty="0">
                    <a:solidFill>
                      <a:schemeClr val="tx1"/>
                    </a:solidFill>
                    <a:effectLst/>
                    <a:latin typeface="+mn-lt"/>
                    <a:ea typeface="+mn-ea"/>
                    <a:cs typeface="+mn-cs"/>
                  </a:rPr>
                  <a:t>, with degradation severity scaling as </a:t>
                </a:r>
                <a:r>
                  <a:rPr lang="en-US" sz="1200" i="0" kern="1200">
                    <a:solidFill>
                      <a:schemeClr val="tx1"/>
                    </a:solidFill>
                    <a:latin typeface="+mn-lt"/>
                    <a:ea typeface="+mn-ea"/>
                    <a:cs typeface="+mn-cs"/>
                  </a:rPr>
                  <a:t>𝐷/𝑟_0</a:t>
                </a:r>
                <a:r>
                  <a:rPr lang="en-US" sz="1200" b="0" i="0" kern="1200" dirty="0">
                    <a:solidFill>
                      <a:schemeClr val="tx1"/>
                    </a:solidFill>
                    <a:effectLst/>
                    <a:latin typeface="+mn-lt"/>
                    <a:ea typeface="+mn-ea"/>
                    <a:cs typeface="+mn-cs"/>
                  </a:rPr>
                  <a:t>. Collapsing that onto yes/no discards nearly all of it. "True" pools weak turbulence with seeing-destroying turbulence.</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3. Collinearity — and this is the sharp one.</a:t>
                </a:r>
                <a:r>
                  <a:rPr lang="en-US" sz="1200" b="0" i="0" kern="1200" dirty="0">
                    <a:solidFill>
                      <a:schemeClr val="tx1"/>
                    </a:solidFill>
                    <a:effectLst/>
                    <a:latin typeface="+mn-lt"/>
                    <a:ea typeface="+mn-ea"/>
                    <a:cs typeface="+mn-cs"/>
                  </a:rPr>
                  <a:t> Daytime near-ground turbulence is </a:t>
                </a:r>
                <a:r>
                  <a:rPr lang="en-US" sz="1200" b="0" i="1" kern="1200" dirty="0">
                    <a:solidFill>
                      <a:schemeClr val="tx1"/>
                    </a:solidFill>
                    <a:effectLst/>
                    <a:latin typeface="+mn-lt"/>
                    <a:ea typeface="+mn-ea"/>
                    <a:cs typeface="+mn-cs"/>
                  </a:rPr>
                  <a:t>driven by</a:t>
                </a:r>
                <a:r>
                  <a:rPr lang="en-US" sz="1200" b="0" i="0" kern="1200" dirty="0">
                    <a:solidFill>
                      <a:schemeClr val="tx1"/>
                    </a:solidFill>
                    <a:effectLst/>
                    <a:latin typeface="+mn-lt"/>
                    <a:ea typeface="+mn-ea"/>
                    <a:cs typeface="+mn-cs"/>
                  </a:rPr>
                  <a:t> solar heating of the surface: insolation → surface heat flux → convective thermal plumes → refractive index fluctuations. Solar load is a turbulence generator.</a:t>
                </a:r>
              </a:p>
              <a:p>
                <a:r>
                  <a:rPr lang="en-US" sz="1200" b="0" i="0" kern="1200" dirty="0">
                    <a:solidFill>
                      <a:schemeClr val="tx1"/>
                    </a:solidFill>
                    <a:effectLst/>
                    <a:latin typeface="+mn-lt"/>
                    <a:ea typeface="+mn-ea"/>
                    <a:cs typeface="+mn-cs"/>
                  </a:rPr>
                  <a:t>Solar Load &gt; 900 W/m² comes in at </a:t>
                </a:r>
                <a:r>
                  <a:rPr lang="en-US" sz="1200" b="1" i="0" kern="1200" dirty="0">
                    <a:solidFill>
                      <a:schemeClr val="tx1"/>
                    </a:solidFill>
                    <a:effectLst/>
                    <a:latin typeface="+mn-lt"/>
                    <a:ea typeface="+mn-ea"/>
                    <a:cs typeface="+mn-cs"/>
                  </a:rPr>
                  <a:t>+0.87, p &lt; 0.001</a:t>
                </a:r>
                <a:r>
                  <a:rPr lang="en-US" sz="1200" b="0" i="0" kern="1200" dirty="0">
                    <a:solidFill>
                      <a:schemeClr val="tx1"/>
                    </a:solidFill>
                    <a:effectLst/>
                    <a:latin typeface="+mn-lt"/>
                    <a:ea typeface="+mn-ea"/>
                    <a:cs typeface="+mn-cs"/>
                  </a:rPr>
                  <a:t> — one of the largest weather effects in the paper.</a:t>
                </a:r>
              </a:p>
              <a:p>
                <a:r>
                  <a:rPr lang="en-US" sz="1200" b="0" i="0" kern="1200" dirty="0">
                    <a:solidFill>
                      <a:schemeClr val="tx1"/>
                    </a:solidFill>
                    <a:effectLst/>
                    <a:latin typeface="+mn-lt"/>
                    <a:ea typeface="+mn-ea"/>
                    <a:cs typeface="+mn-cs"/>
                  </a:rPr>
                  <a:t>So a live hypothesis is that </a:t>
                </a:r>
                <a:r>
                  <a:rPr lang="en-US" sz="1200" b="1" i="0" kern="1200" dirty="0">
                    <a:solidFill>
                      <a:schemeClr val="tx1"/>
                    </a:solidFill>
                    <a:effectLst/>
                    <a:latin typeface="+mn-lt"/>
                    <a:ea typeface="+mn-ea"/>
                    <a:cs typeface="+mn-cs"/>
                  </a:rPr>
                  <a:t>the paper did detect turbulence and filed it under "solar loading."</a:t>
                </a:r>
                <a:r>
                  <a:rPr lang="en-US" sz="1200" b="0" i="0" kern="1200" dirty="0">
                    <a:solidFill>
                      <a:schemeClr val="tx1"/>
                    </a:solidFill>
                    <a:effectLst/>
                    <a:latin typeface="+mn-lt"/>
                    <a:ea typeface="+mn-ea"/>
                    <a:cs typeface="+mn-cs"/>
                  </a:rPr>
                  <a:t> The authors half-say this themselves (§6, p. 8): </a:t>
                </a:r>
                <a:r>
                  <a:rPr lang="en-US" sz="1200" b="0" i="1" kern="1200" dirty="0">
                    <a:solidFill>
                      <a:schemeClr val="tx1"/>
                    </a:solidFill>
                    <a:effectLst/>
                    <a:latin typeface="+mn-lt"/>
                    <a:ea typeface="+mn-ea"/>
                    <a:cs typeface="+mn-cs"/>
                  </a:rPr>
                  <a:t>"It is also possible that turbulence is already accounted for in the model by other covariates, such as distance or solar loading."</a:t>
                </a:r>
                <a:r>
                  <a:rPr lang="en-US" sz="1200" b="0" i="0" kern="1200" dirty="0">
                    <a:solidFill>
                      <a:schemeClr val="tx1"/>
                    </a:solidFill>
                    <a:effectLst/>
                    <a:latin typeface="+mn-lt"/>
                    <a:ea typeface="+mn-ea"/>
                    <a:cs typeface="+mn-cs"/>
                  </a:rPr>
                  <a:t> Path length is the other absorber, since turbulence integrates along the optical path, so range partially encodes cumulative </a:t>
                </a:r>
                <a:r>
                  <a:rPr lang="en-US" sz="1200" i="0" kern="1200">
                    <a:solidFill>
                      <a:schemeClr val="tx1"/>
                    </a:solidFill>
                    <a:latin typeface="+mn-lt"/>
                    <a:ea typeface="+mn-ea"/>
                    <a:cs typeface="+mn-cs"/>
                  </a:rPr>
                  <a:t>𝐶_𝑛^2</a:t>
                </a:r>
                <a:r>
                  <a:rPr lang="en-US" sz="1200" b="0" i="0" kern="1200" dirty="0">
                    <a:solidFill>
                      <a:schemeClr val="tx1"/>
                    </a:solidFill>
                    <a:effectLst/>
                    <a:latin typeface="+mn-lt"/>
                    <a:ea typeface="+mn-ea"/>
                    <a:cs typeface="+mn-cs"/>
                  </a:rPr>
                  <a:t>. Plus the 63 </a:t>
                </a:r>
                <a:r>
                  <a:rPr lang="en-US" sz="1200" b="0" i="0" kern="1200" dirty="0" err="1">
                    <a:solidFill>
                      <a:schemeClr val="tx1"/>
                    </a:solidFill>
                    <a:effectLst/>
                    <a:latin typeface="+mn-lt"/>
                    <a:ea typeface="+mn-ea"/>
                    <a:cs typeface="+mn-cs"/>
                  </a:rPr>
                  <a:t>sensor×collection</a:t>
                </a:r>
                <a:r>
                  <a:rPr lang="en-US" sz="1200" b="0" i="0" kern="1200" dirty="0">
                    <a:solidFill>
                      <a:schemeClr val="tx1"/>
                    </a:solidFill>
                    <a:effectLst/>
                    <a:latin typeface="+mn-lt"/>
                    <a:ea typeface="+mn-ea"/>
                    <a:cs typeface="+mn-cs"/>
                  </a:rPr>
                  <a:t> groups soak up site- and season-level atmospheric character. Turbulence is competing with three better-measured proxies for the same variance.</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4. Restricted support.</a:t>
                </a:r>
                <a:r>
                  <a:rPr lang="en-US" sz="1200" b="0" i="0" kern="1200" dirty="0">
                    <a:solidFill>
                      <a:schemeClr val="tx1"/>
                    </a:solidFill>
                    <a:effectLst/>
                    <a:latin typeface="+mn-lt"/>
                    <a:ea typeface="+mn-ea"/>
                    <a:cs typeface="+mn-cs"/>
                  </a:rPr>
                  <a:t> Turbulence only degrades medium- and long-range imagery, so most of the 8,295 modeled probes are structurally incapable of showing an effect. The contrast that matters is being estimated on a subset, then reported as a global coefficient.</a:t>
                </a:r>
              </a:p>
              <a:p>
                <a:pPr lvl="0"/>
                <a:endParaRPr lang="en-US" b="1" dirty="0"/>
              </a:p>
            </p:txBody>
          </p:sp>
        </mc:Fallback>
      </mc:AlternateContent>
      <p:sp>
        <p:nvSpPr>
          <p:cNvPr id="4" name="Slide Number Placeholder 3">
            <a:extLst>
              <a:ext uri="{FF2B5EF4-FFF2-40B4-BE49-F238E27FC236}">
                <a16:creationId xmlns:a16="http://schemas.microsoft.com/office/drawing/2014/main" id="{88BC0318-09B4-41C2-CBA5-293E91137C5C}"/>
              </a:ext>
            </a:extLst>
          </p:cNvPr>
          <p:cNvSpPr>
            <a:spLocks noGrp="1"/>
          </p:cNvSpPr>
          <p:nvPr>
            <p:ph type="sldNum" sz="quarter" idx="5"/>
          </p:nvPr>
        </p:nvSpPr>
        <p:spPr/>
        <p:txBody>
          <a:bodyPr/>
          <a:lstStyle/>
          <a:p>
            <a:fld id="{29E7BD1F-0023-244E-A8FD-1ADCC0FAE1A1}" type="slidenum">
              <a:rPr lang="en-US" smtClean="0"/>
              <a:t>22</a:t>
            </a:fld>
            <a:endParaRPr lang="en-US"/>
          </a:p>
        </p:txBody>
      </p:sp>
    </p:spTree>
    <p:extLst>
      <p:ext uri="{BB962C8B-B14F-4D97-AF65-F5344CB8AC3E}">
        <p14:creationId xmlns:p14="http://schemas.microsoft.com/office/powerpoint/2010/main" val="10381711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05708-4042-1BC2-2047-D68C03652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605B2F-1059-94EB-B6B9-84B07EAAAB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514DFB-E381-5560-ED76-38040D539618}"/>
              </a:ext>
            </a:extLst>
          </p:cNvPr>
          <p:cNvSpPr>
            <a:spLocks noGrp="1"/>
          </p:cNvSpPr>
          <p:nvPr>
            <p:ph type="body" idx="1"/>
          </p:nvPr>
        </p:nvSpPr>
        <p:spPr/>
        <p:txBody>
          <a:bodyPr/>
          <a:lstStyle/>
          <a:p>
            <a:pPr lvl="0"/>
            <a:endParaRPr lang="en-US" dirty="0"/>
          </a:p>
        </p:txBody>
      </p:sp>
      <p:sp>
        <p:nvSpPr>
          <p:cNvPr id="4" name="Slide Number Placeholder 3">
            <a:extLst>
              <a:ext uri="{FF2B5EF4-FFF2-40B4-BE49-F238E27FC236}">
                <a16:creationId xmlns:a16="http://schemas.microsoft.com/office/drawing/2014/main" id="{641C68E6-7F53-865F-1C5E-55149EC56890}"/>
              </a:ext>
            </a:extLst>
          </p:cNvPr>
          <p:cNvSpPr>
            <a:spLocks noGrp="1"/>
          </p:cNvSpPr>
          <p:nvPr>
            <p:ph type="sldNum" sz="quarter" idx="5"/>
          </p:nvPr>
        </p:nvSpPr>
        <p:spPr/>
        <p:txBody>
          <a:bodyPr/>
          <a:lstStyle/>
          <a:p>
            <a:fld id="{29E7BD1F-0023-244E-A8FD-1ADCC0FAE1A1}" type="slidenum">
              <a:rPr lang="en-US" smtClean="0"/>
              <a:t>23</a:t>
            </a:fld>
            <a:endParaRPr lang="en-US"/>
          </a:p>
        </p:txBody>
      </p:sp>
    </p:spTree>
    <p:extLst>
      <p:ext uri="{BB962C8B-B14F-4D97-AF65-F5344CB8AC3E}">
        <p14:creationId xmlns:p14="http://schemas.microsoft.com/office/powerpoint/2010/main" val="26421548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32C6D-B959-7F87-1F98-8DC334244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861867-B1BB-D85A-33B0-F0D36E431D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D97C51-A54D-187A-6FB1-A63E9956BA0E}"/>
              </a:ext>
            </a:extLst>
          </p:cNvPr>
          <p:cNvSpPr>
            <a:spLocks noGrp="1"/>
          </p:cNvSpPr>
          <p:nvPr>
            <p:ph type="body" idx="1"/>
          </p:nvPr>
        </p:nvSpPr>
        <p:spPr/>
        <p:txBody>
          <a:bodyPr/>
          <a:lstStyle/>
          <a:p>
            <a:pPr lvl="0"/>
            <a:endParaRPr lang="en-US" dirty="0"/>
          </a:p>
        </p:txBody>
      </p:sp>
      <p:sp>
        <p:nvSpPr>
          <p:cNvPr id="4" name="Slide Number Placeholder 3">
            <a:extLst>
              <a:ext uri="{FF2B5EF4-FFF2-40B4-BE49-F238E27FC236}">
                <a16:creationId xmlns:a16="http://schemas.microsoft.com/office/drawing/2014/main" id="{2020794F-7D67-F2CA-6549-92E23C29D1F5}"/>
              </a:ext>
            </a:extLst>
          </p:cNvPr>
          <p:cNvSpPr>
            <a:spLocks noGrp="1"/>
          </p:cNvSpPr>
          <p:nvPr>
            <p:ph type="sldNum" sz="quarter" idx="5"/>
          </p:nvPr>
        </p:nvSpPr>
        <p:spPr/>
        <p:txBody>
          <a:bodyPr/>
          <a:lstStyle/>
          <a:p>
            <a:fld id="{29E7BD1F-0023-244E-A8FD-1ADCC0FAE1A1}" type="slidenum">
              <a:rPr lang="en-US" smtClean="0"/>
              <a:t>24</a:t>
            </a:fld>
            <a:endParaRPr lang="en-US"/>
          </a:p>
        </p:txBody>
      </p:sp>
    </p:spTree>
    <p:extLst>
      <p:ext uri="{BB962C8B-B14F-4D97-AF65-F5344CB8AC3E}">
        <p14:creationId xmlns:p14="http://schemas.microsoft.com/office/powerpoint/2010/main" val="4223956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55BD7-37BF-4E36-8F28-67BD40373D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3ACBF7-D240-A320-978B-7E21B71C29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BCB2A34-3520-C142-2371-9A000140B56F}"/>
              </a:ext>
            </a:extLst>
          </p:cNvPr>
          <p:cNvSpPr>
            <a:spLocks noGrp="1"/>
          </p:cNvSpPr>
          <p:nvPr>
            <p:ph type="dt" sz="half" idx="10"/>
          </p:nvPr>
        </p:nvSpPr>
        <p:spPr/>
        <p:txBody>
          <a:bodyPr/>
          <a:lstStyle/>
          <a:p>
            <a:fld id="{A9B189FA-D012-F74A-85A4-7BDC5A0DCC07}" type="datetime1">
              <a:rPr lang="en-US" smtClean="0"/>
              <a:t>10/13/26</a:t>
            </a:fld>
            <a:endParaRPr lang="en-US"/>
          </a:p>
        </p:txBody>
      </p:sp>
      <p:sp>
        <p:nvSpPr>
          <p:cNvPr id="5" name="Footer Placeholder 4">
            <a:extLst>
              <a:ext uri="{FF2B5EF4-FFF2-40B4-BE49-F238E27FC236}">
                <a16:creationId xmlns:a16="http://schemas.microsoft.com/office/drawing/2014/main" id="{DFFB9F44-3BB6-E725-24EB-941F27C9CA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224BD5-3153-0587-36B8-CD91C3703711}"/>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79400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E3FE9-A364-D73A-05F6-FFF58EA302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ACE305-35F5-5977-7B49-2F2A8ECC2E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DFE3B5-FE82-2C25-DDE3-47AE2CFAC5F5}"/>
              </a:ext>
            </a:extLst>
          </p:cNvPr>
          <p:cNvSpPr>
            <a:spLocks noGrp="1"/>
          </p:cNvSpPr>
          <p:nvPr>
            <p:ph type="dt" sz="half" idx="10"/>
          </p:nvPr>
        </p:nvSpPr>
        <p:spPr/>
        <p:txBody>
          <a:bodyPr/>
          <a:lstStyle/>
          <a:p>
            <a:fld id="{323757D1-56E3-134F-BEDA-601B842448FF}" type="datetime1">
              <a:rPr lang="en-US" smtClean="0"/>
              <a:t>10/13/26</a:t>
            </a:fld>
            <a:endParaRPr lang="en-US"/>
          </a:p>
        </p:txBody>
      </p:sp>
      <p:sp>
        <p:nvSpPr>
          <p:cNvPr id="5" name="Footer Placeholder 4">
            <a:extLst>
              <a:ext uri="{FF2B5EF4-FFF2-40B4-BE49-F238E27FC236}">
                <a16:creationId xmlns:a16="http://schemas.microsoft.com/office/drawing/2014/main" id="{2AF54B18-4598-3209-5C87-B0577647DD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7259C2-4D2B-65D3-EC28-6A093F58B5FC}"/>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1184792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3D270-ED86-A140-D2D2-6E40EE7709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E1BFEE-3B5B-8F42-E644-E11232A428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EE3541-DCB2-3A84-28A5-55AA090C7367}"/>
              </a:ext>
            </a:extLst>
          </p:cNvPr>
          <p:cNvSpPr>
            <a:spLocks noGrp="1"/>
          </p:cNvSpPr>
          <p:nvPr>
            <p:ph type="dt" sz="half" idx="10"/>
          </p:nvPr>
        </p:nvSpPr>
        <p:spPr/>
        <p:txBody>
          <a:bodyPr/>
          <a:lstStyle/>
          <a:p>
            <a:fld id="{DBF24889-6A33-6C4A-885A-202C4F8C5613}" type="datetime1">
              <a:rPr lang="en-US" smtClean="0"/>
              <a:t>10/13/26</a:t>
            </a:fld>
            <a:endParaRPr lang="en-US"/>
          </a:p>
        </p:txBody>
      </p:sp>
      <p:sp>
        <p:nvSpPr>
          <p:cNvPr id="5" name="Footer Placeholder 4">
            <a:extLst>
              <a:ext uri="{FF2B5EF4-FFF2-40B4-BE49-F238E27FC236}">
                <a16:creationId xmlns:a16="http://schemas.microsoft.com/office/drawing/2014/main" id="{2DBC3851-4B31-8B2D-70B6-C0FC1D883D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0680C5-9A79-9CF1-B265-3FD1EDCADD42}"/>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967775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84A61-1D50-E17A-7E22-578C312D4F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56280B-9CD0-9EA9-D5B2-5291E6A070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EAEC1E-92A3-F81F-C252-A8FF4F1A03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ED603F-FA12-FED1-58D5-6A8BC717800F}"/>
              </a:ext>
            </a:extLst>
          </p:cNvPr>
          <p:cNvSpPr>
            <a:spLocks noGrp="1"/>
          </p:cNvSpPr>
          <p:nvPr>
            <p:ph type="dt" sz="half" idx="10"/>
          </p:nvPr>
        </p:nvSpPr>
        <p:spPr/>
        <p:txBody>
          <a:bodyPr/>
          <a:lstStyle/>
          <a:p>
            <a:fld id="{CFA7F8CA-C602-1143-BC37-691685131BC4}" type="datetime1">
              <a:rPr lang="en-US" smtClean="0"/>
              <a:t>10/13/26</a:t>
            </a:fld>
            <a:endParaRPr lang="en-US"/>
          </a:p>
        </p:txBody>
      </p:sp>
      <p:sp>
        <p:nvSpPr>
          <p:cNvPr id="6" name="Footer Placeholder 5">
            <a:extLst>
              <a:ext uri="{FF2B5EF4-FFF2-40B4-BE49-F238E27FC236}">
                <a16:creationId xmlns:a16="http://schemas.microsoft.com/office/drawing/2014/main" id="{0B6826EA-8FB4-C6B9-30B3-2510583EAF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4EC8D0-A8F1-6023-2FFB-D130171B0AC1}"/>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1944185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DEC2B-3E3F-0138-5350-608E24D7F3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007462-B5F0-6C22-50CD-5C106C5833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6E5DFC-5DBE-20CF-F375-FFEAB8E457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B81173-E1E3-7B84-B402-65A61171CB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126268-0CD1-ACA1-14AB-8ADF04620A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6EFB38-0E1D-E36D-BB00-8C6CE66D26CB}"/>
              </a:ext>
            </a:extLst>
          </p:cNvPr>
          <p:cNvSpPr>
            <a:spLocks noGrp="1"/>
          </p:cNvSpPr>
          <p:nvPr>
            <p:ph type="dt" sz="half" idx="10"/>
          </p:nvPr>
        </p:nvSpPr>
        <p:spPr/>
        <p:txBody>
          <a:bodyPr/>
          <a:lstStyle/>
          <a:p>
            <a:fld id="{024CE067-138D-5B43-81DC-9DAB0F0B5506}" type="datetime1">
              <a:rPr lang="en-US" smtClean="0"/>
              <a:t>10/13/26</a:t>
            </a:fld>
            <a:endParaRPr lang="en-US"/>
          </a:p>
        </p:txBody>
      </p:sp>
      <p:sp>
        <p:nvSpPr>
          <p:cNvPr id="8" name="Footer Placeholder 7">
            <a:extLst>
              <a:ext uri="{FF2B5EF4-FFF2-40B4-BE49-F238E27FC236}">
                <a16:creationId xmlns:a16="http://schemas.microsoft.com/office/drawing/2014/main" id="{3A46F722-1880-BC96-896E-EC21AC89AA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9DEDEE-16E9-C882-1F36-FD088FDB2ECD}"/>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3366051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90D7-4AE0-27F9-D2BB-4D7D49CB28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670660-75F0-0CDD-5F9F-3829800A37F0}"/>
              </a:ext>
            </a:extLst>
          </p:cNvPr>
          <p:cNvSpPr>
            <a:spLocks noGrp="1"/>
          </p:cNvSpPr>
          <p:nvPr>
            <p:ph type="dt" sz="half" idx="10"/>
          </p:nvPr>
        </p:nvSpPr>
        <p:spPr/>
        <p:txBody>
          <a:bodyPr/>
          <a:lstStyle/>
          <a:p>
            <a:fld id="{D4F39845-7DD4-DF41-8287-EDB7FDC122CC}" type="datetime1">
              <a:rPr lang="en-US" smtClean="0"/>
              <a:t>10/13/26</a:t>
            </a:fld>
            <a:endParaRPr lang="en-US"/>
          </a:p>
        </p:txBody>
      </p:sp>
      <p:sp>
        <p:nvSpPr>
          <p:cNvPr id="4" name="Footer Placeholder 3">
            <a:extLst>
              <a:ext uri="{FF2B5EF4-FFF2-40B4-BE49-F238E27FC236}">
                <a16:creationId xmlns:a16="http://schemas.microsoft.com/office/drawing/2014/main" id="{398BC658-82FA-564A-9F95-B794A70921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FBABAE-8960-26DD-C0AB-2DCC13A2F7D9}"/>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3156741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A9F884-98FA-788E-B999-6A02AF64B412}"/>
              </a:ext>
            </a:extLst>
          </p:cNvPr>
          <p:cNvSpPr>
            <a:spLocks noGrp="1"/>
          </p:cNvSpPr>
          <p:nvPr>
            <p:ph type="dt" sz="half" idx="10"/>
          </p:nvPr>
        </p:nvSpPr>
        <p:spPr/>
        <p:txBody>
          <a:bodyPr/>
          <a:lstStyle/>
          <a:p>
            <a:fld id="{A1A62EA6-5930-8A4D-AEF1-EABF7985616A}" type="datetime1">
              <a:rPr lang="en-US" smtClean="0"/>
              <a:t>10/13/26</a:t>
            </a:fld>
            <a:endParaRPr lang="en-US"/>
          </a:p>
        </p:txBody>
      </p:sp>
      <p:sp>
        <p:nvSpPr>
          <p:cNvPr id="3" name="Footer Placeholder 2">
            <a:extLst>
              <a:ext uri="{FF2B5EF4-FFF2-40B4-BE49-F238E27FC236}">
                <a16:creationId xmlns:a16="http://schemas.microsoft.com/office/drawing/2014/main" id="{F030D628-459C-C358-6CF0-984B7230F4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5B541A-0371-C571-6FDC-A08FC27F2D0E}"/>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3152612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AE166-F8AB-C666-2915-D32D1DB8C6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F9D79C-7FE7-7EB6-94F7-E67700E117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E0CAAC-0B0D-2303-0A8B-936E8DFFD2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36B8F6-A943-5DDA-083F-63368D42D56F}"/>
              </a:ext>
            </a:extLst>
          </p:cNvPr>
          <p:cNvSpPr>
            <a:spLocks noGrp="1"/>
          </p:cNvSpPr>
          <p:nvPr>
            <p:ph type="dt" sz="half" idx="10"/>
          </p:nvPr>
        </p:nvSpPr>
        <p:spPr/>
        <p:txBody>
          <a:bodyPr/>
          <a:lstStyle/>
          <a:p>
            <a:fld id="{8FBA0ADB-7E75-B24E-8874-218BE3090DE3}" type="datetime1">
              <a:rPr lang="en-US" smtClean="0"/>
              <a:t>10/13/26</a:t>
            </a:fld>
            <a:endParaRPr lang="en-US"/>
          </a:p>
        </p:txBody>
      </p:sp>
      <p:sp>
        <p:nvSpPr>
          <p:cNvPr id="6" name="Footer Placeholder 5">
            <a:extLst>
              <a:ext uri="{FF2B5EF4-FFF2-40B4-BE49-F238E27FC236}">
                <a16:creationId xmlns:a16="http://schemas.microsoft.com/office/drawing/2014/main" id="{36FF915C-6EB4-D110-FA78-79FE9A6BE6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2DB6A3-BDF8-29F7-37A1-7D8629195C69}"/>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514836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C9944-1659-BA22-CE12-045B87F594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BEA263-FFA1-DA08-023D-7E0A161E5E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1F6F9F-1567-8C00-C197-57568694A0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F6AD5D-DCC3-871D-FE87-F7F2E18AC18B}"/>
              </a:ext>
            </a:extLst>
          </p:cNvPr>
          <p:cNvSpPr>
            <a:spLocks noGrp="1"/>
          </p:cNvSpPr>
          <p:nvPr>
            <p:ph type="dt" sz="half" idx="10"/>
          </p:nvPr>
        </p:nvSpPr>
        <p:spPr/>
        <p:txBody>
          <a:bodyPr/>
          <a:lstStyle/>
          <a:p>
            <a:fld id="{BA81D44F-1F34-3942-AA2D-B5758A581CC9}" type="datetime1">
              <a:rPr lang="en-US" smtClean="0"/>
              <a:t>10/13/26</a:t>
            </a:fld>
            <a:endParaRPr lang="en-US"/>
          </a:p>
        </p:txBody>
      </p:sp>
      <p:sp>
        <p:nvSpPr>
          <p:cNvPr id="6" name="Footer Placeholder 5">
            <a:extLst>
              <a:ext uri="{FF2B5EF4-FFF2-40B4-BE49-F238E27FC236}">
                <a16:creationId xmlns:a16="http://schemas.microsoft.com/office/drawing/2014/main" id="{630417D0-BA01-36B5-653A-A1E9A7E574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259C58-0C4D-0374-B981-57831FBD5C40}"/>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763496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22CD7-E54F-CD89-7485-5677F839E9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D466E9-BB5C-83A8-CF56-D7E21D8005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C86D00-F991-E78A-93EE-F68973EBE222}"/>
              </a:ext>
            </a:extLst>
          </p:cNvPr>
          <p:cNvSpPr>
            <a:spLocks noGrp="1"/>
          </p:cNvSpPr>
          <p:nvPr>
            <p:ph type="dt" sz="half" idx="10"/>
          </p:nvPr>
        </p:nvSpPr>
        <p:spPr/>
        <p:txBody>
          <a:bodyPr/>
          <a:lstStyle/>
          <a:p>
            <a:fld id="{BA71C76E-4CD2-3541-91F7-6CFB112AC445}" type="datetime1">
              <a:rPr lang="en-US" smtClean="0"/>
              <a:t>10/13/26</a:t>
            </a:fld>
            <a:endParaRPr lang="en-US"/>
          </a:p>
        </p:txBody>
      </p:sp>
      <p:sp>
        <p:nvSpPr>
          <p:cNvPr id="5" name="Footer Placeholder 4">
            <a:extLst>
              <a:ext uri="{FF2B5EF4-FFF2-40B4-BE49-F238E27FC236}">
                <a16:creationId xmlns:a16="http://schemas.microsoft.com/office/drawing/2014/main" id="{CF8CA405-E72D-8C54-88CA-BC6B2F35A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4AE63-D71B-CD9C-AFEC-7E890DF29A09}"/>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1160403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A77E43-ACC6-26B0-8AB5-B0B5432A6B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BB03F7-DBAC-4849-A157-459FD38A10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F43A34-F2DF-E4D4-43C5-B5B902106714}"/>
              </a:ext>
            </a:extLst>
          </p:cNvPr>
          <p:cNvSpPr>
            <a:spLocks noGrp="1"/>
          </p:cNvSpPr>
          <p:nvPr>
            <p:ph type="dt" sz="half" idx="10"/>
          </p:nvPr>
        </p:nvSpPr>
        <p:spPr/>
        <p:txBody>
          <a:bodyPr/>
          <a:lstStyle/>
          <a:p>
            <a:fld id="{A1EFDC6F-4961-104C-B0C1-DB03E481A001}" type="datetime1">
              <a:rPr lang="en-US" smtClean="0"/>
              <a:t>10/13/26</a:t>
            </a:fld>
            <a:endParaRPr lang="en-US"/>
          </a:p>
        </p:txBody>
      </p:sp>
      <p:sp>
        <p:nvSpPr>
          <p:cNvPr id="5" name="Footer Placeholder 4">
            <a:extLst>
              <a:ext uri="{FF2B5EF4-FFF2-40B4-BE49-F238E27FC236}">
                <a16:creationId xmlns:a16="http://schemas.microsoft.com/office/drawing/2014/main" id="{73C5EC14-305F-7D57-9D0B-746CE62821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F64559-BF47-1AD2-E577-83E2F6E72B8B}"/>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647687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19DD8B-A0D3-DCAC-67BF-1DA87AE35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F0C4E0-63A9-F57B-3913-E42895A202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EF23F0-1925-A80E-E6A6-CD06E96B3B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2C4FE2-D0F9-394C-BCBD-D168F4B4D931}" type="datetime1">
              <a:rPr lang="en-US" smtClean="0"/>
              <a:t>10/13/26</a:t>
            </a:fld>
            <a:endParaRPr lang="en-US"/>
          </a:p>
        </p:txBody>
      </p:sp>
      <p:sp>
        <p:nvSpPr>
          <p:cNvPr id="5" name="Footer Placeholder 4">
            <a:extLst>
              <a:ext uri="{FF2B5EF4-FFF2-40B4-BE49-F238E27FC236}">
                <a16:creationId xmlns:a16="http://schemas.microsoft.com/office/drawing/2014/main" id="{E45E9B10-0740-78EF-0212-FE71B83721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1A7D157-0278-E6CB-A277-999243C7E9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9B2F21-D912-7541-8ED2-FD6ABD90B685}" type="slidenum">
              <a:rPr lang="en-US" smtClean="0"/>
              <a:t>‹#›</a:t>
            </a:fld>
            <a:endParaRPr lang="en-US"/>
          </a:p>
        </p:txBody>
      </p:sp>
    </p:spTree>
    <p:extLst>
      <p:ext uri="{BB962C8B-B14F-4D97-AF65-F5344CB8AC3E}">
        <p14:creationId xmlns:p14="http://schemas.microsoft.com/office/powerpoint/2010/main" val="716033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pages.nist.gov/frvt/reports/1N/frvt_1N_report.pdf"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136A7-C380-6533-68F7-5FCB25388587}"/>
              </a:ext>
            </a:extLst>
          </p:cNvPr>
          <p:cNvSpPr>
            <a:spLocks noGrp="1"/>
          </p:cNvSpPr>
          <p:nvPr>
            <p:ph type="ctrTitle"/>
          </p:nvPr>
        </p:nvSpPr>
        <p:spPr/>
        <p:txBody>
          <a:bodyPr anchor="t">
            <a:normAutofit fontScale="90000"/>
          </a:bodyPr>
          <a:lstStyle/>
          <a:p>
            <a:r>
              <a:rPr lang="en-US" sz="4000"/>
              <a:t>Week </a:t>
            </a:r>
            <a:r>
              <a:rPr lang="en-US" sz="4000" dirty="0"/>
              <a:t>9</a:t>
            </a:r>
            <a:br>
              <a:rPr lang="en-US" sz="4000" dirty="0"/>
            </a:br>
            <a:br>
              <a:rPr lang="en-US" sz="4000" dirty="0"/>
            </a:br>
            <a:r>
              <a:rPr lang="en-US" sz="3600" b="1" dirty="0">
                <a:solidFill>
                  <a:srgbClr val="0070C0"/>
                </a:solidFill>
              </a:rPr>
              <a:t>What Should A Model Do When It Encounters Something It Has Never Seen?</a:t>
            </a:r>
            <a:br>
              <a:rPr lang="en-US" sz="3200" dirty="0">
                <a:solidFill>
                  <a:srgbClr val="0070C0"/>
                </a:solidFill>
              </a:rPr>
            </a:br>
            <a:br>
              <a:rPr lang="en-US" sz="3200" dirty="0">
                <a:solidFill>
                  <a:srgbClr val="0070C0"/>
                </a:solidFill>
              </a:rPr>
            </a:br>
            <a:endParaRPr lang="en-US" sz="3200" dirty="0">
              <a:solidFill>
                <a:srgbClr val="0070C0"/>
              </a:solidFill>
            </a:endParaRPr>
          </a:p>
        </p:txBody>
      </p:sp>
      <p:sp>
        <p:nvSpPr>
          <p:cNvPr id="3" name="Subtitle 2">
            <a:extLst>
              <a:ext uri="{FF2B5EF4-FFF2-40B4-BE49-F238E27FC236}">
                <a16:creationId xmlns:a16="http://schemas.microsoft.com/office/drawing/2014/main" id="{DEAD4E25-E958-FBCE-E1A7-3803FC37C249}"/>
              </a:ext>
            </a:extLst>
          </p:cNvPr>
          <p:cNvSpPr>
            <a:spLocks noGrp="1"/>
          </p:cNvSpPr>
          <p:nvPr>
            <p:ph type="subTitle" idx="1"/>
          </p:nvPr>
        </p:nvSpPr>
        <p:spPr/>
        <p:txBody>
          <a:bodyPr>
            <a:normAutofit fontScale="92500" lnSpcReduction="20000"/>
          </a:bodyPr>
          <a:lstStyle/>
          <a:p>
            <a:r>
              <a:rPr lang="en-US" dirty="0"/>
              <a:t>COSC 594-003 Special Topics in Computer Science</a:t>
            </a:r>
          </a:p>
          <a:p>
            <a:r>
              <a:rPr lang="en-US" b="1" dirty="0"/>
              <a:t>Biometrics</a:t>
            </a:r>
          </a:p>
          <a:p>
            <a:r>
              <a:rPr lang="en-US" dirty="0"/>
              <a:t>Benjamin S. Riggan</a:t>
            </a:r>
            <a:br>
              <a:rPr lang="en-US" dirty="0"/>
            </a:br>
            <a:r>
              <a:rPr lang="en-US" dirty="0"/>
              <a:t>Associate Professor</a:t>
            </a:r>
            <a:br>
              <a:rPr lang="en-US" dirty="0"/>
            </a:br>
            <a:endParaRPr lang="en-US" dirty="0"/>
          </a:p>
        </p:txBody>
      </p:sp>
      <p:pic>
        <p:nvPicPr>
          <p:cNvPr id="4" name="Picture 3" descr="EECS IT Help">
            <a:extLst>
              <a:ext uri="{FF2B5EF4-FFF2-40B4-BE49-F238E27FC236}">
                <a16:creationId xmlns:a16="http://schemas.microsoft.com/office/drawing/2014/main" id="{C1A58977-E919-897B-53CC-470809EFB2BD}"/>
              </a:ext>
            </a:extLst>
          </p:cNvPr>
          <p:cNvPicPr>
            <a:picLocks noChangeAspect="1"/>
          </p:cNvPicPr>
          <p:nvPr/>
        </p:nvPicPr>
        <p:blipFill>
          <a:blip r:embed="rId3"/>
          <a:stretch>
            <a:fillRect/>
          </a:stretch>
        </p:blipFill>
        <p:spPr>
          <a:xfrm>
            <a:off x="4651663" y="5013468"/>
            <a:ext cx="2888673" cy="1444337"/>
          </a:xfrm>
          <a:prstGeom prst="rect">
            <a:avLst/>
          </a:prstGeom>
        </p:spPr>
      </p:pic>
      <p:pic>
        <p:nvPicPr>
          <p:cNvPr id="6" name="Picture 5" descr="IEEE Biometrics Council | Welcome To IEEE Biometrics">
            <a:extLst>
              <a:ext uri="{FF2B5EF4-FFF2-40B4-BE49-F238E27FC236}">
                <a16:creationId xmlns:a16="http://schemas.microsoft.com/office/drawing/2014/main" id="{0FDF122F-DF23-DC90-3D7B-1D677CA35E6F}"/>
              </a:ext>
            </a:extLst>
          </p:cNvPr>
          <p:cNvPicPr>
            <a:picLocks noChangeAspect="1"/>
          </p:cNvPicPr>
          <p:nvPr/>
        </p:nvPicPr>
        <p:blipFill>
          <a:blip r:embed="rId4"/>
          <a:stretch>
            <a:fillRect/>
          </a:stretch>
        </p:blipFill>
        <p:spPr>
          <a:xfrm>
            <a:off x="7965458" y="5013467"/>
            <a:ext cx="2543317" cy="1426739"/>
          </a:xfrm>
          <a:prstGeom prst="rect">
            <a:avLst/>
          </a:prstGeom>
        </p:spPr>
      </p:pic>
      <p:sp>
        <p:nvSpPr>
          <p:cNvPr id="5" name="Slide Number Placeholder 4">
            <a:extLst>
              <a:ext uri="{FF2B5EF4-FFF2-40B4-BE49-F238E27FC236}">
                <a16:creationId xmlns:a16="http://schemas.microsoft.com/office/drawing/2014/main" id="{6D147458-81C4-53D5-F1DE-6786C4996ACD}"/>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a:t>
            </a:fld>
            <a:endParaRPr lang="en-US"/>
          </a:p>
        </p:txBody>
      </p:sp>
    </p:spTree>
    <p:extLst>
      <p:ext uri="{BB962C8B-B14F-4D97-AF65-F5344CB8AC3E}">
        <p14:creationId xmlns:p14="http://schemas.microsoft.com/office/powerpoint/2010/main" val="1434099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DCD0-74E7-7EED-EA12-0C52EB33BE6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EFE87CF-4D45-6613-2765-6D7C1DF99278}"/>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2</a:t>
            </a:fld>
            <a:endParaRPr lang="en-US"/>
          </a:p>
        </p:txBody>
      </p:sp>
      <p:pic>
        <p:nvPicPr>
          <p:cNvPr id="5" name="Picture 4" descr="Face Recognition Access Control: Enhance Your Security Today">
            <a:extLst>
              <a:ext uri="{FF2B5EF4-FFF2-40B4-BE49-F238E27FC236}">
                <a16:creationId xmlns:a16="http://schemas.microsoft.com/office/drawing/2014/main" id="{04F85085-26FD-8CAC-1074-090FA15E0BD1}"/>
              </a:ext>
            </a:extLst>
          </p:cNvPr>
          <p:cNvPicPr>
            <a:picLocks noChangeAspect="1"/>
          </p:cNvPicPr>
          <p:nvPr/>
        </p:nvPicPr>
        <p:blipFill>
          <a:blip r:embed="rId3"/>
          <a:stretch>
            <a:fillRect/>
          </a:stretch>
        </p:blipFill>
        <p:spPr>
          <a:xfrm>
            <a:off x="6875842" y="1014413"/>
            <a:ext cx="4909487" cy="3277466"/>
          </a:xfrm>
          <a:prstGeom prst="rect">
            <a:avLst/>
          </a:prstGeom>
        </p:spPr>
      </p:pic>
      <p:sp>
        <p:nvSpPr>
          <p:cNvPr id="9" name="Rounded Rectangle 8">
            <a:extLst>
              <a:ext uri="{FF2B5EF4-FFF2-40B4-BE49-F238E27FC236}">
                <a16:creationId xmlns:a16="http://schemas.microsoft.com/office/drawing/2014/main" id="{1D9AE883-9F44-3688-EC63-92739C0D372C}"/>
              </a:ext>
            </a:extLst>
          </p:cNvPr>
          <p:cNvSpPr/>
          <p:nvPr/>
        </p:nvSpPr>
        <p:spPr>
          <a:xfrm>
            <a:off x="406671" y="1014413"/>
            <a:ext cx="6128600" cy="3277466"/>
          </a:xfrm>
          <a:prstGeom prst="roundRect">
            <a:avLst/>
          </a:prstGeom>
          <a:solidFill>
            <a:schemeClr val="bg1">
              <a:lumMod val="85000"/>
            </a:schemeClr>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chemeClr val="tx1"/>
                </a:solidFill>
              </a:rPr>
              <a:t>Scenario</a:t>
            </a:r>
          </a:p>
          <a:p>
            <a:pPr marL="285750" indent="-285750">
              <a:spcAft>
                <a:spcPts val="600"/>
              </a:spcAft>
              <a:buFont typeface="Arial" panose="020B0604020202020204" pitchFamily="34" charset="0"/>
              <a:buChar char="•"/>
            </a:pPr>
            <a:r>
              <a:rPr lang="en-US" sz="2400" dirty="0">
                <a:solidFill>
                  <a:schemeClr val="tx1"/>
                </a:solidFill>
              </a:rPr>
              <a:t>Deployed face identification systems at a secure facility enrolls 1,200 employees</a:t>
            </a:r>
          </a:p>
          <a:p>
            <a:pPr marL="285750" indent="-285750">
              <a:spcAft>
                <a:spcPts val="600"/>
              </a:spcAft>
              <a:buFont typeface="Arial" panose="020B0604020202020204" pitchFamily="34" charset="0"/>
              <a:buChar char="•"/>
            </a:pPr>
            <a:r>
              <a:rPr lang="en-US" sz="2400" dirty="0">
                <a:solidFill>
                  <a:schemeClr val="tx1"/>
                </a:solidFill>
              </a:rPr>
              <a:t>Unenrolled visitor walk up to the camera</a:t>
            </a:r>
          </a:p>
          <a:p>
            <a:pPr marL="285750" indent="-285750">
              <a:spcAft>
                <a:spcPts val="600"/>
              </a:spcAft>
              <a:buFont typeface="Arial" panose="020B0604020202020204" pitchFamily="34" charset="0"/>
              <a:buChar char="•"/>
            </a:pPr>
            <a:r>
              <a:rPr lang="en-US" sz="2400" dirty="0">
                <a:solidFill>
                  <a:schemeClr val="tx1"/>
                </a:solidFill>
              </a:rPr>
              <a:t>The system return a rank-1 (top) match with cosine similarity of </a:t>
            </a:r>
            <a:r>
              <a:rPr lang="en-US" sz="2400" i="1" dirty="0">
                <a:solidFill>
                  <a:schemeClr val="tx1"/>
                </a:solidFill>
              </a:rPr>
              <a:t>0.61</a:t>
            </a:r>
          </a:p>
        </p:txBody>
      </p:sp>
      <p:sp>
        <p:nvSpPr>
          <p:cNvPr id="10" name="TextBox 9">
            <a:extLst>
              <a:ext uri="{FF2B5EF4-FFF2-40B4-BE49-F238E27FC236}">
                <a16:creationId xmlns:a16="http://schemas.microsoft.com/office/drawing/2014/main" id="{A97F9D7F-DB88-4406-00C7-7EA36F66625F}"/>
              </a:ext>
            </a:extLst>
          </p:cNvPr>
          <p:cNvSpPr txBox="1"/>
          <p:nvPr/>
        </p:nvSpPr>
        <p:spPr>
          <a:xfrm>
            <a:off x="672353" y="4867835"/>
            <a:ext cx="11112976" cy="1569660"/>
          </a:xfrm>
          <a:prstGeom prst="rect">
            <a:avLst/>
          </a:prstGeom>
          <a:noFill/>
        </p:spPr>
        <p:txBody>
          <a:bodyPr wrap="square" rtlCol="0">
            <a:spAutoFit/>
          </a:bodyPr>
          <a:lstStyle/>
          <a:p>
            <a:pPr marL="514350" indent="-514350">
              <a:buFont typeface="+mj-lt"/>
              <a:buAutoNum type="arabicPeriod"/>
            </a:pPr>
            <a:r>
              <a:rPr lang="en-US" sz="3200" dirty="0">
                <a:solidFill>
                  <a:srgbClr val="0070C0"/>
                </a:solidFill>
              </a:rPr>
              <a:t>Is a </a:t>
            </a:r>
            <a:r>
              <a:rPr lang="en-US" sz="3200" i="1" dirty="0">
                <a:solidFill>
                  <a:srgbClr val="0070C0"/>
                </a:solidFill>
              </a:rPr>
              <a:t>0.61 </a:t>
            </a:r>
            <a:r>
              <a:rPr lang="en-US" sz="3200" dirty="0">
                <a:solidFill>
                  <a:srgbClr val="0070C0"/>
                </a:solidFill>
              </a:rPr>
              <a:t>match score considered “</a:t>
            </a:r>
            <a:r>
              <a:rPr lang="en-US" sz="3200" b="1" dirty="0">
                <a:solidFill>
                  <a:srgbClr val="0070C0"/>
                </a:solidFill>
              </a:rPr>
              <a:t>high</a:t>
            </a:r>
            <a:r>
              <a:rPr lang="en-US" sz="3200" dirty="0">
                <a:solidFill>
                  <a:srgbClr val="0070C0"/>
                </a:solidFill>
              </a:rPr>
              <a:t>”?</a:t>
            </a:r>
          </a:p>
          <a:p>
            <a:pPr marL="514350" indent="-514350">
              <a:buFont typeface="+mj-lt"/>
              <a:buAutoNum type="arabicPeriod"/>
            </a:pPr>
            <a:r>
              <a:rPr lang="en-US" sz="3200" dirty="0">
                <a:solidFill>
                  <a:srgbClr val="0070C0"/>
                </a:solidFill>
              </a:rPr>
              <a:t>What </a:t>
            </a:r>
            <a:r>
              <a:rPr lang="en-US" sz="3200" i="1" dirty="0">
                <a:solidFill>
                  <a:srgbClr val="0070C0"/>
                </a:solidFill>
              </a:rPr>
              <a:t>should</a:t>
            </a:r>
            <a:r>
              <a:rPr lang="en-US" sz="3200" dirty="0">
                <a:solidFill>
                  <a:srgbClr val="0070C0"/>
                </a:solidFill>
              </a:rPr>
              <a:t> the system output?</a:t>
            </a:r>
          </a:p>
          <a:p>
            <a:pPr marL="514350" indent="-514350">
              <a:buFont typeface="+mj-lt"/>
              <a:buAutoNum type="arabicPeriod"/>
            </a:pPr>
            <a:r>
              <a:rPr lang="en-US" sz="3200" dirty="0">
                <a:solidFill>
                  <a:srgbClr val="0070C0"/>
                </a:solidFill>
              </a:rPr>
              <a:t>Who decides whether the system was allowed to refuse?</a:t>
            </a:r>
          </a:p>
        </p:txBody>
      </p:sp>
    </p:spTree>
    <p:extLst>
      <p:ext uri="{BB962C8B-B14F-4D97-AF65-F5344CB8AC3E}">
        <p14:creationId xmlns:p14="http://schemas.microsoft.com/office/powerpoint/2010/main" val="3842382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AA31F-5EAB-033B-35CA-1E849C9D140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CB728B4-528D-97D1-5AB5-963EF952FE8D}"/>
              </a:ext>
            </a:extLst>
          </p:cNvPr>
          <p:cNvSpPr txBox="1"/>
          <p:nvPr/>
        </p:nvSpPr>
        <p:spPr>
          <a:xfrm>
            <a:off x="605742" y="1125100"/>
            <a:ext cx="10995948" cy="1938992"/>
          </a:xfrm>
          <a:prstGeom prst="rect">
            <a:avLst/>
          </a:prstGeom>
          <a:noFill/>
        </p:spPr>
        <p:txBody>
          <a:bodyPr wrap="square" rtlCol="0">
            <a:spAutoFit/>
          </a:bodyPr>
          <a:lstStyle/>
          <a:p>
            <a:r>
              <a:rPr lang="en-US" sz="2400" dirty="0"/>
              <a:t>LAST WEEK — Can We Make Representations Generalize?</a:t>
            </a:r>
          </a:p>
          <a:p>
            <a:endParaRPr lang="en-US" sz="2400" b="1" dirty="0">
              <a:solidFill>
                <a:srgbClr val="0070C0"/>
              </a:solidFill>
            </a:endParaRPr>
          </a:p>
          <a:p>
            <a:r>
              <a:rPr lang="en-US" sz="2400" b="1" dirty="0">
                <a:solidFill>
                  <a:srgbClr val="0070C0"/>
                </a:solidFill>
              </a:rPr>
              <a:t>THIS WEEK — What Should a Model Do When It Encounters Something It Has  </a:t>
            </a:r>
          </a:p>
          <a:p>
            <a:r>
              <a:rPr lang="en-US" sz="2400" b="1" dirty="0">
                <a:solidFill>
                  <a:srgbClr val="0070C0"/>
                </a:solidFill>
              </a:rPr>
              <a:t>                                Never Seen?</a:t>
            </a:r>
          </a:p>
          <a:p>
            <a:endParaRPr lang="en-US" sz="2400" dirty="0">
              <a:solidFill>
                <a:srgbClr val="0070C0"/>
              </a:solidFill>
            </a:endParaRPr>
          </a:p>
        </p:txBody>
      </p:sp>
      <p:sp>
        <p:nvSpPr>
          <p:cNvPr id="20" name="Slide Number Placeholder 19">
            <a:extLst>
              <a:ext uri="{FF2B5EF4-FFF2-40B4-BE49-F238E27FC236}">
                <a16:creationId xmlns:a16="http://schemas.microsoft.com/office/drawing/2014/main" id="{909AA2BC-369B-13FB-9DED-3098BC38067E}"/>
              </a:ext>
            </a:extLst>
          </p:cNvPr>
          <p:cNvSpPr>
            <a:spLocks noGrp="1"/>
          </p:cNvSpPr>
          <p:nvPr>
            <p:ph type="sldNum" sz="quarter" idx="12"/>
          </p:nvPr>
        </p:nvSpPr>
        <p:spPr/>
        <p:txBody>
          <a:bodyPr/>
          <a:lstStyle/>
          <a:p>
            <a:fld id="{659B2F21-D912-7541-8ED2-FD6ABD90B685}" type="slidenum">
              <a:rPr lang="en-US" smtClean="0"/>
              <a:t>3</a:t>
            </a:fld>
            <a:endParaRPr lang="en-US"/>
          </a:p>
        </p:txBody>
      </p:sp>
      <p:pic>
        <p:nvPicPr>
          <p:cNvPr id="6" name="Picture 2">
            <a:extLst>
              <a:ext uri="{FF2B5EF4-FFF2-40B4-BE49-F238E27FC236}">
                <a16:creationId xmlns:a16="http://schemas.microsoft.com/office/drawing/2014/main" id="{04282464-FF17-EC95-87AA-6F58F60D65D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46057" y="2715316"/>
            <a:ext cx="11299886" cy="3152633"/>
          </a:xfrm>
          <a:prstGeom prst="rect">
            <a:avLst/>
          </a:prstGeom>
        </p:spPr>
      </p:pic>
      <p:sp>
        <p:nvSpPr>
          <p:cNvPr id="7" name="TextBox 6">
            <a:extLst>
              <a:ext uri="{FF2B5EF4-FFF2-40B4-BE49-F238E27FC236}">
                <a16:creationId xmlns:a16="http://schemas.microsoft.com/office/drawing/2014/main" id="{EF878B1F-BA44-18DE-3CB2-1844BE710A4C}"/>
              </a:ext>
            </a:extLst>
          </p:cNvPr>
          <p:cNvSpPr txBox="1"/>
          <p:nvPr/>
        </p:nvSpPr>
        <p:spPr>
          <a:xfrm>
            <a:off x="2647666" y="5103674"/>
            <a:ext cx="1486241" cy="1754326"/>
          </a:xfrm>
          <a:prstGeom prst="rect">
            <a:avLst/>
          </a:prstGeom>
          <a:noFill/>
        </p:spPr>
        <p:txBody>
          <a:bodyPr wrap="none" rtlCol="0">
            <a:spAutoFit/>
          </a:bodyPr>
          <a:lstStyle/>
          <a:p>
            <a:pPr marL="285750" indent="-285750">
              <a:buFontTx/>
              <a:buChar char="-"/>
            </a:pPr>
            <a:r>
              <a:rPr lang="en-US" i="1" dirty="0"/>
              <a:t>person</a:t>
            </a:r>
          </a:p>
          <a:p>
            <a:pPr marL="285750" indent="-285750">
              <a:buFontTx/>
              <a:buChar char="-"/>
            </a:pPr>
            <a:r>
              <a:rPr lang="en-US" i="1" dirty="0"/>
              <a:t>face</a:t>
            </a:r>
          </a:p>
          <a:p>
            <a:pPr marL="285750" indent="-285750">
              <a:buFontTx/>
              <a:buChar char="-"/>
            </a:pPr>
            <a:r>
              <a:rPr lang="en-US" i="1" dirty="0"/>
              <a:t>fingerprint</a:t>
            </a:r>
          </a:p>
          <a:p>
            <a:pPr marL="285750" indent="-285750">
              <a:buFontTx/>
              <a:buChar char="-"/>
            </a:pPr>
            <a:r>
              <a:rPr lang="en-US" i="1" dirty="0"/>
              <a:t>iris</a:t>
            </a:r>
          </a:p>
          <a:p>
            <a:pPr marL="285750" indent="-285750">
              <a:buFontTx/>
              <a:buChar char="-"/>
            </a:pPr>
            <a:r>
              <a:rPr lang="en-US" i="1" dirty="0"/>
              <a:t>…</a:t>
            </a:r>
          </a:p>
          <a:p>
            <a:endParaRPr lang="en-US" i="1" dirty="0"/>
          </a:p>
        </p:txBody>
      </p:sp>
      <p:cxnSp>
        <p:nvCxnSpPr>
          <p:cNvPr id="11" name="Straight Arrow Connector 10">
            <a:extLst>
              <a:ext uri="{FF2B5EF4-FFF2-40B4-BE49-F238E27FC236}">
                <a16:creationId xmlns:a16="http://schemas.microsoft.com/office/drawing/2014/main" id="{19834419-AA21-0EE0-4A76-C32EE7DE7519}"/>
              </a:ext>
            </a:extLst>
          </p:cNvPr>
          <p:cNvCxnSpPr>
            <a:cxnSpLocks/>
          </p:cNvCxnSpPr>
          <p:nvPr/>
        </p:nvCxnSpPr>
        <p:spPr>
          <a:xfrm>
            <a:off x="5216576" y="1535176"/>
            <a:ext cx="0" cy="404734"/>
          </a:xfrm>
          <a:prstGeom prst="straightConnector1">
            <a:avLst/>
          </a:prstGeom>
          <a:ln w="76200">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65EC7A4B-39AB-F59A-4E49-9C73307C1993}"/>
              </a:ext>
            </a:extLst>
          </p:cNvPr>
          <p:cNvSpPr/>
          <p:nvPr/>
        </p:nvSpPr>
        <p:spPr>
          <a:xfrm>
            <a:off x="5501898" y="2715316"/>
            <a:ext cx="1828800" cy="33600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691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5F08C-0C8F-295F-777D-70BCB101AA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34215E-DF09-A012-4579-D82430714E91}"/>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Closed-Set Model</a:t>
            </a:r>
          </a:p>
        </p:txBody>
      </p:sp>
      <p:sp>
        <p:nvSpPr>
          <p:cNvPr id="3" name="Slide Number Placeholder 2">
            <a:extLst>
              <a:ext uri="{FF2B5EF4-FFF2-40B4-BE49-F238E27FC236}">
                <a16:creationId xmlns:a16="http://schemas.microsoft.com/office/drawing/2014/main" id="{384EC399-A6D3-2FCE-5A53-58660AD8DBC3}"/>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4</a:t>
            </a:fld>
            <a:endParaRPr lang="en-US"/>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C7096047-670E-DD04-31B2-6149C9C9E74E}"/>
                  </a:ext>
                </a:extLst>
              </p:cNvPr>
              <p:cNvSpPr txBox="1"/>
              <p:nvPr/>
            </p:nvSpPr>
            <p:spPr>
              <a:xfrm>
                <a:off x="1211357" y="1374447"/>
                <a:ext cx="10142443" cy="5496826"/>
              </a:xfrm>
              <a:prstGeom prst="rect">
                <a:avLst/>
              </a:prstGeom>
              <a:noFill/>
            </p:spPr>
            <p:txBody>
              <a:bodyPr wrap="square">
                <a:spAutoFit/>
              </a:bodyPr>
              <a:lstStyle/>
              <a:p>
                <a:pPr indent="0" algn="l">
                  <a:buNone/>
                </a:pPr>
                <a:r>
                  <a:rPr lang="en-US" sz="2400" b="0" i="0" dirty="0">
                    <a:solidFill>
                      <a:schemeClr val="tx1"/>
                    </a:solidFill>
                    <a:effectLst/>
                    <a:latin typeface="+mn-lt"/>
                  </a:rPr>
                  <a:t>Conventional Training and Prediction:</a:t>
                </a:r>
                <a:br>
                  <a:rPr lang="en-US" sz="2400" b="0" i="0" dirty="0">
                    <a:solidFill>
                      <a:schemeClr val="tx1"/>
                    </a:solidFill>
                    <a:effectLst/>
                    <a:latin typeface="+mn-lt"/>
                  </a:rPr>
                </a:br>
                <a:endParaRPr lang="en-US" sz="1200" b="0" i="0" dirty="0">
                  <a:solidFill>
                    <a:schemeClr val="tx1"/>
                  </a:solidFill>
                  <a:effectLst/>
                  <a:latin typeface="+mn-lt"/>
                </a:endParaRPr>
              </a:p>
              <a:p>
                <a:pPr marL="342900" indent="-342900" algn="l">
                  <a:spcAft>
                    <a:spcPts val="600"/>
                  </a:spcAft>
                  <a:buFont typeface="Wingdings" pitchFamily="2" charset="2"/>
                  <a:buChar char="§"/>
                </a:pPr>
                <a:r>
                  <a:rPr lang="en-US" sz="2400" b="1" dirty="0"/>
                  <a:t>Jointly learn</a:t>
                </a:r>
                <a:r>
                  <a:rPr lang="en-US" sz="2400" dirty="0"/>
                  <a:t> mappings </a:t>
                </a:r>
                <a14:m>
                  <m:oMath xmlns:m="http://schemas.openxmlformats.org/officeDocument/2006/math">
                    <m:r>
                      <a:rPr lang="en-US" sz="2400" b="0" i="1" smtClean="0">
                        <a:latin typeface="Cambria Math" panose="02040503050406030204" pitchFamily="18" charset="0"/>
                      </a:rPr>
                      <m:t>𝜙</m:t>
                    </m:r>
                    <m:r>
                      <a:rPr lang="en-US" sz="2400" b="0" i="1" smtClean="0">
                        <a:latin typeface="Cambria Math" panose="02040503050406030204" pitchFamily="18" charset="0"/>
                      </a:rPr>
                      <m:t>:</m:t>
                    </m:r>
                    <m:r>
                      <a:rPr lang="en-US" sz="2400" b="0" i="1" smtClean="0">
                        <a:latin typeface="Cambria Math" panose="02040503050406030204" pitchFamily="18" charset="0"/>
                      </a:rPr>
                      <m:t>𝒳</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ℝ</m:t>
                        </m:r>
                      </m:e>
                      <m:sup>
                        <m:r>
                          <a:rPr lang="en-US" sz="2400" b="0" i="1" smtClean="0">
                            <a:latin typeface="Cambria Math" panose="02040503050406030204" pitchFamily="18" charset="0"/>
                          </a:rPr>
                          <m:t>𝐷</m:t>
                        </m:r>
                      </m:sup>
                    </m:sSup>
                  </m:oMath>
                </a14:m>
                <a:r>
                  <a:rPr lang="en-US" sz="2400" b="0" i="0" dirty="0">
                    <a:solidFill>
                      <a:schemeClr val="tx1"/>
                    </a:solidFill>
                    <a:effectLst/>
                    <a:latin typeface="+mn-lt"/>
                  </a:rPr>
                  <a:t> (</a:t>
                </a:r>
                <a:r>
                  <a:rPr lang="en-US" sz="2400" dirty="0">
                    <a:solidFill>
                      <a:srgbClr val="0070C0"/>
                    </a:solidFill>
                  </a:rPr>
                  <a:t>I</a:t>
                </a:r>
                <a:r>
                  <a:rPr lang="en-US" sz="2400" b="0" i="0" dirty="0">
                    <a:solidFill>
                      <a:srgbClr val="0070C0"/>
                    </a:solidFill>
                    <a:effectLst/>
                    <a:latin typeface="+mn-lt"/>
                  </a:rPr>
                  <a:t>mage</a:t>
                </a:r>
                <a:r>
                  <a:rPr lang="en-US" sz="2400" dirty="0">
                    <a:solidFill>
                      <a:srgbClr val="0070C0"/>
                    </a:solidFill>
                  </a:rPr>
                  <a:t>-</a:t>
                </a:r>
                <a:r>
                  <a:rPr lang="en-US" sz="2400" b="0" i="0" dirty="0">
                    <a:solidFill>
                      <a:srgbClr val="0070C0"/>
                    </a:solidFill>
                    <a:effectLst/>
                    <a:latin typeface="+mn-lt"/>
                  </a:rPr>
                  <a:t>to-Embedding</a:t>
                </a:r>
                <a:r>
                  <a:rPr lang="en-US" sz="2400" b="0" i="0" dirty="0">
                    <a:solidFill>
                      <a:schemeClr val="tx1"/>
                    </a:solidFill>
                    <a:effectLst/>
                    <a:latin typeface="+mn-lt"/>
                  </a:rPr>
                  <a:t>) and </a:t>
                </a:r>
                <a:br>
                  <a:rPr lang="en-US" sz="2400" b="0" i="0" dirty="0">
                    <a:solidFill>
                      <a:schemeClr val="tx1"/>
                    </a:solidFill>
                    <a:effectLst/>
                    <a:latin typeface="+mn-lt"/>
                  </a:rPr>
                </a:br>
                <a14:m>
                  <m:oMath xmlns:m="http://schemas.openxmlformats.org/officeDocument/2006/math">
                    <m:r>
                      <a:rPr lang="en-US" sz="2400" b="0" i="1" smtClean="0">
                        <a:solidFill>
                          <a:schemeClr val="tx1"/>
                        </a:solidFill>
                        <a:effectLst/>
                        <a:latin typeface="Cambria Math" panose="02040503050406030204" pitchFamily="18" charset="0"/>
                      </a:rPr>
                      <m:t>𝑓</m:t>
                    </m:r>
                    <m:r>
                      <a:rPr lang="en-US" sz="2400" b="0" i="1" smtClean="0">
                        <a:solidFill>
                          <a:schemeClr val="tx1"/>
                        </a:solidFill>
                        <a:effectLst/>
                        <a:latin typeface="Cambria Math" panose="02040503050406030204" pitchFamily="18" charset="0"/>
                      </a:rPr>
                      <m:t>:</m:t>
                    </m:r>
                    <m:r>
                      <a:rPr lang="en-US" sz="2400" b="0" i="1" smtClean="0">
                        <a:solidFill>
                          <a:schemeClr val="tx1"/>
                        </a:solidFill>
                        <a:effectLst/>
                        <a:latin typeface="Cambria Math" panose="02040503050406030204" pitchFamily="18" charset="0"/>
                      </a:rPr>
                      <m:t>𝒵</m:t>
                    </m:r>
                    <m:r>
                      <a:rPr lang="en-US" sz="2400" b="0" i="1" smtClean="0">
                        <a:solidFill>
                          <a:schemeClr val="tx1"/>
                        </a:solidFill>
                        <a:effectLst/>
                        <a:latin typeface="Cambria Math" panose="02040503050406030204" pitchFamily="18" charset="0"/>
                      </a:rPr>
                      <m:t>→</m:t>
                    </m:r>
                    <m:sSup>
                      <m:sSupPr>
                        <m:ctrlPr>
                          <a:rPr lang="en-US" sz="2400" b="0" i="1" smtClean="0">
                            <a:solidFill>
                              <a:schemeClr val="tx1"/>
                            </a:solidFill>
                            <a:effectLst/>
                            <a:latin typeface="Cambria Math" panose="02040503050406030204" pitchFamily="18" charset="0"/>
                          </a:rPr>
                        </m:ctrlPr>
                      </m:sSupPr>
                      <m:e>
                        <m:r>
                          <a:rPr lang="en-US" sz="2400" b="0" i="1" smtClean="0">
                            <a:solidFill>
                              <a:schemeClr val="tx1"/>
                            </a:solidFill>
                            <a:effectLst/>
                            <a:latin typeface="Cambria Math" panose="02040503050406030204" pitchFamily="18" charset="0"/>
                          </a:rPr>
                          <m:t>ℝ</m:t>
                        </m:r>
                      </m:e>
                      <m:sup>
                        <m:r>
                          <a:rPr lang="en-US" sz="2400" b="0" i="1" smtClean="0">
                            <a:solidFill>
                              <a:schemeClr val="tx1"/>
                            </a:solidFill>
                            <a:effectLst/>
                            <a:latin typeface="Cambria Math" panose="02040503050406030204" pitchFamily="18" charset="0"/>
                          </a:rPr>
                          <m:t>𝑁</m:t>
                        </m:r>
                      </m:sup>
                    </m:sSup>
                  </m:oMath>
                </a14:m>
                <a:r>
                  <a:rPr lang="en-US" sz="2400" b="0" i="0" dirty="0">
                    <a:solidFill>
                      <a:schemeClr val="tx1"/>
                    </a:solidFill>
                    <a:effectLst/>
                    <a:latin typeface="+mn-lt"/>
                  </a:rPr>
                  <a:t> (</a:t>
                </a:r>
                <a:r>
                  <a:rPr lang="en-US" sz="2400" b="0" i="0" dirty="0">
                    <a:solidFill>
                      <a:srgbClr val="0070C0"/>
                    </a:solidFill>
                    <a:effectLst/>
                    <a:latin typeface="+mn-lt"/>
                  </a:rPr>
                  <a:t>Embedding-to-Identity</a:t>
                </a:r>
                <a:r>
                  <a:rPr lang="en-US" sz="2400" b="0" i="0" dirty="0">
                    <a:solidFill>
                      <a:schemeClr val="tx1"/>
                    </a:solidFill>
                    <a:effectLst/>
                    <a:latin typeface="+mn-lt"/>
                  </a:rPr>
                  <a:t>)</a:t>
                </a:r>
              </a:p>
              <a:p>
                <a:pPr marL="342900" indent="-342900" algn="l">
                  <a:spcAft>
                    <a:spcPts val="600"/>
                  </a:spcAft>
                  <a:buFont typeface="Wingdings" pitchFamily="2" charset="2"/>
                  <a:buChar char="§"/>
                </a:pPr>
                <a:r>
                  <a:rPr lang="en-US" sz="2400" b="1" dirty="0">
                    <a:effectLst/>
                  </a:rPr>
                  <a:t>Predict</a:t>
                </a:r>
                <a:r>
                  <a:rPr lang="en-US" sz="2400" b="1" dirty="0">
                    <a:solidFill>
                      <a:srgbClr val="0070C0"/>
                    </a:solidFill>
                    <a:effectLst/>
                  </a:rPr>
                  <a:t> </a:t>
                </a:r>
                <a:r>
                  <a:rPr lang="en-US" sz="2400" dirty="0">
                    <a:solidFill>
                      <a:srgbClr val="0070C0"/>
                    </a:solidFill>
                  </a:rPr>
                  <a:t>the </a:t>
                </a:r>
                <a:r>
                  <a:rPr lang="en-US" sz="2400" b="0" dirty="0">
                    <a:solidFill>
                      <a:srgbClr val="0070C0"/>
                    </a:solidFill>
                    <a:effectLst/>
                  </a:rPr>
                  <a:t>most probable </a:t>
                </a:r>
                <a:r>
                  <a:rPr lang="en-US" sz="2400" dirty="0">
                    <a:solidFill>
                      <a:srgbClr val="0070C0"/>
                    </a:solidFill>
                  </a:rPr>
                  <a:t>ID:</a:t>
                </a:r>
              </a:p>
              <a:p>
                <a:pPr marL="800100" lvl="1" indent="-342900">
                  <a:spcAft>
                    <a:spcPts val="600"/>
                  </a:spcAft>
                  <a:buFont typeface="Courier New" panose="02070309020205020404" pitchFamily="49" charset="0"/>
                  <a:buChar char="o"/>
                </a:pPr>
                <a:r>
                  <a:rPr lang="en-US" sz="2000" dirty="0"/>
                  <a:t>Let </a:t>
                </a:r>
                <a14:m>
                  <m:oMath xmlns:m="http://schemas.openxmlformats.org/officeDocument/2006/math">
                    <m:r>
                      <a:rPr lang="en-US" sz="2000" b="0" i="1" smtClean="0">
                        <a:latin typeface="Cambria Math" panose="02040503050406030204" pitchFamily="18" charset="0"/>
                      </a:rPr>
                      <m:t>𝒢</m:t>
                    </m:r>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d>
                          <m:dPr>
                            <m:begChr m:val="{"/>
                            <m:endChr m:val="}"/>
                            <m:ctrlPr>
                              <a:rPr lang="en-US" sz="2000" b="0" i="1" smtClean="0">
                                <a:latin typeface="Cambria Math" panose="02040503050406030204" pitchFamily="18" charset="0"/>
                              </a:rPr>
                            </m:ctrlPr>
                          </m:dPr>
                          <m:e>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𝑗</m:t>
                                    </m:r>
                                  </m:sub>
                                </m:sSub>
                              </m:e>
                            </m:d>
                          </m:e>
                        </m:d>
                      </m:e>
                      <m:sub>
                        <m:r>
                          <a:rPr lang="en-US" sz="2000" b="0" i="1" smtClean="0">
                            <a:latin typeface="Cambria Math" panose="02040503050406030204" pitchFamily="18" charset="0"/>
                          </a:rPr>
                          <m:t>𝑗</m:t>
                        </m:r>
                        <m:r>
                          <a:rPr lang="en-US" sz="2000" b="0" i="1" smtClean="0">
                            <a:latin typeface="Cambria Math" panose="02040503050406030204" pitchFamily="18" charset="0"/>
                          </a:rPr>
                          <m:t>=1</m:t>
                        </m:r>
                      </m:sub>
                      <m:sup>
                        <m:r>
                          <a:rPr lang="en-US" sz="2000" b="0" i="1" smtClean="0">
                            <a:latin typeface="Cambria Math" panose="02040503050406030204" pitchFamily="18" charset="0"/>
                          </a:rPr>
                          <m:t>𝑛</m:t>
                        </m:r>
                      </m:sup>
                    </m:sSubSup>
                  </m:oMath>
                </a14:m>
                <a:r>
                  <a:rPr lang="en-US" sz="2000" dirty="0"/>
                  <a:t> with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1, …, </m:t>
                        </m:r>
                        <m:r>
                          <a:rPr lang="en-US" sz="2000" b="0" i="1" smtClean="0">
                            <a:latin typeface="Cambria Math" panose="02040503050406030204" pitchFamily="18" charset="0"/>
                          </a:rPr>
                          <m:t>𝑁</m:t>
                        </m:r>
                      </m:e>
                    </m:d>
                  </m:oMath>
                </a14:m>
                <a:r>
                  <a:rPr lang="en-US" sz="2000" dirty="0"/>
                  <a:t> and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r>
                      <a:rPr lang="en-US" sz="2000" b="0" i="1" smtClean="0">
                        <a:latin typeface="Cambria Math" panose="02040503050406030204" pitchFamily="18" charset="0"/>
                      </a:rPr>
                      <m:t>𝒳</m:t>
                    </m:r>
                  </m:oMath>
                </a14:m>
                <a:endParaRPr lang="en-US" sz="2000" dirty="0"/>
              </a:p>
              <a:p>
                <a:pPr marL="800100" lvl="1" indent="-342900">
                  <a:spcAft>
                    <a:spcPts val="600"/>
                  </a:spcAft>
                  <a:buFont typeface="Courier New" panose="02070309020205020404" pitchFamily="49" charset="0"/>
                  <a:buChar char="o"/>
                </a:pPr>
                <a:r>
                  <a:rPr lang="en-US" sz="2000" dirty="0"/>
                  <a:t>Let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𝒢</m:t>
                        </m:r>
                      </m:e>
                      <m:sub>
                        <m:r>
                          <a:rPr lang="en-US" sz="2000" b="0" i="1" smtClean="0">
                            <a:latin typeface="Cambria Math" panose="02040503050406030204" pitchFamily="18" charset="0"/>
                          </a:rPr>
                          <m:t>𝑐</m:t>
                        </m:r>
                      </m:sub>
                    </m:sSub>
                    <m:r>
                      <a:rPr lang="en-US" sz="2000" i="1">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𝑗</m:t>
                        </m:r>
                        <m:r>
                          <a:rPr lang="en-US" sz="2000" b="0" i="1" smtClean="0">
                            <a:latin typeface="Cambria Math" panose="02040503050406030204" pitchFamily="18" charset="0"/>
                          </a:rPr>
                          <m:t> |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r>
                          <a:rPr lang="en-US" sz="2000" b="0" i="1" smtClean="0">
                            <a:latin typeface="Cambria Math" panose="02040503050406030204" pitchFamily="18" charset="0"/>
                          </a:rPr>
                          <m:t>𝑐</m:t>
                        </m:r>
                      </m:e>
                    </m:d>
                  </m:oMath>
                </a14:m>
                <a:r>
                  <a:rPr lang="en-US" sz="2000" dirty="0"/>
                  <a:t> be the gallery samples of subject </a:t>
                </a:r>
                <a14:m>
                  <m:oMath xmlns:m="http://schemas.openxmlformats.org/officeDocument/2006/math">
                    <m:r>
                      <a:rPr lang="en-US" sz="2000" b="0" i="1" smtClean="0">
                        <a:latin typeface="Cambria Math" panose="02040503050406030204" pitchFamily="18" charset="0"/>
                      </a:rPr>
                      <m:t>𝑐</m:t>
                    </m:r>
                  </m:oMath>
                </a14:m>
                <a:endParaRPr lang="en-US" sz="2000" dirty="0"/>
              </a:p>
              <a:p>
                <a:pPr marL="800100" lvl="1" indent="-342900">
                  <a:spcAft>
                    <a:spcPts val="600"/>
                  </a:spcAft>
                  <a:buFont typeface="Courier New" panose="02070309020205020404" pitchFamily="49" charset="0"/>
                  <a:buChar char="o"/>
                </a:pPr>
                <a:r>
                  <a:rPr lang="en-US" sz="2000" dirty="0"/>
                  <a:t>Given query/probe image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𝑞</m:t>
                        </m:r>
                      </m:sub>
                    </m:sSub>
                  </m:oMath>
                </a14:m>
                <a:endParaRPr lang="en-US" sz="2000" dirty="0"/>
              </a:p>
              <a:p>
                <a:pPr marL="800100" lvl="1" indent="-342900">
                  <a:spcAft>
                    <a:spcPts val="600"/>
                  </a:spcAft>
                  <a:buFont typeface="Courier New" panose="02070309020205020404" pitchFamily="49" charset="0"/>
                  <a:buChar char="o"/>
                </a:pPr>
                <a14:m>
                  <m:oMath xmlns:m="http://schemas.openxmlformats.org/officeDocument/2006/math">
                    <m:r>
                      <a:rPr lang="en-US" sz="2000" b="0" i="1" smtClean="0">
                        <a:latin typeface="Cambria Math" panose="02040503050406030204" pitchFamily="18" charset="0"/>
                      </a:rPr>
                      <m:t>𝑠</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𝑞</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𝑗</m:t>
                            </m:r>
                          </m:sub>
                        </m:sSub>
                      </m:e>
                    </m:d>
                    <m:r>
                      <a:rPr lang="en-US" sz="2000" b="0" i="1" smtClean="0">
                        <a:latin typeface="Cambria Math" panose="02040503050406030204" pitchFamily="18" charset="0"/>
                      </a:rPr>
                      <m:t>=</m:t>
                    </m:r>
                    <m:r>
                      <a:rPr lang="en-US" sz="2000" b="0" i="1" smtClean="0">
                        <a:latin typeface="Cambria Math" panose="02040503050406030204" pitchFamily="18" charset="0"/>
                      </a:rPr>
                      <m:t>𝑐𝑜𝑠𝑠𝑖𝑚</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𝜙</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𝑞</m:t>
                                </m:r>
                              </m:sub>
                            </m:sSub>
                          </m:e>
                        </m:d>
                        <m:r>
                          <a:rPr lang="en-US" sz="2000" b="0" i="1" smtClean="0">
                            <a:latin typeface="Cambria Math" panose="02040503050406030204" pitchFamily="18" charset="0"/>
                          </a:rPr>
                          <m:t>,</m:t>
                        </m:r>
                        <m:r>
                          <a:rPr lang="en-US" sz="2000" b="0" i="1" smtClean="0">
                            <a:latin typeface="Cambria Math" panose="02040503050406030204" pitchFamily="18" charset="0"/>
                          </a:rPr>
                          <m:t>𝜙</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𝑗</m:t>
                                </m:r>
                              </m:sub>
                            </m:sSub>
                          </m:e>
                        </m:d>
                      </m:e>
                    </m:d>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𝜙</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𝑞</m:t>
                                    </m:r>
                                  </m:sub>
                                </m:sSub>
                              </m:e>
                            </m:d>
                          </m:e>
                          <m:sup>
                            <m:r>
                              <a:rPr lang="en-US" sz="2000" b="0" i="1" smtClean="0">
                                <a:latin typeface="Cambria Math" panose="02040503050406030204" pitchFamily="18" charset="0"/>
                              </a:rPr>
                              <m:t>𝑇</m:t>
                            </m:r>
                          </m:sup>
                        </m:sSup>
                        <m:r>
                          <a:rPr lang="en-US" sz="2000" i="1">
                            <a:latin typeface="Cambria Math" panose="02040503050406030204" pitchFamily="18" charset="0"/>
                          </a:rPr>
                          <m:t>𝜙</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𝑗</m:t>
                                </m:r>
                              </m:sub>
                            </m:sSub>
                          </m:e>
                        </m:d>
                      </m:num>
                      <m:den>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𝜙</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𝑞</m:t>
                                    </m:r>
                                  </m:sub>
                                </m:sSub>
                              </m:e>
                            </m:d>
                          </m:e>
                        </m:d>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𝜙</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𝑗</m:t>
                                    </m:r>
                                  </m:sub>
                                </m:sSub>
                              </m:e>
                            </m:d>
                          </m:e>
                        </m:d>
                      </m:den>
                    </m:f>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𝑧</m:t>
                            </m:r>
                          </m:e>
                        </m:acc>
                      </m:e>
                      <m:sub>
                        <m:r>
                          <a:rPr lang="en-US" sz="2000" b="0" i="1" smtClean="0">
                            <a:latin typeface="Cambria Math" panose="02040503050406030204" pitchFamily="18" charset="0"/>
                          </a:rPr>
                          <m:t>𝑞</m:t>
                        </m:r>
                      </m:sub>
                      <m:sup>
                        <m:r>
                          <a:rPr lang="en-US" sz="2000" b="0" i="1" smtClean="0">
                            <a:latin typeface="Cambria Math" panose="02040503050406030204" pitchFamily="18" charset="0"/>
                          </a:rPr>
                          <m:t>𝑇</m:t>
                        </m:r>
                      </m:sup>
                    </m:sSubSup>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𝑧</m:t>
                            </m:r>
                          </m:e>
                        </m:acc>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∈[−1, 1]</m:t>
                    </m:r>
                  </m:oMath>
                </a14:m>
                <a:endParaRPr lang="en-US" sz="2000" dirty="0"/>
              </a:p>
              <a:p>
                <a:pPr marL="800100" lvl="1" indent="-342900">
                  <a:spcAft>
                    <a:spcPts val="600"/>
                  </a:spcAft>
                  <a:buFont typeface="Courier New" panose="02070309020205020404" pitchFamily="49" charset="0"/>
                  <a:buChar char="o"/>
                </a:pPr>
                <a:r>
                  <a:rPr lang="en-US" sz="2000" dirty="0"/>
                  <a:t>Pooling over each identity’s enrolled samples: </a:t>
                </a:r>
                <a:br>
                  <a:rPr lang="en-US" sz="2000" b="0" i="1" dirty="0">
                    <a:latin typeface="Cambria Math" panose="02040503050406030204" pitchFamily="18" charset="0"/>
                  </a:rPr>
                </a:b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𝑐</m:t>
                        </m:r>
                      </m:sub>
                    </m:sSub>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𝑞</m:t>
                            </m:r>
                          </m:sub>
                        </m:sSub>
                      </m:e>
                    </m:d>
                    <m:r>
                      <a:rPr lang="en-US" sz="2000" b="0" i="1" smtClean="0">
                        <a:latin typeface="Cambria Math" panose="02040503050406030204" pitchFamily="18" charset="0"/>
                      </a:rPr>
                      <m:t>=</m:t>
                    </m:r>
                    <m:func>
                      <m:funcPr>
                        <m:ctrlPr>
                          <a:rPr lang="en-US" sz="2000" b="0" i="0" smtClean="0">
                            <a:latin typeface="Cambria Math" panose="02040503050406030204" pitchFamily="18" charset="0"/>
                          </a:rPr>
                        </m:ctrlPr>
                      </m:funcPr>
                      <m:fName>
                        <m:limLow>
                          <m:limLowPr>
                            <m:ctrlPr>
                              <a:rPr lang="en-US" sz="2000" b="0" i="0" smtClean="0">
                                <a:latin typeface="Cambria Math" panose="02040503050406030204" pitchFamily="18" charset="0"/>
                              </a:rPr>
                            </m:ctrlPr>
                          </m:limLowPr>
                          <m:e>
                            <m:r>
                              <m:rPr>
                                <m:sty m:val="p"/>
                              </m:rPr>
                              <a:rPr lang="en-US" sz="2000" b="0" i="0" smtClean="0">
                                <a:latin typeface="Cambria Math" panose="02040503050406030204" pitchFamily="18" charset="0"/>
                              </a:rPr>
                              <m:t>max</m:t>
                            </m:r>
                          </m:e>
                          <m:lim>
                            <m:r>
                              <m:rPr>
                                <m:sty m:val="p"/>
                              </m:rPr>
                              <a:rPr lang="en-US" sz="2000" b="0" i="0" smtClean="0">
                                <a:latin typeface="Cambria Math" panose="02040503050406030204" pitchFamily="18" charset="0"/>
                              </a:rPr>
                              <m:t>j</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𝒢</m:t>
                                </m:r>
                              </m:e>
                              <m:sub>
                                <m:r>
                                  <a:rPr lang="en-US" sz="2000" b="0" i="1" smtClean="0">
                                    <a:latin typeface="Cambria Math" panose="02040503050406030204" pitchFamily="18" charset="0"/>
                                  </a:rPr>
                                  <m:t>𝑐</m:t>
                                </m:r>
                              </m:sub>
                            </m:sSub>
                          </m:lim>
                        </m:limLow>
                      </m:fName>
                      <m:e>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𝑞</m:t>
                                </m:r>
                              </m:sub>
                            </m:sSub>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𝑗</m:t>
                                </m:r>
                              </m:sub>
                            </m:sSub>
                          </m:e>
                        </m:d>
                      </m:e>
                    </m:func>
                  </m:oMath>
                </a14:m>
                <a:endParaRPr lang="en-US" sz="2000" dirty="0"/>
              </a:p>
              <a:p>
                <a:pPr marL="800100" lvl="1" indent="-342900">
                  <a:spcAft>
                    <a:spcPts val="600"/>
                  </a:spcAft>
                  <a:buFont typeface="Courier New" panose="02070309020205020404" pitchFamily="49" charset="0"/>
                  <a:buChar char="o"/>
                </a:pPr>
                <a14:m>
                  <m:oMath xmlns:m="http://schemas.openxmlformats.org/officeDocument/2006/math">
                    <m:acc>
                      <m:accPr>
                        <m:chr m:val="̂"/>
                        <m:ctrlPr>
                          <a:rPr lang="en-US" sz="2000" b="0" i="1" smtClean="0">
                            <a:solidFill>
                              <a:schemeClr val="tx1"/>
                            </a:solidFill>
                            <a:effectLst/>
                            <a:latin typeface="Cambria Math" panose="02040503050406030204" pitchFamily="18" charset="0"/>
                          </a:rPr>
                        </m:ctrlPr>
                      </m:accPr>
                      <m:e>
                        <m:r>
                          <a:rPr lang="en-US" sz="2000" b="0" i="1" smtClean="0">
                            <a:solidFill>
                              <a:schemeClr val="tx1"/>
                            </a:solidFill>
                            <a:effectLst/>
                            <a:latin typeface="Cambria Math" panose="02040503050406030204" pitchFamily="18" charset="0"/>
                          </a:rPr>
                          <m:t>𝑦</m:t>
                        </m:r>
                      </m:e>
                    </m:acc>
                    <m:r>
                      <a:rPr lang="en-US" sz="2000" b="0" i="1" dirty="0" smtClean="0">
                        <a:solidFill>
                          <a:schemeClr val="tx1"/>
                        </a:solidFill>
                        <a:effectLst/>
                        <a:latin typeface="Cambria Math" panose="02040503050406030204" pitchFamily="18" charset="0"/>
                      </a:rPr>
                      <m:t>=</m:t>
                    </m:r>
                    <m:func>
                      <m:funcPr>
                        <m:ctrlPr>
                          <a:rPr lang="en-US" sz="2000" b="0" i="1" dirty="0" smtClean="0">
                            <a:solidFill>
                              <a:schemeClr val="tx1"/>
                            </a:solidFill>
                            <a:effectLst/>
                            <a:latin typeface="Cambria Math" panose="02040503050406030204" pitchFamily="18" charset="0"/>
                          </a:rPr>
                        </m:ctrlPr>
                      </m:funcPr>
                      <m:fName>
                        <m:r>
                          <a:rPr lang="en-US" sz="2000" b="0" i="1" dirty="0" smtClean="0">
                            <a:solidFill>
                              <a:schemeClr val="tx1"/>
                            </a:solidFill>
                            <a:effectLst/>
                            <a:latin typeface="Cambria Math" panose="02040503050406030204" pitchFamily="18" charset="0"/>
                          </a:rPr>
                          <m:t> </m:t>
                        </m:r>
                        <m:r>
                          <m:rPr>
                            <m:sty m:val="p"/>
                          </m:rPr>
                          <a:rPr lang="en-US" sz="2000" b="0" i="0" dirty="0" smtClean="0">
                            <a:solidFill>
                              <a:schemeClr val="tx1"/>
                            </a:solidFill>
                            <a:effectLst/>
                            <a:latin typeface="Cambria Math" panose="02040503050406030204" pitchFamily="18" charset="0"/>
                          </a:rPr>
                          <m:t>arg</m:t>
                        </m:r>
                        <m:limLow>
                          <m:limLowPr>
                            <m:ctrlPr>
                              <a:rPr lang="en-US" sz="2000" b="0" i="0" dirty="0" smtClean="0">
                                <a:solidFill>
                                  <a:schemeClr val="tx1"/>
                                </a:solidFill>
                                <a:effectLst/>
                                <a:latin typeface="Cambria Math" panose="02040503050406030204" pitchFamily="18" charset="0"/>
                              </a:rPr>
                            </m:ctrlPr>
                          </m:limLowPr>
                          <m:e>
                            <m:r>
                              <m:rPr>
                                <m:sty m:val="p"/>
                              </m:rPr>
                              <a:rPr lang="en-US" sz="2000" b="0" i="0" dirty="0" smtClean="0">
                                <a:solidFill>
                                  <a:schemeClr val="tx1"/>
                                </a:solidFill>
                                <a:effectLst/>
                                <a:latin typeface="Cambria Math" panose="02040503050406030204" pitchFamily="18" charset="0"/>
                              </a:rPr>
                              <m:t>max</m:t>
                            </m:r>
                          </m:e>
                          <m:lim>
                            <m:r>
                              <m:rPr>
                                <m:sty m:val="p"/>
                              </m:rPr>
                              <a:rPr lang="en-US" sz="2000" b="0" i="0" dirty="0" smtClean="0">
                                <a:solidFill>
                                  <a:schemeClr val="tx1"/>
                                </a:solidFill>
                                <a:effectLst/>
                                <a:latin typeface="Cambria Math" panose="02040503050406030204" pitchFamily="18" charset="0"/>
                              </a:rPr>
                              <m:t>c</m:t>
                            </m:r>
                            <m:r>
                              <a:rPr lang="en-US" sz="2000" b="0" i="1" dirty="0" smtClean="0">
                                <a:solidFill>
                                  <a:schemeClr val="tx1"/>
                                </a:solidFill>
                                <a:effectLst/>
                                <a:latin typeface="Cambria Math" panose="02040503050406030204" pitchFamily="18" charset="0"/>
                              </a:rPr>
                              <m:t>∈</m:t>
                            </m:r>
                            <m:d>
                              <m:dPr>
                                <m:begChr m:val="{"/>
                                <m:endChr m:val="}"/>
                                <m:ctrlPr>
                                  <a:rPr lang="en-US" sz="2000" b="0" i="1" dirty="0" smtClean="0">
                                    <a:solidFill>
                                      <a:schemeClr val="tx1"/>
                                    </a:solidFill>
                                    <a:effectLst/>
                                    <a:latin typeface="Cambria Math" panose="02040503050406030204" pitchFamily="18" charset="0"/>
                                  </a:rPr>
                                </m:ctrlPr>
                              </m:dPr>
                              <m:e>
                                <m:r>
                                  <a:rPr lang="en-US" sz="2000" b="0" i="1" dirty="0" smtClean="0">
                                    <a:solidFill>
                                      <a:schemeClr val="tx1"/>
                                    </a:solidFill>
                                    <a:effectLst/>
                                    <a:latin typeface="Cambria Math" panose="02040503050406030204" pitchFamily="18" charset="0"/>
                                  </a:rPr>
                                  <m:t>1, …, </m:t>
                                </m:r>
                                <m:r>
                                  <a:rPr lang="en-US" sz="2000" b="0" i="1" dirty="0" smtClean="0">
                                    <a:solidFill>
                                      <a:schemeClr val="tx1"/>
                                    </a:solidFill>
                                    <a:effectLst/>
                                    <a:latin typeface="Cambria Math" panose="02040503050406030204" pitchFamily="18" charset="0"/>
                                  </a:rPr>
                                  <m:t>𝐶</m:t>
                                </m:r>
                              </m:e>
                            </m:d>
                          </m:lim>
                        </m:limLow>
                      </m:fName>
                      <m:e>
                        <m:sSub>
                          <m:sSubPr>
                            <m:ctrlPr>
                              <a:rPr lang="en-US" sz="2000" b="0" i="1" dirty="0" smtClean="0">
                                <a:solidFill>
                                  <a:schemeClr val="tx1"/>
                                </a:solidFill>
                                <a:effectLst/>
                                <a:latin typeface="Cambria Math" panose="02040503050406030204" pitchFamily="18" charset="0"/>
                              </a:rPr>
                            </m:ctrlPr>
                          </m:sSubPr>
                          <m:e>
                            <m:r>
                              <a:rPr lang="en-US" sz="2000" b="0" i="1" dirty="0" smtClean="0">
                                <a:solidFill>
                                  <a:schemeClr val="tx1"/>
                                </a:solidFill>
                                <a:effectLst/>
                                <a:latin typeface="Cambria Math" panose="02040503050406030204" pitchFamily="18" charset="0"/>
                              </a:rPr>
                              <m:t>𝑠</m:t>
                            </m:r>
                          </m:e>
                          <m:sub>
                            <m:r>
                              <a:rPr lang="en-US" sz="2000" b="0" i="1" dirty="0" smtClean="0">
                                <a:solidFill>
                                  <a:schemeClr val="tx1"/>
                                </a:solidFill>
                                <a:effectLst/>
                                <a:latin typeface="Cambria Math" panose="02040503050406030204" pitchFamily="18" charset="0"/>
                              </a:rPr>
                              <m:t>𝑐</m:t>
                            </m:r>
                          </m:sub>
                        </m:sSub>
                        <m:d>
                          <m:dPr>
                            <m:ctrlPr>
                              <a:rPr lang="en-US" sz="2000" b="0" i="1" dirty="0" smtClean="0">
                                <a:solidFill>
                                  <a:schemeClr val="tx1"/>
                                </a:solidFill>
                                <a:effectLst/>
                                <a:latin typeface="Cambria Math" panose="02040503050406030204" pitchFamily="18" charset="0"/>
                              </a:rPr>
                            </m:ctrlPr>
                          </m:dPr>
                          <m:e>
                            <m:sSub>
                              <m:sSubPr>
                                <m:ctrlPr>
                                  <a:rPr lang="en-US" sz="2000" b="0" i="1" dirty="0" smtClean="0">
                                    <a:solidFill>
                                      <a:schemeClr val="tx1"/>
                                    </a:solidFill>
                                    <a:effectLst/>
                                    <a:latin typeface="Cambria Math" panose="02040503050406030204" pitchFamily="18" charset="0"/>
                                  </a:rPr>
                                </m:ctrlPr>
                              </m:sSubPr>
                              <m:e>
                                <m:r>
                                  <a:rPr lang="en-US" sz="2000" b="0" i="1" dirty="0" smtClean="0">
                                    <a:solidFill>
                                      <a:schemeClr val="tx1"/>
                                    </a:solidFill>
                                    <a:effectLst/>
                                    <a:latin typeface="Cambria Math" panose="02040503050406030204" pitchFamily="18" charset="0"/>
                                  </a:rPr>
                                  <m:t>𝑥</m:t>
                                </m:r>
                              </m:e>
                              <m:sub>
                                <m:r>
                                  <a:rPr lang="en-US" sz="2000" b="0" i="1" dirty="0" smtClean="0">
                                    <a:solidFill>
                                      <a:schemeClr val="tx1"/>
                                    </a:solidFill>
                                    <a:effectLst/>
                                    <a:latin typeface="Cambria Math" panose="02040503050406030204" pitchFamily="18" charset="0"/>
                                  </a:rPr>
                                  <m:t>𝑞</m:t>
                                </m:r>
                              </m:sub>
                            </m:sSub>
                          </m:e>
                        </m:d>
                      </m:e>
                    </m:func>
                  </m:oMath>
                </a14:m>
                <a:endParaRPr lang="en-US" sz="2000" dirty="0"/>
              </a:p>
            </p:txBody>
          </p:sp>
        </mc:Choice>
        <mc:Fallback>
          <p:sp>
            <p:nvSpPr>
              <p:cNvPr id="6" name="TextBox 5">
                <a:extLst>
                  <a:ext uri="{FF2B5EF4-FFF2-40B4-BE49-F238E27FC236}">
                    <a16:creationId xmlns:a16="http://schemas.microsoft.com/office/drawing/2014/main" id="{C7096047-670E-DD04-31B2-6149C9C9E74E}"/>
                  </a:ext>
                </a:extLst>
              </p:cNvPr>
              <p:cNvSpPr txBox="1">
                <a:spLocks noRot="1" noChangeAspect="1" noMove="1" noResize="1" noEditPoints="1" noAdjustHandles="1" noChangeArrowheads="1" noChangeShapeType="1" noTextEdit="1"/>
              </p:cNvSpPr>
              <p:nvPr/>
            </p:nvSpPr>
            <p:spPr>
              <a:xfrm>
                <a:off x="1211357" y="1374447"/>
                <a:ext cx="10142443" cy="5496826"/>
              </a:xfrm>
              <a:prstGeom prst="rect">
                <a:avLst/>
              </a:prstGeom>
              <a:blipFill>
                <a:blip r:embed="rId3"/>
                <a:stretch>
                  <a:fillRect l="-1000" t="-924"/>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7E3793FF-10F1-3B07-4BD1-6B5A5B070120}"/>
              </a:ext>
            </a:extLst>
          </p:cNvPr>
          <p:cNvSpPr/>
          <p:nvPr/>
        </p:nvSpPr>
        <p:spPr>
          <a:xfrm>
            <a:off x="1676400" y="5943600"/>
            <a:ext cx="3103418" cy="7778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3558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70199-DC99-4717-ADA3-4A08D55D42F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C469894-1DBE-1AA5-2965-8CD803EF0F08}"/>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Problem Terminology &amp; Definitions</a:t>
            </a:r>
          </a:p>
        </p:txBody>
      </p:sp>
      <p:sp>
        <p:nvSpPr>
          <p:cNvPr id="3" name="Slide Number Placeholder 2">
            <a:extLst>
              <a:ext uri="{FF2B5EF4-FFF2-40B4-BE49-F238E27FC236}">
                <a16:creationId xmlns:a16="http://schemas.microsoft.com/office/drawing/2014/main" id="{23FA8633-C29B-48B4-8B39-BB481AF752B4}"/>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5</a:t>
            </a:fld>
            <a:endParaRPr lang="en-US"/>
          </a:p>
        </p:txBody>
      </p:sp>
      <p:graphicFrame>
        <p:nvGraphicFramePr>
          <p:cNvPr id="5" name="Table 4">
            <a:extLst>
              <a:ext uri="{FF2B5EF4-FFF2-40B4-BE49-F238E27FC236}">
                <a16:creationId xmlns:a16="http://schemas.microsoft.com/office/drawing/2014/main" id="{DF9657A8-0D79-E446-EDD6-89422F7033F3}"/>
              </a:ext>
            </a:extLst>
          </p:cNvPr>
          <p:cNvGraphicFramePr>
            <a:graphicFrameLocks noGrp="1"/>
          </p:cNvGraphicFramePr>
          <p:nvPr>
            <p:extLst>
              <p:ext uri="{D42A27DB-BD31-4B8C-83A1-F6EECF244321}">
                <p14:modId xmlns:p14="http://schemas.microsoft.com/office/powerpoint/2010/main" val="357664485"/>
              </p:ext>
            </p:extLst>
          </p:nvPr>
        </p:nvGraphicFramePr>
        <p:xfrm>
          <a:off x="590310" y="1384685"/>
          <a:ext cx="10995948" cy="4363720"/>
        </p:xfrm>
        <a:graphic>
          <a:graphicData uri="http://schemas.openxmlformats.org/drawingml/2006/table">
            <a:tbl>
              <a:tblPr firstRow="1" bandRow="1">
                <a:tableStyleId>{5C22544A-7EE6-4342-B048-85BDC9FD1C3A}</a:tableStyleId>
              </a:tblPr>
              <a:tblGrid>
                <a:gridCol w="5683448">
                  <a:extLst>
                    <a:ext uri="{9D8B030D-6E8A-4147-A177-3AD203B41FA5}">
                      <a16:colId xmlns:a16="http://schemas.microsoft.com/office/drawing/2014/main" val="1395977102"/>
                    </a:ext>
                  </a:extLst>
                </a:gridCol>
                <a:gridCol w="2656250">
                  <a:extLst>
                    <a:ext uri="{9D8B030D-6E8A-4147-A177-3AD203B41FA5}">
                      <a16:colId xmlns:a16="http://schemas.microsoft.com/office/drawing/2014/main" val="3085963395"/>
                    </a:ext>
                  </a:extLst>
                </a:gridCol>
                <a:gridCol w="2656250">
                  <a:extLst>
                    <a:ext uri="{9D8B030D-6E8A-4147-A177-3AD203B41FA5}">
                      <a16:colId xmlns:a16="http://schemas.microsoft.com/office/drawing/2014/main" val="3003235138"/>
                    </a:ext>
                  </a:extLst>
                </a:gridCol>
              </a:tblGrid>
              <a:tr h="370840">
                <a:tc>
                  <a:txBody>
                    <a:bodyPr/>
                    <a:lstStyle/>
                    <a:p>
                      <a:r>
                        <a:rPr lang="en-US" dirty="0"/>
                        <a:t>Setting</a:t>
                      </a:r>
                    </a:p>
                  </a:txBody>
                  <a:tcPr/>
                </a:tc>
                <a:tc>
                  <a:txBody>
                    <a:bodyPr/>
                    <a:lstStyle/>
                    <a:p>
                      <a:r>
                        <a:rPr lang="en-US" dirty="0"/>
                        <a:t>Question</a:t>
                      </a:r>
                    </a:p>
                  </a:txBody>
                  <a:tcPr/>
                </a:tc>
                <a:tc>
                  <a:txBody>
                    <a:bodyPr/>
                    <a:lstStyle/>
                    <a:p>
                      <a:r>
                        <a:rPr lang="en-US" dirty="0"/>
                        <a:t>Biometric Instance</a:t>
                      </a:r>
                    </a:p>
                  </a:txBody>
                  <a:tcPr/>
                </a:tc>
                <a:extLst>
                  <a:ext uri="{0D108BD9-81ED-4DB2-BD59-A6C34878D82A}">
                    <a16:rowId xmlns:a16="http://schemas.microsoft.com/office/drawing/2014/main" val="1399252727"/>
                  </a:ext>
                </a:extLst>
              </a:tr>
              <a:tr h="370840">
                <a:tc>
                  <a:txBody>
                    <a:bodyPr/>
                    <a:lstStyle/>
                    <a:p>
                      <a:r>
                        <a:rPr lang="en-US" sz="1400" dirty="0"/>
                        <a:t>Closed-set Identification</a:t>
                      </a:r>
                    </a:p>
                  </a:txBody>
                  <a:tcPr/>
                </a:tc>
                <a:tc>
                  <a:txBody>
                    <a:bodyPr/>
                    <a:lstStyle/>
                    <a:p>
                      <a:r>
                        <a:rPr lang="en-US" sz="1400" i="1" dirty="0"/>
                        <a:t>Which of the N enrolled identities is the sample?</a:t>
                      </a:r>
                    </a:p>
                  </a:txBody>
                  <a:tcPr/>
                </a:tc>
                <a:tc>
                  <a:txBody>
                    <a:bodyPr/>
                    <a:lstStyle/>
                    <a:p>
                      <a:r>
                        <a:rPr lang="en-US" sz="1400" dirty="0"/>
                        <a:t>1:N matching</a:t>
                      </a:r>
                    </a:p>
                  </a:txBody>
                  <a:tcPr/>
                </a:tc>
                <a:extLst>
                  <a:ext uri="{0D108BD9-81ED-4DB2-BD59-A6C34878D82A}">
                    <a16:rowId xmlns:a16="http://schemas.microsoft.com/office/drawing/2014/main" val="1072739231"/>
                  </a:ext>
                </a:extLst>
              </a:tr>
              <a:tr h="370840">
                <a:tc>
                  <a:txBody>
                    <a:bodyPr/>
                    <a:lstStyle/>
                    <a:p>
                      <a:r>
                        <a:rPr lang="en-US" sz="1400" b="1" dirty="0"/>
                        <a:t>Open-set Recognition</a:t>
                      </a:r>
                    </a:p>
                  </a:txBody>
                  <a:tcPr/>
                </a:tc>
                <a:tc>
                  <a:txBody>
                    <a:bodyPr/>
                    <a:lstStyle/>
                    <a:p>
                      <a:r>
                        <a:rPr lang="en-US" sz="1400" i="1" dirty="0"/>
                        <a:t>Does the sample have mate in the gallery above threshold? If so, what is the mated identity?</a:t>
                      </a:r>
                    </a:p>
                  </a:txBody>
                  <a:tcPr/>
                </a:tc>
                <a:tc>
                  <a:txBody>
                    <a:bodyPr/>
                    <a:lstStyle/>
                    <a:p>
                      <a:r>
                        <a:rPr lang="en-US" sz="1400" dirty="0"/>
                        <a:t>Watch list retrieval (hits)</a:t>
                      </a:r>
                    </a:p>
                  </a:txBody>
                  <a:tcPr/>
                </a:tc>
                <a:extLst>
                  <a:ext uri="{0D108BD9-81ED-4DB2-BD59-A6C34878D82A}">
                    <a16:rowId xmlns:a16="http://schemas.microsoft.com/office/drawing/2014/main" val="3733472591"/>
                  </a:ext>
                </a:extLst>
              </a:tr>
              <a:tr h="370840">
                <a:tc>
                  <a:txBody>
                    <a:bodyPr/>
                    <a:lstStyle/>
                    <a:p>
                      <a:r>
                        <a:rPr lang="en-US" sz="1400" b="1" dirty="0"/>
                        <a:t>Zero-shot Learning</a:t>
                      </a:r>
                    </a:p>
                  </a:txBody>
                  <a:tcPr/>
                </a:tc>
                <a:tc>
                  <a:txBody>
                    <a:bodyPr/>
                    <a:lstStyle/>
                    <a:p>
                      <a:r>
                        <a:rPr lang="en-US" sz="1400" dirty="0"/>
                        <a:t>Can the system recognize an identity or class that was unseen during training, using learned representations and potentially semantic side information?</a:t>
                      </a:r>
                    </a:p>
                  </a:txBody>
                  <a:tcPr/>
                </a:tc>
                <a:tc>
                  <a:txBody>
                    <a:bodyPr/>
                    <a:lstStyle/>
                    <a:p>
                      <a:r>
                        <a:rPr lang="en-US" sz="1400" dirty="0"/>
                        <a:t>A biometric model trained on other identities receives a probe of a newly encountered person;</a:t>
                      </a:r>
                    </a:p>
                    <a:p>
                      <a:r>
                        <a:rPr lang="en-US" sz="1400" dirty="0"/>
                        <a:t>Soft-biometrics and attribute retrieval (stricter)</a:t>
                      </a:r>
                    </a:p>
                  </a:txBody>
                  <a:tcPr/>
                </a:tc>
                <a:extLst>
                  <a:ext uri="{0D108BD9-81ED-4DB2-BD59-A6C34878D82A}">
                    <a16:rowId xmlns:a16="http://schemas.microsoft.com/office/drawing/2014/main" val="2408931789"/>
                  </a:ext>
                </a:extLst>
              </a:tr>
              <a:tr h="370840">
                <a:tc>
                  <a:txBody>
                    <a:bodyPr/>
                    <a:lstStyle/>
                    <a:p>
                      <a:r>
                        <a:rPr lang="en-US" sz="1400" dirty="0"/>
                        <a:t>Open Vocabulary</a:t>
                      </a:r>
                    </a:p>
                  </a:txBody>
                  <a:tcPr/>
                </a:tc>
                <a:tc>
                  <a:txBody>
                    <a:bodyPr/>
                    <a:lstStyle/>
                    <a:p>
                      <a:r>
                        <a:rPr lang="en-US" sz="1400" dirty="0"/>
                        <a:t>Can the system recognize or retrieve biometric instances using flexible identity descriptions, labels, or concepts not restricted to a fixed, predefined vocabulary?</a:t>
                      </a:r>
                    </a:p>
                  </a:txBody>
                  <a:tcPr/>
                </a:tc>
                <a:tc>
                  <a:txBody>
                    <a:bodyPr/>
                    <a:lstStyle/>
                    <a:p>
                      <a:r>
                        <a:rPr lang="en-US" sz="1400" dirty="0"/>
                        <a:t>A person-search system receives a text query such as “the person wearing a red jacket and carrying a backpack” and retrieves matching person images from a gallery.</a:t>
                      </a:r>
                    </a:p>
                  </a:txBody>
                  <a:tcPr/>
                </a:tc>
                <a:extLst>
                  <a:ext uri="{0D108BD9-81ED-4DB2-BD59-A6C34878D82A}">
                    <a16:rowId xmlns:a16="http://schemas.microsoft.com/office/drawing/2014/main" val="1220449639"/>
                  </a:ext>
                </a:extLst>
              </a:tr>
            </a:tbl>
          </a:graphicData>
        </a:graphic>
      </p:graphicFrame>
    </p:spTree>
    <p:extLst>
      <p:ext uri="{BB962C8B-B14F-4D97-AF65-F5344CB8AC3E}">
        <p14:creationId xmlns:p14="http://schemas.microsoft.com/office/powerpoint/2010/main" val="460258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1F57E-25AB-AEE7-0BAB-3BCE6086EEC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159D460-C1D9-56FA-89B9-80D66F4E2634}"/>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Problem Terminology &amp; Definitions</a:t>
            </a:r>
          </a:p>
        </p:txBody>
      </p:sp>
      <p:sp>
        <p:nvSpPr>
          <p:cNvPr id="3" name="Slide Number Placeholder 2">
            <a:extLst>
              <a:ext uri="{FF2B5EF4-FFF2-40B4-BE49-F238E27FC236}">
                <a16:creationId xmlns:a16="http://schemas.microsoft.com/office/drawing/2014/main" id="{A19FED22-FDD9-79D1-058F-CDD8B14ED2AE}"/>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6</a:t>
            </a:fld>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C7A3BDE4-1182-908B-F59E-684776F79C1F}"/>
                  </a:ext>
                </a:extLst>
              </p:cNvPr>
              <p:cNvSpPr txBox="1"/>
              <p:nvPr/>
            </p:nvSpPr>
            <p:spPr>
              <a:xfrm>
                <a:off x="443345" y="1537855"/>
                <a:ext cx="11142913" cy="4893647"/>
              </a:xfrm>
              <a:prstGeom prst="rect">
                <a:avLst/>
              </a:prstGeom>
              <a:noFill/>
            </p:spPr>
            <p:txBody>
              <a:bodyPr wrap="square" rtlCol="0">
                <a:spAutoFit/>
              </a:bodyPr>
              <a:lstStyle/>
              <a:p>
                <a:pPr marL="342900" lvl="0" indent="-342900">
                  <a:buFont typeface="Wingdings" pitchFamily="2" charset="2"/>
                  <a:buChar char="§"/>
                </a:pPr>
                <a:r>
                  <a:rPr lang="en-US" sz="2400" i="1" dirty="0"/>
                  <a:t>N </a:t>
                </a:r>
                <a:r>
                  <a:rPr lang="en-US" sz="2400" dirty="0"/>
                  <a:t>is huge and grows after deployment (enrollment is dynamic).</a:t>
                </a:r>
              </a:p>
              <a:p>
                <a:pPr marL="342900" lvl="0" indent="-342900">
                  <a:buFont typeface="Wingdings" pitchFamily="2" charset="2"/>
                  <a:buChar char="§"/>
                </a:pPr>
                <a:r>
                  <a:rPr lang="en-US" sz="2400" dirty="0"/>
                  <a:t>The population of "unknowns" is </a:t>
                </a:r>
                <a:r>
                  <a:rPr lang="en-US" sz="2400" i="1" dirty="0"/>
                  <a:t>unbounded and </a:t>
                </a:r>
                <a:r>
                  <a:rPr lang="en-US" sz="2400" i="1" dirty="0" err="1"/>
                  <a:t>adversarially</a:t>
                </a:r>
                <a:r>
                  <a:rPr lang="en-US" sz="2400" i="1" dirty="0"/>
                  <a:t> selected</a:t>
                </a:r>
                <a:r>
                  <a:rPr lang="en-US" sz="2400" dirty="0"/>
                  <a:t> in security settings.</a:t>
                </a:r>
              </a:p>
              <a:p>
                <a:pPr marL="342900" lvl="0" indent="-342900">
                  <a:buFont typeface="Wingdings" pitchFamily="2" charset="2"/>
                  <a:buChar char="§"/>
                </a:pPr>
                <a:r>
                  <a:rPr lang="en-US" sz="2400" dirty="0"/>
                  <a:t>The cost asymmetry is extreme: a false identification on a watchlist and a missed detection carry different operational costs, and neither is captured by accuracy. </a:t>
                </a:r>
              </a:p>
              <a:p>
                <a:pPr marL="342900" lvl="0" indent="-342900">
                  <a:buFont typeface="Wingdings" pitchFamily="2" charset="2"/>
                  <a:buChar char="§"/>
                </a:pPr>
                <a:r>
                  <a:rPr lang="en-US" sz="2400" dirty="0"/>
                  <a:t>The "unknown" class is not a class at all.</a:t>
                </a:r>
                <a:br>
                  <a:rPr lang="en-US" sz="2400" dirty="0"/>
                </a:br>
                <a:r>
                  <a:rPr lang="en-US" sz="2400" b="1" dirty="0"/>
                  <a:t>Set of “unknown” classes</a:t>
                </a:r>
                <a:r>
                  <a:rPr lang="en-US" sz="2400" dirty="0"/>
                  <a:t> </a:t>
                </a:r>
              </a:p>
              <a:p>
                <a:pPr lvl="0"/>
                <a14:m>
                  <m:oMathPara xmlns:m="http://schemas.openxmlformats.org/officeDocument/2006/math">
                    <m:oMath>
                      <m:r>
                        <a:rPr lang="en-US" sz="2400" i="1" dirty="0" smtClean="0">
                          <a:latin typeface="Cambria Math" panose="02040503050406030204" pitchFamily="18" charset="0"/>
                        </a:rPr>
                        <m:t>𝒰</m:t>
                      </m:r>
                      <m:r>
                        <a:rPr lang="en-US" sz="2400" b="0" i="1" dirty="0" smtClean="0">
                          <a:latin typeface="Cambria Math" panose="02040503050406030204" pitchFamily="18" charset="0"/>
                        </a:rPr>
                        <m:t> </m:t>
                      </m:r>
                      <m:r>
                        <a:rPr lang="en-US" sz="2400" i="1" dirty="0">
                          <a:latin typeface="Cambria Math" panose="02040503050406030204" pitchFamily="18" charset="0"/>
                        </a:rPr>
                        <m:t> =</m:t>
                      </m:r>
                      <m:r>
                        <a:rPr lang="en-US" sz="2400" b="0" i="1" dirty="0" smtClean="0">
                          <a:latin typeface="Cambria Math" panose="02040503050406030204" pitchFamily="18" charset="0"/>
                        </a:rPr>
                        <m:t>𝒫</m:t>
                      </m:r>
                      <m:r>
                        <a:rPr lang="en-US" sz="2400" i="1" dirty="0" smtClean="0">
                          <a:latin typeface="Cambria Math" panose="02040503050406030204" pitchFamily="18" charset="0"/>
                        </a:rPr>
                        <m:t>∖</m:t>
                      </m:r>
                      <m:r>
                        <a:rPr lang="en-US" sz="2400" b="0" i="1" dirty="0" smtClean="0">
                          <a:latin typeface="Cambria Math" panose="02040503050406030204" pitchFamily="18" charset="0"/>
                        </a:rPr>
                        <m:t>𝒢</m:t>
                      </m:r>
                      <m:r>
                        <a:rPr lang="en-US" sz="2400" b="0" i="1" dirty="0" smtClean="0">
                          <a:latin typeface="Cambria Math" panose="02040503050406030204" pitchFamily="18" charset="0"/>
                        </a:rPr>
                        <m:t> </m:t>
                      </m:r>
                    </m:oMath>
                  </m:oMathPara>
                </a14:m>
                <a:endParaRPr lang="en-US" sz="2400" b="0" dirty="0"/>
              </a:p>
              <a:p>
                <a:pPr lvl="0"/>
                <a:r>
                  <a:rPr lang="en-US" sz="2400" dirty="0"/>
                  <a:t>      is the complement of a gallery that is itself editable after deployment. </a:t>
                </a:r>
              </a:p>
              <a:p>
                <a:pPr lvl="0"/>
                <a:endParaRPr lang="en-US" sz="2400" dirty="0"/>
              </a:p>
              <a:p>
                <a:pPr lvl="0"/>
                <a:endParaRPr lang="en-US" sz="2400" dirty="0"/>
              </a:p>
              <a:p>
                <a:pPr marL="342900" lvl="0" indent="-342900">
                  <a:buFont typeface="Wingdings" pitchFamily="2" charset="2"/>
                  <a:buChar char="Ø"/>
                </a:pPr>
                <a:r>
                  <a:rPr lang="en-US" sz="2400" dirty="0">
                    <a:solidFill>
                      <a:srgbClr val="0070C0"/>
                    </a:solidFill>
                  </a:rPr>
                  <a:t>You cannot train a classifier head for it, and you cannot even fix its cardinality.</a:t>
                </a:r>
              </a:p>
              <a:p>
                <a:pPr marL="342900" indent="-342900">
                  <a:buFont typeface="Wingdings" pitchFamily="2" charset="2"/>
                  <a:buChar char="§"/>
                </a:pPr>
                <a:endParaRPr lang="en-US" sz="2400" dirty="0"/>
              </a:p>
            </p:txBody>
          </p:sp>
        </mc:Choice>
        <mc:Fallback>
          <p:sp>
            <p:nvSpPr>
              <p:cNvPr id="2" name="TextBox 1">
                <a:extLst>
                  <a:ext uri="{FF2B5EF4-FFF2-40B4-BE49-F238E27FC236}">
                    <a16:creationId xmlns:a16="http://schemas.microsoft.com/office/drawing/2014/main" id="{C7A3BDE4-1182-908B-F59E-684776F79C1F}"/>
                  </a:ext>
                </a:extLst>
              </p:cNvPr>
              <p:cNvSpPr txBox="1">
                <a:spLocks noRot="1" noChangeAspect="1" noMove="1" noResize="1" noEditPoints="1" noAdjustHandles="1" noChangeArrowheads="1" noChangeShapeType="1" noTextEdit="1"/>
              </p:cNvSpPr>
              <p:nvPr/>
            </p:nvSpPr>
            <p:spPr>
              <a:xfrm>
                <a:off x="443345" y="1537855"/>
                <a:ext cx="11142913" cy="4893647"/>
              </a:xfrm>
              <a:prstGeom prst="rect">
                <a:avLst/>
              </a:prstGeom>
              <a:blipFill>
                <a:blip r:embed="rId3"/>
                <a:stretch>
                  <a:fillRect l="-797" t="-775" r="-797"/>
                </a:stretch>
              </a:blipFill>
            </p:spPr>
            <p:txBody>
              <a:bodyPr/>
              <a:lstStyle/>
              <a:p>
                <a:r>
                  <a:rPr lang="en-US">
                    <a:noFill/>
                  </a:rPr>
                  <a:t> </a:t>
                </a:r>
              </a:p>
            </p:txBody>
          </p:sp>
        </mc:Fallback>
      </mc:AlternateContent>
    </p:spTree>
    <p:extLst>
      <p:ext uri="{BB962C8B-B14F-4D97-AF65-F5344CB8AC3E}">
        <p14:creationId xmlns:p14="http://schemas.microsoft.com/office/powerpoint/2010/main" val="382861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5B336-D69F-448F-231F-2AD8D0B89388}"/>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40638094-4E06-2B72-E76D-3062DBFB9C5B}"/>
              </a:ext>
            </a:extLst>
          </p:cNvPr>
          <p:cNvSpPr/>
          <p:nvPr/>
        </p:nvSpPr>
        <p:spPr>
          <a:xfrm>
            <a:off x="1481166" y="1726644"/>
            <a:ext cx="8811491" cy="1738745"/>
          </a:xfrm>
          <a:prstGeom prst="roundRect">
            <a:avLst/>
          </a:prstGeom>
          <a:solidFill>
            <a:schemeClr val="bg1">
              <a:lumMod val="85000"/>
            </a:schemeClr>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E56ADBD-E551-6C20-F8BF-D133E40F97C6}"/>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Open-Set Recognition</a:t>
            </a:r>
          </a:p>
        </p:txBody>
      </p:sp>
      <p:sp>
        <p:nvSpPr>
          <p:cNvPr id="3" name="Slide Number Placeholder 2">
            <a:extLst>
              <a:ext uri="{FF2B5EF4-FFF2-40B4-BE49-F238E27FC236}">
                <a16:creationId xmlns:a16="http://schemas.microsoft.com/office/drawing/2014/main" id="{DD81BD09-A5A2-D3C4-CE63-E1457FDFBDB5}"/>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7</a:t>
            </a:fld>
            <a:endParaRPr lang="en-US"/>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C8F33F7-C616-95DD-9D9E-3C1E7D6EBEDC}"/>
                  </a:ext>
                </a:extLst>
              </p:cNvPr>
              <p:cNvSpPr txBox="1"/>
              <p:nvPr/>
            </p:nvSpPr>
            <p:spPr>
              <a:xfrm>
                <a:off x="1791624" y="2006465"/>
                <a:ext cx="8190576" cy="1179105"/>
              </a:xfrm>
              <a:prstGeom prst="rect">
                <a:avLst/>
              </a:prstGeom>
              <a:noFill/>
            </p:spPr>
            <p:txBody>
              <a:bodyPr wrap="none" lIns="0" tIns="0" rIns="0" bIns="0" rtlCol="0">
                <a:spAutoFit/>
              </a:bodyPr>
              <a:lstStyle/>
              <a:p>
                <a14:m>
                  <m:oMathPara xmlns:m="http://schemas.openxmlformats.org/officeDocument/2006/math">
                    <m:oMath>
                      <m:r>
                        <a:rPr lang="en-US" sz="2400" b="0" i="1" smtClean="0">
                          <a:latin typeface="Cambria Math" panose="02040503050406030204" pitchFamily="18" charset="0"/>
                        </a:rPr>
                        <m:t>𝑑𝑒𝑐𝑖𝑑𝑒</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𝑞</m:t>
                              </m:r>
                            </m:sub>
                          </m:sSub>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func>
                                  <m:funcPr>
                                    <m:ctrlPr>
                                      <a:rPr lang="en-US" sz="2400" i="1" dirty="0">
                                        <a:latin typeface="Cambria Math" panose="02040503050406030204" pitchFamily="18" charset="0"/>
                                      </a:rPr>
                                    </m:ctrlPr>
                                  </m:funcPr>
                                  <m:fName>
                                    <m:r>
                                      <a:rPr lang="en-US" sz="2400" i="1" dirty="0">
                                        <a:latin typeface="Cambria Math" panose="02040503050406030204" pitchFamily="18" charset="0"/>
                                      </a:rPr>
                                      <m:t> </m:t>
                                    </m:r>
                                    <m:r>
                                      <m:rPr>
                                        <m:sty m:val="p"/>
                                      </m:rPr>
                                      <a:rPr lang="en-US" sz="2400" dirty="0">
                                        <a:latin typeface="Cambria Math" panose="02040503050406030204" pitchFamily="18" charset="0"/>
                                      </a:rPr>
                                      <m:t>arg</m:t>
                                    </m:r>
                                    <m:limLow>
                                      <m:limLowPr>
                                        <m:ctrlPr>
                                          <a:rPr lang="en-US" sz="2400" dirty="0">
                                            <a:latin typeface="Cambria Math" panose="02040503050406030204" pitchFamily="18" charset="0"/>
                                          </a:rPr>
                                        </m:ctrlPr>
                                      </m:limLowPr>
                                      <m:e>
                                        <m:r>
                                          <m:rPr>
                                            <m:sty m:val="p"/>
                                          </m:rPr>
                                          <a:rPr lang="en-US" sz="2400" dirty="0">
                                            <a:latin typeface="Cambria Math" panose="02040503050406030204" pitchFamily="18" charset="0"/>
                                          </a:rPr>
                                          <m:t>max</m:t>
                                        </m:r>
                                      </m:e>
                                      <m:lim>
                                        <m:r>
                                          <m:rPr>
                                            <m:sty m:val="p"/>
                                          </m:rPr>
                                          <a:rPr lang="en-US" sz="2400" dirty="0">
                                            <a:latin typeface="Cambria Math" panose="02040503050406030204" pitchFamily="18" charset="0"/>
                                          </a:rPr>
                                          <m:t>c</m:t>
                                        </m:r>
                                        <m:r>
                                          <a:rPr lang="en-US" sz="2400" i="1" dirty="0">
                                            <a:latin typeface="Cambria Math" panose="02040503050406030204" pitchFamily="18" charset="0"/>
                                          </a:rPr>
                                          <m:t>∈</m:t>
                                        </m:r>
                                        <m:d>
                                          <m:dPr>
                                            <m:begChr m:val="{"/>
                                            <m:endChr m:val="}"/>
                                            <m:ctrlPr>
                                              <a:rPr lang="en-US" sz="2400" i="1" dirty="0">
                                                <a:latin typeface="Cambria Math" panose="02040503050406030204" pitchFamily="18" charset="0"/>
                                              </a:rPr>
                                            </m:ctrlPr>
                                          </m:dPr>
                                          <m:e>
                                            <m:r>
                                              <a:rPr lang="en-US" sz="2400" i="1" dirty="0">
                                                <a:latin typeface="Cambria Math" panose="02040503050406030204" pitchFamily="18" charset="0"/>
                                              </a:rPr>
                                              <m:t>1, …, </m:t>
                                            </m:r>
                                            <m:r>
                                              <a:rPr lang="en-US" sz="2400" i="1" dirty="0">
                                                <a:latin typeface="Cambria Math" panose="02040503050406030204" pitchFamily="18" charset="0"/>
                                              </a:rPr>
                                              <m:t>𝐶</m:t>
                                            </m:r>
                                          </m:e>
                                        </m:d>
                                      </m:lim>
                                    </m:limLow>
                                  </m:fName>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𝑠</m:t>
                                        </m:r>
                                      </m:e>
                                      <m:sub>
                                        <m:r>
                                          <a:rPr lang="en-US" sz="2400" i="1" dirty="0">
                                            <a:latin typeface="Cambria Math" panose="02040503050406030204" pitchFamily="18" charset="0"/>
                                          </a:rPr>
                                          <m:t>𝑐</m:t>
                                        </m:r>
                                      </m:sub>
                                    </m:sSub>
                                    <m:d>
                                      <m:dPr>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𝑥</m:t>
                                            </m:r>
                                          </m:e>
                                          <m:sub>
                                            <m:r>
                                              <a:rPr lang="en-US" sz="2400" i="1" dirty="0">
                                                <a:latin typeface="Cambria Math" panose="02040503050406030204" pitchFamily="18" charset="0"/>
                                              </a:rPr>
                                              <m:t>𝑞</m:t>
                                            </m:r>
                                          </m:sub>
                                        </m:sSub>
                                      </m:e>
                                    </m:d>
                                  </m:e>
                                </m:func>
                                <m:r>
                                  <a:rPr lang="en-US" sz="2400" b="0" i="1" dirty="0" smtClean="0">
                                    <a:latin typeface="Cambria Math" panose="02040503050406030204" pitchFamily="18" charset="0"/>
                                  </a:rPr>
                                  <m:t>,</m:t>
                                </m:r>
                              </m:e>
                              <m:e>
                                <m:r>
                                  <a:rPr lang="en-US" sz="2400" b="0" i="1" smtClean="0">
                                    <a:latin typeface="Cambria Math" panose="02040503050406030204" pitchFamily="18" charset="0"/>
                                  </a:rPr>
                                  <m:t>𝑖𝑓</m:t>
                                </m:r>
                                <m:func>
                                  <m:funcPr>
                                    <m:ctrlPr>
                                      <a:rPr lang="en-US" sz="2400" i="1" dirty="0">
                                        <a:latin typeface="Cambria Math" panose="02040503050406030204" pitchFamily="18" charset="0"/>
                                      </a:rPr>
                                    </m:ctrlPr>
                                  </m:funcPr>
                                  <m:fName>
                                    <m:r>
                                      <a:rPr lang="en-US" sz="2400" i="1" dirty="0">
                                        <a:latin typeface="Cambria Math" panose="02040503050406030204" pitchFamily="18" charset="0"/>
                                      </a:rPr>
                                      <m:t> </m:t>
                                    </m:r>
                                    <m:limLow>
                                      <m:limLowPr>
                                        <m:ctrlPr>
                                          <a:rPr lang="en-US" sz="2400" dirty="0">
                                            <a:latin typeface="Cambria Math" panose="02040503050406030204" pitchFamily="18" charset="0"/>
                                          </a:rPr>
                                        </m:ctrlPr>
                                      </m:limLowPr>
                                      <m:e>
                                        <m:r>
                                          <m:rPr>
                                            <m:sty m:val="p"/>
                                          </m:rPr>
                                          <a:rPr lang="en-US" sz="2400" dirty="0">
                                            <a:latin typeface="Cambria Math" panose="02040503050406030204" pitchFamily="18" charset="0"/>
                                          </a:rPr>
                                          <m:t>max</m:t>
                                        </m:r>
                                      </m:e>
                                      <m:lim>
                                        <m:r>
                                          <m:rPr>
                                            <m:sty m:val="p"/>
                                          </m:rPr>
                                          <a:rPr lang="en-US" sz="2400" dirty="0">
                                            <a:latin typeface="Cambria Math" panose="02040503050406030204" pitchFamily="18" charset="0"/>
                                          </a:rPr>
                                          <m:t>c</m:t>
                                        </m:r>
                                        <m:r>
                                          <a:rPr lang="en-US" sz="2400" i="1" dirty="0">
                                            <a:latin typeface="Cambria Math" panose="02040503050406030204" pitchFamily="18" charset="0"/>
                                          </a:rPr>
                                          <m:t>∈</m:t>
                                        </m:r>
                                        <m:d>
                                          <m:dPr>
                                            <m:begChr m:val="{"/>
                                            <m:endChr m:val="}"/>
                                            <m:ctrlPr>
                                              <a:rPr lang="en-US" sz="2400" i="1" dirty="0">
                                                <a:latin typeface="Cambria Math" panose="02040503050406030204" pitchFamily="18" charset="0"/>
                                              </a:rPr>
                                            </m:ctrlPr>
                                          </m:dPr>
                                          <m:e>
                                            <m:r>
                                              <a:rPr lang="en-US" sz="2400" i="1" dirty="0">
                                                <a:latin typeface="Cambria Math" panose="02040503050406030204" pitchFamily="18" charset="0"/>
                                              </a:rPr>
                                              <m:t>1, …, </m:t>
                                            </m:r>
                                            <m:r>
                                              <a:rPr lang="en-US" sz="2400" i="1" dirty="0">
                                                <a:latin typeface="Cambria Math" panose="02040503050406030204" pitchFamily="18" charset="0"/>
                                              </a:rPr>
                                              <m:t>𝐶</m:t>
                                            </m:r>
                                          </m:e>
                                        </m:d>
                                      </m:lim>
                                    </m:limLow>
                                  </m:fName>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𝑠</m:t>
                                        </m:r>
                                      </m:e>
                                      <m:sub>
                                        <m:r>
                                          <a:rPr lang="en-US" sz="2400" i="1" dirty="0">
                                            <a:latin typeface="Cambria Math" panose="02040503050406030204" pitchFamily="18" charset="0"/>
                                          </a:rPr>
                                          <m:t>𝑐</m:t>
                                        </m:r>
                                      </m:sub>
                                    </m:sSub>
                                    <m:d>
                                      <m:dPr>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𝑥</m:t>
                                            </m:r>
                                          </m:e>
                                          <m:sub>
                                            <m:r>
                                              <a:rPr lang="en-US" sz="2400" i="1" dirty="0">
                                                <a:latin typeface="Cambria Math" panose="02040503050406030204" pitchFamily="18" charset="0"/>
                                              </a:rPr>
                                              <m:t>𝑞</m:t>
                                            </m:r>
                                          </m:sub>
                                        </m:sSub>
                                      </m:e>
                                    </m:d>
                                  </m:e>
                                </m:func>
                                <m:r>
                                  <a:rPr lang="en-US" sz="2400" b="0" i="1" dirty="0" smtClean="0">
                                    <a:latin typeface="Cambria Math" panose="02040503050406030204" pitchFamily="18" charset="0"/>
                                  </a:rPr>
                                  <m:t>&gt;</m:t>
                                </m:r>
                                <m:r>
                                  <a:rPr lang="en-US" sz="2400" b="0" i="1" dirty="0" smtClean="0">
                                    <a:latin typeface="Cambria Math" panose="02040503050406030204" pitchFamily="18" charset="0"/>
                                  </a:rPr>
                                  <m:t>𝜏</m:t>
                                </m:r>
                              </m:e>
                            </m:mr>
                            <m:mr>
                              <m:e>
                                <m:r>
                                  <a:rPr lang="en-US" sz="2400" b="0" i="1" smtClean="0">
                                    <a:latin typeface="Cambria Math" panose="02040503050406030204" pitchFamily="18" charset="0"/>
                                  </a:rPr>
                                  <m:t>𝑟𝑒𝑗𝑒𝑐𝑡</m:t>
                                </m:r>
                                <m:r>
                                  <a:rPr lang="en-US" sz="2400" b="0" i="1" smtClean="0">
                                    <a:latin typeface="Cambria Math" panose="02040503050406030204" pitchFamily="18" charset="0"/>
                                  </a:rPr>
                                  <m:t> </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𝑛𝑜𝑡</m:t>
                                    </m:r>
                                    <m:r>
                                      <a:rPr lang="en-US" sz="2400" b="0" i="1" smtClean="0">
                                        <a:latin typeface="Cambria Math" panose="02040503050406030204" pitchFamily="18" charset="0"/>
                                      </a:rPr>
                                      <m:t> </m:t>
                                    </m:r>
                                    <m:r>
                                      <a:rPr lang="en-US" sz="2400" b="0" i="1" smtClean="0">
                                        <a:latin typeface="Cambria Math" panose="02040503050406030204" pitchFamily="18" charset="0"/>
                                      </a:rPr>
                                      <m:t>𝑒𝑛𝑟𝑜𝑙𝑙𝑒𝑑</m:t>
                                    </m:r>
                                  </m:e>
                                </m:d>
                                <m:r>
                                  <a:rPr lang="en-US" sz="2400" b="0" i="1" smtClean="0">
                                    <a:latin typeface="Cambria Math" panose="02040503050406030204" pitchFamily="18" charset="0"/>
                                  </a:rPr>
                                  <m:t>,</m:t>
                                </m:r>
                              </m:e>
                              <m:e>
                                <m:r>
                                  <a:rPr lang="en-US" sz="2400" b="0" i="1" smtClean="0">
                                    <a:latin typeface="Cambria Math" panose="02040503050406030204" pitchFamily="18" charset="0"/>
                                  </a:rPr>
                                  <m:t>𝑜𝑡ℎ𝑒𝑟𝑤𝑖𝑠𝑒</m:t>
                                </m:r>
                              </m:e>
                            </m:mr>
                          </m:m>
                        </m:e>
                      </m:d>
                    </m:oMath>
                  </m:oMathPara>
                </a14:m>
                <a:endParaRPr lang="en-US" sz="2400" dirty="0"/>
              </a:p>
            </p:txBody>
          </p:sp>
        </mc:Choice>
        <mc:Fallback>
          <p:sp>
            <p:nvSpPr>
              <p:cNvPr id="6" name="TextBox 5">
                <a:extLst>
                  <a:ext uri="{FF2B5EF4-FFF2-40B4-BE49-F238E27FC236}">
                    <a16:creationId xmlns:a16="http://schemas.microsoft.com/office/drawing/2014/main" id="{1C8F33F7-C616-95DD-9D9E-3C1E7D6EBEDC}"/>
                  </a:ext>
                </a:extLst>
              </p:cNvPr>
              <p:cNvSpPr txBox="1">
                <a:spLocks noRot="1" noChangeAspect="1" noMove="1" noResize="1" noEditPoints="1" noAdjustHandles="1" noChangeArrowheads="1" noChangeShapeType="1" noTextEdit="1"/>
              </p:cNvSpPr>
              <p:nvPr/>
            </p:nvSpPr>
            <p:spPr>
              <a:xfrm>
                <a:off x="1791624" y="2006465"/>
                <a:ext cx="8190576" cy="1179105"/>
              </a:xfrm>
              <a:prstGeom prst="rect">
                <a:avLst/>
              </a:prstGeom>
              <a:blipFill>
                <a:blip r:embed="rId3"/>
                <a:stretch>
                  <a:fillRect l="-3560" t="-227368" b="-32315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900EAB3-A351-67FD-B489-50E3A213D283}"/>
                  </a:ext>
                </a:extLst>
              </p:cNvPr>
              <p:cNvSpPr txBox="1"/>
              <p:nvPr/>
            </p:nvSpPr>
            <p:spPr>
              <a:xfrm>
                <a:off x="1170710" y="4276038"/>
                <a:ext cx="10415548" cy="1800493"/>
              </a:xfrm>
              <a:prstGeom prst="rect">
                <a:avLst/>
              </a:prstGeom>
              <a:noFill/>
            </p:spPr>
            <p:txBody>
              <a:bodyPr wrap="square">
                <a:spAutoFit/>
              </a:bodyPr>
              <a:lstStyle/>
              <a:p>
                <a:pPr indent="0" algn="l">
                  <a:spcAft>
                    <a:spcPts val="600"/>
                  </a:spcAft>
                  <a:buNone/>
                </a:pPr>
                <a:r>
                  <a:rPr lang="en-US" sz="2400" b="0" i="0" dirty="0">
                    <a:solidFill>
                      <a:schemeClr val="tx1"/>
                    </a:solidFill>
                    <a:effectLst/>
                    <a:latin typeface="+mn-lt"/>
                  </a:rPr>
                  <a:t>Every method reduces to three design choices:</a:t>
                </a:r>
              </a:p>
              <a:p>
                <a:pPr marL="342900" lvl="0" indent="-342900" algn="l">
                  <a:spcAft>
                    <a:spcPts val="600"/>
                  </a:spcAft>
                  <a:buFont typeface="+mj-lt"/>
                  <a:buAutoNum type="arabicPeriod"/>
                </a:pPr>
                <a:r>
                  <a:rPr lang="en-US" sz="2400" b="1" i="0" dirty="0">
                    <a:solidFill>
                      <a:schemeClr val="tx1"/>
                    </a:solidFill>
                    <a:effectLst/>
                    <a:latin typeface="+mn-lt"/>
                  </a:rPr>
                  <a:t>Where does the signal come from?</a:t>
                </a:r>
                <a:r>
                  <a:rPr lang="en-US" sz="2400" b="0" i="0" dirty="0">
                    <a:solidFill>
                      <a:schemeClr val="tx1"/>
                    </a:solidFill>
                    <a:effectLst/>
                    <a:latin typeface="+mn-lt"/>
                  </a:rPr>
                  <a:t> </a:t>
                </a:r>
              </a:p>
              <a:p>
                <a:pPr marL="342900" lvl="0" indent="-342900" algn="l">
                  <a:spcAft>
                    <a:spcPts val="600"/>
                  </a:spcAft>
                  <a:buFont typeface="+mj-lt"/>
                  <a:buAutoNum type="arabicPeriod"/>
                </a:pPr>
                <a:r>
                  <a:rPr lang="en-US" sz="2400" b="1" i="0" dirty="0">
                    <a:solidFill>
                      <a:schemeClr val="tx1"/>
                    </a:solidFill>
                    <a:effectLst/>
                    <a:latin typeface="+mn-lt"/>
                  </a:rPr>
                  <a:t>How is the match score constructed?</a:t>
                </a:r>
                <a:r>
                  <a:rPr lang="en-US" sz="2400" b="0" i="0" dirty="0">
                    <a:solidFill>
                      <a:schemeClr val="tx1"/>
                    </a:solidFill>
                    <a:effectLst/>
                    <a:latin typeface="+mn-lt"/>
                  </a:rPr>
                  <a:t> </a:t>
                </a:r>
                <a:endParaRPr lang="en-US" sz="2400" dirty="0"/>
              </a:p>
              <a:p>
                <a:pPr marL="342900" lvl="0" indent="-342900" algn="l">
                  <a:spcAft>
                    <a:spcPts val="600"/>
                  </a:spcAft>
                  <a:buFont typeface="+mj-lt"/>
                  <a:buAutoNum type="arabicPeriod"/>
                </a:pPr>
                <a:r>
                  <a:rPr lang="en-US" sz="2400" b="1" i="0" dirty="0">
                    <a:solidFill>
                      <a:schemeClr val="tx1"/>
                    </a:solidFill>
                    <a:effectLst/>
                    <a:latin typeface="+mn-lt"/>
                  </a:rPr>
                  <a:t>How is </a:t>
                </a:r>
                <a14:m>
                  <m:oMath xmlns:m="http://schemas.openxmlformats.org/officeDocument/2006/math">
                    <m:r>
                      <a:rPr lang="en-US" sz="2400" b="1" i="1" dirty="0" smtClean="0">
                        <a:solidFill>
                          <a:schemeClr val="tx1"/>
                        </a:solidFill>
                        <a:effectLst/>
                        <a:latin typeface="Cambria Math" panose="02040503050406030204" pitchFamily="18" charset="0"/>
                      </a:rPr>
                      <m:t>𝝉</m:t>
                    </m:r>
                    <m:r>
                      <a:rPr lang="en-US" sz="2400" b="1" i="1" dirty="0" smtClean="0">
                        <a:solidFill>
                          <a:schemeClr val="tx1"/>
                        </a:solidFill>
                        <a:effectLst/>
                        <a:latin typeface="Cambria Math" panose="02040503050406030204" pitchFamily="18" charset="0"/>
                      </a:rPr>
                      <m:t> </m:t>
                    </m:r>
                  </m:oMath>
                </a14:m>
                <a:r>
                  <a:rPr lang="en-US" sz="2400" b="1" i="0" dirty="0">
                    <a:solidFill>
                      <a:schemeClr val="tx1"/>
                    </a:solidFill>
                    <a:effectLst/>
                    <a:latin typeface="+mn-lt"/>
                  </a:rPr>
                  <a:t>set?</a:t>
                </a:r>
                <a:r>
                  <a:rPr lang="en-US" sz="2400" b="0" i="0" dirty="0">
                    <a:solidFill>
                      <a:schemeClr val="tx1"/>
                    </a:solidFill>
                    <a:effectLst/>
                    <a:latin typeface="+mn-lt"/>
                  </a:rPr>
                  <a:t> </a:t>
                </a:r>
                <a:endParaRPr lang="en-US" sz="2400" b="0" i="0" dirty="0">
                  <a:solidFill>
                    <a:srgbClr val="161C24"/>
                  </a:solidFill>
                  <a:effectLst/>
                  <a:latin typeface="-apple-system"/>
                </a:endParaRPr>
              </a:p>
            </p:txBody>
          </p:sp>
        </mc:Choice>
        <mc:Fallback>
          <p:sp>
            <p:nvSpPr>
              <p:cNvPr id="9" name="TextBox 8">
                <a:extLst>
                  <a:ext uri="{FF2B5EF4-FFF2-40B4-BE49-F238E27FC236}">
                    <a16:creationId xmlns:a16="http://schemas.microsoft.com/office/drawing/2014/main" id="{4900EAB3-A351-67FD-B489-50E3A213D283}"/>
                  </a:ext>
                </a:extLst>
              </p:cNvPr>
              <p:cNvSpPr txBox="1">
                <a:spLocks noRot="1" noChangeAspect="1" noMove="1" noResize="1" noEditPoints="1" noAdjustHandles="1" noChangeArrowheads="1" noChangeShapeType="1" noTextEdit="1"/>
              </p:cNvSpPr>
              <p:nvPr/>
            </p:nvSpPr>
            <p:spPr>
              <a:xfrm>
                <a:off x="1170710" y="4276038"/>
                <a:ext cx="10415548" cy="1800493"/>
              </a:xfrm>
              <a:prstGeom prst="rect">
                <a:avLst/>
              </a:prstGeom>
              <a:blipFill>
                <a:blip r:embed="rId4"/>
                <a:stretch>
                  <a:fillRect l="-974" t="-2797" b="-7692"/>
                </a:stretch>
              </a:blipFill>
            </p:spPr>
            <p:txBody>
              <a:bodyPr/>
              <a:lstStyle/>
              <a:p>
                <a:r>
                  <a:rPr lang="en-US">
                    <a:noFill/>
                  </a:rPr>
                  <a:t> </a:t>
                </a:r>
              </a:p>
            </p:txBody>
          </p:sp>
        </mc:Fallback>
      </mc:AlternateContent>
    </p:spTree>
    <p:extLst>
      <p:ext uri="{BB962C8B-B14F-4D97-AF65-F5344CB8AC3E}">
        <p14:creationId xmlns:p14="http://schemas.microsoft.com/office/powerpoint/2010/main" val="1747918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CFF1E-7F65-4B25-CCE4-932C7D07994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0D809F6-6B34-EE00-8E8F-08D29E5B602E}"/>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Evaluating Open-Set Recognition </a:t>
            </a:r>
          </a:p>
        </p:txBody>
      </p:sp>
      <p:sp>
        <p:nvSpPr>
          <p:cNvPr id="3" name="Slide Number Placeholder 2">
            <a:extLst>
              <a:ext uri="{FF2B5EF4-FFF2-40B4-BE49-F238E27FC236}">
                <a16:creationId xmlns:a16="http://schemas.microsoft.com/office/drawing/2014/main" id="{3D3616A2-5BCC-2402-DDF4-CC3DDF594A6A}"/>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8</a:t>
            </a:fld>
            <a:endParaRPr lang="en-US"/>
          </a:p>
        </p:txBody>
      </p:sp>
      <p:sp>
        <p:nvSpPr>
          <p:cNvPr id="5" name="TextBox 4">
            <a:extLst>
              <a:ext uri="{FF2B5EF4-FFF2-40B4-BE49-F238E27FC236}">
                <a16:creationId xmlns:a16="http://schemas.microsoft.com/office/drawing/2014/main" id="{CC5FD162-940C-F06E-E621-35A2D163FA8B}"/>
              </a:ext>
            </a:extLst>
          </p:cNvPr>
          <p:cNvSpPr txBox="1"/>
          <p:nvPr/>
        </p:nvSpPr>
        <p:spPr>
          <a:xfrm>
            <a:off x="284018" y="1849216"/>
            <a:ext cx="5505690" cy="3093154"/>
          </a:xfrm>
          <a:prstGeom prst="rect">
            <a:avLst/>
          </a:prstGeom>
          <a:noFill/>
        </p:spPr>
        <p:txBody>
          <a:bodyPr wrap="square">
            <a:spAutoFit/>
          </a:bodyPr>
          <a:lstStyle/>
          <a:p>
            <a:pPr indent="0" algn="l">
              <a:spcAft>
                <a:spcPts val="600"/>
              </a:spcAft>
              <a:buNone/>
            </a:pPr>
            <a:r>
              <a:rPr lang="en-US" sz="2000" b="0" i="0" dirty="0">
                <a:solidFill>
                  <a:schemeClr val="tx1"/>
                </a:solidFill>
                <a:effectLst/>
                <a:latin typeface="+mn-lt"/>
              </a:rPr>
              <a:t>An </a:t>
            </a:r>
            <a:r>
              <a:rPr lang="en-US" sz="2000" b="0" i="1" dirty="0">
                <a:solidFill>
                  <a:schemeClr val="tx1"/>
                </a:solidFill>
                <a:effectLst/>
                <a:latin typeface="+mn-lt"/>
              </a:rPr>
              <a:t>identification search</a:t>
            </a:r>
            <a:r>
              <a:rPr lang="en-US" sz="2000" b="0" i="0" dirty="0">
                <a:solidFill>
                  <a:schemeClr val="tx1"/>
                </a:solidFill>
                <a:effectLst/>
                <a:latin typeface="+mn-lt"/>
              </a:rPr>
              <a:t> submits a probe against a gallery of </a:t>
            </a:r>
            <a:r>
              <a:rPr lang="en-US" sz="2000" i="1" dirty="0"/>
              <a:t>N</a:t>
            </a:r>
            <a:r>
              <a:rPr lang="en-US" sz="2000" b="0" i="0" dirty="0">
                <a:solidFill>
                  <a:schemeClr val="tx1"/>
                </a:solidFill>
                <a:effectLst/>
                <a:latin typeface="+mn-lt"/>
              </a:rPr>
              <a:t> enrolled identities and returns a candidate list. </a:t>
            </a:r>
          </a:p>
          <a:p>
            <a:pPr indent="0" algn="l">
              <a:spcAft>
                <a:spcPts val="600"/>
              </a:spcAft>
              <a:buNone/>
            </a:pPr>
            <a:r>
              <a:rPr lang="en-US" sz="2000" b="0" i="0" dirty="0">
                <a:solidFill>
                  <a:schemeClr val="tx1"/>
                </a:solidFill>
                <a:effectLst/>
                <a:latin typeface="+mn-lt"/>
              </a:rPr>
              <a:t>Searches are of exactly two kinds:</a:t>
            </a:r>
          </a:p>
          <a:p>
            <a:pPr marL="342900" lvl="0" indent="-342900" algn="l">
              <a:spcAft>
                <a:spcPts val="600"/>
              </a:spcAft>
              <a:buFont typeface="Arial" panose="020B0604020202020204" pitchFamily="34" charset="0"/>
              <a:buChar char="•"/>
            </a:pPr>
            <a:r>
              <a:rPr lang="en-US" sz="2000" b="1" i="0" dirty="0">
                <a:solidFill>
                  <a:schemeClr val="tx1"/>
                </a:solidFill>
                <a:effectLst/>
                <a:latin typeface="+mn-lt"/>
              </a:rPr>
              <a:t>Mated search:</a:t>
            </a:r>
            <a:r>
              <a:rPr lang="en-US" sz="2000" b="0" i="0" dirty="0">
                <a:solidFill>
                  <a:schemeClr val="tx1"/>
                </a:solidFill>
                <a:effectLst/>
                <a:latin typeface="+mn-lt"/>
              </a:rPr>
              <a:t> the probe's true identity </a:t>
            </a:r>
            <a:r>
              <a:rPr lang="en-US" sz="2000" b="0" i="1" dirty="0">
                <a:solidFill>
                  <a:schemeClr val="tx1"/>
                </a:solidFill>
                <a:effectLst/>
                <a:latin typeface="+mn-lt"/>
              </a:rPr>
              <a:t>is</a:t>
            </a:r>
            <a:r>
              <a:rPr lang="en-US" sz="2000" b="0" i="0" dirty="0">
                <a:solidFill>
                  <a:schemeClr val="tx1"/>
                </a:solidFill>
                <a:effectLst/>
                <a:latin typeface="+mn-lt"/>
              </a:rPr>
              <a:t> enrolled. The correct enrolled entry is called the </a:t>
            </a:r>
            <a:r>
              <a:rPr lang="en-US" sz="2000" b="1" i="0" dirty="0">
                <a:solidFill>
                  <a:schemeClr val="tx1"/>
                </a:solidFill>
                <a:effectLst/>
                <a:latin typeface="+mn-lt"/>
              </a:rPr>
              <a:t>mate</a:t>
            </a:r>
            <a:r>
              <a:rPr lang="en-US" sz="2000" b="0" i="0" dirty="0">
                <a:solidFill>
                  <a:schemeClr val="tx1"/>
                </a:solidFill>
                <a:effectLst/>
                <a:latin typeface="+mn-lt"/>
              </a:rPr>
              <a:t>.</a:t>
            </a:r>
          </a:p>
          <a:p>
            <a:pPr marL="342900" lvl="0" indent="-342900" algn="l">
              <a:spcAft>
                <a:spcPts val="600"/>
              </a:spcAft>
              <a:buFont typeface="Arial" panose="020B0604020202020204" pitchFamily="34" charset="0"/>
              <a:buChar char="•"/>
            </a:pPr>
            <a:r>
              <a:rPr lang="en-US" sz="2000" b="1" i="0" dirty="0">
                <a:solidFill>
                  <a:schemeClr val="tx1"/>
                </a:solidFill>
                <a:effectLst/>
                <a:latin typeface="+mn-lt"/>
              </a:rPr>
              <a:t>Non-mated search:</a:t>
            </a:r>
            <a:r>
              <a:rPr lang="en-US" sz="2000" b="0" i="0" dirty="0">
                <a:solidFill>
                  <a:schemeClr val="tx1"/>
                </a:solidFill>
                <a:effectLst/>
                <a:latin typeface="+mn-lt"/>
              </a:rPr>
              <a:t> the probe's true identity is </a:t>
            </a:r>
            <a:r>
              <a:rPr lang="en-US" sz="2000" b="0" i="1" dirty="0">
                <a:solidFill>
                  <a:schemeClr val="tx1"/>
                </a:solidFill>
                <a:effectLst/>
                <a:latin typeface="+mn-lt"/>
              </a:rPr>
              <a:t>not</a:t>
            </a:r>
            <a:r>
              <a:rPr lang="en-US" sz="2000" b="0" i="0" dirty="0">
                <a:solidFill>
                  <a:schemeClr val="tx1"/>
                </a:solidFill>
                <a:effectLst/>
                <a:latin typeface="+mn-lt"/>
              </a:rPr>
              <a:t> enrolled. There is no mate to find.</a:t>
            </a:r>
            <a:endParaRPr lang="en-US" sz="2000" b="0" i="0" dirty="0">
              <a:solidFill>
                <a:srgbClr val="161C24"/>
              </a:solidFill>
              <a:effectLst/>
              <a:latin typeface="-apple-system"/>
            </a:endParaRPr>
          </a:p>
        </p:txBody>
      </p:sp>
      <p:sp>
        <p:nvSpPr>
          <p:cNvPr id="10" name="TextBox 9">
            <a:extLst>
              <a:ext uri="{FF2B5EF4-FFF2-40B4-BE49-F238E27FC236}">
                <a16:creationId xmlns:a16="http://schemas.microsoft.com/office/drawing/2014/main" id="{FD10CF23-90F0-0645-6FE3-76ADC7CC2A11}"/>
              </a:ext>
            </a:extLst>
          </p:cNvPr>
          <p:cNvSpPr txBox="1"/>
          <p:nvPr/>
        </p:nvSpPr>
        <p:spPr>
          <a:xfrm>
            <a:off x="376005" y="5048553"/>
            <a:ext cx="6096000" cy="1631216"/>
          </a:xfrm>
          <a:prstGeom prst="rect">
            <a:avLst/>
          </a:prstGeom>
          <a:noFill/>
        </p:spPr>
        <p:txBody>
          <a:bodyPr wrap="square">
            <a:spAutoFit/>
          </a:bodyPr>
          <a:lstStyle/>
          <a:p>
            <a:pPr indent="0" algn="l">
              <a:buNone/>
            </a:pPr>
            <a:r>
              <a:rPr lang="en-US" sz="2000" b="0" i="0" dirty="0">
                <a:solidFill>
                  <a:schemeClr val="tx1"/>
                </a:solidFill>
                <a:effectLst/>
                <a:latin typeface="+mn-lt"/>
              </a:rPr>
              <a:t>Three parameters govern every reported number — </a:t>
            </a:r>
            <a:r>
              <a:rPr lang="en-US" sz="2000" b="1" i="0" dirty="0">
                <a:solidFill>
                  <a:schemeClr val="tx1"/>
                </a:solidFill>
                <a:effectLst/>
                <a:latin typeface="+mn-lt"/>
              </a:rPr>
              <a:t>insist that all three are always stated</a:t>
            </a:r>
            <a:r>
              <a:rPr lang="en-US" sz="2000" b="0" i="0" dirty="0">
                <a:solidFill>
                  <a:schemeClr val="tx1"/>
                </a:solidFill>
                <a:effectLst/>
                <a:latin typeface="+mn-lt"/>
              </a:rPr>
              <a:t>:</a:t>
            </a:r>
          </a:p>
          <a:p>
            <a:pPr marL="342900" lvl="0" indent="-342900" algn="l">
              <a:buFont typeface="Arial" panose="020B0604020202020204" pitchFamily="34" charset="0"/>
              <a:buChar char="•"/>
            </a:pPr>
            <a:r>
              <a:rPr lang="en-US" sz="2000" b="0" i="1" dirty="0">
                <a:solidFill>
                  <a:schemeClr val="tx1"/>
                </a:solidFill>
                <a:effectLst/>
                <a:latin typeface="+mn-lt"/>
              </a:rPr>
              <a:t>N</a:t>
            </a:r>
            <a:r>
              <a:rPr lang="en-US" sz="2000" b="0" i="0" dirty="0">
                <a:solidFill>
                  <a:schemeClr val="tx1"/>
                </a:solidFill>
                <a:effectLst/>
                <a:latin typeface="+mn-lt"/>
              </a:rPr>
              <a:t> — gallery size</a:t>
            </a:r>
          </a:p>
          <a:p>
            <a:pPr marL="342900" lvl="0" indent="-342900" algn="l">
              <a:buFont typeface="Arial" panose="020B0604020202020204" pitchFamily="34" charset="0"/>
              <a:buChar char="•"/>
            </a:pPr>
            <a:r>
              <a:rPr lang="en-US" sz="2000" b="0" i="1" dirty="0">
                <a:solidFill>
                  <a:schemeClr val="tx1"/>
                </a:solidFill>
                <a:effectLst/>
                <a:latin typeface="+mn-lt"/>
              </a:rPr>
              <a:t>R</a:t>
            </a:r>
            <a:r>
              <a:rPr lang="en-US" sz="2000" b="0" i="0" dirty="0">
                <a:solidFill>
                  <a:schemeClr val="tx1"/>
                </a:solidFill>
                <a:effectLst/>
                <a:latin typeface="+mn-lt"/>
              </a:rPr>
              <a:t> — the rank cutoff of the candidate list examined</a:t>
            </a:r>
          </a:p>
          <a:p>
            <a:pPr marL="342900" lvl="0" indent="-342900" algn="l">
              <a:buFont typeface="Arial" panose="020B0604020202020204" pitchFamily="34" charset="0"/>
              <a:buChar char="•"/>
            </a:pPr>
            <a:r>
              <a:rPr lang="en-US" sz="2000" b="0" i="1" dirty="0">
                <a:solidFill>
                  <a:schemeClr val="tx1"/>
                </a:solidFill>
                <a:effectLst/>
                <a:latin typeface="+mn-lt"/>
              </a:rPr>
              <a:t>T</a:t>
            </a:r>
            <a:r>
              <a:rPr lang="en-US" sz="2000" b="0" i="0" dirty="0">
                <a:solidFill>
                  <a:schemeClr val="tx1"/>
                </a:solidFill>
                <a:effectLst/>
                <a:latin typeface="+mn-lt"/>
              </a:rPr>
              <a:t> — the score threshold</a:t>
            </a:r>
            <a:endParaRPr lang="en-US" sz="2000" b="0" i="0" dirty="0">
              <a:solidFill>
                <a:srgbClr val="161C24"/>
              </a:solidFill>
              <a:effectLst/>
              <a:latin typeface="-apple-system"/>
            </a:endParaRPr>
          </a:p>
        </p:txBody>
      </p:sp>
      <p:pic>
        <p:nvPicPr>
          <p:cNvPr id="11" name="Picture 10" descr="Mated vs Non-Mated Search Diagram">
            <a:extLst>
              <a:ext uri="{FF2B5EF4-FFF2-40B4-BE49-F238E27FC236}">
                <a16:creationId xmlns:a16="http://schemas.microsoft.com/office/drawing/2014/main" id="{12C679FD-D9F8-7EA8-F137-9D0F800DB001}"/>
              </a:ext>
            </a:extLst>
          </p:cNvPr>
          <p:cNvPicPr>
            <a:picLocks noChangeAspect="1"/>
          </p:cNvPicPr>
          <p:nvPr/>
        </p:nvPicPr>
        <p:blipFill>
          <a:blip r:embed="rId3"/>
          <a:stretch>
            <a:fillRect/>
          </a:stretch>
        </p:blipFill>
        <p:spPr>
          <a:xfrm>
            <a:off x="6402294" y="2240176"/>
            <a:ext cx="5435977" cy="3623985"/>
          </a:xfrm>
          <a:prstGeom prst="rect">
            <a:avLst/>
          </a:prstGeom>
        </p:spPr>
      </p:pic>
    </p:spTree>
    <p:extLst>
      <p:ext uri="{BB962C8B-B14F-4D97-AF65-F5344CB8AC3E}">
        <p14:creationId xmlns:p14="http://schemas.microsoft.com/office/powerpoint/2010/main" val="1490017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959B6-C45A-88E2-4118-D57F61634C0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9C4D488-F786-5F8A-FF6D-A16C7C45AED2}"/>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NIST Metrics: </a:t>
            </a:r>
            <a:r>
              <a:rPr lang="en-US" sz="4000" b="1" i="1" dirty="0">
                <a:solidFill>
                  <a:srgbClr val="0070C0"/>
                </a:solidFill>
              </a:rPr>
              <a:t>FNIR, TPIR, and FPIR</a:t>
            </a:r>
            <a:endParaRPr lang="en-US" sz="4000" b="1" dirty="0">
              <a:solidFill>
                <a:srgbClr val="0070C0"/>
              </a:solidFill>
            </a:endParaRPr>
          </a:p>
        </p:txBody>
      </p:sp>
      <p:sp>
        <p:nvSpPr>
          <p:cNvPr id="3" name="Slide Number Placeholder 2">
            <a:extLst>
              <a:ext uri="{FF2B5EF4-FFF2-40B4-BE49-F238E27FC236}">
                <a16:creationId xmlns:a16="http://schemas.microsoft.com/office/drawing/2014/main" id="{8E010E51-E0A6-306A-1035-A4DD07433C10}"/>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9</a:t>
            </a:fld>
            <a:endParaRPr lang="en-US"/>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A57FEB63-4A91-55C7-200C-8EE25558A798}"/>
                  </a:ext>
                </a:extLst>
              </p:cNvPr>
              <p:cNvSpPr txBox="1"/>
              <p:nvPr/>
            </p:nvSpPr>
            <p:spPr>
              <a:xfrm>
                <a:off x="106978" y="1493351"/>
                <a:ext cx="11962612" cy="5008294"/>
              </a:xfrm>
              <a:prstGeom prst="rect">
                <a:avLst/>
              </a:prstGeom>
              <a:noFill/>
            </p:spPr>
            <p:txBody>
              <a:bodyPr wrap="square">
                <a:spAutoFit/>
              </a:bodyPr>
              <a:lstStyle/>
              <a:p>
                <a:pPr indent="0" algn="l">
                  <a:buNone/>
                </a:pPr>
                <a:r>
                  <a:rPr lang="en-US" sz="2000" b="1" i="0" dirty="0">
                    <a:solidFill>
                      <a:schemeClr val="tx1"/>
                    </a:solidFill>
                    <a:effectLst/>
                    <a:latin typeface="+mn-lt"/>
                  </a:rPr>
                  <a:t>False Negative Identification Rate.</a:t>
                </a:r>
                <a:r>
                  <a:rPr lang="en-US" sz="2000" b="0" i="0" dirty="0">
                    <a:solidFill>
                      <a:schemeClr val="tx1"/>
                    </a:solidFill>
                    <a:effectLst/>
                    <a:latin typeface="+mn-lt"/>
                  </a:rPr>
                  <a:t> For mated searches, an error is a failure to surface the mate — either because it fell outside the top </a:t>
                </a:r>
                <a:r>
                  <a:rPr lang="en-US" sz="2000" b="0" i="1" dirty="0">
                    <a:solidFill>
                      <a:schemeClr val="tx1"/>
                    </a:solidFill>
                    <a:effectLst/>
                    <a:latin typeface="+mn-lt"/>
                  </a:rPr>
                  <a:t>R </a:t>
                </a:r>
                <a:r>
                  <a:rPr lang="en-US" sz="2000" b="0" i="0" dirty="0">
                    <a:solidFill>
                      <a:schemeClr val="tx1"/>
                    </a:solidFill>
                    <a:effectLst/>
                    <a:latin typeface="+mn-lt"/>
                  </a:rPr>
                  <a:t>ranks, or because it was returned with a score below </a:t>
                </a:r>
                <a:r>
                  <a:rPr lang="en-US" sz="2000" b="0" i="1" dirty="0">
                    <a:solidFill>
                      <a:schemeClr val="tx1"/>
                    </a:solidFill>
                    <a:effectLst/>
                    <a:latin typeface="+mn-lt"/>
                  </a:rPr>
                  <a:t>T</a:t>
                </a:r>
                <a:r>
                  <a:rPr lang="en-US" sz="2000" b="0" dirty="0">
                    <a:solidFill>
                      <a:schemeClr val="tx1"/>
                    </a:solidFill>
                    <a:effectLst/>
                    <a:latin typeface="+mn-lt"/>
                  </a:rPr>
                  <a:t>:</a:t>
                </a:r>
              </a:p>
              <a:p>
                <a:pPr indent="0" algn="l">
                  <a:buNone/>
                </a:pPr>
                <a:endParaRPr lang="en-US" sz="2000" b="0" dirty="0">
                  <a:solidFill>
                    <a:schemeClr val="tx1"/>
                  </a:solidFill>
                  <a:effectLst/>
                  <a:latin typeface="+mn-lt"/>
                </a:endParaRPr>
              </a:p>
              <a:p>
                <a:pPr indent="0" algn="l">
                  <a:buNone/>
                </a:pPr>
                <a14:m>
                  <m:oMathPara xmlns:m="http://schemas.openxmlformats.org/officeDocument/2006/math">
                    <m:oMath>
                      <m:r>
                        <m:rPr>
                          <m:sty m:val="p"/>
                        </m:rPr>
                        <a:rPr lang="en-US" sz="2000">
                          <a:latin typeface="+mn-lt"/>
                        </a:rPr>
                        <m:t>F</m:t>
                      </m:r>
                      <m:r>
                        <m:rPr>
                          <m:sty m:val="p"/>
                        </m:rPr>
                        <a:rPr lang="en-US" sz="2000" i="0">
                          <a:latin typeface="+mn-lt"/>
                        </a:rPr>
                        <m:t>NIR</m:t>
                      </m:r>
                      <m:d>
                        <m:dPr>
                          <m:sepChr m:val=","/>
                          <m:ctrlPr>
                            <a:rPr lang="en-US" sz="2000" i="1">
                              <a:latin typeface="+mn-lt"/>
                            </a:rPr>
                          </m:ctrlPr>
                        </m:dPr>
                        <m:e>
                          <m:r>
                            <a:rPr lang="en-US" sz="2000" i="1">
                              <a:latin typeface="+mn-lt"/>
                            </a:rPr>
                            <m:t>𝑁</m:t>
                          </m:r>
                        </m:e>
                        <m:e>
                          <m:r>
                            <a:rPr lang="en-US" sz="2000" i="1">
                              <a:latin typeface="+mn-lt"/>
                            </a:rPr>
                            <m:t>𝑅</m:t>
                          </m:r>
                        </m:e>
                        <m:e>
                          <m:r>
                            <a:rPr lang="en-US" sz="2000" i="1">
                              <a:latin typeface="+mn-lt"/>
                            </a:rPr>
                            <m:t>𝑇</m:t>
                          </m:r>
                        </m:e>
                      </m:d>
                      <m:r>
                        <a:rPr lang="en-US" sz="2000" i="0">
                          <a:latin typeface="+mn-lt"/>
                        </a:rPr>
                        <m:t>=</m:t>
                      </m:r>
                      <m:f>
                        <m:fPr>
                          <m:ctrlPr>
                            <a:rPr lang="en-US" sz="2000" i="0">
                              <a:latin typeface="+mn-lt"/>
                            </a:rPr>
                          </m:ctrlPr>
                        </m:fPr>
                        <m:num>
                          <m:r>
                            <a:rPr lang="en-US" sz="2000" i="0">
                              <a:latin typeface="+mn-lt"/>
                            </a:rPr>
                            <m:t>#</m:t>
                          </m:r>
                          <m:d>
                            <m:dPr>
                              <m:begChr m:val="{"/>
                              <m:endChr m:val="}"/>
                              <m:ctrlPr>
                                <a:rPr lang="en-US" sz="2000" b="0" i="0">
                                  <a:latin typeface="+mn-lt"/>
                                </a:rPr>
                              </m:ctrlPr>
                            </m:dPr>
                            <m:e>
                              <m:r>
                                <m:rPr>
                                  <m:nor/>
                                </m:rPr>
                                <a:rPr lang="en-US" sz="2000" b="0" i="0">
                                  <a:latin typeface="+mn-lt"/>
                                </a:rPr>
                                <m:t>mated searches with enrolled mate found outside the top </m:t>
                              </m:r>
                              <m:r>
                                <a:rPr lang="en-US" sz="2000" b="0" i="1">
                                  <a:latin typeface="+mn-lt"/>
                                </a:rPr>
                                <m:t>𝑅</m:t>
                              </m:r>
                              <m:r>
                                <m:rPr>
                                  <m:nor/>
                                </m:rPr>
                                <a:rPr lang="en-US" sz="2000" b="0" i="0">
                                  <a:latin typeface="+mn-lt"/>
                                </a:rPr>
                                <m:t> ranks or at a score below </m:t>
                              </m:r>
                              <m:r>
                                <a:rPr lang="en-US" sz="2000" b="0" i="1">
                                  <a:latin typeface="+mn-lt"/>
                                </a:rPr>
                                <m:t>𝑇</m:t>
                              </m:r>
                            </m:e>
                          </m:d>
                        </m:num>
                        <m:den>
                          <m:r>
                            <a:rPr lang="en-US" sz="2000" b="0" i="0">
                              <a:latin typeface="+mn-lt"/>
                            </a:rPr>
                            <m:t>#</m:t>
                          </m:r>
                          <m:d>
                            <m:dPr>
                              <m:begChr m:val="{"/>
                              <m:endChr m:val="}"/>
                              <m:ctrlPr>
                                <a:rPr lang="en-US" sz="2000" b="0" i="0">
                                  <a:latin typeface="+mn-lt"/>
                                </a:rPr>
                              </m:ctrlPr>
                            </m:dPr>
                            <m:e>
                              <m:r>
                                <m:rPr>
                                  <m:nor/>
                                </m:rPr>
                                <a:rPr lang="en-US" sz="2000" b="0" i="0">
                                  <a:latin typeface="+mn-lt"/>
                                </a:rPr>
                                <m:t>mated searches attempted</m:t>
                              </m:r>
                            </m:e>
                          </m:d>
                        </m:den>
                      </m:f>
                    </m:oMath>
                  </m:oMathPara>
                </a14:m>
                <a:endParaRPr lang="en-US" sz="2000" b="0" i="0" dirty="0">
                  <a:solidFill>
                    <a:schemeClr val="tx1"/>
                  </a:solidFill>
                  <a:effectLst/>
                  <a:latin typeface="+mn-lt"/>
                </a:endParaRPr>
              </a:p>
              <a:p>
                <a:pPr indent="0" algn="l">
                  <a:buNone/>
                </a:pPr>
                <a:endParaRPr lang="en-US" sz="1800" b="0" i="0" dirty="0">
                  <a:solidFill>
                    <a:schemeClr val="tx1"/>
                  </a:solidFill>
                  <a:effectLst/>
                  <a:latin typeface="+mn-lt"/>
                </a:endParaRPr>
              </a:p>
              <a:p>
                <a:pPr indent="0" algn="l">
                  <a:buNone/>
                </a:pPr>
                <a:r>
                  <a:rPr lang="en-US" sz="2000" b="1" i="0" dirty="0">
                    <a:solidFill>
                      <a:schemeClr val="tx1"/>
                    </a:solidFill>
                    <a:effectLst/>
                    <a:latin typeface="+mn-lt"/>
                  </a:rPr>
                  <a:t>True Positive Identification Rate.</a:t>
                </a:r>
                <a:r>
                  <a:rPr lang="en-US" sz="2000" b="0" i="0" dirty="0">
                    <a:solidFill>
                      <a:schemeClr val="tx1"/>
                    </a:solidFill>
                    <a:effectLst/>
                    <a:latin typeface="+mn-lt"/>
                  </a:rPr>
                  <a:t> The complement, stated positively — how often mated searches succeed:</a:t>
                </a:r>
              </a:p>
              <a:p>
                <a:pPr indent="0" algn="l">
                  <a:buNone/>
                </a:pPr>
                <a:endParaRPr lang="en-US" sz="2000" b="0" i="0" dirty="0">
                  <a:solidFill>
                    <a:schemeClr val="tx1"/>
                  </a:solidFill>
                  <a:effectLst/>
                  <a:latin typeface="+mn-lt"/>
                </a:endParaRPr>
              </a:p>
              <a:p>
                <a:pPr indent="0" algn="l">
                  <a:buNone/>
                </a:pPr>
                <a14:m>
                  <m:oMathPara xmlns:m="http://schemas.openxmlformats.org/officeDocument/2006/math">
                    <m:oMath>
                      <m:r>
                        <m:rPr>
                          <m:sty m:val="p"/>
                        </m:rPr>
                        <a:rPr lang="en-US" sz="2000">
                          <a:latin typeface="+mn-lt"/>
                        </a:rPr>
                        <m:t>T</m:t>
                      </m:r>
                      <m:r>
                        <m:rPr>
                          <m:sty m:val="p"/>
                        </m:rPr>
                        <a:rPr lang="en-US" sz="2000" i="0">
                          <a:latin typeface="+mn-lt"/>
                        </a:rPr>
                        <m:t>PIR</m:t>
                      </m:r>
                      <m:d>
                        <m:dPr>
                          <m:sepChr m:val=","/>
                          <m:ctrlPr>
                            <a:rPr lang="en-US" sz="2000" i="1">
                              <a:latin typeface="+mn-lt"/>
                            </a:rPr>
                          </m:ctrlPr>
                        </m:dPr>
                        <m:e>
                          <m:r>
                            <a:rPr lang="en-US" sz="2000" i="1">
                              <a:latin typeface="+mn-lt"/>
                            </a:rPr>
                            <m:t>𝑁</m:t>
                          </m:r>
                        </m:e>
                        <m:e>
                          <m:r>
                            <a:rPr lang="en-US" sz="2000" i="1">
                              <a:latin typeface="+mn-lt"/>
                            </a:rPr>
                            <m:t>𝑅</m:t>
                          </m:r>
                        </m:e>
                        <m:e>
                          <m:r>
                            <a:rPr lang="en-US" sz="2000" i="1">
                              <a:latin typeface="+mn-lt"/>
                            </a:rPr>
                            <m:t>𝑇</m:t>
                          </m:r>
                        </m:e>
                      </m:d>
                      <m:r>
                        <a:rPr lang="en-US" sz="2000" i="0">
                          <a:latin typeface="+mn-lt"/>
                        </a:rPr>
                        <m:t>=1−</m:t>
                      </m:r>
                      <m:r>
                        <m:rPr>
                          <m:sty m:val="p"/>
                        </m:rPr>
                        <a:rPr lang="en-US" sz="2000" i="0">
                          <a:latin typeface="+mn-lt"/>
                        </a:rPr>
                        <m:t>FNIR</m:t>
                      </m:r>
                      <m:d>
                        <m:dPr>
                          <m:sepChr m:val=","/>
                          <m:ctrlPr>
                            <a:rPr lang="en-US" sz="2000" i="1">
                              <a:latin typeface="+mn-lt"/>
                            </a:rPr>
                          </m:ctrlPr>
                        </m:dPr>
                        <m:e>
                          <m:r>
                            <a:rPr lang="en-US" sz="2000" i="1">
                              <a:latin typeface="+mn-lt"/>
                            </a:rPr>
                            <m:t>𝑁</m:t>
                          </m:r>
                        </m:e>
                        <m:e>
                          <m:r>
                            <a:rPr lang="en-US" sz="2000" i="1">
                              <a:latin typeface="+mn-lt"/>
                            </a:rPr>
                            <m:t>𝑅</m:t>
                          </m:r>
                        </m:e>
                        <m:e>
                          <m:r>
                            <a:rPr lang="en-US" sz="2000" i="1">
                              <a:latin typeface="+mn-lt"/>
                            </a:rPr>
                            <m:t>𝑇</m:t>
                          </m:r>
                        </m:e>
                      </m:d>
                    </m:oMath>
                  </m:oMathPara>
                </a14:m>
                <a:endParaRPr lang="en-US" sz="2000" b="0" i="0" dirty="0">
                  <a:solidFill>
                    <a:schemeClr val="tx1"/>
                  </a:solidFill>
                  <a:effectLst/>
                  <a:latin typeface="+mn-lt"/>
                </a:endParaRPr>
              </a:p>
              <a:p>
                <a:pPr indent="0" algn="l">
                  <a:buNone/>
                </a:pPr>
                <a:endParaRPr lang="en-US" sz="1800" b="0" i="0" dirty="0">
                  <a:solidFill>
                    <a:schemeClr val="tx1"/>
                  </a:solidFill>
                  <a:effectLst/>
                  <a:latin typeface="+mn-lt"/>
                </a:endParaRPr>
              </a:p>
              <a:p>
                <a:pPr indent="0" algn="l">
                  <a:buNone/>
                </a:pPr>
                <a:r>
                  <a:rPr lang="en-US" sz="2000" b="1" i="0" dirty="0">
                    <a:solidFill>
                      <a:schemeClr val="tx1"/>
                    </a:solidFill>
                    <a:effectLst/>
                    <a:latin typeface="+mn-lt"/>
                  </a:rPr>
                  <a:t>False Positive Identification Rate.</a:t>
                </a:r>
                <a:r>
                  <a:rPr lang="en-US" sz="2000" b="0" i="0" dirty="0">
                    <a:solidFill>
                      <a:schemeClr val="tx1"/>
                    </a:solidFill>
                    <a:effectLst/>
                    <a:latin typeface="+mn-lt"/>
                  </a:rPr>
                  <a:t> For non-mated searches, </a:t>
                </a:r>
                <a:r>
                  <a:rPr lang="en-US" sz="2000" b="0" i="1" dirty="0">
                    <a:solidFill>
                      <a:schemeClr val="tx1"/>
                    </a:solidFill>
                    <a:effectLst/>
                    <a:latin typeface="+mn-lt"/>
                  </a:rPr>
                  <a:t>any</a:t>
                </a:r>
                <a:r>
                  <a:rPr lang="en-US" sz="2000" b="0" i="0" dirty="0">
                    <a:solidFill>
                      <a:schemeClr val="tx1"/>
                    </a:solidFill>
                    <a:effectLst/>
                    <a:latin typeface="+mn-lt"/>
                  </a:rPr>
                  <a:t> enrolled candidate returned at or above threshold is an adverse outcome, since by construction none of them can be correct:</a:t>
                </a:r>
              </a:p>
              <a:p>
                <a:pPr indent="0" algn="l">
                  <a:buNone/>
                </a:pPr>
                <a:endParaRPr lang="en-US" sz="2000" b="0" i="0" dirty="0">
                  <a:solidFill>
                    <a:schemeClr val="tx1"/>
                  </a:solidFill>
                  <a:effectLst/>
                  <a:latin typeface="+mn-lt"/>
                </a:endParaRPr>
              </a:p>
              <a:p>
                <a:pPr indent="0" algn="l">
                  <a:buNone/>
                </a:pPr>
                <a14:m>
                  <m:oMathPara xmlns:m="http://schemas.openxmlformats.org/officeDocument/2006/math">
                    <m:oMath>
                      <m:r>
                        <m:rPr>
                          <m:sty m:val="p"/>
                        </m:rPr>
                        <a:rPr lang="en-US" sz="2000">
                          <a:latin typeface="+mn-lt"/>
                        </a:rPr>
                        <m:t>F</m:t>
                      </m:r>
                      <m:r>
                        <m:rPr>
                          <m:sty m:val="p"/>
                        </m:rPr>
                        <a:rPr lang="en-US" sz="2000" i="0">
                          <a:latin typeface="+mn-lt"/>
                        </a:rPr>
                        <m:t>PIR</m:t>
                      </m:r>
                      <m:d>
                        <m:dPr>
                          <m:sepChr m:val=","/>
                          <m:ctrlPr>
                            <a:rPr lang="en-US" sz="2000" i="1">
                              <a:latin typeface="+mn-lt"/>
                            </a:rPr>
                          </m:ctrlPr>
                        </m:dPr>
                        <m:e>
                          <m:r>
                            <a:rPr lang="en-US" sz="2000" i="1">
                              <a:latin typeface="+mn-lt"/>
                            </a:rPr>
                            <m:t>𝑁</m:t>
                          </m:r>
                        </m:e>
                        <m:e>
                          <m:r>
                            <a:rPr lang="en-US" sz="2000" i="1">
                              <a:latin typeface="+mn-lt"/>
                            </a:rPr>
                            <m:t>𝑇</m:t>
                          </m:r>
                        </m:e>
                      </m:d>
                      <m:r>
                        <a:rPr lang="en-US" sz="2000" i="0">
                          <a:latin typeface="+mn-lt"/>
                        </a:rPr>
                        <m:t>=</m:t>
                      </m:r>
                      <m:f>
                        <m:fPr>
                          <m:ctrlPr>
                            <a:rPr lang="en-US" sz="2000" i="0">
                              <a:latin typeface="+mn-lt"/>
                            </a:rPr>
                          </m:ctrlPr>
                        </m:fPr>
                        <m:num>
                          <m:r>
                            <a:rPr lang="en-US" sz="2000" i="0">
                              <a:latin typeface="+mn-lt"/>
                            </a:rPr>
                            <m:t>#</m:t>
                          </m:r>
                          <m:d>
                            <m:dPr>
                              <m:begChr m:val="{"/>
                              <m:endChr m:val="}"/>
                              <m:ctrlPr>
                                <a:rPr lang="en-US" sz="2000" b="0" i="0">
                                  <a:latin typeface="+mn-lt"/>
                                </a:rPr>
                              </m:ctrlPr>
                            </m:dPr>
                            <m:e>
                              <m:r>
                                <m:rPr>
                                  <m:nor/>
                                </m:rPr>
                                <a:rPr lang="en-US" sz="2000" b="0" i="0">
                                  <a:latin typeface="+mn-lt"/>
                                </a:rPr>
                                <m:t>non−mated searches where one or more enrolled candidates are returned with score</m:t>
                              </m:r>
                              <m:r>
                                <a:rPr lang="en-US" sz="2000" b="0" i="0">
                                  <a:latin typeface="+mn-lt"/>
                                </a:rPr>
                                <m:t>≥</m:t>
                              </m:r>
                              <m:r>
                                <a:rPr lang="en-US" sz="2000" b="0" i="1">
                                  <a:latin typeface="+mn-lt"/>
                                </a:rPr>
                                <m:t>𝑇</m:t>
                              </m:r>
                            </m:e>
                          </m:d>
                        </m:num>
                        <m:den>
                          <m:r>
                            <a:rPr lang="en-US" sz="2000" b="0" i="0">
                              <a:latin typeface="+mn-lt"/>
                            </a:rPr>
                            <m:t>#</m:t>
                          </m:r>
                          <m:d>
                            <m:dPr>
                              <m:begChr m:val="{"/>
                              <m:endChr m:val="}"/>
                              <m:ctrlPr>
                                <a:rPr lang="en-US" sz="2000" b="0" i="0">
                                  <a:latin typeface="+mn-lt"/>
                                </a:rPr>
                              </m:ctrlPr>
                            </m:dPr>
                            <m:e>
                              <m:r>
                                <m:rPr>
                                  <m:nor/>
                                </m:rPr>
                                <a:rPr lang="en-US" sz="2000" b="0" i="0">
                                  <a:latin typeface="+mn-lt"/>
                                </a:rPr>
                                <m:t>non−mated searches attempted</m:t>
                              </m:r>
                            </m:e>
                          </m:d>
                        </m:den>
                      </m:f>
                    </m:oMath>
                  </m:oMathPara>
                </a14:m>
                <a:endParaRPr lang="en-US" sz="2000" b="0" i="0" dirty="0">
                  <a:solidFill>
                    <a:schemeClr val="tx1"/>
                  </a:solidFill>
                  <a:effectLst/>
                  <a:latin typeface="+mn-lt"/>
                </a:endParaRPr>
              </a:p>
            </p:txBody>
          </p:sp>
        </mc:Choice>
        <mc:Fallback>
          <p:sp>
            <p:nvSpPr>
              <p:cNvPr id="6" name="TextBox 5">
                <a:extLst>
                  <a:ext uri="{FF2B5EF4-FFF2-40B4-BE49-F238E27FC236}">
                    <a16:creationId xmlns:a16="http://schemas.microsoft.com/office/drawing/2014/main" id="{A57FEB63-4A91-55C7-200C-8EE25558A798}"/>
                  </a:ext>
                </a:extLst>
              </p:cNvPr>
              <p:cNvSpPr txBox="1">
                <a:spLocks noRot="1" noChangeAspect="1" noMove="1" noResize="1" noEditPoints="1" noAdjustHandles="1" noChangeArrowheads="1" noChangeShapeType="1" noTextEdit="1"/>
              </p:cNvSpPr>
              <p:nvPr/>
            </p:nvSpPr>
            <p:spPr>
              <a:xfrm>
                <a:off x="106978" y="1493351"/>
                <a:ext cx="11962612" cy="5008294"/>
              </a:xfrm>
              <a:prstGeom prst="rect">
                <a:avLst/>
              </a:prstGeom>
              <a:blipFill>
                <a:blip r:embed="rId3"/>
                <a:stretch>
                  <a:fillRect l="-530" t="-758" b="-1010"/>
                </a:stretch>
              </a:blipFill>
            </p:spPr>
            <p:txBody>
              <a:bodyPr/>
              <a:lstStyle/>
              <a:p>
                <a:r>
                  <a:rPr lang="en-US">
                    <a:noFill/>
                  </a:rPr>
                  <a:t> </a:t>
                </a:r>
              </a:p>
            </p:txBody>
          </p:sp>
        </mc:Fallback>
      </mc:AlternateContent>
    </p:spTree>
    <p:extLst>
      <p:ext uri="{BB962C8B-B14F-4D97-AF65-F5344CB8AC3E}">
        <p14:creationId xmlns:p14="http://schemas.microsoft.com/office/powerpoint/2010/main" val="2504020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AD38F-820D-B2FD-3564-710B2A074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C87F62D-3DEE-8A6F-1AEB-3965A4578637}"/>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10</a:t>
            </a:fld>
            <a:endParaRPr lang="en-US"/>
          </a:p>
        </p:txBody>
      </p:sp>
      <p:pic>
        <p:nvPicPr>
          <p:cNvPr id="2" name="Picture 1">
            <a:extLst>
              <a:ext uri="{FF2B5EF4-FFF2-40B4-BE49-F238E27FC236}">
                <a16:creationId xmlns:a16="http://schemas.microsoft.com/office/drawing/2014/main" id="{8CBAC8A5-4DB5-DFDA-B2E0-4C7A5FA1A4BC}"/>
              </a:ext>
            </a:extLst>
          </p:cNvPr>
          <p:cNvPicPr>
            <a:picLocks noChangeAspect="1"/>
          </p:cNvPicPr>
          <p:nvPr/>
        </p:nvPicPr>
        <p:blipFill>
          <a:blip r:embed="rId3"/>
          <a:stretch>
            <a:fillRect/>
          </a:stretch>
        </p:blipFill>
        <p:spPr>
          <a:xfrm>
            <a:off x="838200" y="94528"/>
            <a:ext cx="5969222" cy="6444384"/>
          </a:xfrm>
          <a:prstGeom prst="rect">
            <a:avLst/>
          </a:prstGeom>
        </p:spPr>
      </p:pic>
      <p:sp>
        <p:nvSpPr>
          <p:cNvPr id="5" name="TextBox 4">
            <a:extLst>
              <a:ext uri="{FF2B5EF4-FFF2-40B4-BE49-F238E27FC236}">
                <a16:creationId xmlns:a16="http://schemas.microsoft.com/office/drawing/2014/main" id="{7D75644E-3401-79B5-74D9-E2A660089D77}"/>
              </a:ext>
            </a:extLst>
          </p:cNvPr>
          <p:cNvSpPr txBox="1"/>
          <p:nvPr/>
        </p:nvSpPr>
        <p:spPr>
          <a:xfrm>
            <a:off x="7710055" y="1859339"/>
            <a:ext cx="3906982" cy="3139321"/>
          </a:xfrm>
          <a:prstGeom prst="rect">
            <a:avLst/>
          </a:prstGeom>
          <a:noFill/>
        </p:spPr>
        <p:txBody>
          <a:bodyPr wrap="square" rtlCol="0">
            <a:spAutoFit/>
          </a:bodyPr>
          <a:lstStyle/>
          <a:p>
            <a:r>
              <a:rPr lang="en-US" dirty="0"/>
              <a:t>Figure extracted from the latest Face Recognition Technology Evaluation (FRTE) Part 2: Identification Report (dated </a:t>
            </a:r>
            <a:r>
              <a:rPr lang="en-US" i="1" dirty="0"/>
              <a:t>2026/10/06</a:t>
            </a:r>
            <a:r>
              <a:rPr lang="en-US" dirty="0"/>
              <a:t>)</a:t>
            </a:r>
            <a:br>
              <a:rPr lang="en-US" dirty="0"/>
            </a:br>
            <a:endParaRPr lang="en-US" dirty="0"/>
          </a:p>
          <a:p>
            <a:r>
              <a:rPr lang="en-US" dirty="0">
                <a:hlinkClick r:id="rId4"/>
              </a:rPr>
              <a:t>https://pages.nist.gov/frvt/reports/1N/frvt_1N_report.pdf</a:t>
            </a:r>
            <a:endParaRPr lang="en-US" dirty="0"/>
          </a:p>
          <a:p>
            <a:endParaRPr lang="en-US" dirty="0"/>
          </a:p>
          <a:p>
            <a:r>
              <a:rPr lang="en-US" dirty="0"/>
              <a:t>Patrick Grother</a:t>
            </a:r>
          </a:p>
          <a:p>
            <a:r>
              <a:rPr lang="en-US" dirty="0"/>
              <a:t>Mei Ngan</a:t>
            </a:r>
          </a:p>
          <a:p>
            <a:r>
              <a:rPr lang="en-US" dirty="0"/>
              <a:t>Kayee Hanaoka</a:t>
            </a:r>
          </a:p>
        </p:txBody>
      </p:sp>
    </p:spTree>
    <p:extLst>
      <p:ext uri="{BB962C8B-B14F-4D97-AF65-F5344CB8AC3E}">
        <p14:creationId xmlns:p14="http://schemas.microsoft.com/office/powerpoint/2010/main" val="3997465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26CF9-C592-01CF-B3EE-4346CB6EE7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BE82850-F98A-9A18-0A04-AB7516615270}"/>
              </a:ext>
            </a:extLst>
          </p:cNvPr>
          <p:cNvSpPr txBox="1"/>
          <p:nvPr/>
        </p:nvSpPr>
        <p:spPr>
          <a:xfrm>
            <a:off x="590310" y="486009"/>
            <a:ext cx="10995948" cy="1323439"/>
          </a:xfrm>
          <a:prstGeom prst="rect">
            <a:avLst/>
          </a:prstGeom>
          <a:noFill/>
        </p:spPr>
        <p:txBody>
          <a:bodyPr wrap="square" rtlCol="0">
            <a:spAutoFit/>
          </a:bodyPr>
          <a:lstStyle/>
          <a:p>
            <a:r>
              <a:rPr lang="en-US" sz="4000" b="1" dirty="0">
                <a:solidFill>
                  <a:srgbClr val="0070C0"/>
                </a:solidFill>
              </a:rPr>
              <a:t>Zero-Shot Learning: Recognizing Without Examples</a:t>
            </a:r>
          </a:p>
        </p:txBody>
      </p:sp>
      <p:sp>
        <p:nvSpPr>
          <p:cNvPr id="3" name="Slide Number Placeholder 2">
            <a:extLst>
              <a:ext uri="{FF2B5EF4-FFF2-40B4-BE49-F238E27FC236}">
                <a16:creationId xmlns:a16="http://schemas.microsoft.com/office/drawing/2014/main" id="{76683CF5-6D10-2C08-A953-F81D13E332C7}"/>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11</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C5174A7-322B-3A0D-FE99-5BE69CE91B0B}"/>
                  </a:ext>
                </a:extLst>
              </p:cNvPr>
              <p:cNvSpPr txBox="1"/>
              <p:nvPr/>
            </p:nvSpPr>
            <p:spPr>
              <a:xfrm>
                <a:off x="590310" y="1947499"/>
                <a:ext cx="8894618" cy="2554545"/>
              </a:xfrm>
              <a:prstGeom prst="rect">
                <a:avLst/>
              </a:prstGeom>
              <a:noFill/>
            </p:spPr>
            <p:txBody>
              <a:bodyPr wrap="square">
                <a:spAutoFit/>
              </a:bodyPr>
              <a:lstStyle/>
              <a:p>
                <a:pPr indent="0" algn="l">
                  <a:buNone/>
                </a:pPr>
                <a:r>
                  <a:rPr lang="en-US" sz="2000" b="1" i="0" dirty="0">
                    <a:solidFill>
                      <a:schemeClr val="tx1"/>
                    </a:solidFill>
                    <a:effectLst/>
                    <a:latin typeface="+mn-lt"/>
                  </a:rPr>
                  <a:t>Core Concept</a:t>
                </a:r>
              </a:p>
              <a:p>
                <a:pPr marL="285750" indent="-285750" algn="l">
                  <a:buFont typeface="Arial" panose="020B0604020202020204" pitchFamily="34" charset="0"/>
                  <a:buChar char="•"/>
                </a:pPr>
                <a:r>
                  <a:rPr lang="en-US" sz="2000" b="0" i="0" dirty="0">
                    <a:solidFill>
                      <a:schemeClr val="tx1"/>
                    </a:solidFill>
                    <a:effectLst/>
                    <a:latin typeface="+mn-lt"/>
                  </a:rPr>
                  <a:t>Zero-shot Learning replaces the one-hot label space with a </a:t>
                </a:r>
                <a:r>
                  <a:rPr lang="en-US" sz="2000" b="1" i="0" dirty="0">
                    <a:solidFill>
                      <a:schemeClr val="tx1"/>
                    </a:solidFill>
                    <a:effectLst/>
                    <a:latin typeface="+mn-lt"/>
                  </a:rPr>
                  <a:t>shared semantic embedding space </a:t>
                </a:r>
                <a14:m>
                  <m:oMath xmlns:m="http://schemas.openxmlformats.org/officeDocument/2006/math">
                    <m:r>
                      <a:rPr lang="en-US" sz="2000" b="0" i="1" smtClean="0">
                        <a:solidFill>
                          <a:schemeClr val="tx1"/>
                        </a:solidFill>
                        <a:effectLst/>
                        <a:latin typeface="Cambria Math" panose="02040503050406030204" pitchFamily="18" charset="0"/>
                      </a:rPr>
                      <m:t>𝒮</m:t>
                    </m:r>
                  </m:oMath>
                </a14:m>
                <a:r>
                  <a:rPr lang="en-US" sz="2000" b="0" i="0" dirty="0">
                    <a:solidFill>
                      <a:schemeClr val="tx1"/>
                    </a:solidFill>
                    <a:effectLst/>
                    <a:latin typeface="+mn-lt"/>
                  </a:rPr>
                  <a:t>. </a:t>
                </a:r>
              </a:p>
              <a:p>
                <a:pPr marL="285750" indent="-285750" algn="l">
                  <a:buFont typeface="Arial" panose="020B0604020202020204" pitchFamily="34" charset="0"/>
                  <a:buChar char="•"/>
                </a:pPr>
                <a:r>
                  <a:rPr lang="en-US" sz="2000" b="0" i="0" dirty="0">
                    <a:solidFill>
                      <a:schemeClr val="tx1"/>
                    </a:solidFill>
                    <a:effectLst/>
                    <a:latin typeface="+mn-lt"/>
                  </a:rPr>
                  <a:t>Learn a compatibility function </a:t>
                </a:r>
                <a14:m>
                  <m:oMath xmlns:m="http://schemas.openxmlformats.org/officeDocument/2006/math">
                    <m:r>
                      <a:rPr lang="en-US" sz="2000" i="1">
                        <a:latin typeface="+mn-lt"/>
                      </a:rPr>
                      <m:t>𝐹</m:t>
                    </m:r>
                    <m:d>
                      <m:dPr>
                        <m:sepChr m:val=","/>
                        <m:ctrlPr>
                          <a:rPr lang="en-US" sz="2000" i="1">
                            <a:latin typeface="+mn-lt"/>
                          </a:rPr>
                        </m:ctrlPr>
                      </m:dPr>
                      <m:e>
                        <m:r>
                          <a:rPr lang="en-US" sz="2000" i="1">
                            <a:latin typeface="+mn-lt"/>
                          </a:rPr>
                          <m:t>𝑥</m:t>
                        </m:r>
                      </m:e>
                      <m:e>
                        <m:r>
                          <a:rPr lang="en-US" sz="2000" i="1">
                            <a:latin typeface="+mn-lt"/>
                          </a:rPr>
                          <m:t>𝑦</m:t>
                        </m:r>
                      </m:e>
                    </m:d>
                    <m:r>
                      <a:rPr lang="en-US" sz="2000" i="0">
                        <a:latin typeface="+mn-lt"/>
                      </a:rPr>
                      <m:t>=</m:t>
                    </m:r>
                    <m:r>
                      <a:rPr lang="en-US" sz="2000" i="1">
                        <a:latin typeface="+mn-lt"/>
                      </a:rPr>
                      <m:t>𝜙</m:t>
                    </m:r>
                    <m:sSup>
                      <m:sSupPr>
                        <m:ctrlPr>
                          <a:rPr lang="en-US" sz="2000" i="1">
                            <a:latin typeface="+mn-lt"/>
                          </a:rPr>
                        </m:ctrlPr>
                      </m:sSupPr>
                      <m:e>
                        <m:d>
                          <m:dPr>
                            <m:ctrlPr>
                              <a:rPr lang="en-US" sz="2000" i="1">
                                <a:latin typeface="+mn-lt"/>
                              </a:rPr>
                            </m:ctrlPr>
                          </m:dPr>
                          <m:e>
                            <m:r>
                              <a:rPr lang="en-US" sz="2000" i="1">
                                <a:latin typeface="+mn-lt"/>
                              </a:rPr>
                              <m:t>𝑥</m:t>
                            </m:r>
                          </m:e>
                        </m:d>
                      </m:e>
                      <m:sup>
                        <m:r>
                          <a:rPr lang="en-US" sz="2000" i="0">
                            <a:latin typeface="+mn-lt"/>
                          </a:rPr>
                          <m:t>⊤</m:t>
                        </m:r>
                      </m:sup>
                    </m:sSup>
                    <m:r>
                      <a:rPr lang="en-US" sz="2000" i="1">
                        <a:latin typeface="+mn-lt"/>
                      </a:rPr>
                      <m:t>𝑊</m:t>
                    </m:r>
                    <m:r>
                      <m:rPr>
                        <m:nor/>
                      </m:rPr>
                      <a:rPr lang="en-US" sz="2000" b="0" i="0">
                        <a:latin typeface="+mn-lt"/>
                      </a:rPr>
                      <m:t> </m:t>
                    </m:r>
                    <m:r>
                      <a:rPr lang="en-US" sz="2000" b="0" i="1">
                        <a:latin typeface="+mn-lt"/>
                      </a:rPr>
                      <m:t>𝜓</m:t>
                    </m:r>
                    <m:d>
                      <m:dPr>
                        <m:ctrlPr>
                          <a:rPr lang="en-US" sz="2000" b="0" i="1">
                            <a:latin typeface="+mn-lt"/>
                          </a:rPr>
                        </m:ctrlPr>
                      </m:dPr>
                      <m:e>
                        <m:r>
                          <a:rPr lang="en-US" sz="2000" b="0" i="1">
                            <a:latin typeface="+mn-lt"/>
                          </a:rPr>
                          <m:t>𝑦</m:t>
                        </m:r>
                      </m:e>
                    </m:d>
                  </m:oMath>
                </a14:m>
                <a:r>
                  <a:rPr lang="en-US" sz="2000" b="0" i="0" dirty="0">
                    <a:solidFill>
                      <a:schemeClr val="tx1"/>
                    </a:solidFill>
                    <a:effectLst/>
                    <a:latin typeface="+mn-lt"/>
                  </a:rPr>
                  <a:t> where </a:t>
                </a:r>
                <a14:m>
                  <m:oMath xmlns:m="http://schemas.openxmlformats.org/officeDocument/2006/math">
                    <m:r>
                      <a:rPr lang="en-US" sz="2000" b="0" i="1" dirty="0" smtClean="0">
                        <a:solidFill>
                          <a:schemeClr val="tx1"/>
                        </a:solidFill>
                        <a:effectLst/>
                        <a:latin typeface="Cambria Math" panose="02040503050406030204" pitchFamily="18" charset="0"/>
                      </a:rPr>
                      <m:t>𝜙</m:t>
                    </m:r>
                  </m:oMath>
                </a14:m>
                <a:r>
                  <a:rPr lang="en-US" sz="2000" b="0" i="0" dirty="0">
                    <a:solidFill>
                      <a:schemeClr val="tx1"/>
                    </a:solidFill>
                    <a:effectLst/>
                    <a:latin typeface="+mn-lt"/>
                  </a:rPr>
                  <a:t> embeds the image and </a:t>
                </a:r>
                <a14:m>
                  <m:oMath xmlns:m="http://schemas.openxmlformats.org/officeDocument/2006/math">
                    <m:r>
                      <a:rPr lang="en-US" sz="2000" b="0" i="1" dirty="0" smtClean="0">
                        <a:solidFill>
                          <a:schemeClr val="tx1"/>
                        </a:solidFill>
                        <a:effectLst/>
                        <a:latin typeface="Cambria Math" panose="02040503050406030204" pitchFamily="18" charset="0"/>
                      </a:rPr>
                      <m:t>𝜓</m:t>
                    </m:r>
                  </m:oMath>
                </a14:m>
                <a:r>
                  <a:rPr lang="en-US" sz="2000" b="0" i="0" dirty="0">
                    <a:solidFill>
                      <a:schemeClr val="tx1"/>
                    </a:solidFill>
                    <a:effectLst/>
                    <a:latin typeface="+mn-lt"/>
                  </a:rPr>
                  <a:t> embeds </a:t>
                </a:r>
                <a:r>
                  <a:rPr lang="en-US" sz="2000" b="0" i="1" dirty="0">
                    <a:solidFill>
                      <a:schemeClr val="tx1"/>
                    </a:solidFill>
                    <a:effectLst/>
                    <a:latin typeface="+mn-lt"/>
                  </a:rPr>
                  <a:t>side information</a:t>
                </a:r>
                <a:r>
                  <a:rPr lang="en-US" sz="2000" b="0" i="0" dirty="0">
                    <a:solidFill>
                      <a:schemeClr val="tx1"/>
                    </a:solidFill>
                    <a:effectLst/>
                    <a:latin typeface="+mn-lt"/>
                  </a:rPr>
                  <a:t> about class — </a:t>
                </a:r>
                <a:r>
                  <a:rPr lang="en-US" sz="2000" b="0" i="1" dirty="0">
                    <a:solidFill>
                      <a:schemeClr val="tx1"/>
                    </a:solidFill>
                    <a:effectLst/>
                    <a:latin typeface="+mn-lt"/>
                  </a:rPr>
                  <a:t>attributes, text descriptions, word embeddings, a taxonomy</a:t>
                </a:r>
                <a:r>
                  <a:rPr lang="en-US" sz="2000" b="0" i="0" dirty="0">
                    <a:solidFill>
                      <a:schemeClr val="tx1"/>
                    </a:solidFill>
                    <a:effectLst/>
                    <a:latin typeface="+mn-lt"/>
                  </a:rPr>
                  <a:t>. </a:t>
                </a:r>
              </a:p>
              <a:p>
                <a:pPr marL="285750" indent="-285750" algn="l">
                  <a:buFont typeface="Arial" panose="020B0604020202020204" pitchFamily="34" charset="0"/>
                  <a:buChar char="•"/>
                </a:pPr>
                <a:r>
                  <a:rPr lang="en-US" sz="2000" b="0" i="0" dirty="0">
                    <a:solidFill>
                      <a:schemeClr val="tx1"/>
                    </a:solidFill>
                    <a:effectLst/>
                    <a:latin typeface="+mn-lt"/>
                  </a:rPr>
                  <a:t>Classification over unseen classes becomes nearest-neighbor retrieval in </a:t>
                </a:r>
                <a14:m>
                  <m:oMath xmlns:m="http://schemas.openxmlformats.org/officeDocument/2006/math">
                    <m:r>
                      <a:rPr lang="en-US" sz="2000" b="0" i="1" dirty="0" smtClean="0">
                        <a:solidFill>
                          <a:schemeClr val="tx1"/>
                        </a:solidFill>
                        <a:effectLst/>
                        <a:latin typeface="Cambria Math" panose="02040503050406030204" pitchFamily="18" charset="0"/>
                      </a:rPr>
                      <m:t>𝒮</m:t>
                    </m:r>
                  </m:oMath>
                </a14:m>
                <a:r>
                  <a:rPr lang="en-US" sz="2000" b="0" i="0" dirty="0">
                    <a:solidFill>
                      <a:schemeClr val="tx1"/>
                    </a:solidFill>
                    <a:effectLst/>
                    <a:latin typeface="+mn-lt"/>
                  </a:rPr>
                  <a:t> using </a:t>
                </a:r>
                <a14:m>
                  <m:oMath xmlns:m="http://schemas.openxmlformats.org/officeDocument/2006/math">
                    <m:r>
                      <a:rPr lang="en-US" sz="2000" b="0" i="1" dirty="0" smtClean="0">
                        <a:solidFill>
                          <a:schemeClr val="tx1"/>
                        </a:solidFill>
                        <a:effectLst/>
                        <a:latin typeface="Cambria Math" panose="02040503050406030204" pitchFamily="18" charset="0"/>
                      </a:rPr>
                      <m:t>𝜓</m:t>
                    </m:r>
                    <m:d>
                      <m:dPr>
                        <m:ctrlPr>
                          <a:rPr lang="en-US" sz="2000" b="0" i="1" dirty="0" smtClean="0">
                            <a:solidFill>
                              <a:schemeClr val="tx1"/>
                            </a:solidFill>
                            <a:effectLst/>
                            <a:latin typeface="Cambria Math" panose="02040503050406030204" pitchFamily="18" charset="0"/>
                          </a:rPr>
                        </m:ctrlPr>
                      </m:dPr>
                      <m:e>
                        <m:r>
                          <a:rPr lang="en-US" sz="2000" b="0" i="1" dirty="0" smtClean="0">
                            <a:solidFill>
                              <a:schemeClr val="tx1"/>
                            </a:solidFill>
                            <a:effectLst/>
                            <a:latin typeface="Cambria Math" panose="02040503050406030204" pitchFamily="18" charset="0"/>
                          </a:rPr>
                          <m:t>𝑦</m:t>
                        </m:r>
                      </m:e>
                    </m:d>
                  </m:oMath>
                </a14:m>
                <a:r>
                  <a:rPr lang="en-US" sz="2000" b="0" i="0" dirty="0">
                    <a:solidFill>
                      <a:schemeClr val="tx1"/>
                    </a:solidFill>
                    <a:effectLst/>
                    <a:latin typeface="+mn-lt"/>
                  </a:rPr>
                  <a:t> for classes with no training images</a:t>
                </a:r>
                <a:endParaRPr lang="en-US" sz="2000" b="0" i="0" dirty="0">
                  <a:solidFill>
                    <a:srgbClr val="161C24"/>
                  </a:solidFill>
                  <a:effectLst/>
                  <a:latin typeface="-apple-system"/>
                </a:endParaRPr>
              </a:p>
            </p:txBody>
          </p:sp>
        </mc:Choice>
        <mc:Fallback>
          <p:sp>
            <p:nvSpPr>
              <p:cNvPr id="5" name="TextBox 4">
                <a:extLst>
                  <a:ext uri="{FF2B5EF4-FFF2-40B4-BE49-F238E27FC236}">
                    <a16:creationId xmlns:a16="http://schemas.microsoft.com/office/drawing/2014/main" id="{8C5174A7-322B-3A0D-FE99-5BE69CE91B0B}"/>
                  </a:ext>
                </a:extLst>
              </p:cNvPr>
              <p:cNvSpPr txBox="1">
                <a:spLocks noRot="1" noChangeAspect="1" noMove="1" noResize="1" noEditPoints="1" noAdjustHandles="1" noChangeArrowheads="1" noChangeShapeType="1" noTextEdit="1"/>
              </p:cNvSpPr>
              <p:nvPr/>
            </p:nvSpPr>
            <p:spPr>
              <a:xfrm>
                <a:off x="590310" y="1947499"/>
                <a:ext cx="8894618" cy="2554545"/>
              </a:xfrm>
              <a:prstGeom prst="rect">
                <a:avLst/>
              </a:prstGeom>
              <a:blipFill>
                <a:blip r:embed="rId3"/>
                <a:stretch>
                  <a:fillRect l="-713" t="-1485" r="-999" b="-396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46E98E4A-EABA-722E-2FA6-81309A8CD95D}"/>
              </a:ext>
            </a:extLst>
          </p:cNvPr>
          <p:cNvSpPr txBox="1"/>
          <p:nvPr/>
        </p:nvSpPr>
        <p:spPr>
          <a:xfrm>
            <a:off x="590310" y="4784586"/>
            <a:ext cx="6096000" cy="1877437"/>
          </a:xfrm>
          <a:prstGeom prst="rect">
            <a:avLst/>
          </a:prstGeom>
          <a:noFill/>
        </p:spPr>
        <p:txBody>
          <a:bodyPr wrap="square">
            <a:spAutoFit/>
          </a:bodyPr>
          <a:lstStyle/>
          <a:p>
            <a:r>
              <a:rPr lang="en-US" sz="2000" b="1" i="0" dirty="0">
                <a:solidFill>
                  <a:schemeClr val="tx1"/>
                </a:solidFill>
                <a:effectLst/>
                <a:latin typeface="+mn-lt"/>
              </a:rPr>
              <a:t>Key Assumptions:</a:t>
            </a:r>
            <a:r>
              <a:rPr lang="en-US" sz="2000" b="0" i="0" dirty="0">
                <a:solidFill>
                  <a:schemeClr val="tx1"/>
                </a:solidFill>
                <a:effectLst/>
                <a:latin typeface="+mn-lt"/>
              </a:rPr>
              <a:t> the semantic space must be both </a:t>
            </a:r>
          </a:p>
          <a:p>
            <a:pPr marL="400050" indent="-400050">
              <a:buFont typeface="+mj-lt"/>
              <a:buAutoNum type="romanLcPeriod"/>
            </a:pPr>
            <a:r>
              <a:rPr lang="en-US" sz="2000" b="0" i="0" dirty="0">
                <a:solidFill>
                  <a:schemeClr val="tx1"/>
                </a:solidFill>
                <a:effectLst/>
                <a:latin typeface="+mn-lt"/>
              </a:rPr>
              <a:t>rich enough to separate unseen classes</a:t>
            </a:r>
          </a:p>
          <a:p>
            <a:pPr marL="400050" indent="-400050">
              <a:buFont typeface="+mj-lt"/>
              <a:buAutoNum type="romanLcPeriod"/>
            </a:pPr>
            <a:r>
              <a:rPr lang="en-US" sz="2000" b="0" i="1" dirty="0">
                <a:solidFill>
                  <a:schemeClr val="tx1"/>
                </a:solidFill>
                <a:effectLst/>
                <a:latin typeface="+mn-lt"/>
              </a:rPr>
              <a:t>aligned</a:t>
            </a:r>
            <a:r>
              <a:rPr lang="en-US" sz="2000" b="0" i="0" dirty="0">
                <a:solidFill>
                  <a:schemeClr val="tx1"/>
                </a:solidFill>
                <a:effectLst/>
                <a:latin typeface="+mn-lt"/>
              </a:rPr>
              <a:t> with what the visual encoder actually represents. </a:t>
            </a:r>
          </a:p>
          <a:p>
            <a:br>
              <a:rPr lang="en-US" dirty="0"/>
            </a:br>
            <a:endParaRPr lang="en-US" dirty="0"/>
          </a:p>
        </p:txBody>
      </p:sp>
    </p:spTree>
    <p:extLst>
      <p:ext uri="{BB962C8B-B14F-4D97-AF65-F5344CB8AC3E}">
        <p14:creationId xmlns:p14="http://schemas.microsoft.com/office/powerpoint/2010/main" val="1413060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67381-194D-0FE9-D554-1F0AF3289F2C}"/>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32584979-9B91-EFB6-4813-92247358132D}"/>
              </a:ext>
            </a:extLst>
          </p:cNvPr>
          <p:cNvSpPr/>
          <p:nvPr/>
        </p:nvSpPr>
        <p:spPr>
          <a:xfrm>
            <a:off x="1385455" y="2424545"/>
            <a:ext cx="9171709" cy="2244437"/>
          </a:xfrm>
          <a:prstGeom prst="roundRect">
            <a:avLst/>
          </a:prstGeom>
          <a:solidFill>
            <a:schemeClr val="bg1">
              <a:lumMod val="85000"/>
            </a:schemeClr>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D078746-65ED-2CDB-1359-810AF0F7AAA0}"/>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Take-Home Point</a:t>
            </a:r>
          </a:p>
        </p:txBody>
      </p:sp>
      <p:sp>
        <p:nvSpPr>
          <p:cNvPr id="3" name="Slide Number Placeholder 2">
            <a:extLst>
              <a:ext uri="{FF2B5EF4-FFF2-40B4-BE49-F238E27FC236}">
                <a16:creationId xmlns:a16="http://schemas.microsoft.com/office/drawing/2014/main" id="{F9B57583-1D37-BB2E-EA00-2D4CC7774FB2}"/>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12</a:t>
            </a:fld>
            <a:endParaRPr lang="en-US"/>
          </a:p>
        </p:txBody>
      </p:sp>
      <p:sp>
        <p:nvSpPr>
          <p:cNvPr id="5" name="TextBox 4">
            <a:extLst>
              <a:ext uri="{FF2B5EF4-FFF2-40B4-BE49-F238E27FC236}">
                <a16:creationId xmlns:a16="http://schemas.microsoft.com/office/drawing/2014/main" id="{6636797A-91C3-0597-F60C-39E24B5264D9}"/>
              </a:ext>
            </a:extLst>
          </p:cNvPr>
          <p:cNvSpPr txBox="1"/>
          <p:nvPr/>
        </p:nvSpPr>
        <p:spPr>
          <a:xfrm>
            <a:off x="1629401" y="2838179"/>
            <a:ext cx="8894618" cy="1569660"/>
          </a:xfrm>
          <a:prstGeom prst="rect">
            <a:avLst/>
          </a:prstGeom>
          <a:noFill/>
        </p:spPr>
        <p:txBody>
          <a:bodyPr wrap="square">
            <a:spAutoFit/>
          </a:bodyPr>
          <a:lstStyle/>
          <a:p>
            <a:r>
              <a:rPr lang="en-US" sz="2400" dirty="0"/>
              <a:t>Both </a:t>
            </a:r>
            <a:r>
              <a:rPr lang="en-US" sz="2400" b="1" dirty="0"/>
              <a:t>Open-set Recognition</a:t>
            </a:r>
            <a:r>
              <a:rPr lang="en-US" sz="2400" dirty="0"/>
              <a:t> and </a:t>
            </a:r>
            <a:r>
              <a:rPr lang="en-US" sz="2400" b="1" dirty="0"/>
              <a:t>Zero-shot Learning</a:t>
            </a:r>
            <a:r>
              <a:rPr lang="en-US" sz="2400" dirty="0"/>
              <a:t> are tests of whether a representation encodes </a:t>
            </a:r>
            <a:r>
              <a:rPr lang="en-US" sz="2400" i="1" dirty="0"/>
              <a:t>more</a:t>
            </a:r>
            <a:r>
              <a:rPr lang="en-US" sz="2400" dirty="0"/>
              <a:t> than what was needed to minimize training loss. </a:t>
            </a:r>
          </a:p>
          <a:p>
            <a:endParaRPr lang="en-US" sz="2400" dirty="0"/>
          </a:p>
        </p:txBody>
      </p:sp>
    </p:spTree>
    <p:extLst>
      <p:ext uri="{BB962C8B-B14F-4D97-AF65-F5344CB8AC3E}">
        <p14:creationId xmlns:p14="http://schemas.microsoft.com/office/powerpoint/2010/main" val="1581975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ACB5E-7A2D-C157-4191-11BAFBF446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11D3312-B14E-E348-BEF3-3B38B7C4ACF8}"/>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Activity: Design the Rejection</a:t>
            </a:r>
          </a:p>
        </p:txBody>
      </p:sp>
      <p:sp>
        <p:nvSpPr>
          <p:cNvPr id="3" name="Slide Number Placeholder 2">
            <a:extLst>
              <a:ext uri="{FF2B5EF4-FFF2-40B4-BE49-F238E27FC236}">
                <a16:creationId xmlns:a16="http://schemas.microsoft.com/office/drawing/2014/main" id="{73F149F8-0A7D-AA64-382B-61345836327A}"/>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13</a:t>
            </a:fld>
            <a:endParaRPr lang="en-US"/>
          </a:p>
        </p:txBody>
      </p:sp>
      <p:sp>
        <p:nvSpPr>
          <p:cNvPr id="5" name="TextBox 4">
            <a:extLst>
              <a:ext uri="{FF2B5EF4-FFF2-40B4-BE49-F238E27FC236}">
                <a16:creationId xmlns:a16="http://schemas.microsoft.com/office/drawing/2014/main" id="{905AFCA8-362B-7574-5191-122803EB1A60}"/>
              </a:ext>
            </a:extLst>
          </p:cNvPr>
          <p:cNvSpPr txBox="1"/>
          <p:nvPr/>
        </p:nvSpPr>
        <p:spPr>
          <a:xfrm>
            <a:off x="590310" y="1505270"/>
            <a:ext cx="8894618" cy="4539704"/>
          </a:xfrm>
          <a:prstGeom prst="rect">
            <a:avLst/>
          </a:prstGeom>
          <a:noFill/>
        </p:spPr>
        <p:txBody>
          <a:bodyPr wrap="square">
            <a:spAutoFit/>
          </a:bodyPr>
          <a:lstStyle/>
          <a:p>
            <a:pPr>
              <a:spcAft>
                <a:spcPts val="600"/>
              </a:spcAft>
            </a:pPr>
            <a:r>
              <a:rPr lang="en-US" sz="2400" b="1" dirty="0"/>
              <a:t>Consider the different deployment scenarios:</a:t>
            </a:r>
          </a:p>
          <a:p>
            <a:pPr marL="342900" indent="-342900">
              <a:spcAft>
                <a:spcPts val="600"/>
              </a:spcAft>
              <a:buFontTx/>
              <a:buChar char="-"/>
            </a:pPr>
            <a:r>
              <a:rPr lang="en-US" sz="2400" i="1" dirty="0">
                <a:solidFill>
                  <a:srgbClr val="0070C0"/>
                </a:solidFill>
              </a:rPr>
              <a:t>Airport watchlist</a:t>
            </a:r>
            <a:r>
              <a:rPr lang="en-US" sz="2400" dirty="0"/>
              <a:t>: gallery of 500 persons of interest; millions of travelers</a:t>
            </a:r>
          </a:p>
          <a:p>
            <a:pPr marL="342900" indent="-342900">
              <a:spcAft>
                <a:spcPts val="600"/>
              </a:spcAft>
              <a:buFontTx/>
              <a:buChar char="-"/>
            </a:pPr>
            <a:r>
              <a:rPr lang="en-US" sz="2400" dirty="0"/>
              <a:t>Phone face unlock: gallery of 1; attacker might be a family member</a:t>
            </a:r>
          </a:p>
          <a:p>
            <a:pPr marL="342900" indent="-342900">
              <a:spcAft>
                <a:spcPts val="600"/>
              </a:spcAft>
              <a:buFontTx/>
              <a:buChar char="-"/>
            </a:pPr>
            <a:r>
              <a:rPr lang="en-US" sz="2400" i="1" dirty="0">
                <a:solidFill>
                  <a:srgbClr val="0070C0"/>
                </a:solidFill>
              </a:rPr>
              <a:t>Person re-identification: </a:t>
            </a:r>
            <a:r>
              <a:rPr lang="en-US" sz="2400" dirty="0"/>
              <a:t>gallery of 80 know individuals; new individuals enter population continuously</a:t>
            </a:r>
          </a:p>
          <a:p>
            <a:pPr marL="342900" indent="-342900">
              <a:spcAft>
                <a:spcPts val="600"/>
              </a:spcAft>
              <a:buFontTx/>
              <a:buChar char="-"/>
            </a:pPr>
            <a:r>
              <a:rPr lang="en-US" sz="2400" i="1" dirty="0">
                <a:solidFill>
                  <a:srgbClr val="0070C0"/>
                </a:solidFill>
              </a:rPr>
              <a:t>Forensic latent fingerprint search:</a:t>
            </a:r>
            <a:r>
              <a:rPr lang="en-US" sz="2400" dirty="0"/>
              <a:t> gallery of 10 million; examiner reviews top-50 candidate list manually; true mate may be absent from the database </a:t>
            </a:r>
          </a:p>
          <a:p>
            <a:endParaRPr lang="en-US" sz="2400" dirty="0"/>
          </a:p>
        </p:txBody>
      </p:sp>
    </p:spTree>
    <p:extLst>
      <p:ext uri="{BB962C8B-B14F-4D97-AF65-F5344CB8AC3E}">
        <p14:creationId xmlns:p14="http://schemas.microsoft.com/office/powerpoint/2010/main" val="111013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2465A-7F67-DF4B-9FF3-E7DCDA48BDF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EF865F9-5E75-7D92-4E84-14EF21040EF8}"/>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Activity: Design the Rejection</a:t>
            </a:r>
          </a:p>
        </p:txBody>
      </p:sp>
      <p:sp>
        <p:nvSpPr>
          <p:cNvPr id="3" name="Slide Number Placeholder 2">
            <a:extLst>
              <a:ext uri="{FF2B5EF4-FFF2-40B4-BE49-F238E27FC236}">
                <a16:creationId xmlns:a16="http://schemas.microsoft.com/office/drawing/2014/main" id="{DCD7465A-F97A-4173-3D04-52E57A42042F}"/>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14</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80C4AF7-6A2F-ACB8-A2C9-19CE81A3FE1D}"/>
                  </a:ext>
                </a:extLst>
              </p:cNvPr>
              <p:cNvSpPr txBox="1"/>
              <p:nvPr/>
            </p:nvSpPr>
            <p:spPr>
              <a:xfrm>
                <a:off x="590310" y="1505270"/>
                <a:ext cx="8894618" cy="4093428"/>
              </a:xfrm>
              <a:prstGeom prst="rect">
                <a:avLst/>
              </a:prstGeom>
              <a:noFill/>
            </p:spPr>
            <p:txBody>
              <a:bodyPr wrap="square">
                <a:spAutoFit/>
              </a:bodyPr>
              <a:lstStyle/>
              <a:p>
                <a:pPr lvl="0">
                  <a:spcBef>
                    <a:spcPts val="600"/>
                  </a:spcBef>
                </a:pPr>
                <a:r>
                  <a:rPr lang="en-US" sz="2400" b="1" dirty="0"/>
                  <a:t>Questions:</a:t>
                </a:r>
                <a:endParaRPr lang="en-US" sz="2400" dirty="0"/>
              </a:p>
              <a:p>
                <a:pPr marL="514350" lvl="0" indent="-514350">
                  <a:spcBef>
                    <a:spcPts val="600"/>
                  </a:spcBef>
                  <a:buFont typeface="+mj-lt"/>
                  <a:buAutoNum type="romanLcPeriod"/>
                </a:pPr>
                <a:r>
                  <a:rPr lang="en-US" sz="2400" dirty="0"/>
                  <a:t>What signal to compute a novelty score from, and </a:t>
                </a:r>
                <a:r>
                  <a:rPr lang="en-US" sz="2400" i="1" dirty="0"/>
                  <a:t>why that signal and not the </a:t>
                </a:r>
                <a:r>
                  <a:rPr lang="en-US" sz="2400" i="1" dirty="0" err="1"/>
                  <a:t>softmax</a:t>
                </a:r>
                <a:r>
                  <a:rPr lang="en-US" sz="2400" dirty="0"/>
                  <a:t>.</a:t>
                </a:r>
              </a:p>
              <a:p>
                <a:pPr marL="514350" lvl="0" indent="-514350">
                  <a:spcBef>
                    <a:spcPts val="600"/>
                  </a:spcBef>
                  <a:buFont typeface="+mj-lt"/>
                  <a:buAutoNum type="romanLcPeriod"/>
                </a:pPr>
                <a:r>
                  <a:rPr lang="en-US" sz="2400" dirty="0"/>
                  <a:t>How to set the threshold using only data they would legitimately have before deployment.</a:t>
                </a:r>
              </a:p>
              <a:p>
                <a:pPr marL="514350" lvl="0" indent="-514350">
                  <a:spcBef>
                    <a:spcPts val="600"/>
                  </a:spcBef>
                  <a:buFont typeface="+mj-lt"/>
                  <a:buAutoNum type="romanLcPeriod"/>
                </a:pPr>
                <a:r>
                  <a:rPr lang="en-US" sz="2400" dirty="0"/>
                  <a:t>What would be the system’s acceptance test , written as a </a:t>
                </a:r>
                <a:r>
                  <a:rPr lang="en-US" sz="2400" b="1" dirty="0"/>
                  <a:t>TPIR/FPIR pair with all parameters filled in</a:t>
                </a:r>
                <a:r>
                  <a:rPr lang="en-US" sz="2400" dirty="0"/>
                  <a:t>: "we require TPIR(N=__, R=__, T </a:t>
                </a:r>
                <a14:m>
                  <m:oMath xmlns:m="http://schemas.openxmlformats.org/officeDocument/2006/math">
                    <m:r>
                      <a:rPr lang="en-US" sz="2400" i="1" dirty="0" smtClean="0">
                        <a:latin typeface="Cambria Math" panose="02040503050406030204" pitchFamily="18" charset="0"/>
                      </a:rPr>
                      <m:t>≥</m:t>
                    </m:r>
                    <m:r>
                      <a:rPr lang="en-US" sz="2400" b="0" i="1" dirty="0" smtClean="0">
                        <a:latin typeface="Cambria Math" panose="02040503050406030204" pitchFamily="18" charset="0"/>
                      </a:rPr>
                      <m:t> </m:t>
                    </m:r>
                  </m:oMath>
                </a14:m>
                <a:r>
                  <a:rPr lang="en-US" sz="2400" dirty="0"/>
                  <a:t>__) at FPIR </a:t>
                </a:r>
                <a14:m>
                  <m:oMath xmlns:m="http://schemas.openxmlformats.org/officeDocument/2006/math">
                    <m:r>
                      <a:rPr lang="en-US" sz="2400" i="1" dirty="0" smtClean="0">
                        <a:latin typeface="Cambria Math" panose="02040503050406030204" pitchFamily="18" charset="0"/>
                      </a:rPr>
                      <m:t>≤</m:t>
                    </m:r>
                  </m:oMath>
                </a14:m>
                <a:r>
                  <a:rPr lang="en-US" sz="2400" dirty="0"/>
                  <a:t> __</a:t>
                </a:r>
              </a:p>
              <a:p>
                <a:pPr marL="514350" lvl="0" indent="-514350">
                  <a:spcBef>
                    <a:spcPts val="600"/>
                  </a:spcBef>
                  <a:buFont typeface="+mj-lt"/>
                  <a:buAutoNum type="romanLcPeriod"/>
                </a:pPr>
                <a:r>
                  <a:rPr lang="en-US" sz="2400" dirty="0"/>
                  <a:t>What would the system </a:t>
                </a:r>
                <a:r>
                  <a:rPr lang="en-US" sz="2400" i="1" dirty="0"/>
                  <a:t>output</a:t>
                </a:r>
                <a:r>
                  <a:rPr lang="en-US" sz="2400" dirty="0"/>
                  <a:t> to the human when it rejects? </a:t>
                </a:r>
              </a:p>
              <a:p>
                <a:endParaRPr lang="en-US" sz="2400" dirty="0"/>
              </a:p>
            </p:txBody>
          </p:sp>
        </mc:Choice>
        <mc:Fallback>
          <p:sp>
            <p:nvSpPr>
              <p:cNvPr id="5" name="TextBox 4">
                <a:extLst>
                  <a:ext uri="{FF2B5EF4-FFF2-40B4-BE49-F238E27FC236}">
                    <a16:creationId xmlns:a16="http://schemas.microsoft.com/office/drawing/2014/main" id="{880C4AF7-6A2F-ACB8-A2C9-19CE81A3FE1D}"/>
                  </a:ext>
                </a:extLst>
              </p:cNvPr>
              <p:cNvSpPr txBox="1">
                <a:spLocks noRot="1" noChangeAspect="1" noMove="1" noResize="1" noEditPoints="1" noAdjustHandles="1" noChangeArrowheads="1" noChangeShapeType="1" noTextEdit="1"/>
              </p:cNvSpPr>
              <p:nvPr/>
            </p:nvSpPr>
            <p:spPr>
              <a:xfrm>
                <a:off x="590310" y="1505270"/>
                <a:ext cx="8894618" cy="4093428"/>
              </a:xfrm>
              <a:prstGeom prst="rect">
                <a:avLst/>
              </a:prstGeom>
              <a:blipFill>
                <a:blip r:embed="rId3"/>
                <a:stretch>
                  <a:fillRect l="-1141" t="-1238"/>
                </a:stretch>
              </a:blipFill>
            </p:spPr>
            <p:txBody>
              <a:bodyPr/>
              <a:lstStyle/>
              <a:p>
                <a:r>
                  <a:rPr lang="en-US">
                    <a:noFill/>
                  </a:rPr>
                  <a:t> </a:t>
                </a:r>
              </a:p>
            </p:txBody>
          </p:sp>
        </mc:Fallback>
      </mc:AlternateContent>
    </p:spTree>
    <p:extLst>
      <p:ext uri="{BB962C8B-B14F-4D97-AF65-F5344CB8AC3E}">
        <p14:creationId xmlns:p14="http://schemas.microsoft.com/office/powerpoint/2010/main" val="1009226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77D530-303B-CAE8-9F69-37E20A4774D2}"/>
              </a:ext>
            </a:extLst>
          </p:cNvPr>
          <p:cNvSpPr>
            <a:spLocks noGrp="1"/>
          </p:cNvSpPr>
          <p:nvPr>
            <p:ph type="sldNum" sz="quarter" idx="12"/>
          </p:nvPr>
        </p:nvSpPr>
        <p:spPr/>
        <p:txBody>
          <a:bodyPr/>
          <a:lstStyle/>
          <a:p>
            <a:fld id="{659B2F21-D912-7541-8ED2-FD6ABD90B685}" type="slidenum">
              <a:rPr lang="en-US" smtClean="0"/>
              <a:t>15</a:t>
            </a:fld>
            <a:endParaRPr lang="en-US"/>
          </a:p>
        </p:txBody>
      </p:sp>
      <p:sp>
        <p:nvSpPr>
          <p:cNvPr id="5" name="TextBox 4">
            <a:extLst>
              <a:ext uri="{FF2B5EF4-FFF2-40B4-BE49-F238E27FC236}">
                <a16:creationId xmlns:a16="http://schemas.microsoft.com/office/drawing/2014/main" id="{EA70448C-22FE-BBAE-B9CD-7CC4E2CFF8CF}"/>
              </a:ext>
            </a:extLst>
          </p:cNvPr>
          <p:cNvSpPr txBox="1"/>
          <p:nvPr/>
        </p:nvSpPr>
        <p:spPr>
          <a:xfrm>
            <a:off x="590310" y="486009"/>
            <a:ext cx="10995948" cy="707886"/>
          </a:xfrm>
          <a:prstGeom prst="rect">
            <a:avLst/>
          </a:prstGeom>
          <a:noFill/>
        </p:spPr>
        <p:txBody>
          <a:bodyPr wrap="square" rtlCol="0">
            <a:spAutoFit/>
          </a:bodyPr>
          <a:lstStyle/>
          <a:p>
            <a:r>
              <a:rPr lang="en-US" sz="4000" b="1">
                <a:solidFill>
                  <a:srgbClr val="0070C0"/>
                </a:solidFill>
              </a:rPr>
              <a:t>Paper Discussion</a:t>
            </a:r>
            <a:endParaRPr lang="en-US" sz="4000" b="1" dirty="0">
              <a:solidFill>
                <a:srgbClr val="0070C0"/>
              </a:solidFill>
            </a:endParaRPr>
          </a:p>
        </p:txBody>
      </p:sp>
      <p:pic>
        <p:nvPicPr>
          <p:cNvPr id="6" name="Picture 5">
            <a:extLst>
              <a:ext uri="{FF2B5EF4-FFF2-40B4-BE49-F238E27FC236}">
                <a16:creationId xmlns:a16="http://schemas.microsoft.com/office/drawing/2014/main" id="{971289AC-DEF8-75D0-6B4E-FC72A76C4A2B}"/>
              </a:ext>
            </a:extLst>
          </p:cNvPr>
          <p:cNvPicPr>
            <a:picLocks noChangeAspect="1"/>
          </p:cNvPicPr>
          <p:nvPr/>
        </p:nvPicPr>
        <p:blipFill>
          <a:blip r:embed="rId2"/>
          <a:srcRect l="377" r="377"/>
          <a:stretch/>
        </p:blipFill>
        <p:spPr>
          <a:xfrm>
            <a:off x="6342951" y="432892"/>
            <a:ext cx="4535298" cy="5918197"/>
          </a:xfrm>
          <a:prstGeom prst="rect">
            <a:avLst/>
          </a:prstGeom>
        </p:spPr>
      </p:pic>
      <p:sp>
        <p:nvSpPr>
          <p:cNvPr id="7" name="TextBox 6">
            <a:extLst>
              <a:ext uri="{FF2B5EF4-FFF2-40B4-BE49-F238E27FC236}">
                <a16:creationId xmlns:a16="http://schemas.microsoft.com/office/drawing/2014/main" id="{A92910AC-1E89-5025-BA5D-65E2557E22BA}"/>
              </a:ext>
            </a:extLst>
          </p:cNvPr>
          <p:cNvSpPr txBox="1"/>
          <p:nvPr/>
        </p:nvSpPr>
        <p:spPr>
          <a:xfrm>
            <a:off x="660084" y="1418002"/>
            <a:ext cx="5540188" cy="1569660"/>
          </a:xfrm>
          <a:prstGeom prst="rect">
            <a:avLst/>
          </a:prstGeom>
          <a:noFill/>
        </p:spPr>
        <p:txBody>
          <a:bodyPr wrap="square" rtlCol="0">
            <a:spAutoFit/>
          </a:bodyPr>
          <a:lstStyle/>
          <a:p>
            <a:pPr marL="342900" indent="-342900">
              <a:buFont typeface="Arial" panose="020B0604020202020204" pitchFamily="34" charset="0"/>
              <a:buChar char="•"/>
            </a:pPr>
            <a:r>
              <a:rPr lang="en-US" sz="2400"/>
              <a:t>International Conference on Computer Vision (ICCV) 2025 paper — </a:t>
            </a:r>
            <a:r>
              <a:rPr lang="en-US" sz="2400" i="1"/>
              <a:t>a</a:t>
            </a:r>
            <a:r>
              <a:rPr lang="en-US" sz="2400"/>
              <a:t> </a:t>
            </a:r>
            <a:r>
              <a:rPr lang="en-US" sz="2400" i="1"/>
              <a:t>top Computer Vision Conference</a:t>
            </a:r>
          </a:p>
          <a:p>
            <a:endParaRPr lang="en-US" sz="2400" dirty="0"/>
          </a:p>
        </p:txBody>
      </p:sp>
      <p:pic>
        <p:nvPicPr>
          <p:cNvPr id="3" name="Picture 2" descr="Professor Walter Scheirer">
            <a:extLst>
              <a:ext uri="{FF2B5EF4-FFF2-40B4-BE49-F238E27FC236}">
                <a16:creationId xmlns:a16="http://schemas.microsoft.com/office/drawing/2014/main" id="{60A8EAC6-889B-48EF-33FA-132E8ADAAA1F}"/>
              </a:ext>
            </a:extLst>
          </p:cNvPr>
          <p:cNvPicPr>
            <a:picLocks noChangeAspect="1"/>
          </p:cNvPicPr>
          <p:nvPr/>
        </p:nvPicPr>
        <p:blipFill>
          <a:blip r:embed="rId3"/>
          <a:stretch>
            <a:fillRect/>
          </a:stretch>
        </p:blipFill>
        <p:spPr>
          <a:xfrm>
            <a:off x="807725" y="3475725"/>
            <a:ext cx="2342269" cy="2342269"/>
          </a:xfrm>
          <a:prstGeom prst="rect">
            <a:avLst/>
          </a:prstGeom>
        </p:spPr>
      </p:pic>
      <p:pic>
        <p:nvPicPr>
          <p:cNvPr id="8" name="Picture 7" descr="Dr. Terry Boult portrait">
            <a:extLst>
              <a:ext uri="{FF2B5EF4-FFF2-40B4-BE49-F238E27FC236}">
                <a16:creationId xmlns:a16="http://schemas.microsoft.com/office/drawing/2014/main" id="{CB1FD158-B019-5CC6-1333-838D834F207C}"/>
              </a:ext>
            </a:extLst>
          </p:cNvPr>
          <p:cNvPicPr>
            <a:picLocks noChangeAspect="1"/>
          </p:cNvPicPr>
          <p:nvPr/>
        </p:nvPicPr>
        <p:blipFill>
          <a:blip r:embed="rId4"/>
          <a:srcRect b="20000"/>
          <a:stretch>
            <a:fillRect/>
          </a:stretch>
        </p:blipFill>
        <p:spPr>
          <a:xfrm>
            <a:off x="3292673" y="3475725"/>
            <a:ext cx="2342269" cy="2342269"/>
          </a:xfrm>
          <a:prstGeom prst="rect">
            <a:avLst/>
          </a:prstGeom>
        </p:spPr>
      </p:pic>
      <p:sp>
        <p:nvSpPr>
          <p:cNvPr id="9" name="TextBox 8">
            <a:extLst>
              <a:ext uri="{FF2B5EF4-FFF2-40B4-BE49-F238E27FC236}">
                <a16:creationId xmlns:a16="http://schemas.microsoft.com/office/drawing/2014/main" id="{C89AF653-0A4D-48E1-04FA-C292B16F971A}"/>
              </a:ext>
            </a:extLst>
          </p:cNvPr>
          <p:cNvSpPr txBox="1"/>
          <p:nvPr/>
        </p:nvSpPr>
        <p:spPr>
          <a:xfrm>
            <a:off x="794413" y="2987662"/>
            <a:ext cx="2355581" cy="461665"/>
          </a:xfrm>
          <a:prstGeom prst="rect">
            <a:avLst/>
          </a:prstGeom>
          <a:noFill/>
        </p:spPr>
        <p:txBody>
          <a:bodyPr wrap="none" rtlCol="0">
            <a:spAutoFit/>
          </a:bodyPr>
          <a:lstStyle/>
          <a:p>
            <a:pPr algn="ctr"/>
            <a:r>
              <a:rPr lang="en-US" sz="2400" b="1"/>
              <a:t>Walter Scheirer</a:t>
            </a:r>
          </a:p>
        </p:txBody>
      </p:sp>
      <p:sp>
        <p:nvSpPr>
          <p:cNvPr id="10" name="TextBox 9">
            <a:extLst>
              <a:ext uri="{FF2B5EF4-FFF2-40B4-BE49-F238E27FC236}">
                <a16:creationId xmlns:a16="http://schemas.microsoft.com/office/drawing/2014/main" id="{9C06AE22-E9F1-1277-F7BF-95BF856EFD4D}"/>
              </a:ext>
            </a:extLst>
          </p:cNvPr>
          <p:cNvSpPr txBox="1"/>
          <p:nvPr/>
        </p:nvSpPr>
        <p:spPr>
          <a:xfrm>
            <a:off x="3373912" y="2984202"/>
            <a:ext cx="2202719" cy="461665"/>
          </a:xfrm>
          <a:prstGeom prst="rect">
            <a:avLst/>
          </a:prstGeom>
          <a:noFill/>
        </p:spPr>
        <p:txBody>
          <a:bodyPr wrap="none" rtlCol="0">
            <a:spAutoFit/>
          </a:bodyPr>
          <a:lstStyle/>
          <a:p>
            <a:pPr algn="ctr"/>
            <a:r>
              <a:rPr lang="en-US" sz="2400" b="1"/>
              <a:t>Terrance Boult</a:t>
            </a:r>
          </a:p>
        </p:txBody>
      </p:sp>
      <p:sp>
        <p:nvSpPr>
          <p:cNvPr id="11" name="TextBox 10">
            <a:extLst>
              <a:ext uri="{FF2B5EF4-FFF2-40B4-BE49-F238E27FC236}">
                <a16:creationId xmlns:a16="http://schemas.microsoft.com/office/drawing/2014/main" id="{9A76B5BF-2BC6-66CE-23B9-A506AE3FA280}"/>
              </a:ext>
            </a:extLst>
          </p:cNvPr>
          <p:cNvSpPr txBox="1"/>
          <p:nvPr/>
        </p:nvSpPr>
        <p:spPr>
          <a:xfrm>
            <a:off x="660084" y="5981757"/>
            <a:ext cx="4974858" cy="646331"/>
          </a:xfrm>
          <a:prstGeom prst="rect">
            <a:avLst/>
          </a:prstGeom>
          <a:noFill/>
        </p:spPr>
        <p:txBody>
          <a:bodyPr wrap="square" rtlCol="0">
            <a:spAutoFit/>
          </a:bodyPr>
          <a:lstStyle/>
          <a:p>
            <a:r>
              <a:rPr lang="en-US" i="1"/>
              <a:t>Even though this is computer vision paper, both are biometrics scholars!</a:t>
            </a:r>
          </a:p>
        </p:txBody>
      </p:sp>
    </p:spTree>
    <p:extLst>
      <p:ext uri="{BB962C8B-B14F-4D97-AF65-F5344CB8AC3E}">
        <p14:creationId xmlns:p14="http://schemas.microsoft.com/office/powerpoint/2010/main" val="967284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84533-2D5D-6226-3EF2-76438442CD67}"/>
            </a:ext>
          </a:extLst>
        </p:cNvPr>
        <p:cNvGrpSpPr/>
        <p:nvPr/>
      </p:nvGrpSpPr>
      <p:grpSpPr>
        <a:xfrm>
          <a:off x="0" y="0"/>
          <a:ext cx="0" cy="0"/>
          <a:chOff x="0" y="0"/>
          <a:chExt cx="0" cy="0"/>
        </a:xfrm>
      </p:grpSpPr>
      <p:pic>
        <p:nvPicPr>
          <p:cNvPr id="13" name="Picture 12" descr="Open Set Recognition">
            <a:extLst>
              <a:ext uri="{FF2B5EF4-FFF2-40B4-BE49-F238E27FC236}">
                <a16:creationId xmlns:a16="http://schemas.microsoft.com/office/drawing/2014/main" id="{6E880412-CE39-E653-62F4-43DA66A209A0}"/>
              </a:ext>
            </a:extLst>
          </p:cNvPr>
          <p:cNvPicPr>
            <a:picLocks noChangeAspect="1"/>
          </p:cNvPicPr>
          <p:nvPr/>
        </p:nvPicPr>
        <p:blipFill>
          <a:blip r:embed="rId3"/>
          <a:stretch>
            <a:fillRect/>
          </a:stretch>
        </p:blipFill>
        <p:spPr>
          <a:xfrm>
            <a:off x="5088059" y="1789905"/>
            <a:ext cx="7045081" cy="3913934"/>
          </a:xfrm>
          <a:prstGeom prst="rect">
            <a:avLst/>
          </a:prstGeom>
        </p:spPr>
      </p:pic>
      <p:sp>
        <p:nvSpPr>
          <p:cNvPr id="5" name="TextBox 4">
            <a:extLst>
              <a:ext uri="{FF2B5EF4-FFF2-40B4-BE49-F238E27FC236}">
                <a16:creationId xmlns:a16="http://schemas.microsoft.com/office/drawing/2014/main" id="{6B1CB11A-F8C4-9B1A-5279-FDEA37BB0AC9}"/>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9F084720-9696-2128-9E56-B32E0A92CA3D}"/>
              </a:ext>
            </a:extLst>
          </p:cNvPr>
          <p:cNvSpPr txBox="1"/>
          <p:nvPr/>
        </p:nvSpPr>
        <p:spPr>
          <a:xfrm>
            <a:off x="590310" y="1347401"/>
            <a:ext cx="10955866" cy="1600438"/>
          </a:xfrm>
          <a:prstGeom prst="rect">
            <a:avLst/>
          </a:prstGeom>
          <a:noFill/>
        </p:spPr>
        <p:txBody>
          <a:bodyPr wrap="square">
            <a:spAutoFit/>
          </a:bodyPr>
          <a:lstStyle/>
          <a:p>
            <a:r>
              <a:rPr lang="en-US" sz="4000" dirty="0"/>
              <a:t>What problem is addressed?</a:t>
            </a:r>
          </a:p>
          <a:p>
            <a:r>
              <a:rPr lang="en-US" sz="4000" dirty="0"/>
              <a:t>Why?</a:t>
            </a:r>
            <a:br>
              <a:rPr lang="en-US" sz="3200" dirty="0"/>
            </a:br>
            <a:endParaRPr lang="en-US" dirty="0"/>
          </a:p>
        </p:txBody>
      </p:sp>
      <p:sp>
        <p:nvSpPr>
          <p:cNvPr id="8" name="TextBox 7">
            <a:extLst>
              <a:ext uri="{FF2B5EF4-FFF2-40B4-BE49-F238E27FC236}">
                <a16:creationId xmlns:a16="http://schemas.microsoft.com/office/drawing/2014/main" id="{1F9BDA66-FACE-03E0-4823-88C15FE3A696}"/>
              </a:ext>
            </a:extLst>
          </p:cNvPr>
          <p:cNvSpPr txBox="1"/>
          <p:nvPr/>
        </p:nvSpPr>
        <p:spPr>
          <a:xfrm>
            <a:off x="590310" y="2735585"/>
            <a:ext cx="4001286" cy="2145268"/>
          </a:xfrm>
          <a:prstGeom prst="roundRect">
            <a:avLst/>
          </a:prstGeom>
          <a:solidFill>
            <a:schemeClr val="bg1">
              <a:lumMod val="85000"/>
            </a:schemeClr>
          </a:solidFill>
          <a:ln>
            <a:solidFill>
              <a:schemeClr val="tx1"/>
            </a:solidFill>
          </a:ln>
          <a:effectLst>
            <a:outerShdw blurRad="50800" dist="38100" dir="8100000" algn="tr" rotWithShape="0">
              <a:prstClr val="black">
                <a:alpha val="40000"/>
              </a:prstClr>
            </a:outerShdw>
          </a:effectLst>
        </p:spPr>
        <p:txBody>
          <a:bodyPr wrap="square">
            <a:spAutoFit/>
          </a:bodyPr>
          <a:lstStyle/>
          <a:p>
            <a:r>
              <a:rPr lang="en-US" sz="2400" b="1"/>
              <a:t>Problem — Open-set Recognition</a:t>
            </a:r>
            <a:endParaRPr lang="en-US" sz="2800" b="1" dirty="0"/>
          </a:p>
          <a:p>
            <a:pPr marL="342900" indent="-342900">
              <a:buFont typeface="Arial" panose="020B0604020202020204" pitchFamily="34" charset="0"/>
              <a:buChar char="•"/>
            </a:pPr>
            <a:r>
              <a:rPr lang="en-US" sz="2400"/>
              <a:t>Deep networks </a:t>
            </a:r>
            <a:r>
              <a:rPr lang="en-US" sz="2400">
                <a:solidFill>
                  <a:srgbClr val="0070C0"/>
                </a:solidFill>
              </a:rPr>
              <a:t>must </a:t>
            </a:r>
            <a:r>
              <a:rPr lang="en-US" sz="2400"/>
              <a:t>handle novelty (</a:t>
            </a:r>
            <a:r>
              <a:rPr lang="en-US" sz="2400" i="1"/>
              <a:t>unknown inputs)</a:t>
            </a:r>
            <a:endParaRPr lang="en-US" sz="2400"/>
          </a:p>
        </p:txBody>
      </p:sp>
      <p:sp>
        <p:nvSpPr>
          <p:cNvPr id="11" name="Slide Number Placeholder 10">
            <a:extLst>
              <a:ext uri="{FF2B5EF4-FFF2-40B4-BE49-F238E27FC236}">
                <a16:creationId xmlns:a16="http://schemas.microsoft.com/office/drawing/2014/main" id="{D9AB62FF-CC90-5083-AF2F-BC181EEAB34C}"/>
              </a:ext>
            </a:extLst>
          </p:cNvPr>
          <p:cNvSpPr>
            <a:spLocks noGrp="1"/>
          </p:cNvSpPr>
          <p:nvPr>
            <p:ph type="sldNum" sz="quarter" idx="12"/>
          </p:nvPr>
        </p:nvSpPr>
        <p:spPr/>
        <p:txBody>
          <a:bodyPr/>
          <a:lstStyle/>
          <a:p>
            <a:fld id="{659B2F21-D912-7541-8ED2-FD6ABD90B685}" type="slidenum">
              <a:rPr lang="en-US" smtClean="0"/>
              <a:t>16</a:t>
            </a:fld>
            <a:endParaRPr lang="en-US"/>
          </a:p>
        </p:txBody>
      </p:sp>
      <p:sp>
        <p:nvSpPr>
          <p:cNvPr id="4" name="TextBox 3">
            <a:extLst>
              <a:ext uri="{FF2B5EF4-FFF2-40B4-BE49-F238E27FC236}">
                <a16:creationId xmlns:a16="http://schemas.microsoft.com/office/drawing/2014/main" id="{AADC80F8-AEF6-6E25-87E7-400B717EB099}"/>
              </a:ext>
            </a:extLst>
          </p:cNvPr>
          <p:cNvSpPr txBox="1"/>
          <p:nvPr/>
        </p:nvSpPr>
        <p:spPr>
          <a:xfrm>
            <a:off x="590310" y="6038204"/>
            <a:ext cx="6670352" cy="461665"/>
          </a:xfrm>
          <a:prstGeom prst="rect">
            <a:avLst/>
          </a:prstGeom>
          <a:noFill/>
        </p:spPr>
        <p:txBody>
          <a:bodyPr wrap="none" rtlCol="0">
            <a:spAutoFit/>
          </a:bodyPr>
          <a:lstStyle/>
          <a:p>
            <a:r>
              <a:rPr lang="en-US" sz="2400" b="1">
                <a:solidFill>
                  <a:srgbClr val="0070C0"/>
                </a:solidFill>
              </a:rPr>
              <a:t>What is the definition of Open-set Recogntion?</a:t>
            </a:r>
          </a:p>
        </p:txBody>
      </p:sp>
      <p:sp>
        <p:nvSpPr>
          <p:cNvPr id="15" name="TextBox 14">
            <a:extLst>
              <a:ext uri="{FF2B5EF4-FFF2-40B4-BE49-F238E27FC236}">
                <a16:creationId xmlns:a16="http://schemas.microsoft.com/office/drawing/2014/main" id="{F8CA0028-AEA9-DE04-7273-2D527FCCACCE}"/>
              </a:ext>
            </a:extLst>
          </p:cNvPr>
          <p:cNvSpPr txBox="1"/>
          <p:nvPr/>
        </p:nvSpPr>
        <p:spPr>
          <a:xfrm>
            <a:off x="5088060" y="5592573"/>
            <a:ext cx="7103940" cy="338554"/>
          </a:xfrm>
          <a:prstGeom prst="rect">
            <a:avLst/>
          </a:prstGeom>
          <a:noFill/>
        </p:spPr>
        <p:txBody>
          <a:bodyPr wrap="square">
            <a:spAutoFit/>
          </a:bodyPr>
          <a:lstStyle/>
          <a:p>
            <a:r>
              <a:rPr lang="en-US" sz="1600" i="1"/>
              <a:t>Source: https://www.wjscheirer.com/projects/openset-recognition/</a:t>
            </a:r>
          </a:p>
        </p:txBody>
      </p:sp>
    </p:spTree>
    <p:extLst>
      <p:ext uri="{BB962C8B-B14F-4D97-AF65-F5344CB8AC3E}">
        <p14:creationId xmlns:p14="http://schemas.microsoft.com/office/powerpoint/2010/main" val="3699697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71886-AA8D-740D-69BC-8303BC209BE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9AF7967-1F8D-B165-ED59-148D0D4C0673}"/>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28974129-B38B-0C51-ED51-71F64A459139}"/>
              </a:ext>
            </a:extLst>
          </p:cNvPr>
          <p:cNvSpPr txBox="1"/>
          <p:nvPr/>
        </p:nvSpPr>
        <p:spPr>
          <a:xfrm>
            <a:off x="590310" y="1347401"/>
            <a:ext cx="10955866" cy="707886"/>
          </a:xfrm>
          <a:prstGeom prst="rect">
            <a:avLst/>
          </a:prstGeom>
          <a:noFill/>
        </p:spPr>
        <p:txBody>
          <a:bodyPr wrap="square">
            <a:spAutoFit/>
          </a:bodyPr>
          <a:lstStyle/>
          <a:p>
            <a:r>
              <a:rPr lang="en-US" sz="4000" b="1"/>
              <a:t>The deeper problem… </a:t>
            </a:r>
            <a:endParaRPr lang="en-US" b="1" dirty="0"/>
          </a:p>
        </p:txBody>
      </p:sp>
      <p:sp>
        <p:nvSpPr>
          <p:cNvPr id="6" name="Slide Number Placeholder 5">
            <a:extLst>
              <a:ext uri="{FF2B5EF4-FFF2-40B4-BE49-F238E27FC236}">
                <a16:creationId xmlns:a16="http://schemas.microsoft.com/office/drawing/2014/main" id="{811B57DC-DE46-0123-EB3B-06D9CE51E2B4}"/>
              </a:ext>
            </a:extLst>
          </p:cNvPr>
          <p:cNvSpPr>
            <a:spLocks noGrp="1"/>
          </p:cNvSpPr>
          <p:nvPr>
            <p:ph type="sldNum" sz="quarter" idx="12"/>
          </p:nvPr>
        </p:nvSpPr>
        <p:spPr/>
        <p:txBody>
          <a:bodyPr/>
          <a:lstStyle/>
          <a:p>
            <a:fld id="{659B2F21-D912-7541-8ED2-FD6ABD90B685}" type="slidenum">
              <a:rPr lang="en-US" smtClean="0"/>
              <a:t>17</a:t>
            </a:fld>
            <a:endParaRPr lang="en-US"/>
          </a:p>
        </p:txBody>
      </p:sp>
      <p:sp>
        <p:nvSpPr>
          <p:cNvPr id="2" name="TextBox 1">
            <a:extLst>
              <a:ext uri="{FF2B5EF4-FFF2-40B4-BE49-F238E27FC236}">
                <a16:creationId xmlns:a16="http://schemas.microsoft.com/office/drawing/2014/main" id="{2443DE01-80BF-FBD7-FF6B-5382E088E454}"/>
              </a:ext>
            </a:extLst>
          </p:cNvPr>
          <p:cNvSpPr txBox="1"/>
          <p:nvPr/>
        </p:nvSpPr>
        <p:spPr>
          <a:xfrm>
            <a:off x="590310" y="2208793"/>
            <a:ext cx="10763490" cy="2708434"/>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000"/>
              <a:t>Existing open-set recognition methods rely </a:t>
            </a:r>
            <a:r>
              <a:rPr lang="en-US" sz="2000" b="1" i="1">
                <a:solidFill>
                  <a:srgbClr val="0070C0"/>
                </a:solidFill>
              </a:rPr>
              <a:t>familiarity hypothesis</a:t>
            </a:r>
            <a:r>
              <a:rPr lang="en-US" sz="2000">
                <a:solidFill>
                  <a:srgbClr val="0070C0"/>
                </a:solidFill>
              </a:rPr>
              <a:t> </a:t>
            </a:r>
            <a:r>
              <a:rPr lang="en-US" sz="2000"/>
              <a:t>(Dietterich and Guyer, Pattern Recognition 2022) — </a:t>
            </a:r>
            <a:r>
              <a:rPr lang="en-US" sz="2000" i="1"/>
              <a:t>novelty is defined by the absence of familiar learned representations</a:t>
            </a:r>
          </a:p>
          <a:p>
            <a:pPr marL="285750" indent="-285750">
              <a:spcAft>
                <a:spcPts val="600"/>
              </a:spcAft>
              <a:buFont typeface="Arial" panose="020B0604020202020204" pitchFamily="34" charset="0"/>
              <a:buChar char="•"/>
            </a:pPr>
            <a:r>
              <a:rPr lang="en-US" sz="2000"/>
              <a:t>The COSTARR paper asks why networks behave the way they do and offers an alternative hypothesis: </a:t>
            </a:r>
            <a:r>
              <a:rPr lang="en-US" sz="2000" b="1" i="1">
                <a:solidFill>
                  <a:srgbClr val="0070C0"/>
                </a:solidFill>
              </a:rPr>
              <a:t>attenuation hypothesis</a:t>
            </a:r>
          </a:p>
          <a:p>
            <a:pPr marL="285750" indent="-285750">
              <a:spcAft>
                <a:spcPts val="600"/>
              </a:spcAft>
              <a:buFont typeface="Arial" panose="020B0604020202020204" pitchFamily="34" charset="0"/>
              <a:buChar char="•"/>
            </a:pPr>
            <a:r>
              <a:rPr lang="en-US" sz="2000"/>
              <a:t>The attenuation hypothesis view is that small weights learned during model training attenuate (weaken) certain features. While this helps separate known classes, it discards useful information needed to distinguish known data from unknown data.</a:t>
            </a:r>
            <a:endParaRPr lang="en-US" sz="2000" dirty="0">
              <a:solidFill>
                <a:srgbClr val="0070C0"/>
              </a:solidFill>
            </a:endParaRPr>
          </a:p>
        </p:txBody>
      </p:sp>
      <p:sp>
        <p:nvSpPr>
          <p:cNvPr id="7" name="TextBox 6">
            <a:extLst>
              <a:ext uri="{FF2B5EF4-FFF2-40B4-BE49-F238E27FC236}">
                <a16:creationId xmlns:a16="http://schemas.microsoft.com/office/drawing/2014/main" id="{24C03ED2-ED41-6DCC-8BA8-C96D39F25C9E}"/>
              </a:ext>
            </a:extLst>
          </p:cNvPr>
          <p:cNvSpPr txBox="1"/>
          <p:nvPr/>
        </p:nvSpPr>
        <p:spPr>
          <a:xfrm>
            <a:off x="837257" y="5070733"/>
            <a:ext cx="10461972" cy="1384995"/>
          </a:xfrm>
          <a:prstGeom prst="rect">
            <a:avLst/>
          </a:prstGeom>
          <a:noFill/>
        </p:spPr>
        <p:txBody>
          <a:bodyPr wrap="square">
            <a:spAutoFit/>
          </a:bodyPr>
          <a:lstStyle/>
          <a:p>
            <a:r>
              <a:rPr lang="en-US" sz="2800" b="1" i="1">
                <a:solidFill>
                  <a:srgbClr val="0070C0"/>
                </a:solidFill>
                <a:effectLst/>
                <a:latin typeface="+mn-lt"/>
              </a:rPr>
              <a:t>Biometric framing.</a:t>
            </a:r>
            <a:r>
              <a:rPr lang="en-US" sz="2800" b="0" i="0">
                <a:solidFill>
                  <a:schemeClr val="tx1"/>
                </a:solidFill>
                <a:effectLst/>
                <a:latin typeface="+mn-lt"/>
              </a:rPr>
              <a:t> Does the problem the paper addresses even exist in a cosine-similarity gallery system with no learned classifier layer?  </a:t>
            </a:r>
            <a:r>
              <a:rPr lang="en-US" sz="2800" b="1" i="0">
                <a:solidFill>
                  <a:schemeClr val="tx1"/>
                </a:solidFill>
                <a:effectLst/>
                <a:latin typeface="+mn-lt"/>
              </a:rPr>
              <a:t>Don’t Answer Yet…Just Think About It</a:t>
            </a:r>
            <a:endParaRPr lang="en-US" sz="2800"/>
          </a:p>
        </p:txBody>
      </p:sp>
    </p:spTree>
    <p:extLst>
      <p:ext uri="{BB962C8B-B14F-4D97-AF65-F5344CB8AC3E}">
        <p14:creationId xmlns:p14="http://schemas.microsoft.com/office/powerpoint/2010/main" val="699535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9C810-77C3-B76E-68A2-295831212DB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F53D453-84A4-4493-038D-4AB360D09181}"/>
              </a:ext>
            </a:extLst>
          </p:cNvPr>
          <p:cNvSpPr>
            <a:spLocks noGrp="1"/>
          </p:cNvSpPr>
          <p:nvPr>
            <p:ph type="sldNum" sz="quarter" idx="12"/>
          </p:nvPr>
        </p:nvSpPr>
        <p:spPr/>
        <p:txBody>
          <a:bodyPr/>
          <a:lstStyle/>
          <a:p>
            <a:fld id="{659B2F21-D912-7541-8ED2-FD6ABD90B685}" type="slidenum">
              <a:rPr lang="en-US" smtClean="0"/>
              <a:t>18</a:t>
            </a:fld>
            <a:endParaRPr lang="en-US"/>
          </a:p>
        </p:txBody>
      </p:sp>
      <p:sp>
        <p:nvSpPr>
          <p:cNvPr id="5" name="TextBox 4">
            <a:extLst>
              <a:ext uri="{FF2B5EF4-FFF2-40B4-BE49-F238E27FC236}">
                <a16:creationId xmlns:a16="http://schemas.microsoft.com/office/drawing/2014/main" id="{9BD64A02-29CD-FB88-8D37-B6B958200AF7}"/>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588D68B2-85A5-9397-4391-381CCF22EE8E}"/>
              </a:ext>
            </a:extLst>
          </p:cNvPr>
          <p:cNvSpPr txBox="1"/>
          <p:nvPr/>
        </p:nvSpPr>
        <p:spPr>
          <a:xfrm>
            <a:off x="610351" y="1532067"/>
            <a:ext cx="10955866" cy="984885"/>
          </a:xfrm>
          <a:prstGeom prst="rect">
            <a:avLst/>
          </a:prstGeom>
          <a:noFill/>
        </p:spPr>
        <p:txBody>
          <a:bodyPr wrap="square">
            <a:spAutoFit/>
          </a:bodyPr>
          <a:lstStyle/>
          <a:p>
            <a:r>
              <a:rPr lang="en-US" sz="4000" dirty="0"/>
              <a:t>What are some key ideas from the paper?</a:t>
            </a:r>
            <a:br>
              <a:rPr lang="en-US" sz="3200" dirty="0"/>
            </a:br>
            <a:endParaRPr lang="en-US" dirty="0"/>
          </a:p>
        </p:txBody>
      </p:sp>
      <p:pic>
        <p:nvPicPr>
          <p:cNvPr id="22" name="Picture 21">
            <a:extLst>
              <a:ext uri="{FF2B5EF4-FFF2-40B4-BE49-F238E27FC236}">
                <a16:creationId xmlns:a16="http://schemas.microsoft.com/office/drawing/2014/main" id="{CB6C0E17-902E-A3AF-07AD-A72CF01DF152}"/>
              </a:ext>
            </a:extLst>
          </p:cNvPr>
          <p:cNvPicPr>
            <a:picLocks noChangeAspect="1"/>
          </p:cNvPicPr>
          <p:nvPr/>
        </p:nvPicPr>
        <p:blipFill>
          <a:blip r:embed="rId3"/>
          <a:stretch>
            <a:fillRect/>
          </a:stretch>
        </p:blipFill>
        <p:spPr>
          <a:xfrm>
            <a:off x="357853" y="1997194"/>
            <a:ext cx="10995947" cy="3929386"/>
          </a:xfrm>
          <a:prstGeom prst="rect">
            <a:avLst/>
          </a:prstGeom>
        </p:spPr>
      </p:pic>
      <p:pic>
        <p:nvPicPr>
          <p:cNvPr id="24" name="Picture 23">
            <a:extLst>
              <a:ext uri="{FF2B5EF4-FFF2-40B4-BE49-F238E27FC236}">
                <a16:creationId xmlns:a16="http://schemas.microsoft.com/office/drawing/2014/main" id="{FAAA49A4-333B-87B8-7BCC-E77CD72958BE}"/>
              </a:ext>
            </a:extLst>
          </p:cNvPr>
          <p:cNvPicPr>
            <a:picLocks noChangeAspect="1"/>
          </p:cNvPicPr>
          <p:nvPr/>
        </p:nvPicPr>
        <p:blipFill>
          <a:blip r:embed="rId4"/>
          <a:stretch>
            <a:fillRect/>
          </a:stretch>
        </p:blipFill>
        <p:spPr>
          <a:xfrm>
            <a:off x="357853" y="4867605"/>
            <a:ext cx="5104304" cy="1524102"/>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6B9676F-BA94-2C47-6FC2-36B4A38B2AE2}"/>
                  </a:ext>
                </a:extLst>
              </p:cNvPr>
              <p:cNvSpPr txBox="1"/>
              <p:nvPr/>
            </p:nvSpPr>
            <p:spPr>
              <a:xfrm>
                <a:off x="6209146" y="4869725"/>
                <a:ext cx="5625001" cy="1486625"/>
              </a:xfrm>
              <a:prstGeom prst="rect">
                <a:avLst/>
              </a:prstGeom>
              <a:noFill/>
            </p:spPr>
            <p:txBody>
              <a:bodyPr wrap="none" rtlCol="0">
                <a:spAutoFit/>
              </a:bodyPr>
              <a:lstStyle/>
              <a:p>
                <a:pPr marL="285750" indent="-285750">
                  <a:buFont typeface="Arial" panose="020B0604020202020204" pitchFamily="34" charset="0"/>
                  <a:buChar char="•"/>
                </a:pPr>
                <a14:m>
                  <m:oMath xmlns:m="http://schemas.openxmlformats.org/officeDocument/2006/math">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𝜇</m:t>
                            </m:r>
                          </m:e>
                        </m:acc>
                      </m:e>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𝑗</m:t>
                            </m:r>
                          </m:sub>
                        </m:sSub>
                      </m:sub>
                    </m:sSub>
                  </m:oMath>
                </a14:m>
                <a:r>
                  <a:rPr lang="en-US" sz="2400"/>
                  <a:t> — precompute mean of </a:t>
                </a:r>
                <a:br>
                  <a:rPr lang="en-US" sz="2400" b="0" i="1">
                    <a:latin typeface="Cambria Math" panose="02040503050406030204" pitchFamily="18" charset="0"/>
                  </a:rPr>
                </a:b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𝑗</m:t>
                        </m:r>
                      </m:sub>
                    </m:sSub>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𝐶𝑜𝑛𝑐𝑎𝑡</m:t>
                    </m:r>
                    <m:r>
                      <a:rPr lang="en-US" sz="2400" b="0" i="1" smtClean="0">
                        <a:latin typeface="Cambria Math" panose="02040503050406030204" pitchFamily="18" charset="0"/>
                      </a:rPr>
                      <m:t>(</m:t>
                    </m:r>
                    <m:r>
                      <a:rPr lang="en-US" sz="2400" b="0" i="1" smtClean="0">
                        <a:latin typeface="Cambria Math" panose="02040503050406030204" pitchFamily="18" charset="0"/>
                      </a:rPr>
                      <m:t>𝐹</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𝐻</m:t>
                        </m:r>
                      </m:e>
                      <m:sub>
                        <m:r>
                          <a:rPr lang="en-US" sz="2400" b="0" i="1" smtClean="0">
                            <a:latin typeface="Cambria Math" panose="02040503050406030204" pitchFamily="18" charset="0"/>
                          </a:rPr>
                          <m:t>𝑗</m:t>
                        </m:r>
                      </m:sub>
                    </m:sSub>
                    <m:r>
                      <a:rPr lang="en-US" sz="2400" b="0" i="1" smtClean="0">
                        <a:latin typeface="Cambria Math" panose="02040503050406030204" pitchFamily="18" charset="0"/>
                      </a:rPr>
                      <m:t>)</m:t>
                    </m:r>
                  </m:oMath>
                </a14:m>
                <a:endParaRPr lang="en-US" sz="2400"/>
              </a:p>
              <a:p>
                <a:pPr marL="285750" indent="-285750">
                  <a:buFont typeface="Arial" panose="020B0604020202020204" pitchFamily="34" charset="0"/>
                  <a:buChar char="•"/>
                </a:pP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𝜆</m:t>
                        </m:r>
                      </m:e>
                      <m:sub>
                        <m:r>
                          <a:rPr lang="en-US" sz="2400" b="0" i="1" smtClean="0">
                            <a:latin typeface="Cambria Math" panose="02040503050406030204" pitchFamily="18" charset="0"/>
                          </a:rPr>
                          <m:t>𝑚</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limLow>
                          <m:limLowPr>
                            <m:ctrlPr>
                              <a:rPr lang="en-US" sz="2400" b="0" i="0" smtClean="0">
                                <a:latin typeface="Cambria Math" panose="02040503050406030204" pitchFamily="18" charset="0"/>
                              </a:rPr>
                            </m:ctrlPr>
                          </m:limLowPr>
                          <m:e>
                            <m:r>
                              <m:rPr>
                                <m:sty m:val="p"/>
                              </m:rPr>
                              <a:rPr lang="en-US" sz="2400" b="0" i="0" smtClean="0">
                                <a:latin typeface="Cambria Math" panose="02040503050406030204" pitchFamily="18" charset="0"/>
                              </a:rPr>
                              <m:t>max</m:t>
                            </m:r>
                          </m:e>
                          <m:lim>
                            <m:r>
                              <a:rPr lang="en-US" sz="2400" b="0" i="1" smtClean="0">
                                <a:latin typeface="Cambria Math" panose="02040503050406030204" pitchFamily="18" charset="0"/>
                              </a:rPr>
                              <m:t>𝑗</m:t>
                            </m:r>
                          </m:lim>
                        </m:limLow>
                      </m:fName>
                      <m:e>
                        <m:r>
                          <a:rPr lang="en-US" sz="2400" b="0" i="1" smtClean="0">
                            <a:latin typeface="Cambria Math" panose="02040503050406030204" pitchFamily="18" charset="0"/>
                          </a:rPr>
                          <m:t>𝐺𝑁𝐿</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𝑙</m:t>
                                </m:r>
                              </m:e>
                              <m:sub>
                                <m:r>
                                  <a:rPr lang="en-US" sz="2400" b="0" i="1" smtClean="0">
                                    <a:latin typeface="Cambria Math" panose="02040503050406030204" pitchFamily="18" charset="0"/>
                                  </a:rPr>
                                  <m:t>𝑗</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e>
                        </m:d>
                      </m:e>
                    </m:func>
                  </m:oMath>
                </a14:m>
                <a:endParaRPr lang="en-US" sz="2400"/>
              </a:p>
            </p:txBody>
          </p:sp>
        </mc:Choice>
        <mc:Fallback xmlns="">
          <p:sp>
            <p:nvSpPr>
              <p:cNvPr id="25" name="TextBox 24">
                <a:extLst>
                  <a:ext uri="{FF2B5EF4-FFF2-40B4-BE49-F238E27FC236}">
                    <a16:creationId xmlns:a16="http://schemas.microsoft.com/office/drawing/2014/main" id="{06B9676F-BA94-2C47-6FC2-36B4A38B2AE2}"/>
                  </a:ext>
                </a:extLst>
              </p:cNvPr>
              <p:cNvSpPr txBox="1">
                <a:spLocks noRot="1" noChangeAspect="1" noMove="1" noResize="1" noEditPoints="1" noAdjustHandles="1" noChangeArrowheads="1" noChangeShapeType="1" noTextEdit="1"/>
              </p:cNvSpPr>
              <p:nvPr/>
            </p:nvSpPr>
            <p:spPr>
              <a:xfrm>
                <a:off x="6209146" y="4869725"/>
                <a:ext cx="5625001" cy="1486625"/>
              </a:xfrm>
              <a:prstGeom prst="rect">
                <a:avLst/>
              </a:prstGeom>
              <a:blipFill>
                <a:blip r:embed="rId5"/>
                <a:stretch>
                  <a:fillRect l="-1580" t="-2542" b="-847"/>
                </a:stretch>
              </a:blipFill>
            </p:spPr>
            <p:txBody>
              <a:bodyPr/>
              <a:lstStyle/>
              <a:p>
                <a:r>
                  <a:rPr lang="en-US">
                    <a:noFill/>
                  </a:rPr>
                  <a:t> </a:t>
                </a:r>
              </a:p>
            </p:txBody>
          </p:sp>
        </mc:Fallback>
      </mc:AlternateContent>
    </p:spTree>
    <p:extLst>
      <p:ext uri="{BB962C8B-B14F-4D97-AF65-F5344CB8AC3E}">
        <p14:creationId xmlns:p14="http://schemas.microsoft.com/office/powerpoint/2010/main" val="954452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C4959-0EE9-4608-807A-01E05DB405F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6572E01-6F27-6E76-C58A-3DAB77EC4B53}"/>
              </a:ext>
            </a:extLst>
          </p:cNvPr>
          <p:cNvSpPr>
            <a:spLocks noGrp="1"/>
          </p:cNvSpPr>
          <p:nvPr>
            <p:ph type="sldNum" sz="quarter" idx="12"/>
          </p:nvPr>
        </p:nvSpPr>
        <p:spPr/>
        <p:txBody>
          <a:bodyPr/>
          <a:lstStyle/>
          <a:p>
            <a:fld id="{659B2F21-D912-7541-8ED2-FD6ABD90B685}" type="slidenum">
              <a:rPr lang="en-US" smtClean="0"/>
              <a:t>19</a:t>
            </a:fld>
            <a:endParaRPr lang="en-US"/>
          </a:p>
        </p:txBody>
      </p:sp>
      <p:sp>
        <p:nvSpPr>
          <p:cNvPr id="5" name="TextBox 4">
            <a:extLst>
              <a:ext uri="{FF2B5EF4-FFF2-40B4-BE49-F238E27FC236}">
                <a16:creationId xmlns:a16="http://schemas.microsoft.com/office/drawing/2014/main" id="{85F51059-DA83-CFBC-CD16-2D9B7A227ECD}"/>
              </a:ext>
            </a:extLst>
          </p:cNvPr>
          <p:cNvSpPr txBox="1"/>
          <p:nvPr/>
        </p:nvSpPr>
        <p:spPr>
          <a:xfrm>
            <a:off x="590310" y="486009"/>
            <a:ext cx="10995948" cy="707886"/>
          </a:xfrm>
          <a:prstGeom prst="rect">
            <a:avLst/>
          </a:prstGeom>
          <a:noFill/>
        </p:spPr>
        <p:txBody>
          <a:bodyPr wrap="square" rtlCol="0">
            <a:spAutoFit/>
          </a:bodyPr>
          <a:lstStyle/>
          <a:p>
            <a:r>
              <a:rPr lang="en-US" sz="4000" b="1">
                <a:solidFill>
                  <a:srgbClr val="0070C0"/>
                </a:solidFill>
              </a:rPr>
              <a:t>What exactly is thrown away?</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CC357DC-AE13-1204-A3A3-CE02D3E35173}"/>
                  </a:ext>
                </a:extLst>
              </p:cNvPr>
              <p:cNvSpPr txBox="1"/>
              <p:nvPr/>
            </p:nvSpPr>
            <p:spPr>
              <a:xfrm>
                <a:off x="397934" y="1732789"/>
                <a:ext cx="10955866" cy="3076740"/>
              </a:xfrm>
              <a:prstGeom prst="rect">
                <a:avLst/>
              </a:prstGeom>
              <a:noFill/>
            </p:spPr>
            <p:txBody>
              <a:bodyPr wrap="square">
                <a:spAutoFit/>
              </a:bodyPr>
              <a:lstStyle/>
              <a:p>
                <a:r>
                  <a:rPr lang="en-US" sz="2400" b="1" dirty="0"/>
                  <a:t>Mechanism</a:t>
                </a:r>
              </a:p>
              <a:p>
                <a:endParaRPr lang="en-US" sz="2400" b="1" dirty="0"/>
              </a:p>
              <a:p>
                <a:pPr marL="342900" indent="-342900">
                  <a:buFont typeface="Arial" panose="020B0604020202020204" pitchFamily="34" charset="0"/>
                  <a:buChar char="•"/>
                </a:pPr>
                <a:r>
                  <a:rPr lang="en-US" sz="2400"/>
                  <a:t>Weights near zero suppress their corresponding feature dimensions before summation, so those dimensions contribute almost nothing to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rPr>
                          <m:t>𝑙</m:t>
                        </m:r>
                      </m:e>
                      <m:sub>
                        <m:r>
                          <a:rPr lang="en-US" sz="2400" i="1" smtClean="0">
                            <a:latin typeface="Cambria Math" panose="02040503050406030204" pitchFamily="18" charset="0"/>
                          </a:rPr>
                          <m:t>𝑗</m:t>
                        </m:r>
                      </m:sub>
                    </m:sSub>
                  </m:oMath>
                </a14:m>
                <a:r>
                  <a:rPr lang="en-US" sz="2400"/>
                  <a:t> — yet their responses still encode information about the sample</a:t>
                </a:r>
              </a:p>
              <a:p>
                <a:pPr marL="342900" indent="-342900">
                  <a:buFont typeface="Arial" panose="020B0604020202020204" pitchFamily="34" charset="0"/>
                  <a:buChar char="•"/>
                </a:pPr>
                <a:endParaRPr lang="en-US" sz="2400"/>
              </a:p>
              <a:p>
                <a:pPr marL="342900" indent="-342900">
                  <a:buFont typeface="Arial" panose="020B0604020202020204" pitchFamily="34" charset="0"/>
                  <a:buChar char="•"/>
                </a:pPr>
                <a:r>
                  <a:rPr lang="en-US" sz="2400"/>
                  <a:t>Unknowns "often exhibit unexpected activation patterns in these attenuated dimensions" </a:t>
                </a:r>
                <a:endParaRPr lang="en-US" sz="2400" dirty="0"/>
              </a:p>
            </p:txBody>
          </p:sp>
        </mc:Choice>
        <mc:Fallback xmlns="">
          <p:sp>
            <p:nvSpPr>
              <p:cNvPr id="3" name="TextBox 2">
                <a:extLst>
                  <a:ext uri="{FF2B5EF4-FFF2-40B4-BE49-F238E27FC236}">
                    <a16:creationId xmlns:a16="http://schemas.microsoft.com/office/drawing/2014/main" id="{0CC357DC-AE13-1204-A3A3-CE02D3E35173}"/>
                  </a:ext>
                </a:extLst>
              </p:cNvPr>
              <p:cNvSpPr txBox="1">
                <a:spLocks noRot="1" noChangeAspect="1" noMove="1" noResize="1" noEditPoints="1" noAdjustHandles="1" noChangeArrowheads="1" noChangeShapeType="1" noTextEdit="1"/>
              </p:cNvSpPr>
              <p:nvPr/>
            </p:nvSpPr>
            <p:spPr>
              <a:xfrm>
                <a:off x="397934" y="1732789"/>
                <a:ext cx="10955866" cy="3076740"/>
              </a:xfrm>
              <a:prstGeom prst="rect">
                <a:avLst/>
              </a:prstGeom>
              <a:blipFill>
                <a:blip r:embed="rId3"/>
                <a:stretch>
                  <a:fillRect l="-810" t="-1646" b="-3704"/>
                </a:stretch>
              </a:blipFill>
            </p:spPr>
            <p:txBody>
              <a:bodyPr/>
              <a:lstStyle/>
              <a:p>
                <a:r>
                  <a:rPr lang="en-US">
                    <a:noFill/>
                  </a:rPr>
                  <a:t> </a:t>
                </a:r>
              </a:p>
            </p:txBody>
          </p:sp>
        </mc:Fallback>
      </mc:AlternateContent>
    </p:spTree>
    <p:extLst>
      <p:ext uri="{BB962C8B-B14F-4D97-AF65-F5344CB8AC3E}">
        <p14:creationId xmlns:p14="http://schemas.microsoft.com/office/powerpoint/2010/main" val="1925601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64879-7BFC-D12C-E79C-FD4A50559A6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E93BCD-1175-DDA5-04FF-61C24B68DA5E}"/>
              </a:ext>
            </a:extLst>
          </p:cNvPr>
          <p:cNvSpPr>
            <a:spLocks noGrp="1"/>
          </p:cNvSpPr>
          <p:nvPr>
            <p:ph type="sldNum" sz="quarter" idx="12"/>
          </p:nvPr>
        </p:nvSpPr>
        <p:spPr/>
        <p:txBody>
          <a:bodyPr/>
          <a:lstStyle/>
          <a:p>
            <a:fld id="{659B2F21-D912-7541-8ED2-FD6ABD90B685}" type="slidenum">
              <a:rPr lang="en-US" smtClean="0"/>
              <a:t>20</a:t>
            </a:fld>
            <a:endParaRPr lang="en-US"/>
          </a:p>
        </p:txBody>
      </p:sp>
      <p:sp>
        <p:nvSpPr>
          <p:cNvPr id="5" name="TextBox 4">
            <a:extLst>
              <a:ext uri="{FF2B5EF4-FFF2-40B4-BE49-F238E27FC236}">
                <a16:creationId xmlns:a16="http://schemas.microsoft.com/office/drawing/2014/main" id="{C54FE66A-B5C5-F391-2457-C63A19587ED5}"/>
              </a:ext>
            </a:extLst>
          </p:cNvPr>
          <p:cNvSpPr txBox="1"/>
          <p:nvPr/>
        </p:nvSpPr>
        <p:spPr>
          <a:xfrm>
            <a:off x="590310" y="486009"/>
            <a:ext cx="10995948" cy="707886"/>
          </a:xfrm>
          <a:prstGeom prst="rect">
            <a:avLst/>
          </a:prstGeom>
          <a:noFill/>
        </p:spPr>
        <p:txBody>
          <a:bodyPr wrap="square" rtlCol="0">
            <a:spAutoFit/>
          </a:bodyPr>
          <a:lstStyle/>
          <a:p>
            <a:r>
              <a:rPr lang="en-US" sz="4000" b="1">
                <a:solidFill>
                  <a:srgbClr val="0070C0"/>
                </a:solidFill>
              </a:rPr>
              <a:t>What exactly is thrown away?</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FCD341A-66D7-6881-0424-0A56EA5178F1}"/>
                  </a:ext>
                </a:extLst>
              </p:cNvPr>
              <p:cNvGraphicFramePr>
                <a:graphicFrameLocks noGrp="1"/>
              </p:cNvGraphicFramePr>
              <p:nvPr/>
            </p:nvGraphicFramePr>
            <p:xfrm>
              <a:off x="838200" y="1509248"/>
              <a:ext cx="10995948" cy="3824752"/>
            </p:xfrm>
            <a:graphic>
              <a:graphicData uri="http://schemas.openxmlformats.org/drawingml/2006/table">
                <a:tbl>
                  <a:tblPr>
                    <a:tableStyleId>{5C22544A-7EE6-4342-B048-85BDC9FD1C3A}</a:tableStyleId>
                  </a:tblPr>
                  <a:tblGrid>
                    <a:gridCol w="3665316">
                      <a:extLst>
                        <a:ext uri="{9D8B030D-6E8A-4147-A177-3AD203B41FA5}">
                          <a16:colId xmlns:a16="http://schemas.microsoft.com/office/drawing/2014/main" val="277425708"/>
                        </a:ext>
                      </a:extLst>
                    </a:gridCol>
                    <a:gridCol w="3665316">
                      <a:extLst>
                        <a:ext uri="{9D8B030D-6E8A-4147-A177-3AD203B41FA5}">
                          <a16:colId xmlns:a16="http://schemas.microsoft.com/office/drawing/2014/main" val="411447332"/>
                        </a:ext>
                      </a:extLst>
                    </a:gridCol>
                    <a:gridCol w="3665316">
                      <a:extLst>
                        <a:ext uri="{9D8B030D-6E8A-4147-A177-3AD203B41FA5}">
                          <a16:colId xmlns:a16="http://schemas.microsoft.com/office/drawing/2014/main" val="709294356"/>
                        </a:ext>
                      </a:extLst>
                    </a:gridCol>
                  </a:tblGrid>
                  <a:tr h="259572">
                    <a:tc>
                      <a:txBody>
                        <a:bodyPr/>
                        <a:lstStyle/>
                        <a:p>
                          <a:pPr algn="l">
                            <a:buNone/>
                          </a:pPr>
                          <a:r>
                            <a:rPr lang="en-US" sz="2000" b="1">
                              <a:effectLst/>
                            </a:rPr>
                            <a:t>Choice</a:t>
                          </a:r>
                          <a:endParaRPr lang="en-US" sz="2000" b="1" i="0">
                            <a:solidFill>
                              <a:srgbClr val="161C24"/>
                            </a:solidFill>
                            <a:effectLst/>
                            <a:latin typeface="-apple-system"/>
                          </a:endParaRPr>
                        </a:p>
                      </a:txBody>
                      <a:tcPr marL="58994" marR="58994" marT="58994" marB="58994" anchor="ctr">
                        <a:noFill/>
                      </a:tcPr>
                    </a:tc>
                    <a:tc>
                      <a:txBody>
                        <a:bodyPr/>
                        <a:lstStyle/>
                        <a:p>
                          <a:pPr algn="l">
                            <a:buNone/>
                          </a:pPr>
                          <a:r>
                            <a:rPr lang="en-US" sz="2000" b="1">
                              <a:effectLst/>
                            </a:rPr>
                            <a:t>Paper's justification</a:t>
                          </a:r>
                          <a:endParaRPr lang="en-US" sz="2000" b="1" i="0">
                            <a:solidFill>
                              <a:srgbClr val="161C24"/>
                            </a:solidFill>
                            <a:effectLst/>
                            <a:latin typeface="-apple-system"/>
                          </a:endParaRPr>
                        </a:p>
                      </a:txBody>
                      <a:tcPr marL="58994" marR="58994" marT="58994" marB="58994" anchor="ctr">
                        <a:noFill/>
                      </a:tcPr>
                    </a:tc>
                    <a:tc>
                      <a:txBody>
                        <a:bodyPr/>
                        <a:lstStyle/>
                        <a:p>
                          <a:pPr algn="l">
                            <a:buNone/>
                          </a:pPr>
                          <a:r>
                            <a:rPr lang="en-US" sz="2000" b="1">
                              <a:effectLst/>
                            </a:rPr>
                            <a:t>Pressure to apply</a:t>
                          </a:r>
                          <a:endParaRPr lang="en-US" sz="2000" b="1" i="0">
                            <a:solidFill>
                              <a:srgbClr val="161C24"/>
                            </a:solidFill>
                            <a:effectLst/>
                            <a:latin typeface="-apple-system"/>
                          </a:endParaRPr>
                        </a:p>
                      </a:txBody>
                      <a:tcPr marL="58994" marR="58994" marT="58994" marB="58994" anchor="ctr">
                        <a:noFill/>
                      </a:tcPr>
                    </a:tc>
                    <a:extLst>
                      <a:ext uri="{0D108BD9-81ED-4DB2-BD59-A6C34878D82A}">
                        <a16:rowId xmlns:a16="http://schemas.microsoft.com/office/drawing/2014/main" val="2888043491"/>
                      </a:ext>
                    </a:extLst>
                  </a:tr>
                  <a:tr h="401156">
                    <a:tc>
                      <a:txBody>
                        <a:bodyPr/>
                        <a:lstStyle/>
                        <a:p>
                          <a:pPr algn="l">
                            <a:buNone/>
                          </a:pPr>
                          <a:r>
                            <a:rPr lang="en-US" sz="2000">
                              <a:effectLst/>
                            </a:rPr>
                            <a:t>Global min–max, not per-instance normalization or softmax</a:t>
                          </a:r>
                          <a:endParaRPr lang="en-US" sz="2000" b="0" i="0">
                            <a:solidFill>
                              <a:srgbClr val="161C24"/>
                            </a:solidFill>
                            <a:effectLst/>
                            <a:latin typeface="-apple-system"/>
                          </a:endParaRPr>
                        </a:p>
                      </a:txBody>
                      <a:tcPr marL="58994" marR="58994" marT="58994" marB="58994" anchor="ctr">
                        <a:noFill/>
                      </a:tcPr>
                    </a:tc>
                    <a:tc>
                      <a:txBody>
                        <a:bodyPr/>
                        <a:lstStyle/>
                        <a:p>
                          <a:pPr algn="l">
                            <a:buNone/>
                          </a:pPr>
                          <a:r>
                            <a:rPr lang="en-US" sz="2000">
                              <a:effectLst/>
                            </a:rPr>
                            <a:t>"there is important information in the relative scale of logits, e.g. smaller versions of object will often have smaller logits" [doc6]</a:t>
                          </a:r>
                          <a:endParaRPr lang="en-US" sz="2000" b="0" i="0">
                            <a:solidFill>
                              <a:srgbClr val="161C24"/>
                            </a:solidFill>
                            <a:effectLst/>
                            <a:latin typeface="-apple-system"/>
                          </a:endParaRPr>
                        </a:p>
                      </a:txBody>
                      <a:tcPr marL="58994" marR="58994" marT="58994" marB="58994" anchor="ctr">
                        <a:noFill/>
                      </a:tcPr>
                    </a:tc>
                    <a:tc>
                      <a:txBody>
                        <a:bodyPr/>
                        <a:lstStyle/>
                        <a:p>
                          <a:pPr algn="l">
                            <a:buNone/>
                          </a:pPr>
                          <a:r>
                            <a:rPr lang="en-US" sz="2000">
                              <a:effectLst/>
                            </a:rPr>
                            <a:t>Then the score is not invariant to the scale of the input object — is that a feature or a confound?</a:t>
                          </a:r>
                          <a:endParaRPr lang="en-US" sz="2000" b="0" i="0">
                            <a:solidFill>
                              <a:srgbClr val="161C24"/>
                            </a:solidFill>
                            <a:effectLst/>
                            <a:latin typeface="-apple-system"/>
                          </a:endParaRPr>
                        </a:p>
                      </a:txBody>
                      <a:tcPr marL="58994" marR="58994" marT="58994" marB="58994" anchor="ctr">
                        <a:noFill/>
                      </a:tcPr>
                    </a:tc>
                    <a:extLst>
                      <a:ext uri="{0D108BD9-81ED-4DB2-BD59-A6C34878D82A}">
                        <a16:rowId xmlns:a16="http://schemas.microsoft.com/office/drawing/2014/main" val="2189725134"/>
                      </a:ext>
                    </a:extLst>
                  </a:tr>
                  <a:tr h="542741">
                    <a:tc>
                      <a:txBody>
                        <a:bodyPr/>
                        <a:lstStyle/>
                        <a:p>
                          <a:pPr algn="l">
                            <a:buNone/>
                          </a:pPr>
                          <a14:m>
                            <m:oMath xmlns:m="http://schemas.openxmlformats.org/officeDocument/2006/math">
                              <m:sSub>
                                <m:sSubPr>
                                  <m:ctrlPr>
                                    <a:rPr lang="en-US" sz="2000" b="0" i="1" smtClean="0">
                                      <a:effectLst/>
                                      <a:latin typeface="Cambria Math" panose="02040503050406030204" pitchFamily="18" charset="0"/>
                                    </a:rPr>
                                  </m:ctrlPr>
                                </m:sSubPr>
                                <m:e>
                                  <m:r>
                                    <a:rPr lang="en-US" sz="2000" b="0" i="1" smtClean="0">
                                      <a:effectLst/>
                                      <a:latin typeface="Cambria Math" panose="02040503050406030204" pitchFamily="18" charset="0"/>
                                    </a:rPr>
                                    <m:t>𝑙</m:t>
                                  </m:r>
                                </m:e>
                                <m:sub>
                                  <m:r>
                                    <a:rPr lang="en-US" sz="2000" b="0" i="1" smtClean="0">
                                      <a:effectLst/>
                                      <a:latin typeface="Cambria Math" panose="02040503050406030204" pitchFamily="18" charset="0"/>
                                    </a:rPr>
                                    <m:t>𝑡</m:t>
                                  </m:r>
                                  <m:r>
                                    <a:rPr lang="en-US" sz="2000" b="0" i="1" smtClean="0">
                                      <a:effectLst/>
                                      <a:latin typeface="Cambria Math" panose="02040503050406030204" pitchFamily="18" charset="0"/>
                                    </a:rPr>
                                    <m:t> </m:t>
                                  </m:r>
                                  <m:r>
                                    <a:rPr lang="en-US" sz="2000" b="0" i="1" smtClean="0">
                                      <a:effectLst/>
                                      <a:latin typeface="Cambria Math" panose="02040503050406030204" pitchFamily="18" charset="0"/>
                                    </a:rPr>
                                    <m:t>𝑚𝑖𝑛</m:t>
                                  </m:r>
                                </m:sub>
                              </m:sSub>
                            </m:oMath>
                          </a14:m>
                          <a:r>
                            <a:rPr lang="en-US" sz="2000">
                              <a:effectLst/>
                            </a:rPr>
                            <a:t>, </a:t>
                          </a:r>
                          <a14:m>
                            <m:oMath xmlns:m="http://schemas.openxmlformats.org/officeDocument/2006/math">
                              <m:sSub>
                                <m:sSubPr>
                                  <m:ctrlPr>
                                    <a:rPr lang="en-US" sz="2000" b="0" i="1" smtClean="0">
                                      <a:effectLst/>
                                      <a:latin typeface="Cambria Math" panose="02040503050406030204" pitchFamily="18" charset="0"/>
                                    </a:rPr>
                                  </m:ctrlPr>
                                </m:sSubPr>
                                <m:e>
                                  <m:r>
                                    <a:rPr lang="en-US" sz="2000" b="0" i="1" smtClean="0">
                                      <a:effectLst/>
                                      <a:latin typeface="Cambria Math" panose="02040503050406030204" pitchFamily="18" charset="0"/>
                                    </a:rPr>
                                    <m:t>𝑙</m:t>
                                  </m:r>
                                </m:e>
                                <m:sub>
                                  <m:r>
                                    <a:rPr lang="en-US" sz="2000" b="0" i="1" smtClean="0">
                                      <a:effectLst/>
                                      <a:latin typeface="Cambria Math" panose="02040503050406030204" pitchFamily="18" charset="0"/>
                                    </a:rPr>
                                    <m:t>𝑡</m:t>
                                  </m:r>
                                  <m:r>
                                    <a:rPr lang="en-US" sz="2000" b="0" i="1" smtClean="0">
                                      <a:effectLst/>
                                      <a:latin typeface="Cambria Math" panose="02040503050406030204" pitchFamily="18" charset="0"/>
                                    </a:rPr>
                                    <m:t> </m:t>
                                  </m:r>
                                  <m:r>
                                    <a:rPr lang="en-US" sz="2000" b="0" i="1" smtClean="0">
                                      <a:effectLst/>
                                      <a:latin typeface="Cambria Math" panose="02040503050406030204" pitchFamily="18" charset="0"/>
                                    </a:rPr>
                                    <m:t>𝑚𝑎𝑥</m:t>
                                  </m:r>
                                </m:sub>
                              </m:sSub>
                            </m:oMath>
                          </a14:m>
                          <a:r>
                            <a:rPr lang="en-US" sz="2000">
                              <a:effectLst/>
                            </a:rPr>
                            <a:t> from correctly classified training data</a:t>
                          </a:r>
                          <a:endParaRPr lang="en-US" sz="2000" b="0" i="0">
                            <a:solidFill>
                              <a:srgbClr val="161C24"/>
                            </a:solidFill>
                            <a:effectLst/>
                            <a:latin typeface="-apple-system"/>
                          </a:endParaRPr>
                        </a:p>
                      </a:txBody>
                      <a:tcPr marL="58994" marR="58994" marT="58994" marB="58994" anchor="ctr">
                        <a:noFill/>
                      </a:tcPr>
                    </a:tc>
                    <a:tc>
                      <a:txBody>
                        <a:bodyPr/>
                        <a:lstStyle/>
                        <a:p>
                          <a:pPr algn="l">
                            <a:buNone/>
                          </a:pPr>
                          <a:r>
                            <a:rPr lang="en-US" sz="2000">
                              <a:effectLst/>
                            </a:rPr>
                            <a:t>Keeps the normalizer tied to the known distribution</a:t>
                          </a:r>
                          <a:endParaRPr lang="en-US" sz="2000" b="0" i="0">
                            <a:solidFill>
                              <a:srgbClr val="161C24"/>
                            </a:solidFill>
                            <a:effectLst/>
                            <a:latin typeface="-apple-system"/>
                          </a:endParaRPr>
                        </a:p>
                      </a:txBody>
                      <a:tcPr marL="58994" marR="58994" marT="58994" marB="58994" anchor="ctr">
                        <a:noFill/>
                      </a:tcPr>
                    </a:tc>
                    <a:tc>
                      <a:txBody>
                        <a:bodyPr/>
                        <a:lstStyle/>
                        <a:p>
                          <a:pPr algn="l">
                            <a:buNone/>
                          </a:pPr>
                          <a:r>
                            <a:rPr lang="en-US" sz="2000">
                              <a:effectLst/>
                            </a:rPr>
                            <a:t>Two global scalars estimated from extremes</a:t>
                          </a:r>
                          <a:endParaRPr lang="en-US" sz="2000" b="0" i="0">
                            <a:solidFill>
                              <a:srgbClr val="161C24"/>
                            </a:solidFill>
                            <a:effectLst/>
                            <a:latin typeface="-apple-system"/>
                          </a:endParaRPr>
                        </a:p>
                      </a:txBody>
                      <a:tcPr marL="58994" marR="58994" marT="58994" marB="58994" anchor="ctr">
                        <a:noFill/>
                      </a:tcPr>
                    </a:tc>
                    <a:extLst>
                      <a:ext uri="{0D108BD9-81ED-4DB2-BD59-A6C34878D82A}">
                        <a16:rowId xmlns:a16="http://schemas.microsoft.com/office/drawing/2014/main" val="3816354445"/>
                      </a:ext>
                    </a:extLst>
                  </a:tr>
                  <a:tr h="401156">
                    <a:tc>
                      <a:txBody>
                        <a:bodyPr/>
                        <a:lstStyle/>
                        <a:p>
                          <a:pPr algn="l">
                            <a:buNone/>
                          </a:pPr>
                          <a:r>
                            <a:rPr lang="en-US" sz="2000">
                              <a:effectLst/>
                            </a:rPr>
                            <a:t>Multiply by </a:t>
                          </a:r>
                          <a14:m>
                            <m:oMath xmlns:m="http://schemas.openxmlformats.org/officeDocument/2006/math">
                              <m:sSub>
                                <m:sSubPr>
                                  <m:ctrlPr>
                                    <a:rPr lang="en-US" sz="2000" b="0" i="1" smtClean="0">
                                      <a:effectLst/>
                                      <a:latin typeface="Cambria Math" panose="02040503050406030204" pitchFamily="18" charset="0"/>
                                    </a:rPr>
                                  </m:ctrlPr>
                                </m:sSubPr>
                                <m:e>
                                  <m:r>
                                    <a:rPr lang="en-US" sz="2000" b="0" i="1" smtClean="0">
                                      <a:effectLst/>
                                      <a:latin typeface="Cambria Math" panose="02040503050406030204" pitchFamily="18" charset="0"/>
                                    </a:rPr>
                                    <m:t>𝜆</m:t>
                                  </m:r>
                                </m:e>
                                <m:sub>
                                  <m:r>
                                    <a:rPr lang="en-US" sz="2000" i="1" smtClean="0">
                                      <a:effectLst/>
                                      <a:latin typeface="Cambria Math" panose="02040503050406030204" pitchFamily="18" charset="0"/>
                                    </a:rPr>
                                    <m:t>𝑚</m:t>
                                  </m:r>
                                </m:sub>
                              </m:sSub>
                            </m:oMath>
                          </a14:m>
                          <a:r>
                            <a:rPr lang="en-US" sz="2000">
                              <a:effectLst/>
                            </a:rPr>
                            <a:t> rather than add or gate</a:t>
                          </a:r>
                          <a:endParaRPr lang="en-US" sz="2000" b="0" i="0">
                            <a:solidFill>
                              <a:srgbClr val="161C24"/>
                            </a:solidFill>
                            <a:effectLst/>
                            <a:latin typeface="-apple-system"/>
                          </a:endParaRPr>
                        </a:p>
                      </a:txBody>
                      <a:tcPr marL="58994" marR="58994" marT="58994" marB="58994" anchor="ctr">
                        <a:noFill/>
                      </a:tcPr>
                    </a:tc>
                    <a:tc>
                      <a:txBody>
                        <a:bodyPr/>
                        <a:lstStyle/>
                        <a:p>
                          <a:pPr algn="l">
                            <a:buNone/>
                          </a:pPr>
                          <a:r>
                            <a:rPr lang="en-US" sz="2000">
                              <a:effectLst/>
                            </a:rPr>
                            <a:t>It "cancels out the denominator" in the conditional-probability expansion</a:t>
                          </a:r>
                          <a:endParaRPr lang="en-US" sz="2000" b="0" i="0">
                            <a:solidFill>
                              <a:srgbClr val="161C24"/>
                            </a:solidFill>
                            <a:effectLst/>
                            <a:latin typeface="-apple-system"/>
                          </a:endParaRPr>
                        </a:p>
                      </a:txBody>
                      <a:tcPr marL="58994" marR="58994" marT="58994" marB="58994" anchor="ctr">
                        <a:noFill/>
                      </a:tcPr>
                    </a:tc>
                    <a:tc>
                      <a:txBody>
                        <a:bodyPr/>
                        <a:lstStyle/>
                        <a:p>
                          <a:pPr algn="l">
                            <a:buNone/>
                          </a:pPr>
                          <a:r>
                            <a:rPr lang="en-US" sz="2000">
                              <a:effectLst/>
                            </a:rPr>
                            <a:t>Does cancellation require the approximation </a:t>
                          </a:r>
                          <a14:m>
                            <m:oMath xmlns:m="http://schemas.openxmlformats.org/officeDocument/2006/math">
                              <m:sSub>
                                <m:sSubPr>
                                  <m:ctrlPr>
                                    <a:rPr lang="en-US" sz="2000" i="1" smtClean="0">
                                      <a:effectLst/>
                                      <a:latin typeface="Cambria Math" panose="02040503050406030204" pitchFamily="18" charset="0"/>
                                    </a:rPr>
                                  </m:ctrlPr>
                                </m:sSubPr>
                                <m:e>
                                  <m:r>
                                    <a:rPr lang="en-US" sz="2000" i="1" smtClean="0">
                                      <a:effectLst/>
                                      <a:latin typeface="Cambria Math" panose="02040503050406030204" pitchFamily="18" charset="0"/>
                                    </a:rPr>
                                    <m:t>𝜆</m:t>
                                  </m:r>
                                </m:e>
                                <m:sub>
                                  <m:r>
                                    <a:rPr lang="en-US" sz="2000" i="1">
                                      <a:effectLst/>
                                      <a:latin typeface="Cambria Math" panose="02040503050406030204" pitchFamily="18" charset="0"/>
                                    </a:rPr>
                                    <m:t>𝑚</m:t>
                                  </m:r>
                                </m:sub>
                              </m:sSub>
                              <m:d>
                                <m:dPr>
                                  <m:ctrlPr>
                                    <a:rPr lang="en-US" sz="2000" i="1">
                                      <a:effectLst/>
                                      <a:latin typeface="Cambria Math" panose="02040503050406030204" pitchFamily="18" charset="0"/>
                                    </a:rPr>
                                  </m:ctrlPr>
                                </m:dPr>
                                <m:e>
                                  <m:r>
                                    <a:rPr lang="en-US" sz="2000" i="1">
                                      <a:effectLst/>
                                      <a:latin typeface="Cambria Math" panose="02040503050406030204" pitchFamily="18" charset="0"/>
                                    </a:rPr>
                                    <m:t>𝑥</m:t>
                                  </m:r>
                                </m:e>
                              </m:d>
                              <m:r>
                                <a:rPr lang="en-US" sz="2000" i="1" smtClean="0">
                                  <a:effectLst/>
                                  <a:latin typeface="Cambria Math" panose="02040503050406030204" pitchFamily="18" charset="0"/>
                                </a:rPr>
                                <m:t>≈</m:t>
                              </m:r>
                              <m:r>
                                <a:rPr lang="en-US" sz="2000" i="1">
                                  <a:effectLst/>
                                  <a:latin typeface="Cambria Math" panose="02040503050406030204" pitchFamily="18" charset="0"/>
                                </a:rPr>
                                <m:t> </m:t>
                              </m:r>
                              <m:r>
                                <a:rPr lang="en-US" sz="2000" i="1">
                                  <a:effectLst/>
                                  <a:latin typeface="Cambria Math" panose="02040503050406030204" pitchFamily="18" charset="0"/>
                                </a:rPr>
                                <m:t>𝑃</m:t>
                              </m:r>
                              <m:r>
                                <a:rPr lang="en-US" sz="2000" i="1">
                                  <a:effectLst/>
                                  <a:latin typeface="Cambria Math" panose="02040503050406030204" pitchFamily="18" charset="0"/>
                                </a:rPr>
                                <m:t>(</m:t>
                              </m:r>
                              <m:r>
                                <m:rPr>
                                  <m:sty m:val="p"/>
                                </m:rPr>
                                <a:rPr lang="en-US" sz="2000" i="0" smtClean="0">
                                  <a:effectLst/>
                                  <a:latin typeface="Cambria Math" panose="02040503050406030204" pitchFamily="18" charset="0"/>
                                </a:rPr>
                                <m:t>Λ</m:t>
                              </m:r>
                              <m:r>
                                <a:rPr lang="en-US" sz="2000" i="1">
                                  <a:effectLst/>
                                  <a:latin typeface="Cambria Math" panose="02040503050406030204" pitchFamily="18" charset="0"/>
                                </a:rPr>
                                <m:t>(</m:t>
                              </m:r>
                              <m:r>
                                <a:rPr lang="en-US" sz="2000" i="1">
                                  <a:effectLst/>
                                  <a:latin typeface="Cambria Math" panose="02040503050406030204" pitchFamily="18" charset="0"/>
                                </a:rPr>
                                <m:t>𝑥</m:t>
                              </m:r>
                              <m:r>
                                <a:rPr lang="en-US" sz="2000" i="1">
                                  <a:effectLst/>
                                  <a:latin typeface="Cambria Math" panose="02040503050406030204" pitchFamily="18" charset="0"/>
                                </a:rPr>
                                <m:t>) = </m:t>
                              </m:r>
                              <m:r>
                                <a:rPr lang="en-US" sz="2000" i="1">
                                  <a:effectLst/>
                                  <a:latin typeface="Cambria Math" panose="02040503050406030204" pitchFamily="18" charset="0"/>
                                </a:rPr>
                                <m:t>𝑚</m:t>
                              </m:r>
                              <m:r>
                                <a:rPr lang="en-US" sz="2000" i="1">
                                  <a:effectLst/>
                                  <a:latin typeface="Cambria Math" panose="02040503050406030204" pitchFamily="18" charset="0"/>
                                </a:rPr>
                                <m:t>)</m:t>
                              </m:r>
                            </m:oMath>
                          </a14:m>
                          <a:r>
                            <a:rPr lang="en-US" sz="2000">
                              <a:effectLst/>
                            </a:rPr>
                            <a:t> to be calibrated, or only monotone?</a:t>
                          </a:r>
                          <a:endParaRPr lang="en-US" sz="2000" b="0" i="0">
                            <a:solidFill>
                              <a:srgbClr val="161C24"/>
                            </a:solidFill>
                            <a:effectLst/>
                            <a:latin typeface="-apple-system"/>
                          </a:endParaRPr>
                        </a:p>
                      </a:txBody>
                      <a:tcPr marL="58994" marR="58994" marT="58994" marB="58994" anchor="ctr">
                        <a:noFill/>
                      </a:tcPr>
                    </a:tc>
                    <a:extLst>
                      <a:ext uri="{0D108BD9-81ED-4DB2-BD59-A6C34878D82A}">
                        <a16:rowId xmlns:a16="http://schemas.microsoft.com/office/drawing/2014/main" val="2259017108"/>
                      </a:ext>
                    </a:extLst>
                  </a:tr>
                </a:tbl>
              </a:graphicData>
            </a:graphic>
          </p:graphicFrame>
        </mc:Choice>
        <mc:Fallback xmlns="">
          <p:graphicFrame>
            <p:nvGraphicFramePr>
              <p:cNvPr id="2" name="Table 1">
                <a:extLst>
                  <a:ext uri="{FF2B5EF4-FFF2-40B4-BE49-F238E27FC236}">
                    <a16:creationId xmlns:a16="http://schemas.microsoft.com/office/drawing/2014/main" id="{EFCD341A-66D7-6881-0424-0A56EA5178F1}"/>
                  </a:ext>
                </a:extLst>
              </p:cNvPr>
              <p:cNvGraphicFramePr>
                <a:graphicFrameLocks noGrp="1"/>
              </p:cNvGraphicFramePr>
              <p:nvPr>
                <p:extLst>
                  <p:ext uri="{D42A27DB-BD31-4B8C-83A1-F6EECF244321}">
                    <p14:modId xmlns:p14="http://schemas.microsoft.com/office/powerpoint/2010/main" val="30715880"/>
                  </p:ext>
                </p:extLst>
              </p:nvPr>
            </p:nvGraphicFramePr>
            <p:xfrm>
              <a:off x="838200" y="1509248"/>
              <a:ext cx="10995948" cy="3824752"/>
            </p:xfrm>
            <a:graphic>
              <a:graphicData uri="http://schemas.openxmlformats.org/drawingml/2006/table">
                <a:tbl>
                  <a:tblPr>
                    <a:tableStyleId>{5C22544A-7EE6-4342-B048-85BDC9FD1C3A}</a:tableStyleId>
                  </a:tblPr>
                  <a:tblGrid>
                    <a:gridCol w="3665316">
                      <a:extLst>
                        <a:ext uri="{9D8B030D-6E8A-4147-A177-3AD203B41FA5}">
                          <a16:colId xmlns:a16="http://schemas.microsoft.com/office/drawing/2014/main" val="277425708"/>
                        </a:ext>
                      </a:extLst>
                    </a:gridCol>
                    <a:gridCol w="3665316">
                      <a:extLst>
                        <a:ext uri="{9D8B030D-6E8A-4147-A177-3AD203B41FA5}">
                          <a16:colId xmlns:a16="http://schemas.microsoft.com/office/drawing/2014/main" val="411447332"/>
                        </a:ext>
                      </a:extLst>
                    </a:gridCol>
                    <a:gridCol w="3665316">
                      <a:extLst>
                        <a:ext uri="{9D8B030D-6E8A-4147-A177-3AD203B41FA5}">
                          <a16:colId xmlns:a16="http://schemas.microsoft.com/office/drawing/2014/main" val="709294356"/>
                        </a:ext>
                      </a:extLst>
                    </a:gridCol>
                  </a:tblGrid>
                  <a:tr h="422788">
                    <a:tc>
                      <a:txBody>
                        <a:bodyPr/>
                        <a:lstStyle/>
                        <a:p>
                          <a:pPr algn="l">
                            <a:buNone/>
                          </a:pPr>
                          <a:r>
                            <a:rPr lang="en-US" sz="2000" b="1">
                              <a:effectLst/>
                            </a:rPr>
                            <a:t>Choice</a:t>
                          </a:r>
                          <a:endParaRPr lang="en-US" sz="2000" b="1" i="0">
                            <a:solidFill>
                              <a:srgbClr val="161C24"/>
                            </a:solidFill>
                            <a:effectLst/>
                            <a:latin typeface="-apple-system"/>
                          </a:endParaRPr>
                        </a:p>
                      </a:txBody>
                      <a:tcPr marL="58994" marR="58994" marT="58994" marB="58994" anchor="ctr">
                        <a:noFill/>
                      </a:tcPr>
                    </a:tc>
                    <a:tc>
                      <a:txBody>
                        <a:bodyPr/>
                        <a:lstStyle/>
                        <a:p>
                          <a:pPr algn="l">
                            <a:buNone/>
                          </a:pPr>
                          <a:r>
                            <a:rPr lang="en-US" sz="2000" b="1">
                              <a:effectLst/>
                            </a:rPr>
                            <a:t>Paper's justification</a:t>
                          </a:r>
                          <a:endParaRPr lang="en-US" sz="2000" b="1" i="0">
                            <a:solidFill>
                              <a:srgbClr val="161C24"/>
                            </a:solidFill>
                            <a:effectLst/>
                            <a:latin typeface="-apple-system"/>
                          </a:endParaRPr>
                        </a:p>
                      </a:txBody>
                      <a:tcPr marL="58994" marR="58994" marT="58994" marB="58994" anchor="ctr">
                        <a:noFill/>
                      </a:tcPr>
                    </a:tc>
                    <a:tc>
                      <a:txBody>
                        <a:bodyPr/>
                        <a:lstStyle/>
                        <a:p>
                          <a:pPr algn="l">
                            <a:buNone/>
                          </a:pPr>
                          <a:r>
                            <a:rPr lang="en-US" sz="2000" b="1">
                              <a:effectLst/>
                            </a:rPr>
                            <a:t>Pressure to apply</a:t>
                          </a:r>
                          <a:endParaRPr lang="en-US" sz="2000" b="1" i="0">
                            <a:solidFill>
                              <a:srgbClr val="161C24"/>
                            </a:solidFill>
                            <a:effectLst/>
                            <a:latin typeface="-apple-system"/>
                          </a:endParaRPr>
                        </a:p>
                      </a:txBody>
                      <a:tcPr marL="58994" marR="58994" marT="58994" marB="58994" anchor="ctr">
                        <a:noFill/>
                      </a:tcPr>
                    </a:tc>
                    <a:extLst>
                      <a:ext uri="{0D108BD9-81ED-4DB2-BD59-A6C34878D82A}">
                        <a16:rowId xmlns:a16="http://schemas.microsoft.com/office/drawing/2014/main" val="2888043491"/>
                      </a:ext>
                    </a:extLst>
                  </a:tr>
                  <a:tr h="1337188">
                    <a:tc>
                      <a:txBody>
                        <a:bodyPr/>
                        <a:lstStyle/>
                        <a:p>
                          <a:pPr algn="l">
                            <a:buNone/>
                          </a:pPr>
                          <a:r>
                            <a:rPr lang="en-US" sz="2000">
                              <a:effectLst/>
                            </a:rPr>
                            <a:t>Global min–max, not per-instance normalization or softmax</a:t>
                          </a:r>
                          <a:endParaRPr lang="en-US" sz="2000" b="0" i="0">
                            <a:solidFill>
                              <a:srgbClr val="161C24"/>
                            </a:solidFill>
                            <a:effectLst/>
                            <a:latin typeface="-apple-system"/>
                          </a:endParaRPr>
                        </a:p>
                      </a:txBody>
                      <a:tcPr marL="58994" marR="58994" marT="58994" marB="58994" anchor="ctr">
                        <a:noFill/>
                      </a:tcPr>
                    </a:tc>
                    <a:tc>
                      <a:txBody>
                        <a:bodyPr/>
                        <a:lstStyle/>
                        <a:p>
                          <a:pPr algn="l">
                            <a:buNone/>
                          </a:pPr>
                          <a:r>
                            <a:rPr lang="en-US" sz="2000">
                              <a:effectLst/>
                            </a:rPr>
                            <a:t>"there is important information in the relative scale of logits, e.g. smaller versions of object will often have smaller logits" [doc6]</a:t>
                          </a:r>
                          <a:endParaRPr lang="en-US" sz="2000" b="0" i="0">
                            <a:solidFill>
                              <a:srgbClr val="161C24"/>
                            </a:solidFill>
                            <a:effectLst/>
                            <a:latin typeface="-apple-system"/>
                          </a:endParaRPr>
                        </a:p>
                      </a:txBody>
                      <a:tcPr marL="58994" marR="58994" marT="58994" marB="58994" anchor="ctr">
                        <a:noFill/>
                      </a:tcPr>
                    </a:tc>
                    <a:tc>
                      <a:txBody>
                        <a:bodyPr/>
                        <a:lstStyle/>
                        <a:p>
                          <a:pPr algn="l">
                            <a:buNone/>
                          </a:pPr>
                          <a:r>
                            <a:rPr lang="en-US" sz="2000">
                              <a:effectLst/>
                            </a:rPr>
                            <a:t>Then the score is not invariant to the scale of the input object — is that a feature or a confound?</a:t>
                          </a:r>
                          <a:endParaRPr lang="en-US" sz="2000" b="0" i="0">
                            <a:solidFill>
                              <a:srgbClr val="161C24"/>
                            </a:solidFill>
                            <a:effectLst/>
                            <a:latin typeface="-apple-system"/>
                          </a:endParaRPr>
                        </a:p>
                      </a:txBody>
                      <a:tcPr marL="58994" marR="58994" marT="58994" marB="58994" anchor="ctr">
                        <a:noFill/>
                      </a:tcPr>
                    </a:tc>
                    <a:extLst>
                      <a:ext uri="{0D108BD9-81ED-4DB2-BD59-A6C34878D82A}">
                        <a16:rowId xmlns:a16="http://schemas.microsoft.com/office/drawing/2014/main" val="2189725134"/>
                      </a:ext>
                    </a:extLst>
                  </a:tr>
                  <a:tr h="727588">
                    <a:tc>
                      <a:txBody>
                        <a:bodyPr/>
                        <a:lstStyle/>
                        <a:p>
                          <a:endParaRPr lang="en-US"/>
                        </a:p>
                      </a:txBody>
                      <a:tcPr marL="58994" marR="58994" marT="58994" marB="58994" anchor="ctr">
                        <a:blipFill>
                          <a:blip r:embed="rId3"/>
                          <a:stretch>
                            <a:fillRect l="-346" t="-243860" r="-200346" b="-201754"/>
                          </a:stretch>
                        </a:blipFill>
                      </a:tcPr>
                    </a:tc>
                    <a:tc>
                      <a:txBody>
                        <a:bodyPr/>
                        <a:lstStyle/>
                        <a:p>
                          <a:pPr algn="l">
                            <a:buNone/>
                          </a:pPr>
                          <a:r>
                            <a:rPr lang="en-US" sz="2000">
                              <a:effectLst/>
                            </a:rPr>
                            <a:t>Keeps the normalizer tied to the known distribution</a:t>
                          </a:r>
                          <a:endParaRPr lang="en-US" sz="2000" b="0" i="0">
                            <a:solidFill>
                              <a:srgbClr val="161C24"/>
                            </a:solidFill>
                            <a:effectLst/>
                            <a:latin typeface="-apple-system"/>
                          </a:endParaRPr>
                        </a:p>
                      </a:txBody>
                      <a:tcPr marL="58994" marR="58994" marT="58994" marB="58994" anchor="ctr">
                        <a:noFill/>
                      </a:tcPr>
                    </a:tc>
                    <a:tc>
                      <a:txBody>
                        <a:bodyPr/>
                        <a:lstStyle/>
                        <a:p>
                          <a:pPr algn="l">
                            <a:buNone/>
                          </a:pPr>
                          <a:r>
                            <a:rPr lang="en-US" sz="2000">
                              <a:effectLst/>
                            </a:rPr>
                            <a:t>Two global scalars estimated from extremes</a:t>
                          </a:r>
                          <a:endParaRPr lang="en-US" sz="2000" b="0" i="0">
                            <a:solidFill>
                              <a:srgbClr val="161C24"/>
                            </a:solidFill>
                            <a:effectLst/>
                            <a:latin typeface="-apple-system"/>
                          </a:endParaRPr>
                        </a:p>
                      </a:txBody>
                      <a:tcPr marL="58994" marR="58994" marT="58994" marB="58994" anchor="ctr">
                        <a:noFill/>
                      </a:tcPr>
                    </a:tc>
                    <a:extLst>
                      <a:ext uri="{0D108BD9-81ED-4DB2-BD59-A6C34878D82A}">
                        <a16:rowId xmlns:a16="http://schemas.microsoft.com/office/drawing/2014/main" val="3816354445"/>
                      </a:ext>
                    </a:extLst>
                  </a:tr>
                  <a:tr h="1337188">
                    <a:tc>
                      <a:txBody>
                        <a:bodyPr/>
                        <a:lstStyle/>
                        <a:p>
                          <a:endParaRPr lang="en-US"/>
                        </a:p>
                      </a:txBody>
                      <a:tcPr marL="58994" marR="58994" marT="58994" marB="58994" anchor="ctr">
                        <a:blipFill>
                          <a:blip r:embed="rId3"/>
                          <a:stretch>
                            <a:fillRect l="-346" t="-184906" r="-200346" b="-8491"/>
                          </a:stretch>
                        </a:blipFill>
                      </a:tcPr>
                    </a:tc>
                    <a:tc>
                      <a:txBody>
                        <a:bodyPr/>
                        <a:lstStyle/>
                        <a:p>
                          <a:pPr algn="l">
                            <a:buNone/>
                          </a:pPr>
                          <a:r>
                            <a:rPr lang="en-US" sz="2000">
                              <a:effectLst/>
                            </a:rPr>
                            <a:t>It "cancels out the denominator" in the conditional-probability expansion</a:t>
                          </a:r>
                          <a:endParaRPr lang="en-US" sz="2000" b="0" i="0">
                            <a:solidFill>
                              <a:srgbClr val="161C24"/>
                            </a:solidFill>
                            <a:effectLst/>
                            <a:latin typeface="-apple-system"/>
                          </a:endParaRPr>
                        </a:p>
                      </a:txBody>
                      <a:tcPr marL="58994" marR="58994" marT="58994" marB="58994" anchor="ctr">
                        <a:noFill/>
                      </a:tcPr>
                    </a:tc>
                    <a:tc>
                      <a:txBody>
                        <a:bodyPr/>
                        <a:lstStyle/>
                        <a:p>
                          <a:endParaRPr lang="en-US"/>
                        </a:p>
                      </a:txBody>
                      <a:tcPr marL="58994" marR="58994" marT="58994" marB="58994" anchor="ctr">
                        <a:blipFill>
                          <a:blip r:embed="rId3"/>
                          <a:stretch>
                            <a:fillRect l="-200000" t="-184906" r="-692" b="-8491"/>
                          </a:stretch>
                        </a:blipFill>
                      </a:tcPr>
                    </a:tc>
                    <a:extLst>
                      <a:ext uri="{0D108BD9-81ED-4DB2-BD59-A6C34878D82A}">
                        <a16:rowId xmlns:a16="http://schemas.microsoft.com/office/drawing/2014/main" val="2259017108"/>
                      </a:ext>
                    </a:extLst>
                  </a:tr>
                </a:tbl>
              </a:graphicData>
            </a:graphic>
          </p:graphicFrame>
        </mc:Fallback>
      </mc:AlternateContent>
    </p:spTree>
    <p:extLst>
      <p:ext uri="{BB962C8B-B14F-4D97-AF65-F5344CB8AC3E}">
        <p14:creationId xmlns:p14="http://schemas.microsoft.com/office/powerpoint/2010/main" val="1162243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A9241-CAAA-F8D3-F587-737D67885EB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2CB3D8-5F3E-0C04-91F2-825189ADB44B}"/>
              </a:ext>
            </a:extLst>
          </p:cNvPr>
          <p:cNvSpPr>
            <a:spLocks noGrp="1"/>
          </p:cNvSpPr>
          <p:nvPr>
            <p:ph type="sldNum" sz="quarter" idx="12"/>
          </p:nvPr>
        </p:nvSpPr>
        <p:spPr/>
        <p:txBody>
          <a:bodyPr/>
          <a:lstStyle/>
          <a:p>
            <a:fld id="{659B2F21-D912-7541-8ED2-FD6ABD90B685}" type="slidenum">
              <a:rPr lang="en-US" smtClean="0"/>
              <a:t>21</a:t>
            </a:fld>
            <a:endParaRPr lang="en-US"/>
          </a:p>
        </p:txBody>
      </p:sp>
      <p:sp>
        <p:nvSpPr>
          <p:cNvPr id="5" name="TextBox 4">
            <a:extLst>
              <a:ext uri="{FF2B5EF4-FFF2-40B4-BE49-F238E27FC236}">
                <a16:creationId xmlns:a16="http://schemas.microsoft.com/office/drawing/2014/main" id="{96873917-CFB9-3109-FA96-44575ED7B520}"/>
              </a:ext>
            </a:extLst>
          </p:cNvPr>
          <p:cNvSpPr txBox="1"/>
          <p:nvPr/>
        </p:nvSpPr>
        <p:spPr>
          <a:xfrm>
            <a:off x="590310" y="486009"/>
            <a:ext cx="10995948" cy="707886"/>
          </a:xfrm>
          <a:prstGeom prst="rect">
            <a:avLst/>
          </a:prstGeom>
          <a:noFill/>
        </p:spPr>
        <p:txBody>
          <a:bodyPr wrap="square" rtlCol="0">
            <a:spAutoFit/>
          </a:bodyPr>
          <a:lstStyle/>
          <a:p>
            <a:r>
              <a:rPr lang="en-US" sz="4000" b="1">
                <a:solidFill>
                  <a:srgbClr val="0070C0"/>
                </a:solidFill>
              </a:rPr>
              <a:t>Evaluation Design</a:t>
            </a:r>
            <a:endParaRPr lang="en-US" sz="4000" b="1" dirty="0">
              <a:solidFill>
                <a:srgbClr val="0070C0"/>
              </a:solidFill>
            </a:endParaRPr>
          </a:p>
        </p:txBody>
      </p:sp>
      <p:sp>
        <p:nvSpPr>
          <p:cNvPr id="3" name="TextBox 2">
            <a:extLst>
              <a:ext uri="{FF2B5EF4-FFF2-40B4-BE49-F238E27FC236}">
                <a16:creationId xmlns:a16="http://schemas.microsoft.com/office/drawing/2014/main" id="{2D728140-4C01-54F4-D732-3EFE92ECF4B0}"/>
              </a:ext>
            </a:extLst>
          </p:cNvPr>
          <p:cNvSpPr txBox="1"/>
          <p:nvPr/>
        </p:nvSpPr>
        <p:spPr>
          <a:xfrm>
            <a:off x="630392" y="1348800"/>
            <a:ext cx="10955866" cy="5509200"/>
          </a:xfrm>
          <a:prstGeom prst="rect">
            <a:avLst/>
          </a:prstGeom>
          <a:noFill/>
        </p:spPr>
        <p:txBody>
          <a:bodyPr wrap="square">
            <a:spAutoFit/>
          </a:bodyPr>
          <a:lstStyle/>
          <a:p>
            <a:r>
              <a:rPr lang="en-US" sz="2200" b="1"/>
              <a:t>Experimental Protocol</a:t>
            </a:r>
          </a:p>
          <a:p>
            <a:pPr marL="285750" lvl="0" indent="-285750">
              <a:spcAft>
                <a:spcPts val="600"/>
              </a:spcAft>
              <a:buFont typeface="Courier New" panose="02070309020205020404" pitchFamily="49" charset="0"/>
              <a:buChar char="o"/>
            </a:pPr>
            <a:r>
              <a:rPr lang="en-US" sz="2200" b="1"/>
              <a:t>OOSA</a:t>
            </a:r>
            <a:r>
              <a:rPr lang="en-US" sz="2200"/>
              <a:t> (Operational Open-Set Accuracy) predicts the threshold from a </a:t>
            </a:r>
            <a:r>
              <a:rPr lang="en-US" sz="2200" i="1"/>
              <a:t>validation</a:t>
            </a:r>
            <a:r>
              <a:rPr lang="en-US" sz="2200"/>
              <a:t> set (ImageNetV2 knowns + an unknowns surrogate) and then </a:t>
            </a:r>
            <a:r>
              <a:rPr lang="en-US" sz="2200" i="1"/>
              <a:t>deploys</a:t>
            </a:r>
            <a:r>
              <a:rPr lang="en-US" sz="2200"/>
              <a:t> that fixed threshold on test splits — so there are, in the authors' words, "NO free/tuned parameters". </a:t>
            </a:r>
          </a:p>
          <a:p>
            <a:pPr marL="285750" lvl="0" indent="-285750">
              <a:spcAft>
                <a:spcPts val="600"/>
              </a:spcAft>
              <a:buFont typeface="Courier New" panose="02070309020205020404" pitchFamily="49" charset="0"/>
              <a:buChar char="o"/>
            </a:pPr>
            <a:r>
              <a:rPr lang="en-US" sz="2200" b="1"/>
              <a:t>Contamination audit.</a:t>
            </a:r>
            <a:r>
              <a:rPr lang="en-US" sz="2200"/>
              <a:t> Commonly used unknown splits (21K-P) overlap ImageNet-1K by &gt;40%; Places 59.5%, Textures 20.0%. The authors swap in OpenImage-O as the surrogate, caution against over-interpreting contaminated sets, and show in the supplement that </a:t>
            </a:r>
            <a:r>
              <a:rPr lang="en-US" sz="2200" i="1"/>
              <a:t>every</a:t>
            </a:r>
            <a:r>
              <a:rPr lang="en-US" sz="2200"/>
              <a:t> image driving their apparent loss to PostMax on Places is actually a known mislabeled as unknown.</a:t>
            </a:r>
          </a:p>
          <a:p>
            <a:pPr marL="285750" lvl="0" indent="-285750">
              <a:spcAft>
                <a:spcPts val="600"/>
              </a:spcAft>
              <a:buFont typeface="Courier New" panose="02070309020205020404" pitchFamily="49" charset="0"/>
              <a:buChar char="o"/>
            </a:pPr>
            <a:r>
              <a:rPr lang="en-US" sz="2200" b="1"/>
              <a:t>Statistics.</a:t>
            </a:r>
            <a:r>
              <a:rPr lang="en-US" sz="2200"/>
              <a:t> Wilcoxon signed-rank with Bonferroni correction, deliberately replacing the paired </a:t>
            </a:r>
            <a:r>
              <a:rPr lang="en-US" sz="2200" i="1"/>
              <a:t>t</a:t>
            </a:r>
            <a:r>
              <a:rPr lang="en-US" sz="2200"/>
              <a:t>-tests used in prior work because reusing splits across architectures violates independence.</a:t>
            </a:r>
          </a:p>
          <a:p>
            <a:pPr marL="285750" lvl="0" indent="-285750">
              <a:spcAft>
                <a:spcPts val="600"/>
              </a:spcAft>
              <a:buFont typeface="Courier New" panose="02070309020205020404" pitchFamily="49" charset="0"/>
              <a:buChar char="o"/>
            </a:pPr>
            <a:r>
              <a:rPr lang="en-US" sz="2200" b="1"/>
              <a:t>AUROC caution.</a:t>
            </a:r>
            <a:r>
              <a:rPr lang="en-US" sz="2200"/>
              <a:t> They report it only in the supplement and warn it "is generally incoherent for comparisons of algorithms”</a:t>
            </a:r>
          </a:p>
          <a:p>
            <a:endParaRPr lang="en-US" sz="2400" b="1" dirty="0"/>
          </a:p>
        </p:txBody>
      </p:sp>
    </p:spTree>
    <p:extLst>
      <p:ext uri="{BB962C8B-B14F-4D97-AF65-F5344CB8AC3E}">
        <p14:creationId xmlns:p14="http://schemas.microsoft.com/office/powerpoint/2010/main" val="2334047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FC4B9-DC2E-28B5-8937-E6C3CE3BB8C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CA8733-736D-8A40-10B4-780E511622FE}"/>
              </a:ext>
            </a:extLst>
          </p:cNvPr>
          <p:cNvSpPr>
            <a:spLocks noGrp="1"/>
          </p:cNvSpPr>
          <p:nvPr>
            <p:ph type="sldNum" sz="quarter" idx="12"/>
          </p:nvPr>
        </p:nvSpPr>
        <p:spPr/>
        <p:txBody>
          <a:bodyPr/>
          <a:lstStyle/>
          <a:p>
            <a:fld id="{659B2F21-D912-7541-8ED2-FD6ABD90B685}" type="slidenum">
              <a:rPr lang="en-US" smtClean="0"/>
              <a:t>22</a:t>
            </a:fld>
            <a:endParaRPr lang="en-US"/>
          </a:p>
        </p:txBody>
      </p:sp>
      <p:sp>
        <p:nvSpPr>
          <p:cNvPr id="5" name="TextBox 4">
            <a:extLst>
              <a:ext uri="{FF2B5EF4-FFF2-40B4-BE49-F238E27FC236}">
                <a16:creationId xmlns:a16="http://schemas.microsoft.com/office/drawing/2014/main" id="{65380BAF-AB82-47AD-65FE-701CF6E9EF61}"/>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DF25A997-68FA-AF9A-E3FB-C1E93111F1A5}"/>
              </a:ext>
            </a:extLst>
          </p:cNvPr>
          <p:cNvSpPr txBox="1"/>
          <p:nvPr/>
        </p:nvSpPr>
        <p:spPr>
          <a:xfrm>
            <a:off x="590310" y="1193895"/>
            <a:ext cx="10955866" cy="984885"/>
          </a:xfrm>
          <a:prstGeom prst="rect">
            <a:avLst/>
          </a:prstGeom>
          <a:noFill/>
        </p:spPr>
        <p:txBody>
          <a:bodyPr wrap="square">
            <a:spAutoFit/>
          </a:bodyPr>
          <a:lstStyle/>
          <a:p>
            <a:r>
              <a:rPr lang="en-US" sz="4000" dirty="0"/>
              <a:t>Where does the paper fall short?</a:t>
            </a:r>
            <a:br>
              <a:rPr lang="en-US" sz="3200" dirty="0"/>
            </a:br>
            <a:endParaRPr lang="en-US" dirty="0"/>
          </a:p>
        </p:txBody>
      </p:sp>
      <p:sp>
        <p:nvSpPr>
          <p:cNvPr id="2" name="TextBox 1">
            <a:extLst>
              <a:ext uri="{FF2B5EF4-FFF2-40B4-BE49-F238E27FC236}">
                <a16:creationId xmlns:a16="http://schemas.microsoft.com/office/drawing/2014/main" id="{02196408-3F11-2067-019A-3277F8D3B1FB}"/>
              </a:ext>
            </a:extLst>
          </p:cNvPr>
          <p:cNvSpPr txBox="1"/>
          <p:nvPr/>
        </p:nvSpPr>
        <p:spPr>
          <a:xfrm>
            <a:off x="590310" y="1829930"/>
            <a:ext cx="10688791" cy="4985980"/>
          </a:xfrm>
          <a:prstGeom prst="rect">
            <a:avLst/>
          </a:prstGeom>
          <a:noFill/>
        </p:spPr>
        <p:txBody>
          <a:bodyPr wrap="square" rtlCol="0">
            <a:spAutoFit/>
          </a:bodyPr>
          <a:lstStyle/>
          <a:p>
            <a:pPr marL="342900" indent="-342900">
              <a:buFont typeface="+mj-lt"/>
              <a:buAutoNum type="arabicPeriod"/>
            </a:pPr>
            <a:r>
              <a:rPr lang="en-US" sz="2400"/>
              <a:t>Scope and transferability:</a:t>
            </a:r>
          </a:p>
          <a:p>
            <a:pPr marL="800100" lvl="1" indent="-342900">
              <a:buFont typeface="Arial" panose="020B0604020202020204" pitchFamily="34" charset="0"/>
              <a:buChar char="•"/>
            </a:pPr>
            <a:r>
              <a:rPr lang="en-US"/>
              <a:t>Knowns are </a:t>
            </a:r>
            <a:r>
              <a:rPr lang="en-US" b="1"/>
              <a:t>ImageNet-1K object categories</a:t>
            </a:r>
            <a:r>
              <a:rPr lang="en-US"/>
              <a:t>, unknowns are other object datasets (no face, iris, fingerprint, gait, or re-identification experiment)</a:t>
            </a:r>
          </a:p>
          <a:p>
            <a:pPr marL="800100" lvl="1" indent="-342900">
              <a:buFont typeface="Arial" panose="020B0604020202020204" pitchFamily="34" charset="0"/>
              <a:buChar char="•"/>
            </a:pPr>
            <a:r>
              <a:rPr lang="en-US"/>
              <a:t>The method structurally </a:t>
            </a:r>
            <a:r>
              <a:rPr lang="en-US" b="1"/>
              <a:t>requires a linear classification layer with per-class weights W_j</a:t>
            </a:r>
            <a:r>
              <a:rPr lang="en-US"/>
              <a:t>. Modern biometric systems deploy an embedding and a </a:t>
            </a:r>
            <a:r>
              <a:rPr lang="en-US" i="1"/>
              <a:t>gallery</a:t>
            </a:r>
            <a:r>
              <a:rPr lang="en-US"/>
              <a:t>, often discarding the training-time head entirely. If there is no $W_j$ for an enrolled identity, there is no $H_j$, and the central quantity is undefined.</a:t>
            </a:r>
          </a:p>
          <a:p>
            <a:pPr marL="800100" lvl="1" indent="-342900">
              <a:buFont typeface="Arial" panose="020B0604020202020204" pitchFamily="34" charset="0"/>
              <a:buChar char="•"/>
            </a:pPr>
            <a:r>
              <a:rPr lang="en-US"/>
              <a:t>Per-class means are computed from training data, the subset </a:t>
            </a:r>
            <a:r>
              <a:rPr lang="en-US" i="1"/>
              <a:t>correctly classified</a:t>
            </a:r>
            <a:r>
              <a:rPr lang="en-US"/>
              <a:t> as class j — tens to thousands of images per class. Biometric enrollment is often </a:t>
            </a:r>
            <a:r>
              <a:rPr lang="en-US" b="1"/>
              <a:t>one image per subject</a:t>
            </a:r>
            <a:r>
              <a:rPr lang="en-US"/>
              <a:t>.</a:t>
            </a:r>
          </a:p>
          <a:p>
            <a:pPr marL="800100" lvl="1" indent="-342900">
              <a:buFont typeface="Arial" panose="020B0604020202020204" pitchFamily="34" charset="0"/>
              <a:buChar char="•"/>
            </a:pPr>
            <a:r>
              <a:rPr lang="en-US"/>
              <a:t>The paper itself defers non-pretrained networks to future work</a:t>
            </a:r>
          </a:p>
          <a:p>
            <a:pPr marL="800100" lvl="1" indent="-342900">
              <a:buFont typeface="Arial" panose="020B0604020202020204" pitchFamily="34" charset="0"/>
              <a:buChar char="•"/>
            </a:pPr>
            <a:endParaRPr lang="en-US"/>
          </a:p>
          <a:p>
            <a:pPr marL="800100" lvl="1" indent="-342900">
              <a:buFont typeface="Arial" panose="020B0604020202020204" pitchFamily="34" charset="0"/>
              <a:buChar char="•"/>
            </a:pPr>
            <a:endParaRPr lang="en-US"/>
          </a:p>
          <a:p>
            <a:pPr marL="457200" indent="-457200">
              <a:buFont typeface="+mj-lt"/>
              <a:buAutoNum type="arabicPeriod"/>
            </a:pPr>
            <a:r>
              <a:rPr lang="en-US" sz="2400"/>
              <a:t>Metrices and operating points:</a:t>
            </a:r>
          </a:p>
          <a:p>
            <a:pPr marL="914400" lvl="1" indent="-457200">
              <a:buFont typeface="Arial" panose="020B0604020202020204" pitchFamily="34" charset="0"/>
              <a:buChar char="•"/>
            </a:pPr>
            <a:r>
              <a:rPr lang="en-US"/>
              <a:t>Everything is reported as OOSA, AUOSCR, and AUROC [doc6] — </a:t>
            </a:r>
            <a:r>
              <a:rPr lang="en-US" b="1"/>
              <a:t>threshold-averaged or single-operating-point measures</a:t>
            </a:r>
            <a:r>
              <a:rPr lang="en-US"/>
              <a:t>. There is no reporting at a </a:t>
            </a:r>
            <a:r>
              <a:rPr lang="en-US" i="1"/>
              <a:t>low false-alarm</a:t>
            </a:r>
            <a:r>
              <a:rPr lang="en-US"/>
              <a:t> operating point.</a:t>
            </a:r>
          </a:p>
          <a:p>
            <a:pPr marL="914400" lvl="1" indent="-457200">
              <a:buFont typeface="Arial" panose="020B0604020202020204" pitchFamily="34" charset="0"/>
              <a:buChar char="•"/>
            </a:pPr>
            <a:r>
              <a:rPr lang="en-US"/>
              <a:t>Known-class counts are fixed at N = 1000. TPIR is a function of gallery size; nothing here tells us how the method degrades as N grows by orders of magnitude.</a:t>
            </a:r>
          </a:p>
        </p:txBody>
      </p:sp>
    </p:spTree>
    <p:extLst>
      <p:ext uri="{BB962C8B-B14F-4D97-AF65-F5344CB8AC3E}">
        <p14:creationId xmlns:p14="http://schemas.microsoft.com/office/powerpoint/2010/main" val="1968591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5A606-570F-589B-B3F3-7F4B7F0D268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240AEA-CD7F-6E18-1A5A-C03CDC5B2802}"/>
              </a:ext>
            </a:extLst>
          </p:cNvPr>
          <p:cNvSpPr>
            <a:spLocks noGrp="1"/>
          </p:cNvSpPr>
          <p:nvPr>
            <p:ph type="sldNum" sz="quarter" idx="12"/>
          </p:nvPr>
        </p:nvSpPr>
        <p:spPr/>
        <p:txBody>
          <a:bodyPr/>
          <a:lstStyle/>
          <a:p>
            <a:fld id="{659B2F21-D912-7541-8ED2-FD6ABD90B685}" type="slidenum">
              <a:rPr lang="en-US" smtClean="0"/>
              <a:t>23</a:t>
            </a:fld>
            <a:endParaRPr lang="en-US"/>
          </a:p>
        </p:txBody>
      </p:sp>
      <p:sp>
        <p:nvSpPr>
          <p:cNvPr id="5" name="TextBox 4">
            <a:extLst>
              <a:ext uri="{FF2B5EF4-FFF2-40B4-BE49-F238E27FC236}">
                <a16:creationId xmlns:a16="http://schemas.microsoft.com/office/drawing/2014/main" id="{D76FAAB9-BC1C-BC41-19DB-DC06991EA323}"/>
              </a:ext>
            </a:extLst>
          </p:cNvPr>
          <p:cNvSpPr txBox="1"/>
          <p:nvPr/>
        </p:nvSpPr>
        <p:spPr>
          <a:xfrm>
            <a:off x="590310" y="486009"/>
            <a:ext cx="10995948" cy="707886"/>
          </a:xfrm>
          <a:prstGeom prst="rect">
            <a:avLst/>
          </a:prstGeom>
          <a:noFill/>
        </p:spPr>
        <p:txBody>
          <a:bodyPr wrap="square" rtlCol="0">
            <a:spAutoFit/>
          </a:bodyPr>
          <a:lstStyle/>
          <a:p>
            <a:r>
              <a:rPr lang="en-US" sz="4000" b="1">
                <a:solidFill>
                  <a:srgbClr val="0070C0"/>
                </a:solidFill>
              </a:rPr>
              <a:t>Summary</a:t>
            </a:r>
            <a:endParaRPr lang="en-US" sz="4000" b="1" dirty="0">
              <a:solidFill>
                <a:srgbClr val="0070C0"/>
              </a:solidFill>
            </a:endParaRPr>
          </a:p>
        </p:txBody>
      </p:sp>
      <p:sp>
        <p:nvSpPr>
          <p:cNvPr id="3" name="TextBox 2">
            <a:extLst>
              <a:ext uri="{FF2B5EF4-FFF2-40B4-BE49-F238E27FC236}">
                <a16:creationId xmlns:a16="http://schemas.microsoft.com/office/drawing/2014/main" id="{16AE4950-9E4B-2136-A610-B3C70BAE2E8D}"/>
              </a:ext>
            </a:extLst>
          </p:cNvPr>
          <p:cNvSpPr txBox="1"/>
          <p:nvPr/>
        </p:nvSpPr>
        <p:spPr>
          <a:xfrm>
            <a:off x="1109273" y="2195502"/>
            <a:ext cx="10129602" cy="4524315"/>
          </a:xfrm>
          <a:prstGeom prst="rect">
            <a:avLst/>
          </a:prstGeom>
          <a:noFill/>
        </p:spPr>
        <p:txBody>
          <a:bodyPr wrap="square">
            <a:spAutoFit/>
          </a:bodyPr>
          <a:lstStyle/>
          <a:p>
            <a:r>
              <a:rPr lang="en-US" sz="2400" b="0" i="0">
                <a:solidFill>
                  <a:schemeClr val="tx1"/>
                </a:solidFill>
                <a:effectLst/>
                <a:latin typeface="+mn-lt"/>
              </a:rPr>
              <a:t>The attenuation hypothesis is a claim about </a:t>
            </a:r>
            <a:r>
              <a:rPr lang="en-US" sz="2400" b="0" i="1">
                <a:solidFill>
                  <a:schemeClr val="tx1"/>
                </a:solidFill>
                <a:effectLst/>
                <a:latin typeface="+mn-lt"/>
              </a:rPr>
              <a:t>discriminatively trained classifier heads</a:t>
            </a:r>
            <a:r>
              <a:rPr lang="en-US" sz="2400" b="0" i="0">
                <a:solidFill>
                  <a:schemeClr val="tx1"/>
                </a:solidFill>
                <a:effectLst/>
                <a:latin typeface="+mn-lt"/>
              </a:rPr>
              <a:t>. </a:t>
            </a:r>
          </a:p>
          <a:p>
            <a:endParaRPr lang="en-US" sz="2400"/>
          </a:p>
          <a:p>
            <a:r>
              <a:rPr lang="en-US" sz="2400" b="0" i="0">
                <a:solidFill>
                  <a:schemeClr val="tx1"/>
                </a:solidFill>
                <a:effectLst/>
                <a:latin typeface="+mn-lt"/>
              </a:rPr>
              <a:t>Biometric deployment usually throws that head away. </a:t>
            </a:r>
          </a:p>
          <a:p>
            <a:endParaRPr lang="en-US" sz="2400"/>
          </a:p>
          <a:p>
            <a:r>
              <a:rPr lang="en-US" sz="2400" b="0" i="0">
                <a:solidFill>
                  <a:schemeClr val="tx1"/>
                </a:solidFill>
                <a:effectLst/>
                <a:latin typeface="+mn-lt"/>
              </a:rPr>
              <a:t>So either: </a:t>
            </a:r>
          </a:p>
          <a:p>
            <a:r>
              <a:rPr lang="en-US" sz="2400" b="0" i="0">
                <a:solidFill>
                  <a:schemeClr val="tx1"/>
                </a:solidFill>
                <a:effectLst/>
                <a:latin typeface="+mn-lt"/>
              </a:rPr>
              <a:t>	(i) the hypothesis is irrelevant to deployed biometrics, or </a:t>
            </a:r>
            <a:endParaRPr lang="en-US" sz="2400"/>
          </a:p>
          <a:p>
            <a:r>
              <a:rPr lang="en-US" sz="2400" b="0" i="0">
                <a:solidFill>
                  <a:schemeClr val="tx1"/>
                </a:solidFill>
                <a:effectLst/>
                <a:latin typeface="+mn-lt"/>
              </a:rPr>
              <a:t>	</a:t>
            </a:r>
          </a:p>
          <a:p>
            <a:r>
              <a:rPr lang="en-US" sz="2400"/>
              <a:t>	</a:t>
            </a:r>
            <a:r>
              <a:rPr lang="en-US" sz="2400" b="0" i="0">
                <a:solidFill>
                  <a:schemeClr val="tx1"/>
                </a:solidFill>
                <a:effectLst/>
                <a:latin typeface="+mn-lt"/>
              </a:rPr>
              <a:t>(ii) the information loss has simply </a:t>
            </a:r>
            <a:r>
              <a:rPr lang="en-US" sz="2400" b="1" i="0">
                <a:solidFill>
                  <a:schemeClr val="tx1"/>
                </a:solidFill>
                <a:effectLst/>
                <a:latin typeface="+mn-lt"/>
              </a:rPr>
              <a:t>moved upstream </a:t>
            </a:r>
            <a:r>
              <a:rPr lang="en-US" sz="2400" b="0" i="0">
                <a:solidFill>
                  <a:schemeClr val="tx1"/>
                </a:solidFill>
                <a:effectLst/>
                <a:latin typeface="+mn-lt"/>
              </a:rPr>
              <a:t>— the 	embedding was trained to be invariant to everything that does not 	separate </a:t>
            </a:r>
            <a:r>
              <a:rPr lang="en-US" sz="2400" b="0" i="1">
                <a:solidFill>
                  <a:schemeClr val="tx1"/>
                </a:solidFill>
                <a:effectLst/>
                <a:latin typeface="+mn-lt"/>
              </a:rPr>
              <a:t>training</a:t>
            </a:r>
            <a:r>
              <a:rPr lang="en-US" sz="2400" b="0" i="0">
                <a:solidFill>
                  <a:schemeClr val="tx1"/>
                </a:solidFill>
                <a:effectLst/>
                <a:latin typeface="+mn-lt"/>
              </a:rPr>
              <a:t> identities, and that discarded variation is exactly 	what would separate enrolled identities from unenrolled ones</a:t>
            </a:r>
            <a:endParaRPr lang="en-US" sz="2400"/>
          </a:p>
        </p:txBody>
      </p:sp>
    </p:spTree>
    <p:extLst>
      <p:ext uri="{BB962C8B-B14F-4D97-AF65-F5344CB8AC3E}">
        <p14:creationId xmlns:p14="http://schemas.microsoft.com/office/powerpoint/2010/main" val="2556707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3E4D-587D-5155-98D1-200CFFE4871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BE524B7-62D1-C5FC-B10F-4BE3BA59D7C7}"/>
              </a:ext>
            </a:extLst>
          </p:cNvPr>
          <p:cNvSpPr>
            <a:spLocks noGrp="1"/>
          </p:cNvSpPr>
          <p:nvPr>
            <p:ph type="sldNum" sz="quarter" idx="12"/>
          </p:nvPr>
        </p:nvSpPr>
        <p:spPr/>
        <p:txBody>
          <a:bodyPr/>
          <a:lstStyle/>
          <a:p>
            <a:fld id="{659B2F21-D912-7541-8ED2-FD6ABD90B685}" type="slidenum">
              <a:rPr lang="en-US" smtClean="0"/>
              <a:t>24</a:t>
            </a:fld>
            <a:endParaRPr lang="en-US"/>
          </a:p>
        </p:txBody>
      </p:sp>
      <p:sp>
        <p:nvSpPr>
          <p:cNvPr id="5" name="TextBox 4">
            <a:extLst>
              <a:ext uri="{FF2B5EF4-FFF2-40B4-BE49-F238E27FC236}">
                <a16:creationId xmlns:a16="http://schemas.microsoft.com/office/drawing/2014/main" id="{0C76336C-1C2D-9753-FADE-B54BF2E9A027}"/>
              </a:ext>
            </a:extLst>
          </p:cNvPr>
          <p:cNvSpPr txBox="1"/>
          <p:nvPr/>
        </p:nvSpPr>
        <p:spPr>
          <a:xfrm>
            <a:off x="590310" y="486009"/>
            <a:ext cx="10995948" cy="707886"/>
          </a:xfrm>
          <a:prstGeom prst="rect">
            <a:avLst/>
          </a:prstGeom>
          <a:noFill/>
        </p:spPr>
        <p:txBody>
          <a:bodyPr wrap="square" rtlCol="0">
            <a:spAutoFit/>
          </a:bodyPr>
          <a:lstStyle/>
          <a:p>
            <a:r>
              <a:rPr lang="en-US" sz="4000" b="1">
                <a:solidFill>
                  <a:srgbClr val="0070C0"/>
                </a:solidFill>
              </a:rPr>
              <a:t>Summary</a:t>
            </a:r>
            <a:endParaRPr lang="en-US" sz="4000" b="1" dirty="0">
              <a:solidFill>
                <a:srgbClr val="0070C0"/>
              </a:solidFill>
            </a:endParaRPr>
          </a:p>
        </p:txBody>
      </p:sp>
      <p:sp>
        <p:nvSpPr>
          <p:cNvPr id="3" name="TextBox 2">
            <a:extLst>
              <a:ext uri="{FF2B5EF4-FFF2-40B4-BE49-F238E27FC236}">
                <a16:creationId xmlns:a16="http://schemas.microsoft.com/office/drawing/2014/main" id="{F2872AE8-0813-DA5A-E5E1-C13E0429DA07}"/>
              </a:ext>
            </a:extLst>
          </p:cNvPr>
          <p:cNvSpPr txBox="1"/>
          <p:nvPr/>
        </p:nvSpPr>
        <p:spPr>
          <a:xfrm>
            <a:off x="1109273" y="2195502"/>
            <a:ext cx="10129602" cy="3785652"/>
          </a:xfrm>
          <a:prstGeom prst="rect">
            <a:avLst/>
          </a:prstGeom>
          <a:noFill/>
        </p:spPr>
        <p:txBody>
          <a:bodyPr wrap="square">
            <a:spAutoFit/>
          </a:bodyPr>
          <a:lstStyle/>
          <a:p>
            <a:pPr marL="342900" indent="-342900">
              <a:buFont typeface="Wingdings" pitchFamily="2" charset="2"/>
              <a:buChar char="v"/>
            </a:pPr>
            <a:r>
              <a:rPr lang="en-US" sz="2400" b="0" i="0">
                <a:solidFill>
                  <a:schemeClr val="tx1"/>
                </a:solidFill>
                <a:effectLst/>
                <a:latin typeface="+mn-lt"/>
              </a:rPr>
              <a:t>COSTARR argues that open-set failure is not a scoring accident but an architectural consequence of discriminative training, and shows that recovering the discarded signal helps — but shows it only where an explicit classifier layer exists to do the discarding.</a:t>
            </a:r>
          </a:p>
          <a:p>
            <a:endParaRPr lang="en-US" sz="2400"/>
          </a:p>
          <a:p>
            <a:pPr marL="342900" indent="-342900">
              <a:buFont typeface="Wingdings" pitchFamily="2" charset="2"/>
              <a:buChar char="v"/>
            </a:pPr>
            <a:r>
              <a:rPr lang="en-US" sz="2400" b="1"/>
              <a:t>Week 10 — Do Foundation Models Change Biometric Recognition?</a:t>
            </a:r>
            <a:r>
              <a:rPr lang="en-US" sz="2400"/>
              <a:t> unknowns are detected using the structure of a supervised classification head. Foundation models are often trained with no such head and an open vocabulary. </a:t>
            </a:r>
            <a:r>
              <a:rPr lang="en-US" sz="2400" i="1">
                <a:solidFill>
                  <a:srgbClr val="0070C0"/>
                </a:solidFill>
              </a:rPr>
              <a:t>Does that eliminate the attenuation problem, relocate it, or make it worse?</a:t>
            </a:r>
          </a:p>
        </p:txBody>
      </p:sp>
    </p:spTree>
    <p:extLst>
      <p:ext uri="{BB962C8B-B14F-4D97-AF65-F5344CB8AC3E}">
        <p14:creationId xmlns:p14="http://schemas.microsoft.com/office/powerpoint/2010/main" val="1916057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EE0E70-4B02-C809-EFDB-23B95BEAFE62}"/>
              </a:ext>
            </a:extLst>
          </p:cNvPr>
          <p:cNvSpPr>
            <a:spLocks noGrp="1"/>
          </p:cNvSpPr>
          <p:nvPr>
            <p:ph type="sldNum" sz="quarter" idx="12"/>
          </p:nvPr>
        </p:nvSpPr>
        <p:spPr/>
        <p:txBody>
          <a:bodyPr/>
          <a:lstStyle/>
          <a:p>
            <a:fld id="{659B2F21-D912-7541-8ED2-FD6ABD90B685}" type="slidenum">
              <a:rPr lang="en-US" smtClean="0"/>
              <a:t>25</a:t>
            </a:fld>
            <a:endParaRPr lang="en-US"/>
          </a:p>
        </p:txBody>
      </p:sp>
      <p:sp>
        <p:nvSpPr>
          <p:cNvPr id="5" name="TextBox 4">
            <a:extLst>
              <a:ext uri="{FF2B5EF4-FFF2-40B4-BE49-F238E27FC236}">
                <a16:creationId xmlns:a16="http://schemas.microsoft.com/office/drawing/2014/main" id="{A8ACD655-8594-A2CE-0479-E2D4BE969C2A}"/>
              </a:ext>
            </a:extLst>
          </p:cNvPr>
          <p:cNvSpPr txBox="1"/>
          <p:nvPr/>
        </p:nvSpPr>
        <p:spPr>
          <a:xfrm>
            <a:off x="590309" y="486009"/>
            <a:ext cx="11337231" cy="707886"/>
          </a:xfrm>
          <a:prstGeom prst="rect">
            <a:avLst/>
          </a:prstGeom>
          <a:noFill/>
        </p:spPr>
        <p:txBody>
          <a:bodyPr wrap="square" rtlCol="0">
            <a:spAutoFit/>
          </a:bodyPr>
          <a:lstStyle/>
          <a:p>
            <a:r>
              <a:rPr lang="en-US" sz="4000" b="1" dirty="0">
                <a:solidFill>
                  <a:srgbClr val="0070C0"/>
                </a:solidFill>
              </a:rPr>
              <a:t>Project 2 (Reproduce + Investigate)  due Oct. 23</a:t>
            </a:r>
          </a:p>
        </p:txBody>
      </p:sp>
      <p:sp>
        <p:nvSpPr>
          <p:cNvPr id="6" name="TextBox 5">
            <a:extLst>
              <a:ext uri="{FF2B5EF4-FFF2-40B4-BE49-F238E27FC236}">
                <a16:creationId xmlns:a16="http://schemas.microsoft.com/office/drawing/2014/main" id="{B9273892-25DA-DE16-BEE8-180DA302D69B}"/>
              </a:ext>
            </a:extLst>
          </p:cNvPr>
          <p:cNvSpPr txBox="1"/>
          <p:nvPr/>
        </p:nvSpPr>
        <p:spPr>
          <a:xfrm>
            <a:off x="590309" y="1839002"/>
            <a:ext cx="11135526" cy="4401205"/>
          </a:xfrm>
          <a:prstGeom prst="rect">
            <a:avLst/>
          </a:prstGeom>
          <a:noFill/>
        </p:spPr>
        <p:txBody>
          <a:bodyPr wrap="square">
            <a:spAutoFit/>
          </a:bodyPr>
          <a:lstStyle/>
          <a:p>
            <a:pPr marR="0" lvl="0"/>
            <a:r>
              <a:rPr lang="en-US" sz="3200" b="1" dirty="0"/>
              <a:t>Objective: </a:t>
            </a:r>
            <a:r>
              <a:rPr lang="en-US" sz="3200" dirty="0"/>
              <a:t>to </a:t>
            </a:r>
            <a:r>
              <a:rPr lang="en-US" sz="3200" dirty="0">
                <a:solidFill>
                  <a:srgbClr val="0070C0"/>
                </a:solidFill>
                <a:effectLst/>
                <a:latin typeface="+mn-lt"/>
              </a:rPr>
              <a:t>reproduce</a:t>
            </a:r>
            <a:r>
              <a:rPr lang="en-US" sz="3200" dirty="0">
                <a:effectLst/>
                <a:latin typeface="+mn-lt"/>
              </a:rPr>
              <a:t> a method from a </a:t>
            </a:r>
            <a:r>
              <a:rPr lang="en-US" sz="3200" u="sng" dirty="0">
                <a:effectLst/>
                <a:latin typeface="+mn-lt"/>
              </a:rPr>
              <a:t>modern</a:t>
            </a:r>
            <a:r>
              <a:rPr lang="en-US" sz="3200" dirty="0">
                <a:effectLst/>
                <a:latin typeface="+mn-lt"/>
              </a:rPr>
              <a:t> biometric journal or conference paper and </a:t>
            </a:r>
            <a:r>
              <a:rPr lang="en-US" sz="3200" dirty="0">
                <a:solidFill>
                  <a:srgbClr val="0070C0"/>
                </a:solidFill>
                <a:effectLst/>
                <a:latin typeface="+mn-lt"/>
              </a:rPr>
              <a:t>investigate</a:t>
            </a:r>
            <a:endParaRPr lang="en-US" sz="3200" dirty="0">
              <a:solidFill>
                <a:srgbClr val="0070C0"/>
              </a:solidFill>
            </a:endParaRPr>
          </a:p>
          <a:p>
            <a:pPr marR="0" lvl="0"/>
            <a:endParaRPr lang="en-US" sz="3200" dirty="0">
              <a:solidFill>
                <a:srgbClr val="0070C0"/>
              </a:solidFill>
              <a:effectLst/>
              <a:latin typeface="Times New Roman" panose="02020603050405020304" pitchFamily="18" charset="0"/>
            </a:endParaRPr>
          </a:p>
          <a:p>
            <a:pPr marL="457200" marR="0" lvl="0" indent="-457200">
              <a:buFont typeface="Arial" panose="020B0604020202020204" pitchFamily="34" charset="0"/>
              <a:buChar char="•"/>
            </a:pPr>
            <a:r>
              <a:rPr lang="en-US" sz="3200" dirty="0">
                <a:effectLst/>
                <a:latin typeface="Times New Roman" panose="02020603050405020304" pitchFamily="18" charset="0"/>
              </a:rPr>
              <a:t>Same problem as Project 1</a:t>
            </a:r>
            <a:endParaRPr lang="en-US" sz="3200" dirty="0">
              <a:latin typeface="Times New Roman" panose="02020603050405020304" pitchFamily="18" charset="0"/>
            </a:endParaRPr>
          </a:p>
          <a:p>
            <a:pPr marL="457200" indent="-457200">
              <a:buFont typeface="Arial" panose="020B0604020202020204" pitchFamily="34" charset="0"/>
              <a:buChar char="•"/>
            </a:pPr>
            <a:r>
              <a:rPr lang="en-US" sz="3200" dirty="0">
                <a:effectLst/>
                <a:latin typeface="Times New Roman" panose="02020603050405020304" pitchFamily="18" charset="0"/>
              </a:rPr>
              <a:t>Consider sources like:</a:t>
            </a:r>
          </a:p>
          <a:p>
            <a:pPr marL="914400" lvl="1" indent="-457200">
              <a:buFont typeface="Courier New" panose="02070309020205020404" pitchFamily="49" charset="0"/>
              <a:buChar char="o"/>
            </a:pPr>
            <a:r>
              <a:rPr lang="en-US" sz="2400" dirty="0">
                <a:solidFill>
                  <a:srgbClr val="0070C0"/>
                </a:solidFill>
                <a:effectLst/>
                <a:latin typeface="Times New Roman" panose="02020603050405020304" pitchFamily="18" charset="0"/>
              </a:rPr>
              <a:t>IEEE Transactions on Biometrics, Behavior, and Identity Science (T-BIOM)</a:t>
            </a:r>
          </a:p>
          <a:p>
            <a:pPr marL="914400" lvl="1" indent="-457200">
              <a:buFont typeface="Courier New" panose="02070309020205020404" pitchFamily="49" charset="0"/>
              <a:buChar char="o"/>
            </a:pPr>
            <a:r>
              <a:rPr lang="en-US" sz="2400" dirty="0">
                <a:solidFill>
                  <a:srgbClr val="0070C0"/>
                </a:solidFill>
                <a:latin typeface="Times New Roman" panose="02020603050405020304" pitchFamily="18" charset="0"/>
              </a:rPr>
              <a:t>IEEE/IAPR Internation Joint Conference on Biometrics</a:t>
            </a:r>
          </a:p>
          <a:p>
            <a:pPr marL="914400" lvl="1" indent="-457200">
              <a:buFont typeface="Courier New" panose="02070309020205020404" pitchFamily="49" charset="0"/>
              <a:buChar char="o"/>
            </a:pPr>
            <a:r>
              <a:rPr lang="en-US" sz="2400" dirty="0">
                <a:effectLst/>
                <a:latin typeface="Times New Roman" panose="02020603050405020304" pitchFamily="18" charset="0"/>
              </a:rPr>
              <a:t>IEEE/CVF Winter Conference on Application of Computer Vision</a:t>
            </a:r>
          </a:p>
          <a:p>
            <a:pPr marL="914400" lvl="1" indent="-457200">
              <a:buFont typeface="Courier New" panose="02070309020205020404" pitchFamily="49" charset="0"/>
              <a:buChar char="o"/>
            </a:pPr>
            <a:r>
              <a:rPr lang="en-US" sz="2400" dirty="0">
                <a:effectLst/>
                <a:latin typeface="Times New Roman" panose="02020603050405020304" pitchFamily="18" charset="0"/>
              </a:rPr>
              <a:t>IEEE/CVF Conference on Computer Vision and Pattern Recognition</a:t>
            </a:r>
          </a:p>
          <a:p>
            <a:pPr lvl="1"/>
            <a:r>
              <a:rPr lang="en-US" sz="2400" i="1" dirty="0">
                <a:latin typeface="Times New Roman" panose="02020603050405020304" pitchFamily="18" charset="0"/>
              </a:rPr>
              <a:t>Not limited to these venues</a:t>
            </a:r>
            <a:endParaRPr lang="en-US" sz="2400" i="1" dirty="0">
              <a:effectLst/>
              <a:latin typeface="Times New Roman" panose="02020603050405020304" pitchFamily="18" charset="0"/>
            </a:endParaRPr>
          </a:p>
        </p:txBody>
      </p:sp>
      <p:sp>
        <p:nvSpPr>
          <p:cNvPr id="7" name="Rounded Rectangle 6">
            <a:extLst>
              <a:ext uri="{FF2B5EF4-FFF2-40B4-BE49-F238E27FC236}">
                <a16:creationId xmlns:a16="http://schemas.microsoft.com/office/drawing/2014/main" id="{070AFA91-F8BD-18EF-518F-5CF82F80F1A7}"/>
              </a:ext>
            </a:extLst>
          </p:cNvPr>
          <p:cNvSpPr/>
          <p:nvPr/>
        </p:nvSpPr>
        <p:spPr>
          <a:xfrm>
            <a:off x="376517" y="1839002"/>
            <a:ext cx="11337231" cy="1079010"/>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5825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33244</TotalTime>
  <Words>4834</Words>
  <Application>Microsoft Macintosh PowerPoint</Application>
  <PresentationFormat>Widescreen</PresentationFormat>
  <Paragraphs>366</Paragraphs>
  <Slides>25</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-apple-system</vt:lpstr>
      <vt:lpstr>Aptos</vt:lpstr>
      <vt:lpstr>Aptos Display</vt:lpstr>
      <vt:lpstr>Arial</vt:lpstr>
      <vt:lpstr>Cambria Math</vt:lpstr>
      <vt:lpstr>Courier New</vt:lpstr>
      <vt:lpstr>Times New Roman</vt:lpstr>
      <vt:lpstr>Wingdings</vt:lpstr>
      <vt:lpstr>Office Theme</vt:lpstr>
      <vt:lpstr>Week 9  What Should A Model Do When It Encounters Something It Has Never Seen?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Benjamin Riggan</dc:creator>
  <cp:lastModifiedBy>Benjamin Riggan</cp:lastModifiedBy>
  <cp:revision>26</cp:revision>
  <cp:lastPrinted>2026-08-18T04:07:25Z</cp:lastPrinted>
  <dcterms:created xsi:type="dcterms:W3CDTF">2026-08-14T10:03:12Z</dcterms:created>
  <dcterms:modified xsi:type="dcterms:W3CDTF">2026-10-20T16:56:04Z</dcterms:modified>
</cp:coreProperties>
</file>